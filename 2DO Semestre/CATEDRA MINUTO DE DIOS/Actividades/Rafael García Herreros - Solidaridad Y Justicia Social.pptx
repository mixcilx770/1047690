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88" d="100"/>
          <a:sy n="88" d="100"/>
        </p:scale>
        <p:origin x="9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522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658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692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087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49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91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234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017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088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514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34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4765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0077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185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3192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6353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120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B4E2FC7-5F53-44B4-8C8F-9926E5F3F887}" type="datetimeFigureOut">
              <a:rPr lang="es-CO" smtClean="0"/>
              <a:t>16/11/2025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89510-60E4-4C6A-B585-988A1C3685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948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3D570-1ED0-1895-707C-B57135F25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4921"/>
            <a:ext cx="9144000" cy="1089764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 fontScale="90000"/>
          </a:bodyPr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Solidaridad y Justicia Social en el Padre Rafael García Herreros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72470A-9D00-8512-886E-2F4F54D85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078628"/>
            <a:ext cx="9753600" cy="2798763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/>
          </a:bodyPr>
          <a:lstStyle/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Nombre: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Miguel Angel Larrea Calle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Curso: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Catedra Minuto de Dios 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NRC - 60- 76175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Fecha:</a:t>
            </a:r>
          </a:p>
          <a:p>
            <a:pPr algn="ctr"/>
            <a:r>
              <a:rPr lang="es-C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de Noviembre</a:t>
            </a:r>
          </a:p>
        </p:txBody>
      </p:sp>
    </p:spTree>
    <p:extLst>
      <p:ext uri="{BB962C8B-B14F-4D97-AF65-F5344CB8AC3E}">
        <p14:creationId xmlns:p14="http://schemas.microsoft.com/office/powerpoint/2010/main" val="410310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F49D1C0-534D-EE8D-ECCB-D435434A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368" y="519829"/>
            <a:ext cx="3174530" cy="526094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/>
          </a:bodyPr>
          <a:lstStyle/>
          <a:p>
            <a:pPr algn="ctr"/>
            <a:r>
              <a:rPr lang="es-CO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B79FAC2-E487-9E0E-D166-14C69720E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4760" y="1511153"/>
            <a:ext cx="7566819" cy="3463618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 fontScale="92500" lnSpcReduction="20000"/>
          </a:bodyPr>
          <a:lstStyle/>
          <a:p>
            <a:r>
              <a:rPr lang="es-CO" sz="19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Padre Rafael García Herreros Fue Un Sacerdote Católico El Cual quería Promover Y Analizar ideas Sobre la Solidaridad Social Por Medio de los Valores Como El Amor, Justicia Y Un Apoyo Social Primordial. Esto El Nos lo da A Conocer Por Medio de Una Problemática Ocurrida En la localidad de Usme, Bogotá. Esto debido A Un Conflicto Comunitario que Generaba Una invasión Y/O Apropiación ilegal del Parque Ocurrido En Esa Zona. Por lo Tanto, El Padre Rafael Analizaba Esta Situación Y daba A Conocer Y Escuchar Una Serie de Discursos Entre los Años 1961 y 1991 que intentaban Promover El diálogo, la Solidaridad Y la Participación Social Como Una Alternativa A Solucionar En Este Conflicto.</a:t>
            </a:r>
          </a:p>
          <a:p>
            <a:endParaRPr lang="es-CO" sz="19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CO" sz="19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Así que El día de Hoy, les quiero Presentar En Mi Opinión Personal, Sobre 5 Discursos, En las Cuales El Padre Rafael García Herreros da A Conocer Y A Reflexionar Para la Solución de Este Conflicto de Una Manera Pacífica.</a:t>
            </a:r>
          </a:p>
        </p:txBody>
      </p:sp>
      <p:pic>
        <p:nvPicPr>
          <p:cNvPr id="1028" name="Picture 4" descr="Conmemoración del Natalicio del Padre Rafael García Herreros: Un Legado de  Fe y Justicia Social - Red de Emisoras Minuto de Dios">
            <a:extLst>
              <a:ext uri="{FF2B5EF4-FFF2-40B4-BE49-F238E27FC236}">
                <a16:creationId xmlns:a16="http://schemas.microsoft.com/office/drawing/2014/main" id="{0897AFC0-3FCE-17B0-F6C6-79422F90D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21" y="2871071"/>
            <a:ext cx="3214043" cy="321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7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362B0-7ACD-0067-575D-5F3CC457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04" y="576941"/>
            <a:ext cx="3657600" cy="326572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normAutofit fontScale="90000"/>
          </a:bodyPr>
          <a:lstStyle/>
          <a:p>
            <a:pPr algn="ctr"/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Cena de la Unidad (1962)</a:t>
            </a:r>
            <a:endParaRPr lang="es-CO" dirty="0">
              <a:solidFill>
                <a:srgbClr val="0070C0"/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8E14A4-68DA-A1EB-19B3-01387A319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3004" y="1191795"/>
            <a:ext cx="3657600" cy="1818041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/>
          <a:p>
            <a:r>
              <a:rPr lang="es-MX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Padre Rafael García Herreros Promovió Y dio A Generar Una Unidad En la diversidad, buscando la Coexistencia Armónica. </a:t>
            </a:r>
            <a:br>
              <a:rPr lang="es-MX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"Ricos Y Pobres Unidos En Un Abrazo invisible."</a:t>
            </a:r>
          </a:p>
          <a:p>
            <a:endParaRPr lang="es-CO" dirty="0"/>
          </a:p>
        </p:txBody>
      </p: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659CED78-28F3-DC51-C92D-8F476119AD58}"/>
              </a:ext>
            </a:extLst>
          </p:cNvPr>
          <p:cNvSpPr txBox="1">
            <a:spLocks/>
          </p:cNvSpPr>
          <p:nvPr/>
        </p:nvSpPr>
        <p:spPr>
          <a:xfrm>
            <a:off x="4464760" y="2012813"/>
            <a:ext cx="2806897" cy="2037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s-CO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90F14384-0093-9DD1-C22E-D5B174AAD737}"/>
              </a:ext>
            </a:extLst>
          </p:cNvPr>
          <p:cNvSpPr txBox="1">
            <a:spLocks/>
          </p:cNvSpPr>
          <p:nvPr/>
        </p:nvSpPr>
        <p:spPr>
          <a:xfrm>
            <a:off x="4267200" y="3428874"/>
            <a:ext cx="3657600" cy="1404383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accent5"/>
                </a:solidFill>
              </a:rPr>
              <a:t>El Padre Rafael García Herreros Defendió la riqueza del servicio a los demás. </a:t>
            </a:r>
            <a:br>
              <a:rPr lang="es-MX" dirty="0">
                <a:solidFill>
                  <a:schemeClr val="accent5"/>
                </a:solidFill>
              </a:rPr>
            </a:br>
            <a:r>
              <a:rPr lang="es-MX" dirty="0">
                <a:solidFill>
                  <a:schemeClr val="accent5"/>
                </a:solidFill>
              </a:rPr>
              <a:t>"Pobreza evangélica: necesitar de los demás para ser felices."</a:t>
            </a:r>
          </a:p>
          <a:p>
            <a:endParaRPr lang="es-CO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A2DBABDC-1289-035A-D4A3-8E097553C48D}"/>
              </a:ext>
            </a:extLst>
          </p:cNvPr>
          <p:cNvSpPr txBox="1">
            <a:spLocks/>
          </p:cNvSpPr>
          <p:nvPr/>
        </p:nvSpPr>
        <p:spPr>
          <a:xfrm>
            <a:off x="8201396" y="1191794"/>
            <a:ext cx="3657600" cy="17790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Padre Rafael García Herreros Generó Un Énfasis en el amor concreto hacia el ser humano. </a:t>
            </a:r>
            <a:br>
              <a:rPr lang="es-MX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"Tú eres belleza, oh hombre... revolución sin sangre."</a:t>
            </a:r>
          </a:p>
          <a:p>
            <a:endParaRPr lang="es-CO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44196A2-451F-23ED-ADD0-F383290BAF95}"/>
              </a:ext>
            </a:extLst>
          </p:cNvPr>
          <p:cNvSpPr txBox="1">
            <a:spLocks/>
          </p:cNvSpPr>
          <p:nvPr/>
        </p:nvSpPr>
        <p:spPr>
          <a:xfrm>
            <a:off x="4267200" y="2672379"/>
            <a:ext cx="3657600" cy="35922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6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Verdadera Pobreza (1965)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FF1D423-0694-73E0-EF9A-8582242787A4}"/>
              </a:ext>
            </a:extLst>
          </p:cNvPr>
          <p:cNvSpPr txBox="1">
            <a:spLocks/>
          </p:cNvSpPr>
          <p:nvPr/>
        </p:nvSpPr>
        <p:spPr>
          <a:xfrm>
            <a:off x="8201396" y="576941"/>
            <a:ext cx="3657600" cy="32657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6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Advocación al Hombre (1973)</a:t>
            </a: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BCC17ED0-96ED-0A62-6EED-85660B3630EB}"/>
              </a:ext>
            </a:extLst>
          </p:cNvPr>
          <p:cNvSpPr txBox="1">
            <a:spLocks/>
          </p:cNvSpPr>
          <p:nvPr/>
        </p:nvSpPr>
        <p:spPr>
          <a:xfrm>
            <a:off x="333004" y="4566366"/>
            <a:ext cx="3657600" cy="181804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0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Padre Rafael García Herreros Hizo un llamado a la responsabilidad histórica de amar a toda la humanidad. </a:t>
            </a:r>
            <a:br>
              <a:rPr lang="es-MX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"Amar al HOMBRE universal."</a:t>
            </a:r>
          </a:p>
          <a:p>
            <a:endParaRPr lang="es-CO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D5D119-28A9-0E58-56B2-53D90374C857}"/>
              </a:ext>
            </a:extLst>
          </p:cNvPr>
          <p:cNvSpPr txBox="1">
            <a:spLocks/>
          </p:cNvSpPr>
          <p:nvPr/>
        </p:nvSpPr>
        <p:spPr>
          <a:xfrm>
            <a:off x="333004" y="3712029"/>
            <a:ext cx="3657600" cy="51805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6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Cambiar el Rostro del Mundo (1966)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0001456-1B92-2DA4-8600-65BE2B2D1795}"/>
              </a:ext>
            </a:extLst>
          </p:cNvPr>
          <p:cNvSpPr txBox="1">
            <a:spLocks/>
          </p:cNvSpPr>
          <p:nvPr/>
        </p:nvSpPr>
        <p:spPr>
          <a:xfrm>
            <a:off x="8201396" y="3712029"/>
            <a:ext cx="3657600" cy="50166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6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6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Intentando la Ciudad Ideal (1974)</a:t>
            </a:r>
          </a:p>
        </p:txBody>
      </p: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6DF8F799-FAB6-1125-96DE-0E0B14D58823}"/>
              </a:ext>
            </a:extLst>
          </p:cNvPr>
          <p:cNvSpPr txBox="1">
            <a:spLocks/>
          </p:cNvSpPr>
          <p:nvPr/>
        </p:nvSpPr>
        <p:spPr>
          <a:xfrm>
            <a:off x="8201396" y="4566365"/>
            <a:ext cx="3657600" cy="1818041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0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900" kern="1200" cap="none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Padre Rafael García Herreros Propuso una ciudad basada en tres pilares esenciales para la justicia social</a:t>
            </a:r>
            <a:r>
              <a:rPr lang="es-MX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865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0FF2B-C015-A86A-F439-946761EE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4" y="718457"/>
            <a:ext cx="4671559" cy="1371600"/>
          </a:xfr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>
            <a:normAutofit/>
          </a:bodyPr>
          <a:lstStyle/>
          <a:p>
            <a:r>
              <a:rPr lang="es-MX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Principios Comunes de Solidaridad y Justicia Social</a:t>
            </a:r>
            <a:endParaRPr lang="es-CO" dirty="0">
              <a:solidFill>
                <a:srgbClr val="00B050"/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3AFB0E-698E-E21C-7027-3DCA020F6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932" y="3479800"/>
            <a:ext cx="3657600" cy="2427516"/>
          </a:xfr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>
            <a:normAutofit/>
          </a:bodyPr>
          <a:lstStyle/>
          <a:p>
            <a:r>
              <a:rPr lang="es-MX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discursos del Padre Rafael convergen en principios fundamentales que, interconectados, dibujan una senda clara hacia la transformación social. Su visión enfatiza la construcción de un mundo mejor a través del diálogo y la no violencia.</a:t>
            </a:r>
          </a:p>
          <a:p>
            <a:endParaRPr lang="es-CO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3B600C6-89E8-12B8-5A96-1A976249DBF7}"/>
              </a:ext>
            </a:extLst>
          </p:cNvPr>
          <p:cNvSpPr txBox="1">
            <a:spLocks/>
          </p:cNvSpPr>
          <p:nvPr/>
        </p:nvSpPr>
        <p:spPr>
          <a:xfrm>
            <a:off x="684210" y="2458357"/>
            <a:ext cx="4149045" cy="63318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Camino hacia la Transformación Pacífica</a:t>
            </a:r>
          </a:p>
        </p:txBody>
      </p:sp>
      <p:pic>
        <p:nvPicPr>
          <p:cNvPr id="4100" name="Picture 4" descr="Principios - Vida y Trabajo">
            <a:extLst>
              <a:ext uri="{FF2B5EF4-FFF2-40B4-BE49-F238E27FC236}">
                <a16:creationId xmlns:a16="http://schemas.microsoft.com/office/drawing/2014/main" id="{5BD21DCD-3B64-E477-6B71-CE275605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429" y="2090057"/>
            <a:ext cx="3298490" cy="329849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2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B5E304E-7D50-921E-9361-EFD2432A05E9}"/>
              </a:ext>
            </a:extLst>
          </p:cNvPr>
          <p:cNvSpPr txBox="1"/>
          <p:nvPr/>
        </p:nvSpPr>
        <p:spPr>
          <a:xfrm>
            <a:off x="4057650" y="176002"/>
            <a:ext cx="4076700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Conflicto: Parque Puerta al Llano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3A13EB-97D7-9270-6C50-B49B404BE80A}"/>
              </a:ext>
            </a:extLst>
          </p:cNvPr>
          <p:cNvSpPr txBox="1"/>
          <p:nvPr/>
        </p:nvSpPr>
        <p:spPr>
          <a:xfrm>
            <a:off x="3752850" y="808199"/>
            <a:ext cx="4686299" cy="33855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Impacto de una Invasión en la Comunidad de Usme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553B58-F0BA-F81B-E8E9-EE8F5EB8F178}"/>
              </a:ext>
            </a:extLst>
          </p:cNvPr>
          <p:cNvSpPr txBox="1"/>
          <p:nvPr/>
        </p:nvSpPr>
        <p:spPr>
          <a:xfrm>
            <a:off x="446315" y="1409618"/>
            <a:ext cx="6580413" cy="73866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Parque Puerta al Llano, un espacio público vital en Usme, Bogotá, construido hace siete años, ha sido objeto de una invasión ilegal. Esta situación ha llevado al cercamiento y la tala de árboles, poniendo en riesgo la integridad ecológica y social del lugar.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5FF80B-CB39-D33E-E159-422218B6D566}"/>
              </a:ext>
            </a:extLst>
          </p:cNvPr>
          <p:cNvSpPr txBox="1"/>
          <p:nvPr/>
        </p:nvSpPr>
        <p:spPr>
          <a:xfrm>
            <a:off x="601436" y="2538250"/>
            <a:ext cx="4482192" cy="120032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 Invadido</a:t>
            </a:r>
          </a:p>
          <a:p>
            <a:pPr>
              <a:buNone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ocupación ha transformado un espacio verde en un área caótica y en deterioro. El cercamiento impide el acceso, y la tala de árboles amenaza la biodiversidad local, afectando directamente la calidad de vida de los residentes.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42379F-D6E2-44FB-E7CD-D23AD9C1894F}"/>
              </a:ext>
            </a:extLst>
          </p:cNvPr>
          <p:cNvSpPr txBox="1"/>
          <p:nvPr/>
        </p:nvSpPr>
        <p:spPr>
          <a:xfrm>
            <a:off x="6198053" y="2445918"/>
            <a:ext cx="4482192" cy="138499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b="1" dirty="0"/>
              <a:t>Parque Ideal</a:t>
            </a:r>
          </a:p>
          <a:p>
            <a:pPr>
              <a:buNone/>
            </a:pPr>
            <a:r>
              <a:rPr lang="es-MX" sz="1400" dirty="0"/>
              <a:t>Originalmente, el parque fue concebido como un pulmón verde y un centro de recreación para niños y familias. Su pérdida representa la privación de un derecho fundamental al esparcimiento y al contacto con la naturaleza.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513F689-E91A-0972-A9BC-C27CDAD33A89}"/>
              </a:ext>
            </a:extLst>
          </p:cNvPr>
          <p:cNvSpPr txBox="1"/>
          <p:nvPr/>
        </p:nvSpPr>
        <p:spPr>
          <a:xfrm>
            <a:off x="4388303" y="4716564"/>
            <a:ext cx="2813957" cy="116955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invasión ha generado una profunda preocupación en la comunidad, que ve cómo un espacio vital para el desarrollo social y ambiental de sus hijos se desvanece.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2992595-0A44-CA35-82FE-D0CD3FA55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31" y="4261668"/>
            <a:ext cx="2995662" cy="221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isfrute del Parque Ecológico Cantarrana, atractivo ambiental de Usme |  Bogota.gov.co">
            <a:extLst>
              <a:ext uri="{FF2B5EF4-FFF2-40B4-BE49-F238E27FC236}">
                <a16:creationId xmlns:a16="http://schemas.microsoft.com/office/drawing/2014/main" id="{7129BFA7-E8EB-2C29-7687-4C8234A40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771" y="4194817"/>
            <a:ext cx="3367679" cy="221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9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4610A42-6EF0-8DCD-3822-CF7BE93359B6}"/>
              </a:ext>
            </a:extLst>
          </p:cNvPr>
          <p:cNvSpPr txBox="1"/>
          <p:nvPr/>
        </p:nvSpPr>
        <p:spPr>
          <a:xfrm>
            <a:off x="408215" y="359619"/>
            <a:ext cx="4523014" cy="36933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Causas y Consecuencias del Conflicto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71715B-7B73-88AD-1821-DD40E90E80BE}"/>
              </a:ext>
            </a:extLst>
          </p:cNvPr>
          <p:cNvSpPr txBox="1"/>
          <p:nvPr/>
        </p:nvSpPr>
        <p:spPr>
          <a:xfrm>
            <a:off x="408215" y="898982"/>
            <a:ext cx="5949041" cy="36933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Entendiendo la Raíz del Problema en Puerta al Llano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B63466-AB5A-2D3D-ED6A-6E1C7CC508CE}"/>
              </a:ext>
            </a:extLst>
          </p:cNvPr>
          <p:cNvSpPr txBox="1"/>
          <p:nvPr/>
        </p:nvSpPr>
        <p:spPr>
          <a:xfrm>
            <a:off x="723900" y="1471588"/>
            <a:ext cx="2737757" cy="36933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Causas de la Invasión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26A1FC-771B-C9CC-CD03-AE4BBC615C2A}"/>
              </a:ext>
            </a:extLst>
          </p:cNvPr>
          <p:cNvSpPr txBox="1"/>
          <p:nvPr/>
        </p:nvSpPr>
        <p:spPr>
          <a:xfrm>
            <a:off x="244926" y="2044194"/>
            <a:ext cx="3891644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Necesidad de Vivienda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escasez de vivienda digna impulsa ocupaciones informales.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C7D9422-41AE-AB2C-777D-E79111D987A0}"/>
              </a:ext>
            </a:extLst>
          </p:cNvPr>
          <p:cNvSpPr txBox="1"/>
          <p:nvPr/>
        </p:nvSpPr>
        <p:spPr>
          <a:xfrm>
            <a:off x="321125" y="3148260"/>
            <a:ext cx="3739245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Oportunidades Informales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búsqueda de medios de subsistencia en zonas de riesgo.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E99C45-16FD-10BA-7754-0028D232CC10}"/>
              </a:ext>
            </a:extLst>
          </p:cNvPr>
          <p:cNvSpPr txBox="1"/>
          <p:nvPr/>
        </p:nvSpPr>
        <p:spPr>
          <a:xfrm>
            <a:off x="244927" y="4246986"/>
            <a:ext cx="3891643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Control Institucional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Ausencia de monitoreo y acción preventiva de las autoridades.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9BF8B7-3476-2ED0-B485-05B925354BA9}"/>
              </a:ext>
            </a:extLst>
          </p:cNvPr>
          <p:cNvSpPr txBox="1"/>
          <p:nvPr/>
        </p:nvSpPr>
        <p:spPr>
          <a:xfrm>
            <a:off x="321124" y="5298052"/>
            <a:ext cx="3739245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Déficit de Cultura Ciudadana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falta de apropiación y respeto por los espacios públicos.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1F1BD4-4917-2A6A-BDC9-426C8F3A2197}"/>
              </a:ext>
            </a:extLst>
          </p:cNvPr>
          <p:cNvSpPr txBox="1"/>
          <p:nvPr/>
        </p:nvSpPr>
        <p:spPr>
          <a:xfrm>
            <a:off x="7402289" y="1471588"/>
            <a:ext cx="3488871" cy="36933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Consecuencias del Conflicto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6EDE95B-F81E-8A03-E23B-FE63EB29E349}"/>
              </a:ext>
            </a:extLst>
          </p:cNvPr>
          <p:cNvSpPr txBox="1"/>
          <p:nvPr/>
        </p:nvSpPr>
        <p:spPr>
          <a:xfrm>
            <a:off x="6998157" y="2044194"/>
            <a:ext cx="4297134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Fractura Social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División y tensión entre los diferentes actores de la comunidad.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C337B14-1A9E-A9EE-E4FE-F2451A97DB80}"/>
              </a:ext>
            </a:extLst>
          </p:cNvPr>
          <p:cNvCxnSpPr/>
          <p:nvPr/>
        </p:nvCxnSpPr>
        <p:spPr>
          <a:xfrm>
            <a:off x="5834743" y="1471588"/>
            <a:ext cx="0" cy="519046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F50D9A-B2DE-9134-470E-9228FE300A40}"/>
              </a:ext>
            </a:extLst>
          </p:cNvPr>
          <p:cNvSpPr txBox="1"/>
          <p:nvPr/>
        </p:nvSpPr>
        <p:spPr>
          <a:xfrm>
            <a:off x="7097489" y="5298052"/>
            <a:ext cx="4190997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Vulneración de Derechos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Pérdida de acceso a espacios de recreación y un ambiente sano.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D4BF812-EA4B-5947-282E-59DD7FFE36DC}"/>
              </a:ext>
            </a:extLst>
          </p:cNvPr>
          <p:cNvSpPr txBox="1"/>
          <p:nvPr/>
        </p:nvSpPr>
        <p:spPr>
          <a:xfrm>
            <a:off x="7000875" y="3143492"/>
            <a:ext cx="4294416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Inseguridad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Aumento de la delincuencia y la percepción de riesgo.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ECF36A7-776F-60A7-9A55-95CC3AE25DD0}"/>
              </a:ext>
            </a:extLst>
          </p:cNvPr>
          <p:cNvSpPr txBox="1"/>
          <p:nvPr/>
        </p:nvSpPr>
        <p:spPr>
          <a:xfrm>
            <a:off x="7097489" y="4191100"/>
            <a:ext cx="4294417" cy="92333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Daño Ambiental</a:t>
            </a:r>
          </a:p>
          <a:p>
            <a:pPr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Destrucción de la flora y fauna, impacto en el ecosistema.</a:t>
            </a:r>
          </a:p>
        </p:txBody>
      </p:sp>
    </p:spTree>
    <p:extLst>
      <p:ext uri="{BB962C8B-B14F-4D97-AF65-F5344CB8AC3E}">
        <p14:creationId xmlns:p14="http://schemas.microsoft.com/office/powerpoint/2010/main" val="9589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7A0884-0AD5-C648-D33F-9FCC5F95F23E}"/>
              </a:ext>
            </a:extLst>
          </p:cNvPr>
          <p:cNvSpPr txBox="1"/>
          <p:nvPr/>
        </p:nvSpPr>
        <p:spPr>
          <a:xfrm>
            <a:off x="402771" y="207220"/>
            <a:ext cx="6096000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Propuesta de Solución: Mesa de Diálogo y Principios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3BB77A-49F0-6893-F616-2ABED2551D1E}"/>
              </a:ext>
            </a:extLst>
          </p:cNvPr>
          <p:cNvSpPr txBox="1"/>
          <p:nvPr/>
        </p:nvSpPr>
        <p:spPr>
          <a:xfrm>
            <a:off x="114299" y="674523"/>
            <a:ext cx="7587343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Aplicando la Visión del Padre Rafael para una Resolución Pacífica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1146F74-E2B1-5F9E-15F7-BFB1B70C6C4A}"/>
              </a:ext>
            </a:extLst>
          </p:cNvPr>
          <p:cNvSpPr txBox="1"/>
          <p:nvPr/>
        </p:nvSpPr>
        <p:spPr>
          <a:xfrm>
            <a:off x="114299" y="1141826"/>
            <a:ext cx="6765472" cy="73866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abordar la situación del Parque Puerta al Llano, proponemos una Mesa de Diálogo basada en los principios del Padre Rafael García Herreros, buscando una resolución pacífica y justa para todos los involucrados.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54E3C7A-6C36-07AB-D40F-056DA5284F28}"/>
              </a:ext>
            </a:extLst>
          </p:cNvPr>
          <p:cNvSpPr txBox="1"/>
          <p:nvPr/>
        </p:nvSpPr>
        <p:spPr>
          <a:xfrm>
            <a:off x="114299" y="2100942"/>
            <a:ext cx="5421086" cy="2462213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Composición de la Mesa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Representantes de los ocupantes.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Líderes de la comunidad afectada.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Autoridades locales y ambientales.</a:t>
            </a:r>
          </a:p>
          <a:p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_____________________________________________</a:t>
            </a:r>
          </a:p>
          <a:p>
            <a:endParaRPr lang="es-MX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Claros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Fomentar la unidad y el entendimiento mutuo.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Lograr la desocupación pacífica del parque.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Buscar soluciones dignas de vivienda para los ocupantes.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Iniciar la recuperación ambiental del parque.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EA4367E-4383-B5A4-E817-8E160192A667}"/>
              </a:ext>
            </a:extLst>
          </p:cNvPr>
          <p:cNvCxnSpPr/>
          <p:nvPr/>
        </p:nvCxnSpPr>
        <p:spPr>
          <a:xfrm>
            <a:off x="6008914" y="2590799"/>
            <a:ext cx="0" cy="415834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AC64276-56F8-AB49-99D9-13EE3D48AF1B}"/>
              </a:ext>
            </a:extLst>
          </p:cNvPr>
          <p:cNvSpPr txBox="1"/>
          <p:nvPr/>
        </p:nvSpPr>
        <p:spPr>
          <a:xfrm>
            <a:off x="114300" y="4915955"/>
            <a:ext cx="5421085" cy="160043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Principios Orientadores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Unidad en la diversidad: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Reconocer la validez de todas las perspectivas.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Amor concreto: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Buscar el bienestar de cada persona involucrada.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Justicia social: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Garantizar la equidad en las soluciones propuestas.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Transformación sin violencia:</a:t>
            </a:r>
            <a:r>
              <a:rPr lang="es-MX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Priorizar el diálogo y el respeto mutuo.</a:t>
            </a:r>
          </a:p>
        </p:txBody>
      </p:sp>
      <p:pic>
        <p:nvPicPr>
          <p:cNvPr id="5122" name="Picture 2" descr="Inauguran COP15. Proteger la naturaleza, el objetivo - Greentology">
            <a:extLst>
              <a:ext uri="{FF2B5EF4-FFF2-40B4-BE49-F238E27FC236}">
                <a16:creationId xmlns:a16="http://schemas.microsoft.com/office/drawing/2014/main" id="{57603C83-022B-6553-8517-04C2BBDEA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357" y="2487934"/>
            <a:ext cx="5067300" cy="33697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38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C4CD44F-537A-5207-971D-F6A27595C29F}"/>
              </a:ext>
            </a:extLst>
          </p:cNvPr>
          <p:cNvSpPr txBox="1"/>
          <p:nvPr/>
        </p:nvSpPr>
        <p:spPr>
          <a:xfrm>
            <a:off x="348344" y="240613"/>
            <a:ext cx="6096000" cy="36933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Campaña 'Parque para Todos' y Estrategias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18DA5C-D612-273A-956F-12D591ADB458}"/>
              </a:ext>
            </a:extLst>
          </p:cNvPr>
          <p:cNvSpPr txBox="1"/>
          <p:nvPr/>
        </p:nvSpPr>
        <p:spPr>
          <a:xfrm>
            <a:off x="348344" y="807220"/>
            <a:ext cx="6096000" cy="36933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Reconstruyendo la Comunidad y el Entorno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8BDD78-E34C-4388-2690-609C219C0352}"/>
              </a:ext>
            </a:extLst>
          </p:cNvPr>
          <p:cNvSpPr txBox="1"/>
          <p:nvPr/>
        </p:nvSpPr>
        <p:spPr>
          <a:xfrm>
            <a:off x="348344" y="1467763"/>
            <a:ext cx="6096000" cy="107721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Bajo el lema "Necesitamos de los demás para ser felices", esta campaña busca involucrar activamente a la comunidad en la recuperación y revitalización del Parque Puerta al Llano, transformando el conflicto en una oportunidad de unión.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4217149-99F3-AE72-E28B-9646A84FDB16}"/>
              </a:ext>
            </a:extLst>
          </p:cNvPr>
          <p:cNvSpPr txBox="1"/>
          <p:nvPr/>
        </p:nvSpPr>
        <p:spPr>
          <a:xfrm>
            <a:off x="348344" y="3108734"/>
            <a:ext cx="6096000" cy="313932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Fase 1: Sensibilización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Talleres de diálogo y reconciliación.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Campañas de concientización sobre el valor del parque.</a:t>
            </a:r>
          </a:p>
          <a:p>
            <a:pPr>
              <a:buNone/>
            </a:pPr>
            <a:r>
              <a:rPr lang="es-MX" b="1" dirty="0"/>
              <a:t>Fase 2: Recuperación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Jornadas de limpieza colectiva.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Programas de reforestación participativa.</a:t>
            </a:r>
          </a:p>
          <a:p>
            <a:pPr>
              <a:buNone/>
            </a:pPr>
            <a:r>
              <a:rPr lang="es-MX" b="1" dirty="0"/>
              <a:t>Fase 3: Activación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Festivales comunitarios y eventos culturales.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Asambleas ciudadanas para definir el futuro del parque.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12C8B5-9E23-2468-A905-86BC272C8586}"/>
              </a:ext>
            </a:extLst>
          </p:cNvPr>
          <p:cNvSpPr txBox="1"/>
          <p:nvPr/>
        </p:nvSpPr>
        <p:spPr>
          <a:xfrm>
            <a:off x="6966857" y="576387"/>
            <a:ext cx="2884714" cy="8309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Círculos de Palabra</a:t>
            </a: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Espacios para escuchar y entender diferentes perspectivas.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1B98E18-B29E-FF6F-284C-D7339B8CBBFD}"/>
              </a:ext>
            </a:extLst>
          </p:cNvPr>
          <p:cNvSpPr txBox="1"/>
          <p:nvPr/>
        </p:nvSpPr>
        <p:spPr>
          <a:xfrm>
            <a:off x="6966857" y="2605049"/>
            <a:ext cx="2884714" cy="8309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y Educación</a:t>
            </a: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Difusión de valores de respeto y convivencia.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846007E-6E06-2D70-7E6C-8186A174C898}"/>
              </a:ext>
            </a:extLst>
          </p:cNvPr>
          <p:cNvSpPr txBox="1"/>
          <p:nvPr/>
        </p:nvSpPr>
        <p:spPr>
          <a:xfrm>
            <a:off x="9154885" y="1590718"/>
            <a:ext cx="2884714" cy="8309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Mediadores Comunitarios</a:t>
            </a: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Facilitadores del diálogo y la construcción de acuerdos.</a:t>
            </a:r>
          </a:p>
        </p:txBody>
      </p:sp>
      <p:pic>
        <p:nvPicPr>
          <p:cNvPr id="6146" name="Picture 2" descr="Enseñanza basada en el diálogo">
            <a:extLst>
              <a:ext uri="{FF2B5EF4-FFF2-40B4-BE49-F238E27FC236}">
                <a16:creationId xmlns:a16="http://schemas.microsoft.com/office/drawing/2014/main" id="{88D7FA2A-3326-DC7D-F08A-A86AAAF7F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039" y="3868808"/>
            <a:ext cx="3847458" cy="21648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38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D10AD8D2-C578-43B6-E511-F8C9194B1740}"/>
              </a:ext>
            </a:extLst>
          </p:cNvPr>
          <p:cNvSpPr txBox="1"/>
          <p:nvPr/>
        </p:nvSpPr>
        <p:spPr>
          <a:xfrm>
            <a:off x="4169228" y="521691"/>
            <a:ext cx="3282042" cy="36933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Conclusión y Mensaje Central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A9FB0B-77D3-15A4-BE71-D8C338D06020}"/>
              </a:ext>
            </a:extLst>
          </p:cNvPr>
          <p:cNvSpPr txBox="1"/>
          <p:nvPr/>
        </p:nvSpPr>
        <p:spPr>
          <a:xfrm>
            <a:off x="364672" y="1581553"/>
            <a:ext cx="5143499" cy="181588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Futuro de Solidaridad y Diálogo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invasión del Parque Puerta al Llano representa una oportunidad para aplicar los principios del Padre Rafael García Herreros y construir "otro mundo posible" basado en el amor, el diálogo y la justicia social. Es un llamado a ver la humanidad en cada persona y a trabajar juntos por el bien común.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FE082C-96DE-9BC3-3A41-D168612CE8FD}"/>
              </a:ext>
            </a:extLst>
          </p:cNvPr>
          <p:cNvSpPr txBox="1"/>
          <p:nvPr/>
        </p:nvSpPr>
        <p:spPr>
          <a:xfrm>
            <a:off x="6346370" y="1458442"/>
            <a:ext cx="5143500" cy="206210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Llamado a la Acción</a:t>
            </a: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Invitamos a investigadores, estudiantes y líderes comunitarios a sumarse a esta iniciativa, promoviendo el diálogo y la búsqueda de soluciones pacíficas y dignas para todos los involucrados.</a:t>
            </a:r>
          </a:p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Documento "Solidaridad y Justicia Social en el Padre Rafael García Herreros: Aplicación a la Invasión del Parque Puerta al Llano".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6B9FF93-0860-41EF-92DF-EC498D14F066}"/>
              </a:ext>
            </a:extLst>
          </p:cNvPr>
          <p:cNvSpPr txBox="1"/>
          <p:nvPr/>
        </p:nvSpPr>
        <p:spPr>
          <a:xfrm>
            <a:off x="250369" y="3764798"/>
            <a:ext cx="5257801" cy="33855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"Ver la dignidad humana en todas las partes del conflicto."</a:t>
            </a:r>
          </a:p>
        </p:txBody>
      </p:sp>
      <p:pic>
        <p:nvPicPr>
          <p:cNvPr id="7170" name="Picture 2" descr="Explora y disfruta estos 5 parques en Medellín | Uber Blog">
            <a:extLst>
              <a:ext uri="{FF2B5EF4-FFF2-40B4-BE49-F238E27FC236}">
                <a16:creationId xmlns:a16="http://schemas.microsoft.com/office/drawing/2014/main" id="{E82E7017-E4AC-C0B4-CCC7-083E95480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96" y="4470715"/>
            <a:ext cx="3078732" cy="2053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5 consejos para promover la autoconciencia y ser un buen líder – Blog  Mercado Eletrônico">
            <a:extLst>
              <a:ext uri="{FF2B5EF4-FFF2-40B4-BE49-F238E27FC236}">
                <a16:creationId xmlns:a16="http://schemas.microsoft.com/office/drawing/2014/main" id="{DCB67F07-D59D-181A-AE95-86A2C9A38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270" y="4087964"/>
            <a:ext cx="3178630" cy="205656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85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67015-FFE1-3CDD-C6AD-16CFAB4A1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725" y="1121591"/>
            <a:ext cx="3401064" cy="555171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pPr algn="ctr"/>
            <a:r>
              <a:rPr lang="es-C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DESPEDIDA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9BC6D5-FB2E-F6AF-6EAF-06EFCE21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601" y="2236652"/>
            <a:ext cx="8447313" cy="473890"/>
          </a:xfr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Autofit/>
          </a:bodyPr>
          <a:lstStyle/>
          <a:p>
            <a:r>
              <a:rPr 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ha Sido Todo Por Hoy, ¡¡Muchas Gracias Por Su Atención!!</a:t>
            </a:r>
          </a:p>
        </p:txBody>
      </p:sp>
      <p:pic>
        <p:nvPicPr>
          <p:cNvPr id="8194" name="Picture 2" descr="16.200+ Imagenes Tristes De Despedida Ilustraciones de Stock, gráficos  vectoriales libres de derechos y clip art - iStock">
            <a:extLst>
              <a:ext uri="{FF2B5EF4-FFF2-40B4-BE49-F238E27FC236}">
                <a16:creationId xmlns:a16="http://schemas.microsoft.com/office/drawing/2014/main" id="{4BC49366-AEB3-893D-ADB2-022B98E23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082" y="3548017"/>
            <a:ext cx="4040776" cy="269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95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134</TotalTime>
  <Words>1229</Words>
  <Application>Microsoft Office PowerPoint</Application>
  <PresentationFormat>Panorámica</PresentationFormat>
  <Paragraphs>99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Ion</vt:lpstr>
      <vt:lpstr>Solidaridad y Justicia Social en el Padre Rafael García Herreros</vt:lpstr>
      <vt:lpstr>Introducción</vt:lpstr>
      <vt:lpstr>          La Cena de la Unidad (1962)</vt:lpstr>
      <vt:lpstr>Principios Comunes de Solidaridad y Justicia Social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DESPEDIDA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T Mayo 2024</dc:creator>
  <cp:lastModifiedBy>S T Mayo 2024</cp:lastModifiedBy>
  <cp:revision>1</cp:revision>
  <dcterms:created xsi:type="dcterms:W3CDTF">2025-11-16T19:29:49Z</dcterms:created>
  <dcterms:modified xsi:type="dcterms:W3CDTF">2025-11-16T21:44:14Z</dcterms:modified>
</cp:coreProperties>
</file>