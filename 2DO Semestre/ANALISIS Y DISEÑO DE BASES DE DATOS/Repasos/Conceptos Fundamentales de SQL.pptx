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D45C6-9F84-1E36-6D68-79C2215400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9F2E85-E8BD-9A53-705D-B5C9835C8C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CC36F-8854-5356-BE8C-2A46C5D50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88EB-D9C9-46CB-B16D-EAC57AFFFAC7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9AB26-29BE-4FC2-3F55-3EB8C115A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5E37C-927D-8D6C-8438-C8677BE9A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4D861-3AD4-4BD1-A2ED-B1E4D16E8E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263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5CE6F-4F77-7645-D9F2-BC39C65D8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35281-9079-7112-9A4F-5B7F150DBD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21AA7-016D-162C-2DE8-D435E7FDE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88EB-D9C9-46CB-B16D-EAC57AFFFAC7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D9139-E396-4B42-73EC-74147ABCB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B9C58-0F7B-680F-D5F1-EE35D9A08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4D861-3AD4-4BD1-A2ED-B1E4D16E8E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474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AB670-FEF0-51FD-AA85-3DB82E0CA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D3C688-4059-2A1B-BB34-588E8F9B5C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349EB-B0BB-D796-4BBC-4A36E2818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88EB-D9C9-46CB-B16D-EAC57AFFFAC7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19A99-B8DC-3672-6E2C-778423DE1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849F3E-3824-4693-4F3A-1B14915E1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4D861-3AD4-4BD1-A2ED-B1E4D16E8E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984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55914-C368-AC71-BAE2-19DED06F3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7895C-509B-A4B2-EE28-CE49ABEAE0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EE2D3D-F088-E37F-8F3F-7962CCF74C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959770-0161-ADB8-FE39-FD9E91516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88EB-D9C9-46CB-B16D-EAC57AFFFAC7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7C08D4-7865-B93A-4CFF-63A0B2573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A41BC7-F882-7843-5BC5-3C562DF30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4D861-3AD4-4BD1-A2ED-B1E4D16E8E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02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FF43A-E1D2-A612-8BB8-A1ECD184E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D8D28D-F59F-A929-9E8F-1ECA46E45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71E1A9-1D8E-1D7C-F52A-A2BF4DA68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1AFDA4-4D5F-FB35-3C97-D5089878F1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534165-02E9-2A58-E324-19CFC05E3C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6A3A9-8D4A-9B80-3B6B-C89606C0A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88EB-D9C9-46CB-B16D-EAC57AFFFAC7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2EEE54-A07C-8988-AF71-105E14871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E3403D-40CD-FAD8-F1B6-2B290B44D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4D861-3AD4-4BD1-A2ED-B1E4D16E8E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212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6D512-2B63-DAD6-D581-0CD2A357C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45E8B3-468D-D6F2-56BE-4AA58BC82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88EB-D9C9-46CB-B16D-EAC57AFFFAC7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9CF4A-F506-7117-1360-16C210A72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D81E98-35C4-1329-D4FD-1F014DE11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4D861-3AD4-4BD1-A2ED-B1E4D16E8E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778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2BF2D-FB5F-FDEF-5700-31B8C8BA1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88EB-D9C9-46CB-B16D-EAC57AFFFAC7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20D78-D2DD-E27E-1DFB-3C3ADAFC8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2896D5-950D-6823-E746-2DA45F614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4D861-3AD4-4BD1-A2ED-B1E4D16E8E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900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B0034-4710-3675-0216-AA8965353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B04F9-6094-3C51-BA58-30C803414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35444F-9A8B-AC9D-1B23-7251A92F6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3E8CD9-29CD-BA69-663C-48DB2A920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88EB-D9C9-46CB-B16D-EAC57AFFFAC7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545452-A0D6-4D52-C175-A1AF65CCB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A50D1C-AEEE-A3CC-3017-A145B56D2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4D861-3AD4-4BD1-A2ED-B1E4D16E8E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8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76FB6-2743-48F6-318B-67B78ADAE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5612EA-EC1F-E970-4AB4-00D37080D2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24663C-B21C-21CF-E2F5-C4320D265A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055A12-7F6B-7AEB-CF01-09047A190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88EB-D9C9-46CB-B16D-EAC57AFFFAC7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6DD5C6-103E-ED1B-5B2E-187DD4C24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7C5B60-BDD1-7CC7-6C23-4825D080B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4D861-3AD4-4BD1-A2ED-B1E4D16E8E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552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4BDEA-C754-BFD4-8979-453AB61B4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85CC7C-0181-6D45-56B5-681D32CFF2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C5039-0C52-3F3C-DFF8-70E22144F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88EB-D9C9-46CB-B16D-EAC57AFFFAC7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00233-C2AB-C0A4-7D5D-D71746495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FADFA-E91F-D4FF-4F06-7BB14E64C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4D861-3AD4-4BD1-A2ED-B1E4D16E8E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050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A8FCAA-37F5-170A-DEDF-AC5AD49647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0ABEEB-3F44-3643-A722-F802112083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A0C1A2-A81F-AF97-3AC9-2EABD2736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88EB-D9C9-46CB-B16D-EAC57AFFFAC7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3A59D-ACB1-D0CC-B91C-03AF8DF41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18F51-923E-DF4A-E481-FAA3C31DA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4D861-3AD4-4BD1-A2ED-B1E4D16E8E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691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635C4B-7DFF-709F-F39D-3571CA734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C9D630-FF09-B825-01B4-D4398D88F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07C2C-5D13-511F-E7F1-58BC03FA83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0388EB-D9C9-46CB-B16D-EAC57AFFFAC7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D992CD-853B-A7D6-9B42-937C8E536B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51D21-24E6-ECF4-84B1-E5FC1DD082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34D861-3AD4-4BD1-A2ED-B1E4D16E8E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430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B53FADA-3761-912F-232F-F85FA934B65E}"/>
              </a:ext>
            </a:extLst>
          </p:cNvPr>
          <p:cNvSpPr txBox="1"/>
          <p:nvPr/>
        </p:nvSpPr>
        <p:spPr>
          <a:xfrm>
            <a:off x="578815" y="505525"/>
            <a:ext cx="57640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800" b="1" dirty="0"/>
              <a:t>Conceptos fundamentales de SQL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FC9B84-4AA4-EAFA-5E22-6E5700701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15" y="1637827"/>
            <a:ext cx="11277610" cy="14437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6911A91-E0BD-568D-F2EF-C3ADE4F994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15" y="3776473"/>
            <a:ext cx="11411605" cy="1443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340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AC233-3C02-5E3A-5C4E-1477519EB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EF16608-B0EC-B7FA-D51E-D02F3B3A5A90}"/>
              </a:ext>
            </a:extLst>
          </p:cNvPr>
          <p:cNvSpPr txBox="1"/>
          <p:nvPr/>
        </p:nvSpPr>
        <p:spPr>
          <a:xfrm>
            <a:off x="578815" y="505525"/>
            <a:ext cx="37287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800" b="1" dirty="0">
                <a:solidFill>
                  <a:srgbClr val="FF0000"/>
                </a:solidFill>
              </a:rPr>
              <a:t>Componentes de SQL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A0C3D9-E4C8-A281-D2AA-8A158A678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833" y="1644964"/>
            <a:ext cx="11045132" cy="3128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951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408C6-696B-0E4D-7400-0BAB1F5CC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EC62B9E-55C6-68A4-A8BC-3BE24240F777}"/>
              </a:ext>
            </a:extLst>
          </p:cNvPr>
          <p:cNvSpPr txBox="1"/>
          <p:nvPr/>
        </p:nvSpPr>
        <p:spPr>
          <a:xfrm>
            <a:off x="578815" y="505525"/>
            <a:ext cx="37287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800" b="1" dirty="0">
                <a:solidFill>
                  <a:srgbClr val="FF0000"/>
                </a:solidFill>
              </a:rPr>
              <a:t>Componentes de SQL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433310-C804-C74E-FB01-C6C8DC6AC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15" y="1705310"/>
            <a:ext cx="11013474" cy="2491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465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F9BBC-8607-B4AB-3B03-DE5CFAA17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5F8A2DA-6530-4315-D301-DD8D132394E6}"/>
              </a:ext>
            </a:extLst>
          </p:cNvPr>
          <p:cNvSpPr txBox="1"/>
          <p:nvPr/>
        </p:nvSpPr>
        <p:spPr>
          <a:xfrm>
            <a:off x="578815" y="505525"/>
            <a:ext cx="33481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800" b="1" dirty="0">
                <a:solidFill>
                  <a:srgbClr val="FF0000"/>
                </a:solidFill>
              </a:rPr>
              <a:t>Definición de datos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F87D60-8B90-2B37-F986-2A28B851D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15" y="1566252"/>
            <a:ext cx="11191888" cy="3581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400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6B96A-9B24-151C-59D8-1336920E2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3F719A9-CEB3-3125-A472-6F14031B8E5B}"/>
              </a:ext>
            </a:extLst>
          </p:cNvPr>
          <p:cNvSpPr txBox="1"/>
          <p:nvPr/>
        </p:nvSpPr>
        <p:spPr>
          <a:xfrm>
            <a:off x="578815" y="505525"/>
            <a:ext cx="73070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800" b="1" dirty="0">
                <a:solidFill>
                  <a:srgbClr val="FF0000"/>
                </a:solidFill>
              </a:rPr>
              <a:t>Ejemplo de esquema de la entidad bancaria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63F32B-B827-7F66-F36C-D3A84113D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277" y="1574934"/>
            <a:ext cx="8929263" cy="2859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845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B1F7B-A16A-1537-0493-CD95E6CE2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E28B464-2D06-E761-0A0E-01597D32746C}"/>
              </a:ext>
            </a:extLst>
          </p:cNvPr>
          <p:cNvSpPr txBox="1"/>
          <p:nvPr/>
        </p:nvSpPr>
        <p:spPr>
          <a:xfrm>
            <a:off x="743407" y="111384"/>
            <a:ext cx="51171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3200" b="1" dirty="0">
                <a:solidFill>
                  <a:srgbClr val="FF0000"/>
                </a:solidFill>
              </a:rPr>
              <a:t>Tipos básicos de dominios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8DFC98-AEAA-6BF5-FDF4-2996FDCD2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44" y="955593"/>
            <a:ext cx="11395263" cy="557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544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8C1C7-C0F1-5F6F-4C6E-BE99475D2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389A581-8291-8697-50DC-D9E13AB8BDCB}"/>
              </a:ext>
            </a:extLst>
          </p:cNvPr>
          <p:cNvSpPr txBox="1"/>
          <p:nvPr/>
        </p:nvSpPr>
        <p:spPr>
          <a:xfrm>
            <a:off x="743407" y="111384"/>
            <a:ext cx="6764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3200" b="1" dirty="0">
                <a:solidFill>
                  <a:srgbClr val="FF0000"/>
                </a:solidFill>
              </a:rPr>
              <a:t>Definición básica del esquema SQL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89B2B6-869C-5995-3EE1-5C9E802F9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081" y="1091863"/>
            <a:ext cx="4210638" cy="11812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09DB1F-C64C-1302-EB7E-4ED4257281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105" y="2668832"/>
            <a:ext cx="11591185" cy="286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394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2E99C-EF66-E446-5F1A-E742351BD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5AB22C-7F47-D2C1-A125-22D8733F1600}"/>
              </a:ext>
            </a:extLst>
          </p:cNvPr>
          <p:cNvSpPr txBox="1"/>
          <p:nvPr/>
        </p:nvSpPr>
        <p:spPr>
          <a:xfrm>
            <a:off x="743407" y="111384"/>
            <a:ext cx="100059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800" b="1" dirty="0">
                <a:solidFill>
                  <a:srgbClr val="FF0000"/>
                </a:solidFill>
              </a:rPr>
              <a:t>Definición del esquema SQL para la base de datos del banco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816577-92D7-92FF-3842-A15FE6AD7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2470" y="792660"/>
            <a:ext cx="5087060" cy="5953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466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0D2F1-0CCE-26A1-C699-7C72A85AB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880F04-283D-A5C3-C97C-887D7B884737}"/>
              </a:ext>
            </a:extLst>
          </p:cNvPr>
          <p:cNvSpPr txBox="1"/>
          <p:nvPr/>
        </p:nvSpPr>
        <p:spPr>
          <a:xfrm>
            <a:off x="706831" y="586872"/>
            <a:ext cx="81977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800" b="1" dirty="0">
                <a:solidFill>
                  <a:srgbClr val="FF0000"/>
                </a:solidFill>
              </a:rPr>
              <a:t>Comando </a:t>
            </a:r>
            <a:r>
              <a:rPr lang="es-CO" sz="2800" b="1" dirty="0" err="1">
                <a:solidFill>
                  <a:srgbClr val="FF0000"/>
                </a:solidFill>
              </a:rPr>
              <a:t>insert</a:t>
            </a:r>
            <a:r>
              <a:rPr lang="es-CO" sz="2800" b="1" dirty="0">
                <a:solidFill>
                  <a:srgbClr val="FF0000"/>
                </a:solidFill>
              </a:rPr>
              <a:t>, comando </a:t>
            </a:r>
            <a:r>
              <a:rPr lang="es-CO" sz="2800" b="1" dirty="0" err="1">
                <a:solidFill>
                  <a:srgbClr val="FF0000"/>
                </a:solidFill>
              </a:rPr>
              <a:t>delete</a:t>
            </a:r>
            <a:r>
              <a:rPr lang="es-CO" sz="2800" b="1" dirty="0">
                <a:solidFill>
                  <a:srgbClr val="FF0000"/>
                </a:solidFill>
              </a:rPr>
              <a:t>, comando </a:t>
            </a:r>
            <a:r>
              <a:rPr lang="es-CO" sz="2800" b="1" dirty="0" err="1">
                <a:solidFill>
                  <a:srgbClr val="FF0000"/>
                </a:solidFill>
              </a:rPr>
              <a:t>drop</a:t>
            </a:r>
            <a:endParaRPr lang="es-CO" sz="2800" b="1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669A71-5E7F-EC79-F7D4-0E6AC4B987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808" y="1517664"/>
            <a:ext cx="7814382" cy="11340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6DA07B-931B-3763-674E-A096DE2BA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2808" y="3308951"/>
            <a:ext cx="3838410" cy="8972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8D3CAFC-309C-8CA3-AF9A-5681828844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2808" y="4630038"/>
            <a:ext cx="3186295" cy="897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77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CC2B7-CF70-07E6-B5E6-79E865D99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B4924F-3212-3048-7F57-778E181D34E4}"/>
              </a:ext>
            </a:extLst>
          </p:cNvPr>
          <p:cNvSpPr txBox="1"/>
          <p:nvPr/>
        </p:nvSpPr>
        <p:spPr>
          <a:xfrm>
            <a:off x="519472" y="175392"/>
            <a:ext cx="61659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800" b="1" dirty="0">
                <a:solidFill>
                  <a:srgbClr val="FF0000"/>
                </a:solidFill>
              </a:rPr>
              <a:t>Estructura básica de la consulta SQL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3D3284-73AF-3A72-1BBA-261664820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72" y="1194263"/>
            <a:ext cx="11025039" cy="27193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901CC5-ACA2-8FD2-4A56-3D3D9AB6C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74" y="4302761"/>
            <a:ext cx="3892683" cy="1360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0003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643ED-82E8-5BA6-FDF0-45063CDD5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006429-156A-B852-60C8-5E3B06CE1485}"/>
              </a:ext>
            </a:extLst>
          </p:cNvPr>
          <p:cNvSpPr txBox="1"/>
          <p:nvPr/>
        </p:nvSpPr>
        <p:spPr>
          <a:xfrm>
            <a:off x="1177840" y="259820"/>
            <a:ext cx="27414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800" b="1" dirty="0">
                <a:solidFill>
                  <a:srgbClr val="FF0000"/>
                </a:solidFill>
              </a:rPr>
              <a:t>Cláusula </a:t>
            </a:r>
            <a:r>
              <a:rPr lang="es-CO" sz="2800" b="1" dirty="0" err="1">
                <a:solidFill>
                  <a:srgbClr val="FF0000"/>
                </a:solidFill>
              </a:rPr>
              <a:t>select</a:t>
            </a:r>
            <a:endParaRPr lang="es-CO" sz="2800" b="1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85103A-F09D-8AA3-DADF-EC9ABA55C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32" y="2411416"/>
            <a:ext cx="11516636" cy="15738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92E59C-CB39-9C3D-C1E5-3A0A74E53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2257" y="941879"/>
            <a:ext cx="3763496" cy="9653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F1B55E9-89AE-59BC-DC25-E76051157F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532" y="4626768"/>
            <a:ext cx="11781900" cy="1573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151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F78A9-06E6-E25E-A802-497C58EA3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7963DA-3A97-FEE0-FEC1-57A1794059ED}"/>
              </a:ext>
            </a:extLst>
          </p:cNvPr>
          <p:cNvSpPr txBox="1"/>
          <p:nvPr/>
        </p:nvSpPr>
        <p:spPr>
          <a:xfrm>
            <a:off x="1177840" y="259820"/>
            <a:ext cx="27358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800" b="1" dirty="0">
                <a:solidFill>
                  <a:srgbClr val="FF0000"/>
                </a:solidFill>
              </a:rPr>
              <a:t>Cláusula </a:t>
            </a:r>
            <a:r>
              <a:rPr lang="es-CO" sz="2800" b="1" dirty="0" err="1">
                <a:solidFill>
                  <a:srgbClr val="FF0000"/>
                </a:solidFill>
              </a:rPr>
              <a:t>where</a:t>
            </a:r>
            <a:endParaRPr lang="es-CO" sz="2800" b="1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1E5DF3-ABFE-5A54-3348-FD374E6AA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0414" y="1251844"/>
            <a:ext cx="7765985" cy="11891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22CDD9B-3FB3-882A-C9B7-583B05AC4E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18" y="2909815"/>
            <a:ext cx="10240804" cy="10383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D95DBB0-0A16-90E3-6114-F104B168FD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837" y="4780719"/>
            <a:ext cx="4439270" cy="9621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F44086E-2E01-CCB6-FCF9-DCB364B6AB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9670" y="4804534"/>
            <a:ext cx="4934639" cy="91452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9B33429-E556-DE63-DCA6-95F8C39CBBC8}"/>
              </a:ext>
            </a:extLst>
          </p:cNvPr>
          <p:cNvSpPr txBox="1"/>
          <p:nvPr/>
        </p:nvSpPr>
        <p:spPr>
          <a:xfrm>
            <a:off x="5568696" y="5093208"/>
            <a:ext cx="5455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800" b="1" dirty="0">
                <a:solidFill>
                  <a:srgbClr val="FF0000"/>
                </a:solidFill>
              </a:rPr>
              <a:t>vs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20678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7AD16-9075-4AB4-307E-613F4C0E7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C8495DB-C0A8-596D-0896-D8082133B233}"/>
              </a:ext>
            </a:extLst>
          </p:cNvPr>
          <p:cNvSpPr txBox="1"/>
          <p:nvPr/>
        </p:nvSpPr>
        <p:spPr>
          <a:xfrm>
            <a:off x="1177840" y="259820"/>
            <a:ext cx="24969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800" b="1" dirty="0">
                <a:solidFill>
                  <a:srgbClr val="FF0000"/>
                </a:solidFill>
              </a:rPr>
              <a:t>Cláusula </a:t>
            </a:r>
            <a:r>
              <a:rPr lang="es-CO" sz="2800" b="1" dirty="0" err="1">
                <a:solidFill>
                  <a:srgbClr val="FF0000"/>
                </a:solidFill>
              </a:rPr>
              <a:t>from</a:t>
            </a:r>
            <a:endParaRPr lang="es-CO" sz="2800" b="1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CB3B5B-1CFC-FC03-14DD-2689126355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074" y="1341786"/>
            <a:ext cx="9561727" cy="14014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3BFBA0-A2BD-BDB0-517B-9291AD862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3074" y="3648456"/>
            <a:ext cx="9050613" cy="1581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9323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ACD9A-AD6B-AAA1-E8C1-95368C9AE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E0226BA-0BCE-2BC9-5FB9-8E96B61AF832}"/>
              </a:ext>
            </a:extLst>
          </p:cNvPr>
          <p:cNvSpPr txBox="1"/>
          <p:nvPr/>
        </p:nvSpPr>
        <p:spPr>
          <a:xfrm>
            <a:off x="1177840" y="259820"/>
            <a:ext cx="47100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800" b="1" dirty="0">
                <a:solidFill>
                  <a:srgbClr val="FF0000"/>
                </a:solidFill>
              </a:rPr>
              <a:t>Operación renombramiento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3597C3-9BCD-3500-6294-45CD8AF16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8772" y="1175163"/>
            <a:ext cx="5412264" cy="7267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95FB675-3E74-5ED3-029D-8AC7E2B93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815" y="2438990"/>
            <a:ext cx="7070030" cy="1255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237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AF305-89E2-C0AA-0A29-B0750AB7C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070D30-13C9-0272-7A9A-B0CEBD602698}"/>
              </a:ext>
            </a:extLst>
          </p:cNvPr>
          <p:cNvSpPr txBox="1"/>
          <p:nvPr/>
        </p:nvSpPr>
        <p:spPr>
          <a:xfrm>
            <a:off x="1177840" y="259820"/>
            <a:ext cx="58939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800" b="1" dirty="0">
                <a:solidFill>
                  <a:srgbClr val="FF0000"/>
                </a:solidFill>
              </a:rPr>
              <a:t>Orden en la presentación de tuplas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B940F8-FF25-A90D-1261-336AD6C68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840" y="1416077"/>
            <a:ext cx="8699481" cy="18483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DF65D4-4DD5-6B38-1B37-60CBE6337A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840" y="3897445"/>
            <a:ext cx="7183123" cy="1622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1557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E5364-E33A-273D-3062-620976749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8E194BC-F7C5-CB36-52C3-EB9166A40139}"/>
              </a:ext>
            </a:extLst>
          </p:cNvPr>
          <p:cNvSpPr txBox="1"/>
          <p:nvPr/>
        </p:nvSpPr>
        <p:spPr>
          <a:xfrm>
            <a:off x="1177840" y="259820"/>
            <a:ext cx="499322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800" b="1" dirty="0">
                <a:solidFill>
                  <a:srgbClr val="FF0000"/>
                </a:solidFill>
              </a:rPr>
              <a:t>Operaciones sobre conjuntos</a:t>
            </a:r>
          </a:p>
          <a:p>
            <a:endParaRPr lang="es-CO" sz="2800" b="1" dirty="0">
              <a:solidFill>
                <a:srgbClr val="FF0000"/>
              </a:solidFill>
            </a:endParaRPr>
          </a:p>
          <a:p>
            <a:r>
              <a:rPr lang="es-CO" sz="2800" b="1" dirty="0">
                <a:solidFill>
                  <a:srgbClr val="FF0000"/>
                </a:solidFill>
              </a:rPr>
              <a:t>Operación unión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6F08F1-C015-4B36-7863-756AAEE20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4289" y="1291677"/>
            <a:ext cx="2870407" cy="17244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BA46FD6-8E08-5BBC-A92D-724173E3B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96" y="3638991"/>
            <a:ext cx="10629002" cy="2368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4909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C3AFA-29F3-07EB-3CAA-A13AC34CF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C644925-627D-8A71-3C1B-D150F7B198BF}"/>
              </a:ext>
            </a:extLst>
          </p:cNvPr>
          <p:cNvSpPr txBox="1"/>
          <p:nvPr/>
        </p:nvSpPr>
        <p:spPr>
          <a:xfrm>
            <a:off x="1177840" y="259820"/>
            <a:ext cx="499322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800" b="1" dirty="0">
                <a:solidFill>
                  <a:srgbClr val="FF0000"/>
                </a:solidFill>
              </a:rPr>
              <a:t>Operaciones sobre conjuntos</a:t>
            </a:r>
          </a:p>
          <a:p>
            <a:r>
              <a:rPr lang="es-CO" sz="2800" b="1" dirty="0">
                <a:solidFill>
                  <a:srgbClr val="FF0000"/>
                </a:solidFill>
              </a:rPr>
              <a:t>Operación intersección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726ACB-AD7A-A5CC-7601-CE983A4D2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269" y="1455266"/>
            <a:ext cx="10748540" cy="23025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5B2E49-38DF-2A2B-E613-F2B5571BC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453" y="4426285"/>
            <a:ext cx="10012172" cy="195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4234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4FB17-672A-7210-436C-C50439A83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21DF3F0-FE87-47EF-C145-132A5DB7D5E8}"/>
              </a:ext>
            </a:extLst>
          </p:cNvPr>
          <p:cNvSpPr txBox="1"/>
          <p:nvPr/>
        </p:nvSpPr>
        <p:spPr>
          <a:xfrm>
            <a:off x="1177840" y="259820"/>
            <a:ext cx="499322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800" b="1" dirty="0">
                <a:solidFill>
                  <a:srgbClr val="FF0000"/>
                </a:solidFill>
              </a:rPr>
              <a:t>Operaciones sobre conjuntos</a:t>
            </a:r>
          </a:p>
          <a:p>
            <a:r>
              <a:rPr lang="es-CO" sz="2800" b="1" dirty="0">
                <a:solidFill>
                  <a:srgbClr val="FF0000"/>
                </a:solidFill>
              </a:rPr>
              <a:t>Operación excepto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5732FB-B039-E69E-E143-4FA82DEA3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539" y="1838549"/>
            <a:ext cx="10250330" cy="224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5832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8DEBB-4BC7-083A-EB6D-FCE3DC821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7052EC1-6711-6332-AC4E-A846CCD2A42D}"/>
              </a:ext>
            </a:extLst>
          </p:cNvPr>
          <p:cNvSpPr txBox="1"/>
          <p:nvPr/>
        </p:nvSpPr>
        <p:spPr>
          <a:xfrm>
            <a:off x="1177840" y="259820"/>
            <a:ext cx="42413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800" b="1" dirty="0">
                <a:solidFill>
                  <a:srgbClr val="FF0000"/>
                </a:solidFill>
              </a:rPr>
              <a:t>Funciones de agregación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E4FEBA-9329-4828-754F-8583C8E3D5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365" y="992123"/>
            <a:ext cx="10390427" cy="27459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2BE2A6-7B76-D187-F259-4127A04E73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6308" y="2132329"/>
            <a:ext cx="5459783" cy="12308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DECECE6-2AAC-EFE5-D7E1-A64680AF9C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365" y="4387288"/>
            <a:ext cx="10355120" cy="168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9346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1EE9D-F834-077B-51F5-282A9E231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010D58F-44F7-916E-6847-9172C81C22F5}"/>
              </a:ext>
            </a:extLst>
          </p:cNvPr>
          <p:cNvSpPr txBox="1"/>
          <p:nvPr/>
        </p:nvSpPr>
        <p:spPr>
          <a:xfrm>
            <a:off x="1177840" y="259820"/>
            <a:ext cx="23991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800" b="1" dirty="0">
                <a:solidFill>
                  <a:srgbClr val="FF0000"/>
                </a:solidFill>
              </a:rPr>
              <a:t>Valores nulos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077E62-8515-1EC0-4B49-E5F73565F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503" y="1392197"/>
            <a:ext cx="11226993" cy="2631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3926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3B672-12B7-DC4E-4FC6-C9998802E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35654A9-C27D-8DA2-5B52-28C682C718FB}"/>
              </a:ext>
            </a:extLst>
          </p:cNvPr>
          <p:cNvSpPr txBox="1"/>
          <p:nvPr/>
        </p:nvSpPr>
        <p:spPr>
          <a:xfrm>
            <a:off x="1177840" y="259820"/>
            <a:ext cx="40217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800" b="1" dirty="0">
                <a:solidFill>
                  <a:srgbClr val="FF0000"/>
                </a:solidFill>
              </a:rPr>
              <a:t>Subconsultas anidadas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2F701E-B883-FFC4-79B0-E6B0307F7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396" y="1064048"/>
            <a:ext cx="11236785" cy="13133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4981FC-2024-0AA9-B819-EECA3FC860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2204" y="2540884"/>
            <a:ext cx="5417736" cy="13133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436E5A-76CF-F39C-76E9-9E792A2AB5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2204" y="4478712"/>
            <a:ext cx="7297168" cy="232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522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91</Words>
  <Application>Microsoft Office PowerPoint</Application>
  <PresentationFormat>Widescreen</PresentationFormat>
  <Paragraphs>26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Jorge Mario Becerra Pareja</dc:creator>
  <cp:lastModifiedBy>Jorge Mario Becerra Pareja</cp:lastModifiedBy>
  <cp:revision>25</cp:revision>
  <dcterms:created xsi:type="dcterms:W3CDTF">2025-09-02T06:25:25Z</dcterms:created>
  <dcterms:modified xsi:type="dcterms:W3CDTF">2025-09-02T07:17:45Z</dcterms:modified>
</cp:coreProperties>
</file>