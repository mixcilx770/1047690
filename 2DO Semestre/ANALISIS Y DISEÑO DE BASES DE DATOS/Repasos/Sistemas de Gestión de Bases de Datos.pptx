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56"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96" r:id="rId21"/>
    <p:sldId id="276" r:id="rId22"/>
    <p:sldId id="297" r:id="rId23"/>
    <p:sldId id="298" r:id="rId24"/>
    <p:sldId id="299" r:id="rId25"/>
    <p:sldId id="300" r:id="rId26"/>
    <p:sldId id="301" r:id="rId27"/>
    <p:sldId id="302" r:id="rId28"/>
    <p:sldId id="303" r:id="rId29"/>
    <p:sldId id="304" r:id="rId30"/>
    <p:sldId id="305" r:id="rId31"/>
    <p:sldId id="306" r:id="rId32"/>
    <p:sldId id="307" r:id="rId33"/>
    <p:sldId id="308" r:id="rId34"/>
    <p:sldId id="309" r:id="rId35"/>
    <p:sldId id="310" r:id="rId36"/>
    <p:sldId id="311" r:id="rId37"/>
    <p:sldId id="312" r:id="rId38"/>
    <p:sldId id="313" r:id="rId39"/>
    <p:sldId id="277" r:id="rId40"/>
    <p:sldId id="279" r:id="rId41"/>
    <p:sldId id="278" r:id="rId42"/>
    <p:sldId id="280" r:id="rId43"/>
    <p:sldId id="281" r:id="rId44"/>
    <p:sldId id="282" r:id="rId45"/>
    <p:sldId id="283" r:id="rId46"/>
    <p:sldId id="284" r:id="rId47"/>
    <p:sldId id="285" r:id="rId48"/>
    <p:sldId id="286" r:id="rId49"/>
    <p:sldId id="287" r:id="rId50"/>
    <p:sldId id="288" r:id="rId51"/>
    <p:sldId id="290" r:id="rId52"/>
    <p:sldId id="289" r:id="rId53"/>
    <p:sldId id="291" r:id="rId54"/>
    <p:sldId id="292" r:id="rId55"/>
    <p:sldId id="293"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1" d="100"/>
          <a:sy n="101" d="100"/>
        </p:scale>
        <p:origin x="99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AD75D-3439-6A97-085B-6EC71E01D8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251623E-80B9-4632-AB22-C63AD0A25F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B5078CB-156F-E845-9CCB-A7CB1ECEA4AB}"/>
              </a:ext>
            </a:extLst>
          </p:cNvPr>
          <p:cNvSpPr>
            <a:spLocks noGrp="1"/>
          </p:cNvSpPr>
          <p:nvPr>
            <p:ph type="dt" sz="half" idx="10"/>
          </p:nvPr>
        </p:nvSpPr>
        <p:spPr/>
        <p:txBody>
          <a:bodyPr/>
          <a:lstStyle/>
          <a:p>
            <a:fld id="{966092F5-0FD2-45F3-8F8F-201670314E50}" type="datetimeFigureOut">
              <a:rPr lang="en-US" smtClean="0"/>
              <a:t>8/31/2025</a:t>
            </a:fld>
            <a:endParaRPr lang="en-US"/>
          </a:p>
        </p:txBody>
      </p:sp>
      <p:sp>
        <p:nvSpPr>
          <p:cNvPr id="5" name="Footer Placeholder 4">
            <a:extLst>
              <a:ext uri="{FF2B5EF4-FFF2-40B4-BE49-F238E27FC236}">
                <a16:creationId xmlns:a16="http://schemas.microsoft.com/office/drawing/2014/main" id="{75AF3FC1-19AE-405C-BEB1-8AE6C79E1B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7C7AB1-2981-69F3-A55D-FADA3B8378A8}"/>
              </a:ext>
            </a:extLst>
          </p:cNvPr>
          <p:cNvSpPr>
            <a:spLocks noGrp="1"/>
          </p:cNvSpPr>
          <p:nvPr>
            <p:ph type="sldNum" sz="quarter" idx="12"/>
          </p:nvPr>
        </p:nvSpPr>
        <p:spPr/>
        <p:txBody>
          <a:bodyPr/>
          <a:lstStyle/>
          <a:p>
            <a:fld id="{34F77BFB-1732-4D88-A8FF-DB983D225F12}" type="slidenum">
              <a:rPr lang="en-US" smtClean="0"/>
              <a:t>‹#›</a:t>
            </a:fld>
            <a:endParaRPr lang="en-US"/>
          </a:p>
        </p:txBody>
      </p:sp>
    </p:spTree>
    <p:extLst>
      <p:ext uri="{BB962C8B-B14F-4D97-AF65-F5344CB8AC3E}">
        <p14:creationId xmlns:p14="http://schemas.microsoft.com/office/powerpoint/2010/main" val="2484880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86CB3-EBB2-224F-BF80-AAE7D1F9A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2D14DE-1741-39F3-1693-A8793F3935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96AFFA-7B2E-10F2-CDCF-E7E8F7199175}"/>
              </a:ext>
            </a:extLst>
          </p:cNvPr>
          <p:cNvSpPr>
            <a:spLocks noGrp="1"/>
          </p:cNvSpPr>
          <p:nvPr>
            <p:ph type="dt" sz="half" idx="10"/>
          </p:nvPr>
        </p:nvSpPr>
        <p:spPr/>
        <p:txBody>
          <a:bodyPr/>
          <a:lstStyle/>
          <a:p>
            <a:fld id="{966092F5-0FD2-45F3-8F8F-201670314E50}" type="datetimeFigureOut">
              <a:rPr lang="en-US" smtClean="0"/>
              <a:t>8/31/2025</a:t>
            </a:fld>
            <a:endParaRPr lang="en-US"/>
          </a:p>
        </p:txBody>
      </p:sp>
      <p:sp>
        <p:nvSpPr>
          <p:cNvPr id="5" name="Footer Placeholder 4">
            <a:extLst>
              <a:ext uri="{FF2B5EF4-FFF2-40B4-BE49-F238E27FC236}">
                <a16:creationId xmlns:a16="http://schemas.microsoft.com/office/drawing/2014/main" id="{5F992447-9DC2-0281-1EA5-25469BA432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59E5B-893C-BC29-D739-16F4A1D65EE7}"/>
              </a:ext>
            </a:extLst>
          </p:cNvPr>
          <p:cNvSpPr>
            <a:spLocks noGrp="1"/>
          </p:cNvSpPr>
          <p:nvPr>
            <p:ph type="sldNum" sz="quarter" idx="12"/>
          </p:nvPr>
        </p:nvSpPr>
        <p:spPr/>
        <p:txBody>
          <a:bodyPr/>
          <a:lstStyle/>
          <a:p>
            <a:fld id="{34F77BFB-1732-4D88-A8FF-DB983D225F12}" type="slidenum">
              <a:rPr lang="en-US" smtClean="0"/>
              <a:t>‹#›</a:t>
            </a:fld>
            <a:endParaRPr lang="en-US"/>
          </a:p>
        </p:txBody>
      </p:sp>
    </p:spTree>
    <p:extLst>
      <p:ext uri="{BB962C8B-B14F-4D97-AF65-F5344CB8AC3E}">
        <p14:creationId xmlns:p14="http://schemas.microsoft.com/office/powerpoint/2010/main" val="2338792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E5E86-8FB8-9BE1-F7EC-A51AC5D518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ACF956-8963-2842-B027-B242C63EBCD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197C58-61E2-460D-14E0-10D925AB15EE}"/>
              </a:ext>
            </a:extLst>
          </p:cNvPr>
          <p:cNvSpPr>
            <a:spLocks noGrp="1"/>
          </p:cNvSpPr>
          <p:nvPr>
            <p:ph type="dt" sz="half" idx="10"/>
          </p:nvPr>
        </p:nvSpPr>
        <p:spPr/>
        <p:txBody>
          <a:bodyPr/>
          <a:lstStyle/>
          <a:p>
            <a:fld id="{966092F5-0FD2-45F3-8F8F-201670314E50}" type="datetimeFigureOut">
              <a:rPr lang="en-US" smtClean="0"/>
              <a:t>8/31/2025</a:t>
            </a:fld>
            <a:endParaRPr lang="en-US"/>
          </a:p>
        </p:txBody>
      </p:sp>
      <p:sp>
        <p:nvSpPr>
          <p:cNvPr id="5" name="Footer Placeholder 4">
            <a:extLst>
              <a:ext uri="{FF2B5EF4-FFF2-40B4-BE49-F238E27FC236}">
                <a16:creationId xmlns:a16="http://schemas.microsoft.com/office/drawing/2014/main" id="{41A604ED-42C3-544E-CFD5-A62EEBD6D3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959B36-AB8A-B35D-DE5E-EB868A2BB79F}"/>
              </a:ext>
            </a:extLst>
          </p:cNvPr>
          <p:cNvSpPr>
            <a:spLocks noGrp="1"/>
          </p:cNvSpPr>
          <p:nvPr>
            <p:ph type="sldNum" sz="quarter" idx="12"/>
          </p:nvPr>
        </p:nvSpPr>
        <p:spPr/>
        <p:txBody>
          <a:bodyPr/>
          <a:lstStyle/>
          <a:p>
            <a:fld id="{34F77BFB-1732-4D88-A8FF-DB983D225F12}" type="slidenum">
              <a:rPr lang="en-US" smtClean="0"/>
              <a:t>‹#›</a:t>
            </a:fld>
            <a:endParaRPr lang="en-US"/>
          </a:p>
        </p:txBody>
      </p:sp>
    </p:spTree>
    <p:extLst>
      <p:ext uri="{BB962C8B-B14F-4D97-AF65-F5344CB8AC3E}">
        <p14:creationId xmlns:p14="http://schemas.microsoft.com/office/powerpoint/2010/main" val="3540353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23D2C-1F2B-8744-6CA6-64527585C7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743B05-A780-6DB5-7804-A86D383188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C8BF34-0BE1-2E05-035D-B82916D5B1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C37955-3FC9-AE95-6BDE-D7CFFC8A89D8}"/>
              </a:ext>
            </a:extLst>
          </p:cNvPr>
          <p:cNvSpPr>
            <a:spLocks noGrp="1"/>
          </p:cNvSpPr>
          <p:nvPr>
            <p:ph type="dt" sz="half" idx="10"/>
          </p:nvPr>
        </p:nvSpPr>
        <p:spPr/>
        <p:txBody>
          <a:bodyPr/>
          <a:lstStyle/>
          <a:p>
            <a:fld id="{966092F5-0FD2-45F3-8F8F-201670314E50}" type="datetimeFigureOut">
              <a:rPr lang="en-US" smtClean="0"/>
              <a:t>8/31/2025</a:t>
            </a:fld>
            <a:endParaRPr lang="en-US"/>
          </a:p>
        </p:txBody>
      </p:sp>
      <p:sp>
        <p:nvSpPr>
          <p:cNvPr id="6" name="Footer Placeholder 5">
            <a:extLst>
              <a:ext uri="{FF2B5EF4-FFF2-40B4-BE49-F238E27FC236}">
                <a16:creationId xmlns:a16="http://schemas.microsoft.com/office/drawing/2014/main" id="{F7752532-AF6A-2EBA-960A-B841A25CD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CDB107-558C-09DE-AEB0-1541362D17BC}"/>
              </a:ext>
            </a:extLst>
          </p:cNvPr>
          <p:cNvSpPr>
            <a:spLocks noGrp="1"/>
          </p:cNvSpPr>
          <p:nvPr>
            <p:ph type="sldNum" sz="quarter" idx="12"/>
          </p:nvPr>
        </p:nvSpPr>
        <p:spPr/>
        <p:txBody>
          <a:bodyPr/>
          <a:lstStyle/>
          <a:p>
            <a:fld id="{34F77BFB-1732-4D88-A8FF-DB983D225F12}" type="slidenum">
              <a:rPr lang="en-US" smtClean="0"/>
              <a:t>‹#›</a:t>
            </a:fld>
            <a:endParaRPr lang="en-US"/>
          </a:p>
        </p:txBody>
      </p:sp>
    </p:spTree>
    <p:extLst>
      <p:ext uri="{BB962C8B-B14F-4D97-AF65-F5344CB8AC3E}">
        <p14:creationId xmlns:p14="http://schemas.microsoft.com/office/powerpoint/2010/main" val="36175767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37FB1-5831-243A-8C52-6219E7D4C28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3D47FE3-33DA-27FC-EA19-C36E9C990B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DB37B2-BAFE-A423-A247-FD8A5F2657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3F3BD7-B4B0-CDE2-CB32-1DDF8C2CFA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66DC6-43F7-851C-9BE7-AD8D633D7C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DEBE4D8-2D57-1789-1029-614269BD9F75}"/>
              </a:ext>
            </a:extLst>
          </p:cNvPr>
          <p:cNvSpPr>
            <a:spLocks noGrp="1"/>
          </p:cNvSpPr>
          <p:nvPr>
            <p:ph type="dt" sz="half" idx="10"/>
          </p:nvPr>
        </p:nvSpPr>
        <p:spPr/>
        <p:txBody>
          <a:bodyPr/>
          <a:lstStyle/>
          <a:p>
            <a:fld id="{966092F5-0FD2-45F3-8F8F-201670314E50}" type="datetimeFigureOut">
              <a:rPr lang="en-US" smtClean="0"/>
              <a:t>8/31/2025</a:t>
            </a:fld>
            <a:endParaRPr lang="en-US"/>
          </a:p>
        </p:txBody>
      </p:sp>
      <p:sp>
        <p:nvSpPr>
          <p:cNvPr id="8" name="Footer Placeholder 7">
            <a:extLst>
              <a:ext uri="{FF2B5EF4-FFF2-40B4-BE49-F238E27FC236}">
                <a16:creationId xmlns:a16="http://schemas.microsoft.com/office/drawing/2014/main" id="{1627A21C-64F4-B83A-017E-DB9B5560DA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88FF20-B1FB-8618-F1EF-331A4093892B}"/>
              </a:ext>
            </a:extLst>
          </p:cNvPr>
          <p:cNvSpPr>
            <a:spLocks noGrp="1"/>
          </p:cNvSpPr>
          <p:nvPr>
            <p:ph type="sldNum" sz="quarter" idx="12"/>
          </p:nvPr>
        </p:nvSpPr>
        <p:spPr/>
        <p:txBody>
          <a:bodyPr/>
          <a:lstStyle/>
          <a:p>
            <a:fld id="{34F77BFB-1732-4D88-A8FF-DB983D225F12}" type="slidenum">
              <a:rPr lang="en-US" smtClean="0"/>
              <a:t>‹#›</a:t>
            </a:fld>
            <a:endParaRPr lang="en-US"/>
          </a:p>
        </p:txBody>
      </p:sp>
    </p:spTree>
    <p:extLst>
      <p:ext uri="{BB962C8B-B14F-4D97-AF65-F5344CB8AC3E}">
        <p14:creationId xmlns:p14="http://schemas.microsoft.com/office/powerpoint/2010/main" val="1103052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AE6C9-3119-773B-A847-BB5AE82C524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1E2B27-8D6E-F364-56CC-FAEFB0B72B42}"/>
              </a:ext>
            </a:extLst>
          </p:cNvPr>
          <p:cNvSpPr>
            <a:spLocks noGrp="1"/>
          </p:cNvSpPr>
          <p:nvPr>
            <p:ph type="dt" sz="half" idx="10"/>
          </p:nvPr>
        </p:nvSpPr>
        <p:spPr/>
        <p:txBody>
          <a:bodyPr/>
          <a:lstStyle/>
          <a:p>
            <a:fld id="{966092F5-0FD2-45F3-8F8F-201670314E50}" type="datetimeFigureOut">
              <a:rPr lang="en-US" smtClean="0"/>
              <a:t>8/31/2025</a:t>
            </a:fld>
            <a:endParaRPr lang="en-US"/>
          </a:p>
        </p:txBody>
      </p:sp>
      <p:sp>
        <p:nvSpPr>
          <p:cNvPr id="4" name="Footer Placeholder 3">
            <a:extLst>
              <a:ext uri="{FF2B5EF4-FFF2-40B4-BE49-F238E27FC236}">
                <a16:creationId xmlns:a16="http://schemas.microsoft.com/office/drawing/2014/main" id="{81177C95-6B73-51FC-45CF-356E5914D3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886BEEB-8299-B138-AEEB-6F2C5B8E6D6C}"/>
              </a:ext>
            </a:extLst>
          </p:cNvPr>
          <p:cNvSpPr>
            <a:spLocks noGrp="1"/>
          </p:cNvSpPr>
          <p:nvPr>
            <p:ph type="sldNum" sz="quarter" idx="12"/>
          </p:nvPr>
        </p:nvSpPr>
        <p:spPr/>
        <p:txBody>
          <a:bodyPr/>
          <a:lstStyle/>
          <a:p>
            <a:fld id="{34F77BFB-1732-4D88-A8FF-DB983D225F12}" type="slidenum">
              <a:rPr lang="en-US" smtClean="0"/>
              <a:t>‹#›</a:t>
            </a:fld>
            <a:endParaRPr lang="en-US"/>
          </a:p>
        </p:txBody>
      </p:sp>
    </p:spTree>
    <p:extLst>
      <p:ext uri="{BB962C8B-B14F-4D97-AF65-F5344CB8AC3E}">
        <p14:creationId xmlns:p14="http://schemas.microsoft.com/office/powerpoint/2010/main" val="1009195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B305FE-6795-F623-6D8F-8FA10BAA6E3B}"/>
              </a:ext>
            </a:extLst>
          </p:cNvPr>
          <p:cNvSpPr>
            <a:spLocks noGrp="1"/>
          </p:cNvSpPr>
          <p:nvPr>
            <p:ph type="dt" sz="half" idx="10"/>
          </p:nvPr>
        </p:nvSpPr>
        <p:spPr/>
        <p:txBody>
          <a:bodyPr/>
          <a:lstStyle/>
          <a:p>
            <a:fld id="{966092F5-0FD2-45F3-8F8F-201670314E50}" type="datetimeFigureOut">
              <a:rPr lang="en-US" smtClean="0"/>
              <a:t>8/31/2025</a:t>
            </a:fld>
            <a:endParaRPr lang="en-US"/>
          </a:p>
        </p:txBody>
      </p:sp>
      <p:sp>
        <p:nvSpPr>
          <p:cNvPr id="3" name="Footer Placeholder 2">
            <a:extLst>
              <a:ext uri="{FF2B5EF4-FFF2-40B4-BE49-F238E27FC236}">
                <a16:creationId xmlns:a16="http://schemas.microsoft.com/office/drawing/2014/main" id="{246D8A73-F547-8D06-EF4C-4545F1D96D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B47B6BA-10B3-1A09-725D-9A660FDE74F0}"/>
              </a:ext>
            </a:extLst>
          </p:cNvPr>
          <p:cNvSpPr>
            <a:spLocks noGrp="1"/>
          </p:cNvSpPr>
          <p:nvPr>
            <p:ph type="sldNum" sz="quarter" idx="12"/>
          </p:nvPr>
        </p:nvSpPr>
        <p:spPr/>
        <p:txBody>
          <a:bodyPr/>
          <a:lstStyle/>
          <a:p>
            <a:fld id="{34F77BFB-1732-4D88-A8FF-DB983D225F12}" type="slidenum">
              <a:rPr lang="en-US" smtClean="0"/>
              <a:t>‹#›</a:t>
            </a:fld>
            <a:endParaRPr lang="en-US"/>
          </a:p>
        </p:txBody>
      </p:sp>
    </p:spTree>
    <p:extLst>
      <p:ext uri="{BB962C8B-B14F-4D97-AF65-F5344CB8AC3E}">
        <p14:creationId xmlns:p14="http://schemas.microsoft.com/office/powerpoint/2010/main" val="1001524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570C9-7722-636E-A259-CE4ED1A64E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9BC5DA9-CD36-7701-2CA6-9A6CA6F41D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DB5298-056F-96DF-6E36-9AF97FF775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F07425-F082-347B-2F04-0D580BBA7CBC}"/>
              </a:ext>
            </a:extLst>
          </p:cNvPr>
          <p:cNvSpPr>
            <a:spLocks noGrp="1"/>
          </p:cNvSpPr>
          <p:nvPr>
            <p:ph type="dt" sz="half" idx="10"/>
          </p:nvPr>
        </p:nvSpPr>
        <p:spPr/>
        <p:txBody>
          <a:bodyPr/>
          <a:lstStyle/>
          <a:p>
            <a:fld id="{966092F5-0FD2-45F3-8F8F-201670314E50}" type="datetimeFigureOut">
              <a:rPr lang="en-US" smtClean="0"/>
              <a:t>8/31/2025</a:t>
            </a:fld>
            <a:endParaRPr lang="en-US"/>
          </a:p>
        </p:txBody>
      </p:sp>
      <p:sp>
        <p:nvSpPr>
          <p:cNvPr id="6" name="Footer Placeholder 5">
            <a:extLst>
              <a:ext uri="{FF2B5EF4-FFF2-40B4-BE49-F238E27FC236}">
                <a16:creationId xmlns:a16="http://schemas.microsoft.com/office/drawing/2014/main" id="{300F40BD-49E2-CA3D-6D9C-E8487B2ADE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722B29-A8B3-3720-97B3-7F09152AC821}"/>
              </a:ext>
            </a:extLst>
          </p:cNvPr>
          <p:cNvSpPr>
            <a:spLocks noGrp="1"/>
          </p:cNvSpPr>
          <p:nvPr>
            <p:ph type="sldNum" sz="quarter" idx="12"/>
          </p:nvPr>
        </p:nvSpPr>
        <p:spPr/>
        <p:txBody>
          <a:bodyPr/>
          <a:lstStyle/>
          <a:p>
            <a:fld id="{34F77BFB-1732-4D88-A8FF-DB983D225F12}" type="slidenum">
              <a:rPr lang="en-US" smtClean="0"/>
              <a:t>‹#›</a:t>
            </a:fld>
            <a:endParaRPr lang="en-US"/>
          </a:p>
        </p:txBody>
      </p:sp>
    </p:spTree>
    <p:extLst>
      <p:ext uri="{BB962C8B-B14F-4D97-AF65-F5344CB8AC3E}">
        <p14:creationId xmlns:p14="http://schemas.microsoft.com/office/powerpoint/2010/main" val="429507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453A5-1CC7-6A70-93D0-E348117C5A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987FD4A-44DB-299F-83DE-8321A1678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5B822F-E327-6565-1A61-DE39FAA1BC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F7FE4C-43DA-77D5-3E99-D6237967BE05}"/>
              </a:ext>
            </a:extLst>
          </p:cNvPr>
          <p:cNvSpPr>
            <a:spLocks noGrp="1"/>
          </p:cNvSpPr>
          <p:nvPr>
            <p:ph type="dt" sz="half" idx="10"/>
          </p:nvPr>
        </p:nvSpPr>
        <p:spPr/>
        <p:txBody>
          <a:bodyPr/>
          <a:lstStyle/>
          <a:p>
            <a:fld id="{966092F5-0FD2-45F3-8F8F-201670314E50}" type="datetimeFigureOut">
              <a:rPr lang="en-US" smtClean="0"/>
              <a:t>8/31/2025</a:t>
            </a:fld>
            <a:endParaRPr lang="en-US"/>
          </a:p>
        </p:txBody>
      </p:sp>
      <p:sp>
        <p:nvSpPr>
          <p:cNvPr id="6" name="Footer Placeholder 5">
            <a:extLst>
              <a:ext uri="{FF2B5EF4-FFF2-40B4-BE49-F238E27FC236}">
                <a16:creationId xmlns:a16="http://schemas.microsoft.com/office/drawing/2014/main" id="{93A4169A-2031-C05B-4BCF-04CD94353E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D87AF5-15CB-87BC-D564-4C58CA660AA5}"/>
              </a:ext>
            </a:extLst>
          </p:cNvPr>
          <p:cNvSpPr>
            <a:spLocks noGrp="1"/>
          </p:cNvSpPr>
          <p:nvPr>
            <p:ph type="sldNum" sz="quarter" idx="12"/>
          </p:nvPr>
        </p:nvSpPr>
        <p:spPr/>
        <p:txBody>
          <a:bodyPr/>
          <a:lstStyle/>
          <a:p>
            <a:fld id="{34F77BFB-1732-4D88-A8FF-DB983D225F12}" type="slidenum">
              <a:rPr lang="en-US" smtClean="0"/>
              <a:t>‹#›</a:t>
            </a:fld>
            <a:endParaRPr lang="en-US"/>
          </a:p>
        </p:txBody>
      </p:sp>
    </p:spTree>
    <p:extLst>
      <p:ext uri="{BB962C8B-B14F-4D97-AF65-F5344CB8AC3E}">
        <p14:creationId xmlns:p14="http://schemas.microsoft.com/office/powerpoint/2010/main" val="2243363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87147-97B1-E30A-5B5D-88655BAF35E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537BBC-0BA7-B16A-BFF9-56CC37FC26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1B8308-2470-5AC2-A4EB-DBE73242CCB7}"/>
              </a:ext>
            </a:extLst>
          </p:cNvPr>
          <p:cNvSpPr>
            <a:spLocks noGrp="1"/>
          </p:cNvSpPr>
          <p:nvPr>
            <p:ph type="dt" sz="half" idx="10"/>
          </p:nvPr>
        </p:nvSpPr>
        <p:spPr/>
        <p:txBody>
          <a:bodyPr/>
          <a:lstStyle/>
          <a:p>
            <a:fld id="{966092F5-0FD2-45F3-8F8F-201670314E50}" type="datetimeFigureOut">
              <a:rPr lang="en-US" smtClean="0"/>
              <a:t>8/31/2025</a:t>
            </a:fld>
            <a:endParaRPr lang="en-US"/>
          </a:p>
        </p:txBody>
      </p:sp>
      <p:sp>
        <p:nvSpPr>
          <p:cNvPr id="5" name="Footer Placeholder 4">
            <a:extLst>
              <a:ext uri="{FF2B5EF4-FFF2-40B4-BE49-F238E27FC236}">
                <a16:creationId xmlns:a16="http://schemas.microsoft.com/office/drawing/2014/main" id="{0E87816A-1515-B9B1-677A-6A77459880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7EA8FE-A197-A138-D692-CF6DBBE722FD}"/>
              </a:ext>
            </a:extLst>
          </p:cNvPr>
          <p:cNvSpPr>
            <a:spLocks noGrp="1"/>
          </p:cNvSpPr>
          <p:nvPr>
            <p:ph type="sldNum" sz="quarter" idx="12"/>
          </p:nvPr>
        </p:nvSpPr>
        <p:spPr/>
        <p:txBody>
          <a:bodyPr/>
          <a:lstStyle/>
          <a:p>
            <a:fld id="{34F77BFB-1732-4D88-A8FF-DB983D225F12}" type="slidenum">
              <a:rPr lang="en-US" smtClean="0"/>
              <a:t>‹#›</a:t>
            </a:fld>
            <a:endParaRPr lang="en-US"/>
          </a:p>
        </p:txBody>
      </p:sp>
    </p:spTree>
    <p:extLst>
      <p:ext uri="{BB962C8B-B14F-4D97-AF65-F5344CB8AC3E}">
        <p14:creationId xmlns:p14="http://schemas.microsoft.com/office/powerpoint/2010/main" val="3050429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462C35-DACD-3333-A1F4-7CB7A27D794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CADD38-D7F5-E878-AA0D-00366AACB4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978B65-3191-125F-B33A-7F56F7974BC6}"/>
              </a:ext>
            </a:extLst>
          </p:cNvPr>
          <p:cNvSpPr>
            <a:spLocks noGrp="1"/>
          </p:cNvSpPr>
          <p:nvPr>
            <p:ph type="dt" sz="half" idx="10"/>
          </p:nvPr>
        </p:nvSpPr>
        <p:spPr/>
        <p:txBody>
          <a:bodyPr/>
          <a:lstStyle/>
          <a:p>
            <a:fld id="{966092F5-0FD2-45F3-8F8F-201670314E50}" type="datetimeFigureOut">
              <a:rPr lang="en-US" smtClean="0"/>
              <a:t>8/31/2025</a:t>
            </a:fld>
            <a:endParaRPr lang="en-US"/>
          </a:p>
        </p:txBody>
      </p:sp>
      <p:sp>
        <p:nvSpPr>
          <p:cNvPr id="5" name="Footer Placeholder 4">
            <a:extLst>
              <a:ext uri="{FF2B5EF4-FFF2-40B4-BE49-F238E27FC236}">
                <a16:creationId xmlns:a16="http://schemas.microsoft.com/office/drawing/2014/main" id="{F1B5C098-1C28-93EF-0781-CF4FB34606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E8CD50-4262-B6CC-8C46-C05DEFEE5721}"/>
              </a:ext>
            </a:extLst>
          </p:cNvPr>
          <p:cNvSpPr>
            <a:spLocks noGrp="1"/>
          </p:cNvSpPr>
          <p:nvPr>
            <p:ph type="sldNum" sz="quarter" idx="12"/>
          </p:nvPr>
        </p:nvSpPr>
        <p:spPr/>
        <p:txBody>
          <a:bodyPr/>
          <a:lstStyle/>
          <a:p>
            <a:fld id="{34F77BFB-1732-4D88-A8FF-DB983D225F12}" type="slidenum">
              <a:rPr lang="en-US" smtClean="0"/>
              <a:t>‹#›</a:t>
            </a:fld>
            <a:endParaRPr lang="en-US"/>
          </a:p>
        </p:txBody>
      </p:sp>
    </p:spTree>
    <p:extLst>
      <p:ext uri="{BB962C8B-B14F-4D97-AF65-F5344CB8AC3E}">
        <p14:creationId xmlns:p14="http://schemas.microsoft.com/office/powerpoint/2010/main" val="3103936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34C647-4DEA-199C-419D-D63C348B77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0487DA-19D7-07B1-54F5-F20D2F72B9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01C712-EB8F-A9EB-504F-25D7C4CA41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66092F5-0FD2-45F3-8F8F-201670314E50}" type="datetimeFigureOut">
              <a:rPr lang="en-US" smtClean="0"/>
              <a:t>8/31/2025</a:t>
            </a:fld>
            <a:endParaRPr lang="en-US"/>
          </a:p>
        </p:txBody>
      </p:sp>
      <p:sp>
        <p:nvSpPr>
          <p:cNvPr id="5" name="Footer Placeholder 4">
            <a:extLst>
              <a:ext uri="{FF2B5EF4-FFF2-40B4-BE49-F238E27FC236}">
                <a16:creationId xmlns:a16="http://schemas.microsoft.com/office/drawing/2014/main" id="{26256730-9015-25B5-6AAF-B67F9B0CCA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930BF4E-E5B3-AF03-D97F-1C828B6A48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4F77BFB-1732-4D88-A8FF-DB983D225F12}" type="slidenum">
              <a:rPr lang="en-US" smtClean="0"/>
              <a:t>‹#›</a:t>
            </a:fld>
            <a:endParaRPr lang="en-US"/>
          </a:p>
        </p:txBody>
      </p:sp>
    </p:spTree>
    <p:extLst>
      <p:ext uri="{BB962C8B-B14F-4D97-AF65-F5344CB8AC3E}">
        <p14:creationId xmlns:p14="http://schemas.microsoft.com/office/powerpoint/2010/main" val="35023145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5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5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93A68A3-193F-5662-F7F7-6EBB75C1155A}"/>
              </a:ext>
            </a:extLst>
          </p:cNvPr>
          <p:cNvSpPr txBox="1"/>
          <p:nvPr/>
        </p:nvSpPr>
        <p:spPr>
          <a:xfrm>
            <a:off x="1014222" y="819113"/>
            <a:ext cx="8531439" cy="3416320"/>
          </a:xfrm>
          <a:prstGeom prst="rect">
            <a:avLst/>
          </a:prstGeom>
          <a:noFill/>
        </p:spPr>
        <p:txBody>
          <a:bodyPr wrap="square" rtlCol="0">
            <a:spAutoFit/>
          </a:bodyPr>
          <a:lstStyle/>
          <a:p>
            <a:r>
              <a:rPr lang="es-CO" sz="2800" b="1" dirty="0"/>
              <a:t>Sistemas de gestión de bases de datos (SGBD)</a:t>
            </a:r>
          </a:p>
          <a:p>
            <a:endParaRPr lang="es-CO" sz="2800" b="1" dirty="0"/>
          </a:p>
          <a:p>
            <a:endParaRPr lang="es-CO" sz="2000" b="1" dirty="0"/>
          </a:p>
          <a:p>
            <a:r>
              <a:rPr lang="es-CO" sz="2400" dirty="0"/>
              <a:t>Bibliografía</a:t>
            </a:r>
          </a:p>
          <a:p>
            <a:endParaRPr lang="es-CO" sz="2400" dirty="0"/>
          </a:p>
          <a:p>
            <a:r>
              <a:rPr lang="es-CO" sz="2400" dirty="0"/>
              <a:t>Fundamentos de bases de datos. </a:t>
            </a:r>
          </a:p>
          <a:p>
            <a:r>
              <a:rPr lang="es-CO" sz="2400" dirty="0" err="1"/>
              <a:t>Silberschatz</a:t>
            </a:r>
            <a:r>
              <a:rPr lang="es-CO" sz="2400" dirty="0"/>
              <a:t>, </a:t>
            </a:r>
            <a:r>
              <a:rPr lang="es-CO" sz="2400" dirty="0" err="1"/>
              <a:t>Korth</a:t>
            </a:r>
            <a:r>
              <a:rPr lang="es-CO" sz="2400" dirty="0"/>
              <a:t>, </a:t>
            </a:r>
            <a:r>
              <a:rPr lang="es-CO" sz="2400" dirty="0" err="1"/>
              <a:t>Sudarshan</a:t>
            </a:r>
            <a:r>
              <a:rPr lang="es-CO" sz="2400" dirty="0"/>
              <a:t>. 5ed. 2006</a:t>
            </a:r>
          </a:p>
          <a:p>
            <a:r>
              <a:rPr lang="es-CO" sz="2400" dirty="0"/>
              <a:t>Capítulos 1, 2, 3, 4, 6 y 7. </a:t>
            </a:r>
          </a:p>
          <a:p>
            <a:endParaRPr lang="es-CO" sz="2000" dirty="0"/>
          </a:p>
        </p:txBody>
      </p:sp>
    </p:spTree>
    <p:extLst>
      <p:ext uri="{BB962C8B-B14F-4D97-AF65-F5344CB8AC3E}">
        <p14:creationId xmlns:p14="http://schemas.microsoft.com/office/powerpoint/2010/main" val="2276688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77192A4-B43D-E3FA-1229-E35D30C1ABAC}"/>
              </a:ext>
            </a:extLst>
          </p:cNvPr>
          <p:cNvSpPr txBox="1"/>
          <p:nvPr/>
        </p:nvSpPr>
        <p:spPr>
          <a:xfrm>
            <a:off x="1076325" y="507111"/>
            <a:ext cx="10039350" cy="4832092"/>
          </a:xfrm>
          <a:prstGeom prst="rect">
            <a:avLst/>
          </a:prstGeom>
          <a:noFill/>
        </p:spPr>
        <p:txBody>
          <a:bodyPr wrap="square" rtlCol="0">
            <a:spAutoFit/>
          </a:bodyPr>
          <a:lstStyle/>
          <a:p>
            <a:r>
              <a:rPr lang="es-CO" sz="2800" b="1" dirty="0"/>
              <a:t>Sistemas de gestión de bases de datos (SGBD)</a:t>
            </a:r>
          </a:p>
          <a:p>
            <a:endParaRPr lang="es-CO" sz="2800" b="1" dirty="0"/>
          </a:p>
          <a:p>
            <a:endParaRPr lang="es-CO" sz="2800" b="1" dirty="0"/>
          </a:p>
          <a:p>
            <a:r>
              <a:rPr lang="es-CO" sz="2800" dirty="0"/>
              <a:t>Un sistema de base de datos es una </a:t>
            </a:r>
            <a:r>
              <a:rPr lang="es-CO" sz="2800" b="1" dirty="0"/>
              <a:t>colección de datos </a:t>
            </a:r>
            <a:r>
              <a:rPr lang="es-CO" sz="2800" dirty="0"/>
              <a:t>interrelacionados y un conjunto de programas para acceder a los datos y modificarlos.</a:t>
            </a:r>
          </a:p>
          <a:p>
            <a:endParaRPr lang="es-CO" sz="2800" dirty="0">
              <a:sym typeface="Wingdings" panose="05000000000000000000" pitchFamily="2" charset="2"/>
            </a:endParaRPr>
          </a:p>
          <a:p>
            <a:endParaRPr lang="es-CO" sz="2800" dirty="0">
              <a:sym typeface="Wingdings" panose="05000000000000000000" pitchFamily="2" charset="2"/>
            </a:endParaRPr>
          </a:p>
          <a:p>
            <a:r>
              <a:rPr lang="es-CO" sz="2800" dirty="0">
                <a:sym typeface="Wingdings" panose="05000000000000000000" pitchFamily="2" charset="2"/>
              </a:rPr>
              <a:t>El objetivo de un SGBD es proporcionar una forma de almacenar y recuperar la información de una base de datos de manera que sea práctica y eficiente.</a:t>
            </a:r>
            <a:endParaRPr lang="es-CO" sz="2800" dirty="0"/>
          </a:p>
        </p:txBody>
      </p:sp>
    </p:spTree>
    <p:extLst>
      <p:ext uri="{BB962C8B-B14F-4D97-AF65-F5344CB8AC3E}">
        <p14:creationId xmlns:p14="http://schemas.microsoft.com/office/powerpoint/2010/main" val="3989057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31F2C-9604-4C6A-A70A-3D448BF67C7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5AFBF06-C533-E3FA-DC68-A1D97F00C07F}"/>
              </a:ext>
            </a:extLst>
          </p:cNvPr>
          <p:cNvSpPr txBox="1"/>
          <p:nvPr/>
        </p:nvSpPr>
        <p:spPr>
          <a:xfrm>
            <a:off x="966978" y="452247"/>
            <a:ext cx="10417302" cy="5386090"/>
          </a:xfrm>
          <a:prstGeom prst="rect">
            <a:avLst/>
          </a:prstGeom>
          <a:noFill/>
        </p:spPr>
        <p:txBody>
          <a:bodyPr wrap="square" rtlCol="0">
            <a:spAutoFit/>
          </a:bodyPr>
          <a:lstStyle/>
          <a:p>
            <a:r>
              <a:rPr lang="es-CO" sz="2800" b="1" dirty="0"/>
              <a:t>Aplicaciones de los sistemas de bases de datos</a:t>
            </a:r>
          </a:p>
          <a:p>
            <a:endParaRPr lang="es-CO" sz="2800" b="1" dirty="0"/>
          </a:p>
          <a:p>
            <a:r>
              <a:rPr lang="es-CO" sz="2400" dirty="0"/>
              <a:t>Algunas de la aplicaciones representativas son:</a:t>
            </a:r>
          </a:p>
          <a:p>
            <a:endParaRPr lang="es-CO" sz="2400" dirty="0"/>
          </a:p>
          <a:p>
            <a:pPr marL="342900" indent="-342900">
              <a:buFontTx/>
              <a:buChar char="-"/>
            </a:pPr>
            <a:r>
              <a:rPr lang="es-CO" sz="2400" dirty="0"/>
              <a:t>Banca (Bancos).</a:t>
            </a:r>
          </a:p>
          <a:p>
            <a:pPr marL="342900" indent="-342900">
              <a:buFontTx/>
              <a:buChar char="-"/>
            </a:pPr>
            <a:r>
              <a:rPr lang="es-CO" sz="2400" dirty="0"/>
              <a:t>Líneas aéreas (aerolíneas con bases de datos).</a:t>
            </a:r>
          </a:p>
          <a:p>
            <a:pPr marL="342900" indent="-342900">
              <a:buFontTx/>
              <a:buChar char="-"/>
            </a:pPr>
            <a:r>
              <a:rPr lang="es-CO" sz="2400" dirty="0"/>
              <a:t>Universidades (estudiantes, matriculas).</a:t>
            </a:r>
          </a:p>
          <a:p>
            <a:pPr marL="342900" indent="-342900">
              <a:buFontTx/>
              <a:buChar char="-"/>
            </a:pPr>
            <a:r>
              <a:rPr lang="es-CO" sz="2400" dirty="0"/>
              <a:t>Transacciones de tarjetas de crédito (Banca, Comercio).</a:t>
            </a:r>
          </a:p>
          <a:p>
            <a:pPr marL="342900" indent="-342900">
              <a:buFontTx/>
              <a:buChar char="-"/>
            </a:pPr>
            <a:r>
              <a:rPr lang="es-CO" sz="2400" dirty="0"/>
              <a:t>Compañías de telecomunicaciones (clientes, productos).</a:t>
            </a:r>
          </a:p>
          <a:p>
            <a:pPr marL="342900" indent="-342900">
              <a:buFontTx/>
              <a:buChar char="-"/>
            </a:pPr>
            <a:r>
              <a:rPr lang="es-CO" sz="2400" dirty="0"/>
              <a:t>Finanzas (bolsa de valores).</a:t>
            </a:r>
          </a:p>
          <a:p>
            <a:pPr marL="342900" indent="-342900">
              <a:buFontTx/>
              <a:buChar char="-"/>
            </a:pPr>
            <a:r>
              <a:rPr lang="es-CO" sz="2400" dirty="0"/>
              <a:t>Comercio por mayor y detal (ventas).</a:t>
            </a:r>
          </a:p>
          <a:p>
            <a:pPr marL="342900" indent="-342900">
              <a:buFontTx/>
              <a:buChar char="-"/>
            </a:pPr>
            <a:r>
              <a:rPr lang="es-CO" sz="2400" dirty="0"/>
              <a:t>Comercio en línea.</a:t>
            </a:r>
          </a:p>
          <a:p>
            <a:pPr marL="342900" indent="-342900">
              <a:buFontTx/>
              <a:buChar char="-"/>
            </a:pPr>
            <a:r>
              <a:rPr lang="es-CO" sz="2400" dirty="0"/>
              <a:t>Producción (cadena suministro, proveedores).</a:t>
            </a:r>
          </a:p>
          <a:p>
            <a:pPr marL="342900" indent="-342900">
              <a:buFontTx/>
              <a:buChar char="-"/>
            </a:pPr>
            <a:r>
              <a:rPr lang="es-CO" sz="2400" dirty="0"/>
              <a:t>Recursos humanos (empleados, salarios, nómina).</a:t>
            </a:r>
          </a:p>
        </p:txBody>
      </p:sp>
    </p:spTree>
    <p:extLst>
      <p:ext uri="{BB962C8B-B14F-4D97-AF65-F5344CB8AC3E}">
        <p14:creationId xmlns:p14="http://schemas.microsoft.com/office/powerpoint/2010/main" val="3367181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41B62-7B53-8A71-0F98-74C1E911253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A6898A8-EB38-F032-976A-2E70A70381C2}"/>
              </a:ext>
            </a:extLst>
          </p:cNvPr>
          <p:cNvSpPr txBox="1"/>
          <p:nvPr/>
        </p:nvSpPr>
        <p:spPr>
          <a:xfrm>
            <a:off x="966978" y="452247"/>
            <a:ext cx="10417302" cy="5816977"/>
          </a:xfrm>
          <a:prstGeom prst="rect">
            <a:avLst/>
          </a:prstGeom>
          <a:noFill/>
        </p:spPr>
        <p:txBody>
          <a:bodyPr wrap="square" rtlCol="0">
            <a:spAutoFit/>
          </a:bodyPr>
          <a:lstStyle/>
          <a:p>
            <a:r>
              <a:rPr lang="es-CO" sz="2800" b="1" dirty="0"/>
              <a:t>Origen de los sistemas de bases de datos: Sistemas de procesamiento de archivos.</a:t>
            </a:r>
          </a:p>
          <a:p>
            <a:endParaRPr lang="es-CO" sz="2800" b="1" dirty="0"/>
          </a:p>
          <a:p>
            <a:r>
              <a:rPr lang="es-CO" sz="2400" dirty="0"/>
              <a:t>La información es almacenada en archivos del sistema operativo.</a:t>
            </a:r>
          </a:p>
          <a:p>
            <a:endParaRPr lang="es-CO" sz="2400" dirty="0"/>
          </a:p>
          <a:p>
            <a:r>
              <a:rPr lang="es-CO" sz="2400" dirty="0"/>
              <a:t>Se desarrollan programas de aplicación que gestionan los archivos.</a:t>
            </a:r>
          </a:p>
          <a:p>
            <a:endParaRPr lang="es-CO" sz="2400" dirty="0"/>
          </a:p>
          <a:p>
            <a:r>
              <a:rPr lang="es-CO" sz="2400" dirty="0"/>
              <a:t>Ejemplo en cuentas bancarias:</a:t>
            </a:r>
          </a:p>
          <a:p>
            <a:endParaRPr lang="es-CO" sz="2400" dirty="0"/>
          </a:p>
          <a:p>
            <a:pPr marL="342900" indent="-342900">
              <a:buFontTx/>
              <a:buChar char="-"/>
            </a:pPr>
            <a:r>
              <a:rPr lang="es-CO" sz="2400" dirty="0"/>
              <a:t>Crear cuentas bancarias.</a:t>
            </a:r>
          </a:p>
          <a:p>
            <a:pPr marL="342900" indent="-342900">
              <a:buFontTx/>
              <a:buChar char="-"/>
            </a:pPr>
            <a:r>
              <a:rPr lang="es-CO" sz="2400" dirty="0"/>
              <a:t>Efectuar abonos a las cuentas.</a:t>
            </a:r>
          </a:p>
          <a:p>
            <a:pPr marL="342900" indent="-342900">
              <a:buFontTx/>
              <a:buChar char="-"/>
            </a:pPr>
            <a:r>
              <a:rPr lang="es-CO" sz="2400" dirty="0"/>
              <a:t>Añadir cuentas nuevas.</a:t>
            </a:r>
          </a:p>
          <a:p>
            <a:pPr marL="342900" indent="-342900">
              <a:buFontTx/>
              <a:buChar char="-"/>
            </a:pPr>
            <a:r>
              <a:rPr lang="es-CO" sz="2400" dirty="0"/>
              <a:t>Calcular intereses sobre saldos.</a:t>
            </a:r>
          </a:p>
          <a:p>
            <a:pPr marL="342900" indent="-342900">
              <a:buFontTx/>
              <a:buChar char="-"/>
            </a:pPr>
            <a:r>
              <a:rPr lang="es-CO" sz="2400" dirty="0"/>
              <a:t>Calcular el saldo de las cuentas.</a:t>
            </a:r>
          </a:p>
          <a:p>
            <a:pPr marL="342900" indent="-342900">
              <a:buFontTx/>
              <a:buChar char="-"/>
            </a:pPr>
            <a:r>
              <a:rPr lang="es-CO" sz="2400" dirty="0"/>
              <a:t>Generar los extractos mensuales.</a:t>
            </a:r>
          </a:p>
        </p:txBody>
      </p:sp>
    </p:spTree>
    <p:extLst>
      <p:ext uri="{BB962C8B-B14F-4D97-AF65-F5344CB8AC3E}">
        <p14:creationId xmlns:p14="http://schemas.microsoft.com/office/powerpoint/2010/main" val="4044916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40D61-4ABE-440A-08E4-21E9BC93BB3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E334E59-651E-5033-A34C-D16E11F8B20B}"/>
              </a:ext>
            </a:extLst>
          </p:cNvPr>
          <p:cNvSpPr txBox="1"/>
          <p:nvPr/>
        </p:nvSpPr>
        <p:spPr>
          <a:xfrm>
            <a:off x="992505" y="223647"/>
            <a:ext cx="9694926" cy="6186309"/>
          </a:xfrm>
          <a:prstGeom prst="rect">
            <a:avLst/>
          </a:prstGeom>
          <a:noFill/>
        </p:spPr>
        <p:txBody>
          <a:bodyPr wrap="square" rtlCol="0">
            <a:spAutoFit/>
          </a:bodyPr>
          <a:lstStyle/>
          <a:p>
            <a:r>
              <a:rPr lang="es-CO" sz="2800" b="1" dirty="0"/>
              <a:t>Origen de los sistemas de bases de datos: Sistemas de procesamiento de archivos.</a:t>
            </a:r>
          </a:p>
          <a:p>
            <a:endParaRPr lang="es-CO" sz="2800" b="1" dirty="0"/>
          </a:p>
          <a:p>
            <a:r>
              <a:rPr lang="es-CO" sz="2400" dirty="0"/>
              <a:t>Inconvenientes:</a:t>
            </a:r>
          </a:p>
          <a:p>
            <a:endParaRPr lang="es-CO" sz="2400" dirty="0"/>
          </a:p>
          <a:p>
            <a:pPr marL="457200" indent="-457200">
              <a:buFontTx/>
              <a:buChar char="-"/>
            </a:pPr>
            <a:r>
              <a:rPr lang="es-CO" sz="2400" b="1" dirty="0"/>
              <a:t>Redundancia (duplicación): </a:t>
            </a:r>
            <a:r>
              <a:rPr lang="es-CO" sz="2400" dirty="0"/>
              <a:t>inconsistencia de datos.</a:t>
            </a:r>
          </a:p>
          <a:p>
            <a:pPr marL="457200" indent="-457200">
              <a:buFontTx/>
              <a:buChar char="-"/>
            </a:pPr>
            <a:r>
              <a:rPr lang="es-CO" sz="2400" b="1" dirty="0"/>
              <a:t>Dificultad en el acceso a los datos: </a:t>
            </a:r>
            <a:r>
              <a:rPr lang="es-CO" sz="2400" dirty="0"/>
              <a:t>no hay sistemas de recuperación de datos.</a:t>
            </a:r>
          </a:p>
          <a:p>
            <a:pPr marL="457200" indent="-457200">
              <a:buFontTx/>
              <a:buChar char="-"/>
            </a:pPr>
            <a:r>
              <a:rPr lang="es-CO" sz="2400" b="1" dirty="0"/>
              <a:t>Aislamiento de datos: </a:t>
            </a:r>
            <a:r>
              <a:rPr lang="es-CO" sz="2400" dirty="0"/>
              <a:t>dificultad en la recuperación de datos debido a archivos de diferentes formatos.</a:t>
            </a:r>
          </a:p>
          <a:p>
            <a:pPr marL="457200" indent="-457200">
              <a:buFontTx/>
              <a:buChar char="-"/>
            </a:pPr>
            <a:r>
              <a:rPr lang="es-CO" sz="2400" b="1" dirty="0"/>
              <a:t>Problemas de integridad: </a:t>
            </a:r>
            <a:r>
              <a:rPr lang="es-CO" sz="2400" dirty="0"/>
              <a:t>restricciones de consistencia por tipos de datos.</a:t>
            </a:r>
          </a:p>
          <a:p>
            <a:pPr marL="457200" indent="-457200">
              <a:buFontTx/>
              <a:buChar char="-"/>
            </a:pPr>
            <a:r>
              <a:rPr lang="es-CO" sz="2400" b="1" dirty="0"/>
              <a:t>Problemas de atomicidad: </a:t>
            </a:r>
            <a:r>
              <a:rPr lang="es-CO" sz="2400" dirty="0"/>
              <a:t>recuperación de la información después de fallos.</a:t>
            </a:r>
          </a:p>
          <a:p>
            <a:pPr marL="457200" indent="-457200">
              <a:buFontTx/>
              <a:buChar char="-"/>
            </a:pPr>
            <a:r>
              <a:rPr lang="es-CO" sz="2400" b="1" dirty="0"/>
              <a:t>Anomalías en el acceso concurrente.</a:t>
            </a:r>
          </a:p>
          <a:p>
            <a:pPr marL="457200" indent="-457200">
              <a:buFontTx/>
              <a:buChar char="-"/>
            </a:pPr>
            <a:r>
              <a:rPr lang="es-CO" sz="2400" b="1" dirty="0"/>
              <a:t>Problemas de seguridad.</a:t>
            </a:r>
          </a:p>
        </p:txBody>
      </p:sp>
    </p:spTree>
    <p:extLst>
      <p:ext uri="{BB962C8B-B14F-4D97-AF65-F5344CB8AC3E}">
        <p14:creationId xmlns:p14="http://schemas.microsoft.com/office/powerpoint/2010/main" val="3151114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DE22F-0052-A99A-BEB4-EC9D4E4FF29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D0227CC-AAAA-5865-BCD9-BA3452BB009A}"/>
              </a:ext>
            </a:extLst>
          </p:cNvPr>
          <p:cNvSpPr txBox="1"/>
          <p:nvPr/>
        </p:nvSpPr>
        <p:spPr>
          <a:xfrm>
            <a:off x="802386" y="261328"/>
            <a:ext cx="10865358" cy="2062103"/>
          </a:xfrm>
          <a:prstGeom prst="rect">
            <a:avLst/>
          </a:prstGeom>
          <a:noFill/>
        </p:spPr>
        <p:txBody>
          <a:bodyPr wrap="square" rtlCol="0">
            <a:spAutoFit/>
          </a:bodyPr>
          <a:lstStyle/>
          <a:p>
            <a:r>
              <a:rPr lang="es-CO" sz="2800" b="1" dirty="0"/>
              <a:t>Visión de los datos: Abstracción de datos</a:t>
            </a:r>
          </a:p>
          <a:p>
            <a:endParaRPr lang="es-CO" sz="2800" dirty="0"/>
          </a:p>
          <a:p>
            <a:r>
              <a:rPr lang="es-CO" sz="2400" dirty="0"/>
              <a:t>El sistema oculta detalles del modo en que se almacenan y mantienen los datos.</a:t>
            </a:r>
          </a:p>
          <a:p>
            <a:endParaRPr lang="es-CO" sz="2400" dirty="0"/>
          </a:p>
          <a:p>
            <a:r>
              <a:rPr lang="es-CO" sz="2400" dirty="0"/>
              <a:t>3 niveles de abstracción de datos</a:t>
            </a:r>
          </a:p>
        </p:txBody>
      </p:sp>
      <p:pic>
        <p:nvPicPr>
          <p:cNvPr id="3" name="Picture 2">
            <a:extLst>
              <a:ext uri="{FF2B5EF4-FFF2-40B4-BE49-F238E27FC236}">
                <a16:creationId xmlns:a16="http://schemas.microsoft.com/office/drawing/2014/main" id="{02C24D79-3764-49B6-0211-9EDE95956C2B}"/>
              </a:ext>
            </a:extLst>
          </p:cNvPr>
          <p:cNvPicPr>
            <a:picLocks noChangeAspect="1"/>
          </p:cNvPicPr>
          <p:nvPr/>
        </p:nvPicPr>
        <p:blipFill>
          <a:blip r:embed="rId2"/>
          <a:stretch>
            <a:fillRect/>
          </a:stretch>
        </p:blipFill>
        <p:spPr>
          <a:xfrm>
            <a:off x="0" y="2323431"/>
            <a:ext cx="7993912" cy="4104454"/>
          </a:xfrm>
          <a:prstGeom prst="rect">
            <a:avLst/>
          </a:prstGeom>
        </p:spPr>
      </p:pic>
      <p:sp>
        <p:nvSpPr>
          <p:cNvPr id="5" name="TextBox 4">
            <a:extLst>
              <a:ext uri="{FF2B5EF4-FFF2-40B4-BE49-F238E27FC236}">
                <a16:creationId xmlns:a16="http://schemas.microsoft.com/office/drawing/2014/main" id="{8A1912BD-2FF3-424B-AD18-3BCBC09F743D}"/>
              </a:ext>
            </a:extLst>
          </p:cNvPr>
          <p:cNvSpPr txBox="1"/>
          <p:nvPr/>
        </p:nvSpPr>
        <p:spPr>
          <a:xfrm>
            <a:off x="4895613" y="5873887"/>
            <a:ext cx="6616683" cy="369332"/>
          </a:xfrm>
          <a:prstGeom prst="rect">
            <a:avLst/>
          </a:prstGeom>
          <a:noFill/>
        </p:spPr>
        <p:txBody>
          <a:bodyPr wrap="none" rtlCol="0">
            <a:spAutoFit/>
          </a:bodyPr>
          <a:lstStyle/>
          <a:p>
            <a:r>
              <a:rPr lang="es-CO" dirty="0">
                <a:solidFill>
                  <a:srgbClr val="FF0000"/>
                </a:solidFill>
              </a:rPr>
              <a:t>Cómo se almacenan los datos: Estructuras de datos de bajo nivel</a:t>
            </a:r>
            <a:endParaRPr lang="en-US" dirty="0">
              <a:solidFill>
                <a:srgbClr val="FF0000"/>
              </a:solidFill>
            </a:endParaRPr>
          </a:p>
        </p:txBody>
      </p:sp>
      <p:sp>
        <p:nvSpPr>
          <p:cNvPr id="6" name="TextBox 5">
            <a:extLst>
              <a:ext uri="{FF2B5EF4-FFF2-40B4-BE49-F238E27FC236}">
                <a16:creationId xmlns:a16="http://schemas.microsoft.com/office/drawing/2014/main" id="{B3B74C4D-52E8-AA65-6682-64215A20C5F3}"/>
              </a:ext>
            </a:extLst>
          </p:cNvPr>
          <p:cNvSpPr txBox="1"/>
          <p:nvPr/>
        </p:nvSpPr>
        <p:spPr>
          <a:xfrm>
            <a:off x="4895613" y="4779264"/>
            <a:ext cx="7024872" cy="369332"/>
          </a:xfrm>
          <a:prstGeom prst="rect">
            <a:avLst/>
          </a:prstGeom>
          <a:noFill/>
        </p:spPr>
        <p:txBody>
          <a:bodyPr wrap="none" rtlCol="0">
            <a:spAutoFit/>
          </a:bodyPr>
          <a:lstStyle/>
          <a:p>
            <a:r>
              <a:rPr lang="es-CO" dirty="0">
                <a:solidFill>
                  <a:srgbClr val="FF0000"/>
                </a:solidFill>
              </a:rPr>
              <a:t>Qué datos se almacenan en la base de datos y relaciones entre ellos.</a:t>
            </a:r>
            <a:endParaRPr lang="en-US" dirty="0">
              <a:solidFill>
                <a:srgbClr val="FF0000"/>
              </a:solidFill>
            </a:endParaRPr>
          </a:p>
        </p:txBody>
      </p:sp>
      <p:sp>
        <p:nvSpPr>
          <p:cNvPr id="7" name="TextBox 6">
            <a:extLst>
              <a:ext uri="{FF2B5EF4-FFF2-40B4-BE49-F238E27FC236}">
                <a16:creationId xmlns:a16="http://schemas.microsoft.com/office/drawing/2014/main" id="{A57BAFBF-4D9E-9B30-AB17-1147F625A11D}"/>
              </a:ext>
            </a:extLst>
          </p:cNvPr>
          <p:cNvSpPr txBox="1"/>
          <p:nvPr/>
        </p:nvSpPr>
        <p:spPr>
          <a:xfrm>
            <a:off x="7246232" y="3508683"/>
            <a:ext cx="4869567" cy="369332"/>
          </a:xfrm>
          <a:prstGeom prst="rect">
            <a:avLst/>
          </a:prstGeom>
          <a:noFill/>
        </p:spPr>
        <p:txBody>
          <a:bodyPr wrap="square" rtlCol="0">
            <a:spAutoFit/>
          </a:bodyPr>
          <a:lstStyle/>
          <a:p>
            <a:r>
              <a:rPr lang="es-CO" dirty="0">
                <a:solidFill>
                  <a:srgbClr val="FF0000"/>
                </a:solidFill>
              </a:rPr>
              <a:t>Simplifica la interacción de sistema vs usuario</a:t>
            </a:r>
            <a:endParaRPr lang="en-US" dirty="0">
              <a:solidFill>
                <a:srgbClr val="FF0000"/>
              </a:solidFill>
            </a:endParaRPr>
          </a:p>
        </p:txBody>
      </p:sp>
    </p:spTree>
    <p:extLst>
      <p:ext uri="{BB962C8B-B14F-4D97-AF65-F5344CB8AC3E}">
        <p14:creationId xmlns:p14="http://schemas.microsoft.com/office/powerpoint/2010/main" val="1745665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C6603-6AE8-8194-9382-78A25B9C8C1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8BB6986-F967-AA09-36BF-3BD20A183A0B}"/>
              </a:ext>
            </a:extLst>
          </p:cNvPr>
          <p:cNvSpPr txBox="1"/>
          <p:nvPr/>
        </p:nvSpPr>
        <p:spPr>
          <a:xfrm>
            <a:off x="802386" y="261328"/>
            <a:ext cx="10865358" cy="2800767"/>
          </a:xfrm>
          <a:prstGeom prst="rect">
            <a:avLst/>
          </a:prstGeom>
          <a:noFill/>
        </p:spPr>
        <p:txBody>
          <a:bodyPr wrap="square" rtlCol="0">
            <a:spAutoFit/>
          </a:bodyPr>
          <a:lstStyle/>
          <a:p>
            <a:r>
              <a:rPr lang="es-CO" sz="2800" b="1" dirty="0"/>
              <a:t>Definiciones: Ejemplares y esquemas</a:t>
            </a:r>
          </a:p>
          <a:p>
            <a:endParaRPr lang="es-CO" sz="2800" dirty="0"/>
          </a:p>
          <a:p>
            <a:r>
              <a:rPr lang="es-CO" sz="2400" b="1" dirty="0"/>
              <a:t>Ejemplar:</a:t>
            </a:r>
            <a:r>
              <a:rPr lang="es-CO" sz="2400" dirty="0"/>
              <a:t>  Información almacenada en la base de datos en un instante de tiempo dado. Los datos se modifican con el paso del tiempo.</a:t>
            </a:r>
          </a:p>
          <a:p>
            <a:endParaRPr lang="es-CO" sz="2400" dirty="0"/>
          </a:p>
          <a:p>
            <a:r>
              <a:rPr lang="es-CO" sz="2400" b="1" dirty="0"/>
              <a:t>Esquema:</a:t>
            </a:r>
            <a:r>
              <a:rPr lang="es-CO" sz="2400" dirty="0"/>
              <a:t> Diseño general de la base de datos (declaración de variables y tipos asociados).</a:t>
            </a:r>
          </a:p>
        </p:txBody>
      </p:sp>
      <p:pic>
        <p:nvPicPr>
          <p:cNvPr id="2" name="Picture 1">
            <a:extLst>
              <a:ext uri="{FF2B5EF4-FFF2-40B4-BE49-F238E27FC236}">
                <a16:creationId xmlns:a16="http://schemas.microsoft.com/office/drawing/2014/main" id="{9BE1CD8C-FCE5-10FA-34D5-634269990E17}"/>
              </a:ext>
            </a:extLst>
          </p:cNvPr>
          <p:cNvPicPr>
            <a:picLocks noChangeAspect="1"/>
          </p:cNvPicPr>
          <p:nvPr/>
        </p:nvPicPr>
        <p:blipFill>
          <a:blip r:embed="rId2"/>
          <a:stretch>
            <a:fillRect/>
          </a:stretch>
        </p:blipFill>
        <p:spPr>
          <a:xfrm>
            <a:off x="347472" y="3137247"/>
            <a:ext cx="6455664" cy="3314644"/>
          </a:xfrm>
          <a:prstGeom prst="rect">
            <a:avLst/>
          </a:prstGeom>
        </p:spPr>
      </p:pic>
      <p:sp>
        <p:nvSpPr>
          <p:cNvPr id="8" name="TextBox 7">
            <a:extLst>
              <a:ext uri="{FF2B5EF4-FFF2-40B4-BE49-F238E27FC236}">
                <a16:creationId xmlns:a16="http://schemas.microsoft.com/office/drawing/2014/main" id="{06165CD3-5FCB-5D94-4AD2-5DE428B9634D}"/>
              </a:ext>
            </a:extLst>
          </p:cNvPr>
          <p:cNvSpPr txBox="1"/>
          <p:nvPr/>
        </p:nvSpPr>
        <p:spPr>
          <a:xfrm>
            <a:off x="4745736" y="5873133"/>
            <a:ext cx="5942461" cy="369332"/>
          </a:xfrm>
          <a:prstGeom prst="rect">
            <a:avLst/>
          </a:prstGeom>
          <a:noFill/>
        </p:spPr>
        <p:txBody>
          <a:bodyPr wrap="none" rtlCol="0">
            <a:spAutoFit/>
          </a:bodyPr>
          <a:lstStyle/>
          <a:p>
            <a:r>
              <a:rPr lang="es-CO" dirty="0">
                <a:solidFill>
                  <a:srgbClr val="FF0000"/>
                </a:solidFill>
              </a:rPr>
              <a:t>Esquema físico (algoritmos acceso eficiente a los datos)</a:t>
            </a:r>
            <a:endParaRPr lang="en-US" dirty="0">
              <a:solidFill>
                <a:srgbClr val="FF0000"/>
              </a:solidFill>
            </a:endParaRPr>
          </a:p>
        </p:txBody>
      </p:sp>
      <p:sp>
        <p:nvSpPr>
          <p:cNvPr id="9" name="TextBox 8">
            <a:extLst>
              <a:ext uri="{FF2B5EF4-FFF2-40B4-BE49-F238E27FC236}">
                <a16:creationId xmlns:a16="http://schemas.microsoft.com/office/drawing/2014/main" id="{033641A2-FE2D-87D0-6C81-71F16B8C6C65}"/>
              </a:ext>
            </a:extLst>
          </p:cNvPr>
          <p:cNvSpPr txBox="1"/>
          <p:nvPr/>
        </p:nvSpPr>
        <p:spPr>
          <a:xfrm>
            <a:off x="4745736" y="5126324"/>
            <a:ext cx="1773242" cy="369332"/>
          </a:xfrm>
          <a:prstGeom prst="rect">
            <a:avLst/>
          </a:prstGeom>
          <a:noFill/>
        </p:spPr>
        <p:txBody>
          <a:bodyPr wrap="none" rtlCol="0">
            <a:spAutoFit/>
          </a:bodyPr>
          <a:lstStyle/>
          <a:p>
            <a:r>
              <a:rPr lang="es-CO" dirty="0">
                <a:solidFill>
                  <a:srgbClr val="FF0000"/>
                </a:solidFill>
              </a:rPr>
              <a:t>Esquema lógico</a:t>
            </a:r>
            <a:endParaRPr lang="en-US" dirty="0">
              <a:solidFill>
                <a:srgbClr val="FF0000"/>
              </a:solidFill>
            </a:endParaRPr>
          </a:p>
        </p:txBody>
      </p:sp>
      <p:sp>
        <p:nvSpPr>
          <p:cNvPr id="10" name="TextBox 9">
            <a:extLst>
              <a:ext uri="{FF2B5EF4-FFF2-40B4-BE49-F238E27FC236}">
                <a16:creationId xmlns:a16="http://schemas.microsoft.com/office/drawing/2014/main" id="{B15C3EF0-1729-DEFF-D6C1-696770A15884}"/>
              </a:ext>
            </a:extLst>
          </p:cNvPr>
          <p:cNvSpPr txBox="1"/>
          <p:nvPr/>
        </p:nvSpPr>
        <p:spPr>
          <a:xfrm>
            <a:off x="6373368" y="3800758"/>
            <a:ext cx="5325047" cy="369332"/>
          </a:xfrm>
          <a:prstGeom prst="rect">
            <a:avLst/>
          </a:prstGeom>
          <a:noFill/>
        </p:spPr>
        <p:txBody>
          <a:bodyPr wrap="none" rtlCol="0">
            <a:spAutoFit/>
          </a:bodyPr>
          <a:lstStyle/>
          <a:p>
            <a:r>
              <a:rPr lang="es-CO" dirty="0" err="1">
                <a:solidFill>
                  <a:srgbClr val="FF0000"/>
                </a:solidFill>
              </a:rPr>
              <a:t>Subesquemas</a:t>
            </a:r>
            <a:r>
              <a:rPr lang="es-CO" dirty="0">
                <a:solidFill>
                  <a:srgbClr val="FF0000"/>
                </a:solidFill>
              </a:rPr>
              <a:t> (interacción eficiente con el sistema)</a:t>
            </a:r>
            <a:endParaRPr lang="en-US" dirty="0">
              <a:solidFill>
                <a:srgbClr val="FF0000"/>
              </a:solidFill>
            </a:endParaRPr>
          </a:p>
        </p:txBody>
      </p:sp>
    </p:spTree>
    <p:extLst>
      <p:ext uri="{BB962C8B-B14F-4D97-AF65-F5344CB8AC3E}">
        <p14:creationId xmlns:p14="http://schemas.microsoft.com/office/powerpoint/2010/main" val="3546773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A5EE0-5E70-7CFF-21F5-3D5C3FC4F2C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D5E3F51-9919-7DE2-8987-5672C7EDBA93}"/>
              </a:ext>
            </a:extLst>
          </p:cNvPr>
          <p:cNvSpPr txBox="1"/>
          <p:nvPr/>
        </p:nvSpPr>
        <p:spPr>
          <a:xfrm>
            <a:off x="774954" y="181957"/>
            <a:ext cx="9566910" cy="6494085"/>
          </a:xfrm>
          <a:prstGeom prst="rect">
            <a:avLst/>
          </a:prstGeom>
          <a:noFill/>
        </p:spPr>
        <p:txBody>
          <a:bodyPr wrap="square" rtlCol="0">
            <a:spAutoFit/>
          </a:bodyPr>
          <a:lstStyle/>
          <a:p>
            <a:r>
              <a:rPr lang="es-CO" sz="2800" b="1" dirty="0"/>
              <a:t>Modelos de datos</a:t>
            </a:r>
          </a:p>
          <a:p>
            <a:endParaRPr lang="es-CO" sz="2800" dirty="0"/>
          </a:p>
          <a:p>
            <a:r>
              <a:rPr lang="es-CO" sz="2000" dirty="0"/>
              <a:t>Los modelos de datos ofrecen un modo de describir el diseño de las bases de datos en los niveles físico, lógico y de vistas:</a:t>
            </a:r>
          </a:p>
          <a:p>
            <a:endParaRPr lang="es-CO" sz="2000" dirty="0"/>
          </a:p>
          <a:p>
            <a:pPr marL="342900" indent="-342900">
              <a:buFontTx/>
              <a:buChar char="-"/>
            </a:pPr>
            <a:r>
              <a:rPr lang="es-CO" sz="2000" b="1" dirty="0"/>
              <a:t>Modelo relacional:</a:t>
            </a:r>
            <a:r>
              <a:rPr lang="es-CO" sz="2000" dirty="0"/>
              <a:t> colección de tablas para representar datos y sus relaciones. Cada tabla tiene columnas con un nombre único. Modelo basado en registros. Cada tipo de registro define un número fijo de campos o atributos. Las columnas de la tabla se corresponden con los atributos del tipo de registro.</a:t>
            </a:r>
          </a:p>
          <a:p>
            <a:endParaRPr lang="es-CO" sz="2000" dirty="0"/>
          </a:p>
          <a:p>
            <a:pPr marL="342900" indent="-342900">
              <a:buFontTx/>
              <a:buChar char="-"/>
            </a:pPr>
            <a:r>
              <a:rPr lang="es-CO" sz="2000" b="1" dirty="0"/>
              <a:t>Modelo Entidad-relación (E-R):</a:t>
            </a:r>
            <a:r>
              <a:rPr lang="es-CO" sz="2000" dirty="0"/>
              <a:t> Se basa en una percepción del mundo real que consiste en una colección de objetos básicos, denominados entidades y de la relación entre ellos.</a:t>
            </a:r>
          </a:p>
          <a:p>
            <a:endParaRPr lang="es-CO" sz="2000" dirty="0"/>
          </a:p>
          <a:p>
            <a:pPr marL="342900" indent="-342900">
              <a:buFontTx/>
              <a:buChar char="-"/>
            </a:pPr>
            <a:r>
              <a:rPr lang="es-CO" sz="2000" b="1" dirty="0"/>
              <a:t>Modelo de datos orientado a objetos:</a:t>
            </a:r>
            <a:r>
              <a:rPr lang="es-CO" sz="2000" dirty="0"/>
              <a:t> Modelo E-R que incluye encapsulación, métodos y la identidad de los objetos.</a:t>
            </a:r>
          </a:p>
          <a:p>
            <a:endParaRPr lang="es-CO" sz="2000" dirty="0"/>
          </a:p>
          <a:p>
            <a:pPr marL="342900" indent="-342900">
              <a:buFontTx/>
              <a:buChar char="-"/>
            </a:pPr>
            <a:r>
              <a:rPr lang="es-CO" sz="2000" b="1" dirty="0"/>
              <a:t>Modelo de datos semiestructurados:</a:t>
            </a:r>
            <a:r>
              <a:rPr lang="es-CO" sz="2000" dirty="0"/>
              <a:t> Permite la especificación de datos, donde los elementos de datos individuales del mismo tipo pueden tener diferentes conjuntos de atributos. Lenguaje XML.</a:t>
            </a:r>
          </a:p>
        </p:txBody>
      </p:sp>
    </p:spTree>
    <p:extLst>
      <p:ext uri="{BB962C8B-B14F-4D97-AF65-F5344CB8AC3E}">
        <p14:creationId xmlns:p14="http://schemas.microsoft.com/office/powerpoint/2010/main" val="3813965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F686F-5E78-BAD7-6C6C-B7C57652323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8CC1BD7-107D-6DFB-6781-6859E851BB17}"/>
              </a:ext>
            </a:extLst>
          </p:cNvPr>
          <p:cNvSpPr txBox="1"/>
          <p:nvPr/>
        </p:nvSpPr>
        <p:spPr>
          <a:xfrm>
            <a:off x="802386" y="261328"/>
            <a:ext cx="10124694" cy="6186309"/>
          </a:xfrm>
          <a:prstGeom prst="rect">
            <a:avLst/>
          </a:prstGeom>
          <a:noFill/>
        </p:spPr>
        <p:txBody>
          <a:bodyPr wrap="square" rtlCol="0">
            <a:spAutoFit/>
          </a:bodyPr>
          <a:lstStyle/>
          <a:p>
            <a:r>
              <a:rPr lang="es-CO" sz="2800" b="1" dirty="0"/>
              <a:t>Lenguajes de bases de datos</a:t>
            </a:r>
          </a:p>
          <a:p>
            <a:endParaRPr lang="es-CO" sz="2800" dirty="0"/>
          </a:p>
          <a:p>
            <a:r>
              <a:rPr lang="es-CO" sz="2000" dirty="0"/>
              <a:t>Los sistemas de bases de datos proporcionan: </a:t>
            </a:r>
            <a:r>
              <a:rPr lang="es-CO" sz="2000" b="1" dirty="0"/>
              <a:t>Lenguaje de manipulación de datos (LMD) y Lenguaje de definición de datos (LDD).</a:t>
            </a:r>
            <a:endParaRPr lang="es-CO" sz="2000" dirty="0"/>
          </a:p>
          <a:p>
            <a:endParaRPr lang="es-CO" sz="2000" dirty="0"/>
          </a:p>
          <a:p>
            <a:endParaRPr lang="es-CO" sz="2000" b="1" dirty="0"/>
          </a:p>
          <a:p>
            <a:r>
              <a:rPr lang="es-CO" sz="2000" b="1" dirty="0"/>
              <a:t>Lenguaje de manipulación de datos (LMD): </a:t>
            </a:r>
            <a:r>
              <a:rPr lang="es-CO" sz="2000" dirty="0"/>
              <a:t>utilizado para expresar consultas y modificaciones de la BD. Es un lenguaje que permite a los usuarios tener acceso a los datos organizados. Los tipos de acceso son:</a:t>
            </a:r>
          </a:p>
          <a:p>
            <a:pPr marL="342900" indent="-342900">
              <a:buFontTx/>
              <a:buChar char="-"/>
            </a:pPr>
            <a:endParaRPr lang="es-CO" sz="2000" dirty="0"/>
          </a:p>
          <a:p>
            <a:pPr marL="457200" indent="-457200">
              <a:buAutoNum type="arabicPeriod"/>
            </a:pPr>
            <a:r>
              <a:rPr lang="es-CO" sz="2000" dirty="0"/>
              <a:t>Recuperar información almacenada en la BD.</a:t>
            </a:r>
          </a:p>
          <a:p>
            <a:pPr marL="457200" indent="-457200">
              <a:buAutoNum type="arabicPeriod"/>
            </a:pPr>
            <a:r>
              <a:rPr lang="es-CO" sz="2000" dirty="0"/>
              <a:t>Insertar de información nueva en la BD.</a:t>
            </a:r>
          </a:p>
          <a:p>
            <a:pPr marL="457200" indent="-457200">
              <a:buAutoNum type="arabicPeriod"/>
            </a:pPr>
            <a:r>
              <a:rPr lang="es-CO" sz="2000" dirty="0"/>
              <a:t>Borrar información de la BD.</a:t>
            </a:r>
          </a:p>
          <a:p>
            <a:pPr marL="457200" indent="-457200">
              <a:buAutoNum type="arabicPeriod"/>
            </a:pPr>
            <a:r>
              <a:rPr lang="es-CO" sz="2000" dirty="0"/>
              <a:t>Modificar información almacenada en la BD.</a:t>
            </a:r>
          </a:p>
          <a:p>
            <a:pPr marL="457200" indent="-457200">
              <a:buAutoNum type="arabicPeriod"/>
            </a:pPr>
            <a:endParaRPr lang="es-CO" sz="2000" dirty="0"/>
          </a:p>
          <a:p>
            <a:r>
              <a:rPr lang="es-CO" sz="2000" dirty="0"/>
              <a:t>Existen 2 tipos:</a:t>
            </a:r>
          </a:p>
          <a:p>
            <a:endParaRPr lang="es-CO" sz="2000" dirty="0"/>
          </a:p>
          <a:p>
            <a:pPr marL="342900" indent="-342900">
              <a:buFontTx/>
              <a:buChar char="-"/>
            </a:pPr>
            <a:r>
              <a:rPr lang="es-CO" sz="2000" dirty="0"/>
              <a:t>LMDs procedimentales</a:t>
            </a:r>
          </a:p>
          <a:p>
            <a:pPr marL="342900" indent="-342900">
              <a:buFontTx/>
              <a:buChar char="-"/>
            </a:pPr>
            <a:r>
              <a:rPr lang="es-CO" sz="2000" dirty="0"/>
              <a:t>LMDs declarativos (no procedimentales).</a:t>
            </a:r>
          </a:p>
        </p:txBody>
      </p:sp>
    </p:spTree>
    <p:extLst>
      <p:ext uri="{BB962C8B-B14F-4D97-AF65-F5344CB8AC3E}">
        <p14:creationId xmlns:p14="http://schemas.microsoft.com/office/powerpoint/2010/main" val="1304919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E6DA2-85AF-36B0-D49E-9129FC3FC6A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33193E8-71B6-F5D4-73E0-80DB04D784E1}"/>
              </a:ext>
            </a:extLst>
          </p:cNvPr>
          <p:cNvSpPr txBox="1"/>
          <p:nvPr/>
        </p:nvSpPr>
        <p:spPr>
          <a:xfrm>
            <a:off x="802386" y="261328"/>
            <a:ext cx="10426446" cy="5139869"/>
          </a:xfrm>
          <a:prstGeom prst="rect">
            <a:avLst/>
          </a:prstGeom>
          <a:noFill/>
        </p:spPr>
        <p:txBody>
          <a:bodyPr wrap="square" rtlCol="0">
            <a:spAutoFit/>
          </a:bodyPr>
          <a:lstStyle/>
          <a:p>
            <a:r>
              <a:rPr lang="es-CO" sz="2800" b="1" dirty="0"/>
              <a:t>Lenguajes de bases de datos</a:t>
            </a:r>
          </a:p>
          <a:p>
            <a:endParaRPr lang="es-CO" sz="2000" dirty="0"/>
          </a:p>
          <a:p>
            <a:endParaRPr lang="es-CO" sz="2000" dirty="0"/>
          </a:p>
          <a:p>
            <a:pPr marL="342900" indent="-342900">
              <a:buFontTx/>
              <a:buChar char="-"/>
            </a:pPr>
            <a:r>
              <a:rPr lang="es-CO" sz="2000" b="1" dirty="0"/>
              <a:t>LMDs procedimentales:</a:t>
            </a:r>
          </a:p>
          <a:p>
            <a:pPr marL="342900" indent="-342900">
              <a:buFontTx/>
              <a:buChar char="-"/>
            </a:pPr>
            <a:endParaRPr lang="es-CO" sz="2000" dirty="0"/>
          </a:p>
          <a:p>
            <a:r>
              <a:rPr lang="es-CO" sz="2000" dirty="0"/>
              <a:t>Necesitan que el usuario especifique qué datos se necesitan y cómo obtener esos datos.</a:t>
            </a:r>
          </a:p>
          <a:p>
            <a:pPr marL="342900" indent="-342900">
              <a:buFontTx/>
              <a:buChar char="-"/>
            </a:pPr>
            <a:endParaRPr lang="es-CO" sz="2000" dirty="0"/>
          </a:p>
          <a:p>
            <a:pPr marL="342900" indent="-342900">
              <a:buFontTx/>
              <a:buChar char="-"/>
            </a:pPr>
            <a:endParaRPr lang="es-CO" sz="2000" dirty="0"/>
          </a:p>
          <a:p>
            <a:pPr marL="342900" indent="-342900">
              <a:buFontTx/>
              <a:buChar char="-"/>
            </a:pPr>
            <a:r>
              <a:rPr lang="es-CO" sz="2000" b="1" dirty="0"/>
              <a:t>LMDs declarativos (no procedimentales):</a:t>
            </a:r>
          </a:p>
          <a:p>
            <a:pPr marL="342900" indent="-342900">
              <a:buFontTx/>
              <a:buChar char="-"/>
            </a:pPr>
            <a:endParaRPr lang="es-CO" sz="2000" b="1" dirty="0"/>
          </a:p>
          <a:p>
            <a:r>
              <a:rPr lang="es-CO" sz="2000" dirty="0"/>
              <a:t>Necesitan que el usuario especifique qué datos se necesitan sin que haga falta que especifique cómo obtener esos datos: lenguajes de consultas SQL. El sistema determina un medio eficiente de acceso a los datos con consultas a la BD.</a:t>
            </a:r>
          </a:p>
          <a:p>
            <a:endParaRPr lang="es-CO" sz="2000" dirty="0"/>
          </a:p>
          <a:p>
            <a:r>
              <a:rPr lang="es-CO" sz="2000" dirty="0"/>
              <a:t>Una consulta es una instrucción que solicita que se recupere información. Los LMDs contienen un lenguaje de consultas. El lenguaje consulta ampliamente usado es SQL.  </a:t>
            </a:r>
          </a:p>
        </p:txBody>
      </p:sp>
    </p:spTree>
    <p:extLst>
      <p:ext uri="{BB962C8B-B14F-4D97-AF65-F5344CB8AC3E}">
        <p14:creationId xmlns:p14="http://schemas.microsoft.com/office/powerpoint/2010/main" val="302707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F1DFF-939B-3CBE-E48C-74826BCE9BA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02A4FE8-E60F-9B5F-93C0-597338B3003C}"/>
              </a:ext>
            </a:extLst>
          </p:cNvPr>
          <p:cNvSpPr txBox="1"/>
          <p:nvPr/>
        </p:nvSpPr>
        <p:spPr>
          <a:xfrm>
            <a:off x="857250" y="179249"/>
            <a:ext cx="9530334" cy="6678751"/>
          </a:xfrm>
          <a:prstGeom prst="rect">
            <a:avLst/>
          </a:prstGeom>
          <a:noFill/>
        </p:spPr>
        <p:txBody>
          <a:bodyPr wrap="square" rtlCol="0">
            <a:spAutoFit/>
          </a:bodyPr>
          <a:lstStyle/>
          <a:p>
            <a:r>
              <a:rPr lang="es-CO" sz="2800" b="1" dirty="0"/>
              <a:t>Lenguajes de bases de datos</a:t>
            </a:r>
          </a:p>
          <a:p>
            <a:endParaRPr lang="es-CO" sz="2000" dirty="0"/>
          </a:p>
          <a:p>
            <a:r>
              <a:rPr lang="es-CO" sz="2000" b="1" dirty="0"/>
              <a:t>Lenguaje de definición de datos (LDD): </a:t>
            </a:r>
            <a:r>
              <a:rPr lang="es-CO" sz="2000" dirty="0"/>
              <a:t>utilizado para especificar el </a:t>
            </a:r>
            <a:r>
              <a:rPr lang="es-CO" sz="2000" b="1" dirty="0"/>
              <a:t>esquema</a:t>
            </a:r>
            <a:r>
              <a:rPr lang="es-CO" sz="2000" dirty="0"/>
              <a:t> de la BD. El LDD también se utiliza para especificar propiedades de los datos. Los valores de los datos almacenados en la BD deben satisfacer restricciones de consistencia. Los sistemas de BD tienen las siguientes restricciones de integridad:</a:t>
            </a:r>
          </a:p>
          <a:p>
            <a:endParaRPr lang="es-CO" sz="2000" dirty="0"/>
          </a:p>
          <a:p>
            <a:pPr marL="342900" indent="-342900">
              <a:buFontTx/>
              <a:buChar char="-"/>
            </a:pPr>
            <a:r>
              <a:rPr lang="es-CO" sz="2000" b="1" dirty="0"/>
              <a:t>Restricciones de dominio:</a:t>
            </a:r>
            <a:r>
              <a:rPr lang="es-CO" sz="2000" dirty="0"/>
              <a:t> Cada atributo debe tener un tipo de valor en un dominio.</a:t>
            </a:r>
          </a:p>
          <a:p>
            <a:pPr marL="342900" indent="-342900">
              <a:buFontTx/>
              <a:buChar char="-"/>
            </a:pPr>
            <a:r>
              <a:rPr lang="es-CO" sz="2000" b="1" dirty="0"/>
              <a:t>Integridad referencial: </a:t>
            </a:r>
            <a:r>
              <a:rPr lang="es-CO" sz="2000" dirty="0"/>
              <a:t>Los atributos que tienen relaciones deben tener los mismos tipos de valor en un dominio.</a:t>
            </a:r>
          </a:p>
          <a:p>
            <a:pPr marL="342900" indent="-342900">
              <a:buFontTx/>
              <a:buChar char="-"/>
            </a:pPr>
            <a:r>
              <a:rPr lang="es-CO" sz="2000" b="1" dirty="0"/>
              <a:t>Asertos:</a:t>
            </a:r>
            <a:r>
              <a:rPr lang="es-CO" sz="2000" dirty="0"/>
              <a:t> Condiciones que siempre se deben satisfacer. Cuando se crea un aserto, el sistema comprueba su validez, para que siempre sea validado.</a:t>
            </a:r>
          </a:p>
          <a:p>
            <a:pPr marL="342900" indent="-342900">
              <a:buFontTx/>
              <a:buChar char="-"/>
            </a:pPr>
            <a:r>
              <a:rPr lang="es-CO" sz="2000" b="1" dirty="0"/>
              <a:t>Autorización:</a:t>
            </a:r>
            <a:r>
              <a:rPr lang="es-CO" sz="2000" dirty="0"/>
              <a:t> Diferenciación entre usuarios del tipo de acceso: autorización de lectura, autorización de inserción, autorización de actualización y autorización de eliminación.</a:t>
            </a:r>
          </a:p>
          <a:p>
            <a:endParaRPr lang="es-CO" sz="2000" dirty="0"/>
          </a:p>
          <a:p>
            <a:r>
              <a:rPr lang="es-CO" sz="2000" dirty="0"/>
              <a:t>El LDD obtiene como entrada algunas instrucciones y genera unas salidas. Las salidas se colocan en un </a:t>
            </a:r>
            <a:r>
              <a:rPr lang="es-CO" sz="2000" b="1" dirty="0"/>
              <a:t>diccionario de datos </a:t>
            </a:r>
            <a:r>
              <a:rPr lang="es-CO" sz="2000" dirty="0"/>
              <a:t>que contiene </a:t>
            </a:r>
            <a:r>
              <a:rPr lang="es-CO" sz="2000" b="1" dirty="0"/>
              <a:t>metadatos (datos sobre datos). </a:t>
            </a:r>
            <a:r>
              <a:rPr lang="es-CO" sz="2000" dirty="0"/>
              <a:t>El sistema de BD consulta el diccionario de datos antes de leer o modificar datos reales.</a:t>
            </a:r>
          </a:p>
        </p:txBody>
      </p:sp>
    </p:spTree>
    <p:extLst>
      <p:ext uri="{BB962C8B-B14F-4D97-AF65-F5344CB8AC3E}">
        <p14:creationId xmlns:p14="http://schemas.microsoft.com/office/powerpoint/2010/main" val="4200956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6D45A-2082-D3A6-E2BB-B4929F43C6C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2155EE9-5805-9BC4-0450-E3EC6C8BF82A}"/>
              </a:ext>
            </a:extLst>
          </p:cNvPr>
          <p:cNvSpPr txBox="1"/>
          <p:nvPr/>
        </p:nvSpPr>
        <p:spPr>
          <a:xfrm>
            <a:off x="564642" y="243040"/>
            <a:ext cx="4363974" cy="3631763"/>
          </a:xfrm>
          <a:prstGeom prst="rect">
            <a:avLst/>
          </a:prstGeom>
          <a:noFill/>
        </p:spPr>
        <p:txBody>
          <a:bodyPr wrap="square" rtlCol="0">
            <a:spAutoFit/>
          </a:bodyPr>
          <a:lstStyle/>
          <a:p>
            <a:r>
              <a:rPr lang="es-CO" sz="2800" b="1" dirty="0"/>
              <a:t>Bases de datos relacionales</a:t>
            </a:r>
          </a:p>
          <a:p>
            <a:endParaRPr lang="es-CO" sz="2000" dirty="0"/>
          </a:p>
          <a:p>
            <a:r>
              <a:rPr lang="es-CO" dirty="0"/>
              <a:t>Se basan en el modelo relacional y usan un conjunto de tablas para representar los datos y las relaciones entre ellos.</a:t>
            </a:r>
          </a:p>
          <a:p>
            <a:endParaRPr lang="es-CO" sz="2000" dirty="0"/>
          </a:p>
          <a:p>
            <a:r>
              <a:rPr lang="es-CO" sz="2400" b="1" dirty="0"/>
              <a:t>Tablas</a:t>
            </a:r>
          </a:p>
          <a:p>
            <a:endParaRPr lang="es-CO" sz="2000" dirty="0"/>
          </a:p>
          <a:p>
            <a:r>
              <a:rPr lang="es-CO" dirty="0"/>
              <a:t>Cada tabla tiene varias columnas y cada columna tiene un nombre único.</a:t>
            </a:r>
          </a:p>
        </p:txBody>
      </p:sp>
      <p:pic>
        <p:nvPicPr>
          <p:cNvPr id="3" name="Picture 2">
            <a:extLst>
              <a:ext uri="{FF2B5EF4-FFF2-40B4-BE49-F238E27FC236}">
                <a16:creationId xmlns:a16="http://schemas.microsoft.com/office/drawing/2014/main" id="{D526804D-D410-54F1-9C36-6A569D426A0A}"/>
              </a:ext>
            </a:extLst>
          </p:cNvPr>
          <p:cNvPicPr>
            <a:picLocks noChangeAspect="1"/>
          </p:cNvPicPr>
          <p:nvPr/>
        </p:nvPicPr>
        <p:blipFill>
          <a:blip r:embed="rId2"/>
          <a:stretch>
            <a:fillRect/>
          </a:stretch>
        </p:blipFill>
        <p:spPr>
          <a:xfrm>
            <a:off x="5404410" y="413878"/>
            <a:ext cx="5075588" cy="6030244"/>
          </a:xfrm>
          <a:prstGeom prst="rect">
            <a:avLst/>
          </a:prstGeom>
        </p:spPr>
      </p:pic>
    </p:spTree>
    <p:extLst>
      <p:ext uri="{BB962C8B-B14F-4D97-AF65-F5344CB8AC3E}">
        <p14:creationId xmlns:p14="http://schemas.microsoft.com/office/powerpoint/2010/main" val="140895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BE6C0-D00D-4E0B-42F1-776F968BBCB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B22B717-03F2-5D5E-17BB-294B8A9162C6}"/>
              </a:ext>
            </a:extLst>
          </p:cNvPr>
          <p:cNvSpPr txBox="1"/>
          <p:nvPr/>
        </p:nvSpPr>
        <p:spPr>
          <a:xfrm>
            <a:off x="1003554" y="252184"/>
            <a:ext cx="9301734" cy="6370975"/>
          </a:xfrm>
          <a:prstGeom prst="rect">
            <a:avLst/>
          </a:prstGeom>
          <a:noFill/>
        </p:spPr>
        <p:txBody>
          <a:bodyPr wrap="square" rtlCol="0">
            <a:spAutoFit/>
          </a:bodyPr>
          <a:lstStyle/>
          <a:p>
            <a:r>
              <a:rPr lang="es-CO" sz="2800" b="1" dirty="0"/>
              <a:t>Bases de datos relacionales</a:t>
            </a:r>
            <a:endParaRPr lang="es-CO" sz="2400" b="1" dirty="0"/>
          </a:p>
          <a:p>
            <a:endParaRPr lang="es-CO" sz="2000" dirty="0"/>
          </a:p>
          <a:p>
            <a:r>
              <a:rPr lang="es-CO" sz="2000" dirty="0"/>
              <a:t>El modelo relacional es ejemplo de modelo basado en registros. Cada tabla contiene registros de un tipo. Cada tipo de registro define un número fijo de campos o atributos. Las columnas de la tabla se corresponden con los atributos del tipo de registro.</a:t>
            </a:r>
          </a:p>
          <a:p>
            <a:endParaRPr lang="es-CO" sz="2000" dirty="0"/>
          </a:p>
          <a:p>
            <a:r>
              <a:rPr lang="es-CO" sz="2000" b="1" dirty="0"/>
              <a:t>Lenguaje de definición de datos (LDD)</a:t>
            </a:r>
          </a:p>
          <a:p>
            <a:endParaRPr lang="es-CO" sz="2000" b="1" dirty="0"/>
          </a:p>
          <a:p>
            <a:r>
              <a:rPr lang="es-CO" sz="2000" dirty="0"/>
              <a:t>SQL ofrece un LDD que permite definir tablas, restricciones de integridad, asertos, etc. </a:t>
            </a:r>
            <a:r>
              <a:rPr lang="es-CO" sz="2000" dirty="0">
                <a:solidFill>
                  <a:srgbClr val="FF0000"/>
                </a:solidFill>
              </a:rPr>
              <a:t>La siguientes instrucción del lenguaje SQL crea la </a:t>
            </a:r>
            <a:r>
              <a:rPr lang="es-CO" sz="2000" b="1" dirty="0">
                <a:solidFill>
                  <a:srgbClr val="FF0000"/>
                </a:solidFill>
              </a:rPr>
              <a:t>tabla cuenta </a:t>
            </a:r>
            <a:r>
              <a:rPr lang="es-CO" sz="2000" dirty="0">
                <a:solidFill>
                  <a:srgbClr val="FF0000"/>
                </a:solidFill>
              </a:rPr>
              <a:t>y actualiza el diccionario de datos que contiene metadatos:</a:t>
            </a:r>
          </a:p>
          <a:p>
            <a:endParaRPr lang="es-CO" sz="2000" dirty="0"/>
          </a:p>
          <a:p>
            <a:endParaRPr lang="es-CO" sz="2000" dirty="0"/>
          </a:p>
          <a:p>
            <a:endParaRPr lang="es-CO" sz="2000" dirty="0"/>
          </a:p>
          <a:p>
            <a:endParaRPr lang="es-CO" sz="2000" dirty="0"/>
          </a:p>
          <a:p>
            <a:endParaRPr lang="es-CO" sz="2000" dirty="0"/>
          </a:p>
          <a:p>
            <a:endParaRPr lang="es-CO" sz="2000" dirty="0"/>
          </a:p>
          <a:p>
            <a:endParaRPr lang="es-CO" sz="2000" dirty="0"/>
          </a:p>
          <a:p>
            <a:r>
              <a:rPr lang="es-CO" sz="2000" dirty="0"/>
              <a:t>Los esquemas de las tablas son ejemplos de metadatos.</a:t>
            </a:r>
          </a:p>
        </p:txBody>
      </p:sp>
      <p:pic>
        <p:nvPicPr>
          <p:cNvPr id="5" name="Picture 4">
            <a:extLst>
              <a:ext uri="{FF2B5EF4-FFF2-40B4-BE49-F238E27FC236}">
                <a16:creationId xmlns:a16="http://schemas.microsoft.com/office/drawing/2014/main" id="{64410D59-0A83-6EB7-BED4-E3AD5A4A6360}"/>
              </a:ext>
            </a:extLst>
          </p:cNvPr>
          <p:cNvPicPr>
            <a:picLocks noChangeAspect="1"/>
          </p:cNvPicPr>
          <p:nvPr/>
        </p:nvPicPr>
        <p:blipFill>
          <a:blip r:embed="rId2"/>
          <a:stretch>
            <a:fillRect/>
          </a:stretch>
        </p:blipFill>
        <p:spPr>
          <a:xfrm>
            <a:off x="3173449" y="4388084"/>
            <a:ext cx="4498368" cy="1310713"/>
          </a:xfrm>
          <a:prstGeom prst="rect">
            <a:avLst/>
          </a:prstGeom>
        </p:spPr>
      </p:pic>
    </p:spTree>
    <p:extLst>
      <p:ext uri="{BB962C8B-B14F-4D97-AF65-F5344CB8AC3E}">
        <p14:creationId xmlns:p14="http://schemas.microsoft.com/office/powerpoint/2010/main" val="1901354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454B9-13AE-986A-BF2E-5FE9DFB97F9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A7D3169-3542-77EA-7AFF-5D593A1BF3B4}"/>
              </a:ext>
            </a:extLst>
          </p:cNvPr>
          <p:cNvSpPr txBox="1"/>
          <p:nvPr/>
        </p:nvSpPr>
        <p:spPr>
          <a:xfrm>
            <a:off x="1003554" y="252184"/>
            <a:ext cx="9301734" cy="4524315"/>
          </a:xfrm>
          <a:prstGeom prst="rect">
            <a:avLst/>
          </a:prstGeom>
          <a:noFill/>
        </p:spPr>
        <p:txBody>
          <a:bodyPr wrap="square" rtlCol="0">
            <a:spAutoFit/>
          </a:bodyPr>
          <a:lstStyle/>
          <a:p>
            <a:r>
              <a:rPr lang="es-CO" sz="2800" b="1" dirty="0"/>
              <a:t>Bases de datos relacionales</a:t>
            </a:r>
            <a:endParaRPr lang="es-CO" sz="2400" b="1" dirty="0"/>
          </a:p>
          <a:p>
            <a:endParaRPr lang="es-CO" sz="2000" dirty="0"/>
          </a:p>
          <a:p>
            <a:r>
              <a:rPr lang="es-CO" sz="2000" b="1" dirty="0"/>
              <a:t>Lenguaje de manipulación de datos (LMD)</a:t>
            </a:r>
          </a:p>
          <a:p>
            <a:endParaRPr lang="es-CO" sz="2000" b="1" dirty="0"/>
          </a:p>
          <a:p>
            <a:r>
              <a:rPr lang="es-CO" sz="2000" dirty="0"/>
              <a:t>SQL usa como entradas varias tablas y devuelve siempre una sola tabla. A continuación un ejemplo de consulta SQL que encuentra el nombre de todos los clientes que residen en Peguerinos:</a:t>
            </a:r>
          </a:p>
          <a:p>
            <a:endParaRPr lang="es-CO" sz="2000" dirty="0"/>
          </a:p>
          <a:p>
            <a:endParaRPr lang="es-CO" sz="2000" dirty="0"/>
          </a:p>
          <a:p>
            <a:endParaRPr lang="es-CO" sz="2000" dirty="0"/>
          </a:p>
          <a:p>
            <a:endParaRPr lang="es-CO" sz="2000" dirty="0"/>
          </a:p>
          <a:p>
            <a:endParaRPr lang="es-CO" sz="2000" dirty="0"/>
          </a:p>
          <a:p>
            <a:r>
              <a:rPr lang="es-CO" sz="2000" dirty="0">
                <a:solidFill>
                  <a:srgbClr val="FF0000"/>
                </a:solidFill>
              </a:rPr>
              <a:t>La siguiente consulta busca todos los </a:t>
            </a:r>
            <a:r>
              <a:rPr lang="es-CO" sz="2000" b="1" dirty="0">
                <a:solidFill>
                  <a:srgbClr val="FF0000"/>
                </a:solidFill>
              </a:rPr>
              <a:t>números de cuenta y sus saldos </a:t>
            </a:r>
            <a:r>
              <a:rPr lang="es-CO" sz="2000" dirty="0">
                <a:solidFill>
                  <a:srgbClr val="FF0000"/>
                </a:solidFill>
              </a:rPr>
              <a:t>del cliente con id_cliente 19.283.746:</a:t>
            </a:r>
          </a:p>
        </p:txBody>
      </p:sp>
      <p:pic>
        <p:nvPicPr>
          <p:cNvPr id="3" name="Picture 2">
            <a:extLst>
              <a:ext uri="{FF2B5EF4-FFF2-40B4-BE49-F238E27FC236}">
                <a16:creationId xmlns:a16="http://schemas.microsoft.com/office/drawing/2014/main" id="{6377EC3E-AAC7-B6BD-F207-138633935A78}"/>
              </a:ext>
            </a:extLst>
          </p:cNvPr>
          <p:cNvPicPr>
            <a:picLocks noChangeAspect="1"/>
          </p:cNvPicPr>
          <p:nvPr/>
        </p:nvPicPr>
        <p:blipFill>
          <a:blip r:embed="rId2"/>
          <a:stretch>
            <a:fillRect/>
          </a:stretch>
        </p:blipFill>
        <p:spPr>
          <a:xfrm>
            <a:off x="3662022" y="2633153"/>
            <a:ext cx="5811061" cy="1467055"/>
          </a:xfrm>
          <a:prstGeom prst="rect">
            <a:avLst/>
          </a:prstGeom>
        </p:spPr>
      </p:pic>
      <p:pic>
        <p:nvPicPr>
          <p:cNvPr id="7" name="Picture 6">
            <a:extLst>
              <a:ext uri="{FF2B5EF4-FFF2-40B4-BE49-F238E27FC236}">
                <a16:creationId xmlns:a16="http://schemas.microsoft.com/office/drawing/2014/main" id="{94AAACF0-61FD-341E-D12A-359135E0BCA4}"/>
              </a:ext>
            </a:extLst>
          </p:cNvPr>
          <p:cNvPicPr>
            <a:picLocks noChangeAspect="1"/>
          </p:cNvPicPr>
          <p:nvPr/>
        </p:nvPicPr>
        <p:blipFill>
          <a:blip r:embed="rId3"/>
          <a:stretch>
            <a:fillRect/>
          </a:stretch>
        </p:blipFill>
        <p:spPr>
          <a:xfrm>
            <a:off x="3662022" y="4833122"/>
            <a:ext cx="6754168" cy="1648055"/>
          </a:xfrm>
          <a:prstGeom prst="rect">
            <a:avLst/>
          </a:prstGeom>
        </p:spPr>
      </p:pic>
    </p:spTree>
    <p:extLst>
      <p:ext uri="{BB962C8B-B14F-4D97-AF65-F5344CB8AC3E}">
        <p14:creationId xmlns:p14="http://schemas.microsoft.com/office/powerpoint/2010/main" val="1292700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7F01D-61D2-8C2E-25BB-B88AE1FA7B2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EF2ECA0-610A-904C-806C-8D283A4B0A5E}"/>
              </a:ext>
            </a:extLst>
          </p:cNvPr>
          <p:cNvSpPr txBox="1"/>
          <p:nvPr/>
        </p:nvSpPr>
        <p:spPr>
          <a:xfrm>
            <a:off x="1003554" y="252184"/>
            <a:ext cx="9301734" cy="4832092"/>
          </a:xfrm>
          <a:prstGeom prst="rect">
            <a:avLst/>
          </a:prstGeom>
          <a:noFill/>
        </p:spPr>
        <p:txBody>
          <a:bodyPr wrap="square" rtlCol="0">
            <a:spAutoFit/>
          </a:bodyPr>
          <a:lstStyle/>
          <a:p>
            <a:r>
              <a:rPr lang="es-CO" sz="2800" b="1" dirty="0"/>
              <a:t>Acceso a bases de datos desde programas de aplicación</a:t>
            </a:r>
            <a:endParaRPr lang="es-CO" sz="2400" b="1" dirty="0"/>
          </a:p>
          <a:p>
            <a:endParaRPr lang="es-CO" sz="2000" b="1" dirty="0"/>
          </a:p>
          <a:p>
            <a:endParaRPr lang="es-CO" sz="2000" b="1" dirty="0"/>
          </a:p>
          <a:p>
            <a:r>
              <a:rPr lang="es-CO" sz="2000" dirty="0"/>
              <a:t>Los programas de aplicación (C#, Java) se usan para interactuar con las bases de datos. Para tener acceso a la base de datos, las instrucciones LMD deben ejecutarse desde el lenguaje anfitrión. Hay 2 maneras de conseguirlo:</a:t>
            </a:r>
          </a:p>
          <a:p>
            <a:endParaRPr lang="es-CO" sz="2000" dirty="0"/>
          </a:p>
          <a:p>
            <a:pPr marL="342900" indent="-342900">
              <a:buFontTx/>
              <a:buChar char="-"/>
            </a:pPr>
            <a:r>
              <a:rPr lang="es-CO" sz="2000" dirty="0"/>
              <a:t>Proporcionando una interfaz de programas de aplicación que se pueda usar para enviar instrucciones LMD y LDD a la base de datos y recuperar los resultados. El estándar de interfaz de programas de aplicación de Microsoft ODBC (Open Data Base </a:t>
            </a:r>
            <a:r>
              <a:rPr lang="es-CO" sz="2000" dirty="0" err="1"/>
              <a:t>Connectivity</a:t>
            </a:r>
            <a:r>
              <a:rPr lang="es-CO" sz="2000" dirty="0"/>
              <a:t>) y estándar de conectividad de Java JDBC (Java Data Base </a:t>
            </a:r>
            <a:r>
              <a:rPr lang="es-CO" sz="2000" dirty="0" err="1"/>
              <a:t>Connectivity</a:t>
            </a:r>
            <a:r>
              <a:rPr lang="es-CO" sz="2000" dirty="0"/>
              <a:t>).</a:t>
            </a:r>
          </a:p>
          <a:p>
            <a:endParaRPr lang="es-CO" sz="2000" dirty="0"/>
          </a:p>
          <a:p>
            <a:pPr marL="342900" indent="-342900">
              <a:buFontTx/>
              <a:buChar char="-"/>
            </a:pPr>
            <a:r>
              <a:rPr lang="es-CO" sz="2000" dirty="0"/>
              <a:t>Utilizando un </a:t>
            </a:r>
            <a:r>
              <a:rPr lang="es-CO" sz="2000" dirty="0" err="1"/>
              <a:t>precompilador</a:t>
            </a:r>
            <a:r>
              <a:rPr lang="es-CO" sz="2000" dirty="0"/>
              <a:t> LMD que convierte las instrucciones LMD en llamadas normales a procedimientos en el lenguaje anfitrión.</a:t>
            </a:r>
          </a:p>
        </p:txBody>
      </p:sp>
    </p:spTree>
    <p:extLst>
      <p:ext uri="{BB962C8B-B14F-4D97-AF65-F5344CB8AC3E}">
        <p14:creationId xmlns:p14="http://schemas.microsoft.com/office/powerpoint/2010/main" val="4081771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0F4CC-D445-B9F6-9D45-25D28019C0A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25AE9F3-117E-3629-B5F4-DAA09718F8A7}"/>
              </a:ext>
            </a:extLst>
          </p:cNvPr>
          <p:cNvSpPr txBox="1"/>
          <p:nvPr/>
        </p:nvSpPr>
        <p:spPr>
          <a:xfrm>
            <a:off x="582930" y="1532344"/>
            <a:ext cx="3577590" cy="3354765"/>
          </a:xfrm>
          <a:prstGeom prst="rect">
            <a:avLst/>
          </a:prstGeom>
          <a:noFill/>
        </p:spPr>
        <p:txBody>
          <a:bodyPr wrap="square" rtlCol="0">
            <a:spAutoFit/>
          </a:bodyPr>
          <a:lstStyle/>
          <a:p>
            <a:r>
              <a:rPr lang="es-CO" sz="2800" b="1" dirty="0"/>
              <a:t>Acceso a bases de datos desde programas de aplicación</a:t>
            </a:r>
            <a:endParaRPr lang="es-CO" sz="2400" b="1" dirty="0"/>
          </a:p>
          <a:p>
            <a:endParaRPr lang="es-CO" sz="2000" b="1" dirty="0"/>
          </a:p>
          <a:p>
            <a:r>
              <a:rPr lang="es-CO" sz="2000" dirty="0"/>
              <a:t>Estándar de interfaz de programas de aplicación de Microsoft ODBC (Open Data Base </a:t>
            </a:r>
            <a:r>
              <a:rPr lang="es-CO" sz="2000" dirty="0" err="1"/>
              <a:t>Connectivity</a:t>
            </a:r>
            <a:r>
              <a:rPr lang="es-CO" sz="2000" dirty="0"/>
              <a:t>).</a:t>
            </a:r>
          </a:p>
        </p:txBody>
      </p:sp>
      <p:pic>
        <p:nvPicPr>
          <p:cNvPr id="6" name="Picture 5">
            <a:extLst>
              <a:ext uri="{FF2B5EF4-FFF2-40B4-BE49-F238E27FC236}">
                <a16:creationId xmlns:a16="http://schemas.microsoft.com/office/drawing/2014/main" id="{B330F1E0-DD05-87E0-101E-27E26ACEC3C9}"/>
              </a:ext>
            </a:extLst>
          </p:cNvPr>
          <p:cNvPicPr>
            <a:picLocks noChangeAspect="1"/>
          </p:cNvPicPr>
          <p:nvPr/>
        </p:nvPicPr>
        <p:blipFill>
          <a:blip r:embed="rId2"/>
          <a:stretch>
            <a:fillRect/>
          </a:stretch>
        </p:blipFill>
        <p:spPr>
          <a:xfrm>
            <a:off x="4768908" y="0"/>
            <a:ext cx="6642804" cy="6858000"/>
          </a:xfrm>
          <a:prstGeom prst="rect">
            <a:avLst/>
          </a:prstGeom>
        </p:spPr>
      </p:pic>
    </p:spTree>
    <p:extLst>
      <p:ext uri="{BB962C8B-B14F-4D97-AF65-F5344CB8AC3E}">
        <p14:creationId xmlns:p14="http://schemas.microsoft.com/office/powerpoint/2010/main" val="25947529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D0A40-6E19-7E1E-85AF-8A54A91D163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5B047A6-4777-D49C-8E27-1BE9FE3BCC61}"/>
              </a:ext>
            </a:extLst>
          </p:cNvPr>
          <p:cNvSpPr txBox="1"/>
          <p:nvPr/>
        </p:nvSpPr>
        <p:spPr>
          <a:xfrm>
            <a:off x="427482" y="1550632"/>
            <a:ext cx="3577590" cy="3046988"/>
          </a:xfrm>
          <a:prstGeom prst="rect">
            <a:avLst/>
          </a:prstGeom>
          <a:noFill/>
        </p:spPr>
        <p:txBody>
          <a:bodyPr wrap="square" rtlCol="0">
            <a:spAutoFit/>
          </a:bodyPr>
          <a:lstStyle/>
          <a:p>
            <a:r>
              <a:rPr lang="es-CO" sz="2800" b="1" dirty="0"/>
              <a:t>Acceso a bases de datos desde programas de aplicación</a:t>
            </a:r>
            <a:endParaRPr lang="es-CO" sz="2400" b="1" dirty="0"/>
          </a:p>
          <a:p>
            <a:endParaRPr lang="es-CO" sz="2000" b="1" dirty="0"/>
          </a:p>
          <a:p>
            <a:r>
              <a:rPr lang="es-CO" sz="2000" dirty="0"/>
              <a:t>Estándar de conectividad de Java JDBC (Java Data Base </a:t>
            </a:r>
            <a:r>
              <a:rPr lang="es-CO" sz="2000" dirty="0" err="1"/>
              <a:t>Connectivity</a:t>
            </a:r>
            <a:r>
              <a:rPr lang="es-CO" sz="2000" dirty="0"/>
              <a:t>).</a:t>
            </a:r>
          </a:p>
        </p:txBody>
      </p:sp>
      <p:pic>
        <p:nvPicPr>
          <p:cNvPr id="3" name="Picture 2">
            <a:extLst>
              <a:ext uri="{FF2B5EF4-FFF2-40B4-BE49-F238E27FC236}">
                <a16:creationId xmlns:a16="http://schemas.microsoft.com/office/drawing/2014/main" id="{F964D92E-D8E5-314F-BB69-9EF9B78DD766}"/>
              </a:ext>
            </a:extLst>
          </p:cNvPr>
          <p:cNvPicPr>
            <a:picLocks noChangeAspect="1"/>
          </p:cNvPicPr>
          <p:nvPr/>
        </p:nvPicPr>
        <p:blipFill>
          <a:blip r:embed="rId2"/>
          <a:stretch>
            <a:fillRect/>
          </a:stretch>
        </p:blipFill>
        <p:spPr>
          <a:xfrm>
            <a:off x="4342656" y="0"/>
            <a:ext cx="7146000" cy="6858000"/>
          </a:xfrm>
          <a:prstGeom prst="rect">
            <a:avLst/>
          </a:prstGeom>
        </p:spPr>
      </p:pic>
    </p:spTree>
    <p:extLst>
      <p:ext uri="{BB962C8B-B14F-4D97-AF65-F5344CB8AC3E}">
        <p14:creationId xmlns:p14="http://schemas.microsoft.com/office/powerpoint/2010/main" val="2625884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97F7A-AA9D-3099-9B43-3D0CB7168F8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D00DC8B-FBFB-5EC1-4230-9C570580985F}"/>
              </a:ext>
            </a:extLst>
          </p:cNvPr>
          <p:cNvSpPr txBox="1"/>
          <p:nvPr/>
        </p:nvSpPr>
        <p:spPr>
          <a:xfrm>
            <a:off x="1003554" y="592544"/>
            <a:ext cx="10042398" cy="2677656"/>
          </a:xfrm>
          <a:prstGeom prst="rect">
            <a:avLst/>
          </a:prstGeom>
          <a:noFill/>
        </p:spPr>
        <p:txBody>
          <a:bodyPr wrap="square" rtlCol="0">
            <a:spAutoFit/>
          </a:bodyPr>
          <a:lstStyle/>
          <a:p>
            <a:r>
              <a:rPr lang="es-CO" sz="2800" b="1" dirty="0"/>
              <a:t>Diseño de bases de datos</a:t>
            </a:r>
            <a:endParaRPr lang="es-CO" sz="2400" b="1" dirty="0"/>
          </a:p>
          <a:p>
            <a:endParaRPr lang="es-CO" sz="2000" b="1" dirty="0"/>
          </a:p>
          <a:p>
            <a:r>
              <a:rPr lang="es-CO" sz="2000" dirty="0"/>
              <a:t>Los sistemas de bases de datos se diseñan para gestionar grandes cantidades de información. El diseño de la BD implica:</a:t>
            </a:r>
          </a:p>
          <a:p>
            <a:endParaRPr lang="es-CO" sz="2000" dirty="0"/>
          </a:p>
          <a:p>
            <a:pPr marL="342900" indent="-342900">
              <a:buFontTx/>
              <a:buChar char="-"/>
            </a:pPr>
            <a:r>
              <a:rPr lang="es-CO" sz="2000" dirty="0"/>
              <a:t>Diseño del esquema de la BD.</a:t>
            </a:r>
          </a:p>
          <a:p>
            <a:pPr marL="342900" indent="-342900">
              <a:buFontTx/>
              <a:buChar char="-"/>
            </a:pPr>
            <a:r>
              <a:rPr lang="es-CO" sz="2000" dirty="0"/>
              <a:t>El diseño del entorno completo de aplicaciones para la BD. </a:t>
            </a:r>
          </a:p>
          <a:p>
            <a:endParaRPr lang="es-CO" sz="2000" dirty="0"/>
          </a:p>
        </p:txBody>
      </p:sp>
    </p:spTree>
    <p:extLst>
      <p:ext uri="{BB962C8B-B14F-4D97-AF65-F5344CB8AC3E}">
        <p14:creationId xmlns:p14="http://schemas.microsoft.com/office/powerpoint/2010/main" val="2588075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916C0-DBCB-2564-9CD3-BCE7B2DA9A9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4946CBE-F2FA-365B-09B3-969F186F8F87}"/>
              </a:ext>
            </a:extLst>
          </p:cNvPr>
          <p:cNvSpPr txBox="1"/>
          <p:nvPr/>
        </p:nvSpPr>
        <p:spPr>
          <a:xfrm>
            <a:off x="1149858" y="135344"/>
            <a:ext cx="9484614" cy="6370975"/>
          </a:xfrm>
          <a:prstGeom prst="rect">
            <a:avLst/>
          </a:prstGeom>
          <a:noFill/>
        </p:spPr>
        <p:txBody>
          <a:bodyPr wrap="square" rtlCol="0">
            <a:spAutoFit/>
          </a:bodyPr>
          <a:lstStyle/>
          <a:p>
            <a:r>
              <a:rPr lang="es-CO" sz="2800" b="1" dirty="0"/>
              <a:t>Diseño de bases de datos</a:t>
            </a:r>
            <a:endParaRPr lang="es-CO" sz="2400" b="1" dirty="0"/>
          </a:p>
          <a:p>
            <a:endParaRPr lang="es-CO" sz="2000" b="1" dirty="0"/>
          </a:p>
          <a:p>
            <a:r>
              <a:rPr lang="es-CO" sz="2000" b="1" dirty="0"/>
              <a:t>Proceso de diseño</a:t>
            </a:r>
          </a:p>
          <a:p>
            <a:endParaRPr lang="es-CO" sz="2000" b="1" dirty="0"/>
          </a:p>
          <a:p>
            <a:pPr marL="457200" indent="-457200">
              <a:buAutoNum type="arabicPeriod"/>
            </a:pPr>
            <a:r>
              <a:rPr lang="es-CO" sz="2000" dirty="0"/>
              <a:t>Caracterizar los requisitos de datos de los usuarios de la base de datos: Especificación de los requisitos de los usuarios.</a:t>
            </a:r>
          </a:p>
          <a:p>
            <a:pPr marL="457200" indent="-457200">
              <a:buAutoNum type="arabicPeriod"/>
            </a:pPr>
            <a:r>
              <a:rPr lang="es-CO" sz="2000" dirty="0"/>
              <a:t>Seleccionar un modelo de datos: traducir los requisitos en un esquema conceptual de la BD. El esquema desarrollado en esta fase de </a:t>
            </a:r>
            <a:r>
              <a:rPr lang="es-CO" sz="2000" b="1" dirty="0"/>
              <a:t>diseño conceptual </a:t>
            </a:r>
            <a:r>
              <a:rPr lang="es-CO" sz="2000" dirty="0"/>
              <a:t>ofrece una visión general detallada de la empresa. Descripción de los datos y sus relaciones. Cuáles atributos incluir y cómo agruparlos en las tablas.</a:t>
            </a:r>
          </a:p>
          <a:p>
            <a:pPr marL="457200" indent="-457200">
              <a:buAutoNum type="arabicPeriod"/>
            </a:pPr>
            <a:r>
              <a:rPr lang="es-CO" sz="2000" dirty="0"/>
              <a:t>Utilizar el modelo entidad-relación o algoritmos para generar un conjunto de tablas a partir de los atributos.</a:t>
            </a:r>
          </a:p>
          <a:p>
            <a:pPr marL="457200" indent="-457200">
              <a:buAutoNum type="arabicPeriod"/>
            </a:pPr>
            <a:r>
              <a:rPr lang="es-CO" sz="2000" dirty="0"/>
              <a:t>Especificación de requisitos funcionales: los usuarios describen el tipo de operaciones que se llevarán a cabo con los datos. El diseñador revisa el esquema para verificar que satisface los requisitos funcionales.</a:t>
            </a:r>
          </a:p>
          <a:p>
            <a:pPr marL="457200" indent="-457200">
              <a:buAutoNum type="arabicPeriod"/>
            </a:pPr>
            <a:r>
              <a:rPr lang="es-CO" sz="2000" dirty="0"/>
              <a:t>Fase de diseño lógico: el diseñador relaciona el esquema conceptual con el modelo de implementación de datos del sistema de BD que se usará.</a:t>
            </a:r>
          </a:p>
          <a:p>
            <a:pPr marL="457200" indent="-457200">
              <a:buAutoNum type="arabicPeriod"/>
            </a:pPr>
            <a:r>
              <a:rPr lang="es-CO" sz="2000" dirty="0"/>
              <a:t>Fase de diseño físico. Se especifican características físicas de la BD: la forma de organización de los archivos y las estructuras de almacenamiento interno.</a:t>
            </a:r>
          </a:p>
        </p:txBody>
      </p:sp>
    </p:spTree>
    <p:extLst>
      <p:ext uri="{BB962C8B-B14F-4D97-AF65-F5344CB8AC3E}">
        <p14:creationId xmlns:p14="http://schemas.microsoft.com/office/powerpoint/2010/main" val="4190042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2CD3E-56D5-05DC-7F5F-25FA7A36F60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B4B60C8-E189-6A2B-428F-16E07CC0D27E}"/>
              </a:ext>
            </a:extLst>
          </p:cNvPr>
          <p:cNvSpPr txBox="1"/>
          <p:nvPr/>
        </p:nvSpPr>
        <p:spPr>
          <a:xfrm>
            <a:off x="912114" y="171920"/>
            <a:ext cx="9484614" cy="6309420"/>
          </a:xfrm>
          <a:prstGeom prst="rect">
            <a:avLst/>
          </a:prstGeom>
          <a:noFill/>
        </p:spPr>
        <p:txBody>
          <a:bodyPr wrap="square" rtlCol="0">
            <a:spAutoFit/>
          </a:bodyPr>
          <a:lstStyle/>
          <a:p>
            <a:r>
              <a:rPr lang="es-ES" sz="2400" b="1" dirty="0"/>
              <a:t>Diseño de la base de datos para una entidad bancaria</a:t>
            </a:r>
          </a:p>
          <a:p>
            <a:endParaRPr lang="es-ES" sz="2000" b="1" dirty="0"/>
          </a:p>
          <a:p>
            <a:r>
              <a:rPr lang="es-ES" sz="2000" dirty="0"/>
              <a:t>Éstas son las principales características de la entidad bancaria:</a:t>
            </a:r>
          </a:p>
          <a:p>
            <a:endParaRPr lang="es-ES" sz="2000" dirty="0"/>
          </a:p>
          <a:p>
            <a:r>
              <a:rPr lang="es-ES" sz="2000" dirty="0"/>
              <a:t>• El banco está organizado en sucursales. Cada sucursal se ubica en una ciudad determinada y queda identificada por un nombre único.</a:t>
            </a:r>
          </a:p>
          <a:p>
            <a:endParaRPr lang="es-ES" sz="2000" dirty="0"/>
          </a:p>
          <a:p>
            <a:r>
              <a:rPr lang="es-ES" sz="2000" dirty="0"/>
              <a:t>• Los clientes quedan identificados por el valor de su </a:t>
            </a:r>
            <a:r>
              <a:rPr lang="es-ES" sz="2000" b="1" dirty="0" err="1"/>
              <a:t>id_cliente</a:t>
            </a:r>
            <a:r>
              <a:rPr lang="es-ES" sz="2000" dirty="0"/>
              <a:t>. El banco almacena el nombre de cada cliente y la calle y la ciudad en la que vive. Los clientes pueden abrir cuentas y solicitar préstamos.</a:t>
            </a:r>
          </a:p>
          <a:p>
            <a:endParaRPr lang="es-ES" sz="2000" dirty="0"/>
          </a:p>
          <a:p>
            <a:r>
              <a:rPr lang="es-ES" sz="2000" dirty="0"/>
              <a:t>• El banco ofrece dos tipos de cuenta: de ahorro y corriente. </a:t>
            </a:r>
          </a:p>
          <a:p>
            <a:endParaRPr lang="es-ES" sz="2000" dirty="0"/>
          </a:p>
          <a:p>
            <a:r>
              <a:rPr lang="es-ES" sz="2000" dirty="0"/>
              <a:t>• El banco ofrece préstamos a sus clientes. Cada préstamo se origina en una sucursal concreta. Cada préstamo queda identificado por un número de préstamo único. </a:t>
            </a:r>
          </a:p>
          <a:p>
            <a:endParaRPr lang="es-ES" sz="2000" dirty="0"/>
          </a:p>
          <a:p>
            <a:r>
              <a:rPr lang="es-ES" sz="2000" dirty="0"/>
              <a:t>• Los empleados del banco quedan identificados por el valor de su </a:t>
            </a:r>
            <a:r>
              <a:rPr lang="es-ES" sz="2000" b="1" dirty="0" err="1"/>
              <a:t>id_empleado</a:t>
            </a:r>
            <a:r>
              <a:rPr lang="es-ES" sz="2000" dirty="0"/>
              <a:t>. La administración del banco almacena el nombre y número de teléfono de cada empleado y el número de </a:t>
            </a:r>
            <a:r>
              <a:rPr lang="es-ES" sz="2000" dirty="0" err="1"/>
              <a:t>id_empleado</a:t>
            </a:r>
            <a:r>
              <a:rPr lang="es-ES" sz="2000" dirty="0"/>
              <a:t> del jefe de cada empleado.</a:t>
            </a:r>
          </a:p>
        </p:txBody>
      </p:sp>
    </p:spTree>
    <p:extLst>
      <p:ext uri="{BB962C8B-B14F-4D97-AF65-F5344CB8AC3E}">
        <p14:creationId xmlns:p14="http://schemas.microsoft.com/office/powerpoint/2010/main" val="24021928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80164-6C71-4903-2DD4-EC993F314E3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D3C48A9-D236-FC91-7322-08EED74E7E66}"/>
              </a:ext>
            </a:extLst>
          </p:cNvPr>
          <p:cNvSpPr txBox="1"/>
          <p:nvPr/>
        </p:nvSpPr>
        <p:spPr>
          <a:xfrm>
            <a:off x="1138809" y="164592"/>
            <a:ext cx="9742551" cy="6370975"/>
          </a:xfrm>
          <a:prstGeom prst="rect">
            <a:avLst/>
          </a:prstGeom>
          <a:noFill/>
        </p:spPr>
        <p:txBody>
          <a:bodyPr wrap="square" rtlCol="0">
            <a:spAutoFit/>
          </a:bodyPr>
          <a:lstStyle/>
          <a:p>
            <a:r>
              <a:rPr lang="es-CO" sz="2800" b="1" dirty="0"/>
              <a:t>El modelo Entidad-Relación</a:t>
            </a:r>
            <a:endParaRPr lang="es-CO" sz="2400" b="1" dirty="0"/>
          </a:p>
          <a:p>
            <a:endParaRPr lang="es-CO" sz="2000" dirty="0"/>
          </a:p>
          <a:p>
            <a:endParaRPr lang="es-CO" sz="2000" dirty="0"/>
          </a:p>
          <a:p>
            <a:r>
              <a:rPr lang="es-CO" sz="2000" dirty="0"/>
              <a:t>B</a:t>
            </a:r>
            <a:r>
              <a:rPr lang="es-ES" sz="2000" dirty="0"/>
              <a:t>asado en una percepción del mundo real que consiste en un conjunto de objetos, llamados entidades y de las relaciones entre esos objetos. </a:t>
            </a:r>
            <a:r>
              <a:rPr lang="es-ES" sz="2000" b="1" dirty="0"/>
              <a:t>Una entidad es un “objeto” </a:t>
            </a:r>
            <a:r>
              <a:rPr lang="es-ES" sz="2000" dirty="0"/>
              <a:t>del mundo real distinguible de otros objetos. Por ejemplo, cada persona es una entidad y las cuentas bancarias pueden considerarse entidades.</a:t>
            </a:r>
          </a:p>
          <a:p>
            <a:endParaRPr lang="es-ES" sz="2000" dirty="0"/>
          </a:p>
          <a:p>
            <a:r>
              <a:rPr lang="es-ES" sz="2000" dirty="0"/>
              <a:t>Las entidades se describen en las bases de datos mediante un conjunto de atributos. Por ejemplo, los atributos </a:t>
            </a:r>
            <a:r>
              <a:rPr lang="es-ES" sz="2000" b="1" dirty="0" err="1"/>
              <a:t>número_cuenta</a:t>
            </a:r>
            <a:r>
              <a:rPr lang="es-ES" sz="2000" b="1" dirty="0"/>
              <a:t> y saldo </a:t>
            </a:r>
            <a:r>
              <a:rPr lang="es-ES" sz="2000" dirty="0"/>
              <a:t>pueden describir una </a:t>
            </a:r>
            <a:r>
              <a:rPr lang="es-ES" sz="2000" b="1" dirty="0"/>
              <a:t>cuenta</a:t>
            </a:r>
            <a:r>
              <a:rPr lang="es-ES" sz="2000" dirty="0"/>
              <a:t> de ahorros en un banco y constituyen atributos del conjunto de entidades </a:t>
            </a:r>
            <a:r>
              <a:rPr lang="es-ES" sz="2000" b="1" dirty="0"/>
              <a:t>cuenta</a:t>
            </a:r>
            <a:r>
              <a:rPr lang="es-ES" sz="2000" dirty="0"/>
              <a:t>.</a:t>
            </a:r>
          </a:p>
          <a:p>
            <a:endParaRPr lang="es-ES" sz="2000" dirty="0"/>
          </a:p>
          <a:p>
            <a:r>
              <a:rPr lang="es-ES" sz="2000" dirty="0"/>
              <a:t>Por ejemplo, los atributos </a:t>
            </a:r>
            <a:r>
              <a:rPr lang="es-ES" sz="2000" b="1" dirty="0" err="1"/>
              <a:t>nombre_cliente</a:t>
            </a:r>
            <a:r>
              <a:rPr lang="es-ES" sz="2000" b="1" dirty="0"/>
              <a:t>, </a:t>
            </a:r>
            <a:r>
              <a:rPr lang="es-ES" sz="2000" b="1" dirty="0" err="1"/>
              <a:t>calle_cliente</a:t>
            </a:r>
            <a:r>
              <a:rPr lang="es-ES" sz="2000" b="1" dirty="0"/>
              <a:t> y </a:t>
            </a:r>
            <a:r>
              <a:rPr lang="es-ES" sz="2000" b="1" dirty="0" err="1"/>
              <a:t>ciudad_cliente</a:t>
            </a:r>
            <a:r>
              <a:rPr lang="es-ES" sz="2000" b="1" dirty="0"/>
              <a:t> </a:t>
            </a:r>
            <a:r>
              <a:rPr lang="es-ES" sz="2000" dirty="0"/>
              <a:t>pueden describir una entidad </a:t>
            </a:r>
            <a:r>
              <a:rPr lang="es-ES" sz="2000" b="1" dirty="0"/>
              <a:t>cliente.</a:t>
            </a:r>
          </a:p>
          <a:p>
            <a:endParaRPr lang="es-ES" sz="2000" b="1" dirty="0"/>
          </a:p>
          <a:p>
            <a:r>
              <a:rPr lang="es-ES" sz="2000" b="1" dirty="0"/>
              <a:t>Una relación es una asociación entre varias entidades.</a:t>
            </a:r>
            <a:r>
              <a:rPr lang="es-ES" sz="2000" dirty="0"/>
              <a:t> </a:t>
            </a:r>
          </a:p>
          <a:p>
            <a:endParaRPr lang="es-ES" sz="2000" dirty="0"/>
          </a:p>
          <a:p>
            <a:r>
              <a:rPr lang="es-ES" sz="2000" dirty="0"/>
              <a:t>Por ejemplo, la relación </a:t>
            </a:r>
            <a:r>
              <a:rPr lang="es-ES" sz="2000" b="1" dirty="0"/>
              <a:t>impositor</a:t>
            </a:r>
            <a:r>
              <a:rPr lang="es-ES" sz="2000" dirty="0"/>
              <a:t> asocia un cliente con cada cuenta que tiene. El conjunto de todas las entidades del mismo tipo, y el conjunto de todas las relaciones del mismo tipo se denominan conjunto de entidades y conjunto de relaciones.</a:t>
            </a:r>
          </a:p>
        </p:txBody>
      </p:sp>
    </p:spTree>
    <p:extLst>
      <p:ext uri="{BB962C8B-B14F-4D97-AF65-F5344CB8AC3E}">
        <p14:creationId xmlns:p14="http://schemas.microsoft.com/office/powerpoint/2010/main" val="3676525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E637A-AF18-46EB-8EC9-7FF156FC33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7DADF46-E822-2E8E-4AB8-AAACC205D485}"/>
              </a:ext>
            </a:extLst>
          </p:cNvPr>
          <p:cNvSpPr txBox="1"/>
          <p:nvPr/>
        </p:nvSpPr>
        <p:spPr>
          <a:xfrm>
            <a:off x="1143740" y="64008"/>
            <a:ext cx="9769983" cy="4401205"/>
          </a:xfrm>
          <a:prstGeom prst="rect">
            <a:avLst/>
          </a:prstGeom>
          <a:noFill/>
        </p:spPr>
        <p:txBody>
          <a:bodyPr wrap="square" rtlCol="0">
            <a:spAutoFit/>
          </a:bodyPr>
          <a:lstStyle/>
          <a:p>
            <a:r>
              <a:rPr lang="es-CO" sz="2800" b="1" dirty="0"/>
              <a:t>El modelo Entidad-Relación</a:t>
            </a:r>
            <a:endParaRPr lang="es-CO" sz="2400" b="1" dirty="0"/>
          </a:p>
          <a:p>
            <a:endParaRPr lang="es-ES" dirty="0"/>
          </a:p>
          <a:p>
            <a:r>
              <a:rPr lang="es-ES" dirty="0"/>
              <a:t>La estructura lógica general o esquema de la base de datos se puede expresar gráficamente mediante un diagrama E-R, que está constituido por los siguientes componentes:</a:t>
            </a:r>
          </a:p>
          <a:p>
            <a:endParaRPr lang="es-ES" dirty="0"/>
          </a:p>
          <a:p>
            <a:r>
              <a:rPr lang="es-ES" dirty="0"/>
              <a:t>• </a:t>
            </a:r>
            <a:r>
              <a:rPr lang="es-ES" b="1" dirty="0"/>
              <a:t>Rectángulos, </a:t>
            </a:r>
            <a:r>
              <a:rPr lang="es-ES" dirty="0"/>
              <a:t>que representan conjuntos de entidades.</a:t>
            </a:r>
          </a:p>
          <a:p>
            <a:r>
              <a:rPr lang="es-ES" dirty="0"/>
              <a:t>• </a:t>
            </a:r>
            <a:r>
              <a:rPr lang="es-ES" b="1" dirty="0"/>
              <a:t>Elipses,</a:t>
            </a:r>
            <a:r>
              <a:rPr lang="es-ES" dirty="0"/>
              <a:t> que representan atributos.</a:t>
            </a:r>
          </a:p>
          <a:p>
            <a:r>
              <a:rPr lang="es-ES" dirty="0"/>
              <a:t>• </a:t>
            </a:r>
            <a:r>
              <a:rPr lang="es-ES" b="1" dirty="0"/>
              <a:t>Rombos, </a:t>
            </a:r>
            <a:r>
              <a:rPr lang="es-ES" dirty="0"/>
              <a:t>que representan conjuntos de relaciones entre miembros de varios conjuntos de entidades.</a:t>
            </a:r>
          </a:p>
          <a:p>
            <a:r>
              <a:rPr lang="es-ES" dirty="0"/>
              <a:t>• </a:t>
            </a:r>
            <a:r>
              <a:rPr lang="es-ES" b="1" dirty="0"/>
              <a:t>Líneas,</a:t>
            </a:r>
            <a:r>
              <a:rPr lang="es-ES" dirty="0"/>
              <a:t> que unen los atributos con los conjuntos de entidades entre sí, y también los conjuntos de entidades con las relaciones.</a:t>
            </a:r>
          </a:p>
          <a:p>
            <a:endParaRPr lang="es-ES" dirty="0"/>
          </a:p>
          <a:p>
            <a:r>
              <a:rPr lang="es-ES" dirty="0"/>
              <a:t>Cada componente se etiqueta con la entidad o relación que representa.  Considerar parte de un sistema bancario de bases de datos consistente en los clientes y las cuentas que tienen esos clientes. El modelo entidad-relación se usa ampliamente en el diseño de bases de datos.</a:t>
            </a:r>
          </a:p>
        </p:txBody>
      </p:sp>
      <p:pic>
        <p:nvPicPr>
          <p:cNvPr id="2" name="Picture 1">
            <a:extLst>
              <a:ext uri="{FF2B5EF4-FFF2-40B4-BE49-F238E27FC236}">
                <a16:creationId xmlns:a16="http://schemas.microsoft.com/office/drawing/2014/main" id="{D7656DC7-5CC3-04B3-8F9F-D7F16105F753}"/>
              </a:ext>
            </a:extLst>
          </p:cNvPr>
          <p:cNvPicPr>
            <a:picLocks noChangeAspect="1"/>
          </p:cNvPicPr>
          <p:nvPr/>
        </p:nvPicPr>
        <p:blipFill>
          <a:blip r:embed="rId2"/>
          <a:stretch>
            <a:fillRect/>
          </a:stretch>
        </p:blipFill>
        <p:spPr>
          <a:xfrm>
            <a:off x="2392257" y="4399478"/>
            <a:ext cx="7016919" cy="2330506"/>
          </a:xfrm>
          <a:prstGeom prst="rect">
            <a:avLst/>
          </a:prstGeom>
        </p:spPr>
      </p:pic>
    </p:spTree>
    <p:extLst>
      <p:ext uri="{BB962C8B-B14F-4D97-AF65-F5344CB8AC3E}">
        <p14:creationId xmlns:p14="http://schemas.microsoft.com/office/powerpoint/2010/main" val="17593733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53F55-35E7-11F9-012C-9DE705F620B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013BE7D-2A14-85B7-8ABA-7D99DFC974BF}"/>
              </a:ext>
            </a:extLst>
          </p:cNvPr>
          <p:cNvSpPr txBox="1"/>
          <p:nvPr/>
        </p:nvSpPr>
        <p:spPr>
          <a:xfrm>
            <a:off x="1143740" y="137160"/>
            <a:ext cx="9769983" cy="523220"/>
          </a:xfrm>
          <a:prstGeom prst="rect">
            <a:avLst/>
          </a:prstGeom>
          <a:noFill/>
        </p:spPr>
        <p:txBody>
          <a:bodyPr wrap="square" rtlCol="0">
            <a:spAutoFit/>
          </a:bodyPr>
          <a:lstStyle/>
          <a:p>
            <a:r>
              <a:rPr lang="es-CO" sz="2800" b="1" dirty="0"/>
              <a:t>El modelo Entidad-Relación</a:t>
            </a:r>
            <a:endParaRPr lang="es-CO" sz="2400" b="1" dirty="0"/>
          </a:p>
        </p:txBody>
      </p:sp>
      <p:pic>
        <p:nvPicPr>
          <p:cNvPr id="5" name="Picture 4">
            <a:extLst>
              <a:ext uri="{FF2B5EF4-FFF2-40B4-BE49-F238E27FC236}">
                <a16:creationId xmlns:a16="http://schemas.microsoft.com/office/drawing/2014/main" id="{5DC981B8-B1D4-63B4-BE53-0AF35CDEE37F}"/>
              </a:ext>
            </a:extLst>
          </p:cNvPr>
          <p:cNvPicPr>
            <a:picLocks noChangeAspect="1"/>
          </p:cNvPicPr>
          <p:nvPr/>
        </p:nvPicPr>
        <p:blipFill>
          <a:blip r:embed="rId2"/>
          <a:stretch>
            <a:fillRect/>
          </a:stretch>
        </p:blipFill>
        <p:spPr>
          <a:xfrm>
            <a:off x="8198148" y="4332614"/>
            <a:ext cx="3279387" cy="2343382"/>
          </a:xfrm>
          <a:prstGeom prst="rect">
            <a:avLst/>
          </a:prstGeom>
        </p:spPr>
      </p:pic>
      <p:pic>
        <p:nvPicPr>
          <p:cNvPr id="6" name="Picture 5">
            <a:extLst>
              <a:ext uri="{FF2B5EF4-FFF2-40B4-BE49-F238E27FC236}">
                <a16:creationId xmlns:a16="http://schemas.microsoft.com/office/drawing/2014/main" id="{37792223-1C85-1298-80C4-674006C3C2B1}"/>
              </a:ext>
            </a:extLst>
          </p:cNvPr>
          <p:cNvPicPr>
            <a:picLocks noChangeAspect="1"/>
          </p:cNvPicPr>
          <p:nvPr/>
        </p:nvPicPr>
        <p:blipFill>
          <a:blip r:embed="rId3"/>
          <a:stretch>
            <a:fillRect/>
          </a:stretch>
        </p:blipFill>
        <p:spPr>
          <a:xfrm>
            <a:off x="1278276" y="660379"/>
            <a:ext cx="9225079" cy="3063895"/>
          </a:xfrm>
          <a:prstGeom prst="rect">
            <a:avLst/>
          </a:prstGeom>
        </p:spPr>
      </p:pic>
      <p:pic>
        <p:nvPicPr>
          <p:cNvPr id="8" name="Picture 7">
            <a:extLst>
              <a:ext uri="{FF2B5EF4-FFF2-40B4-BE49-F238E27FC236}">
                <a16:creationId xmlns:a16="http://schemas.microsoft.com/office/drawing/2014/main" id="{31BBB506-4BBD-1B51-DDD8-9BD478A36004}"/>
              </a:ext>
            </a:extLst>
          </p:cNvPr>
          <p:cNvPicPr>
            <a:picLocks noChangeAspect="1"/>
          </p:cNvPicPr>
          <p:nvPr/>
        </p:nvPicPr>
        <p:blipFill>
          <a:blip r:embed="rId4"/>
          <a:stretch>
            <a:fillRect/>
          </a:stretch>
        </p:blipFill>
        <p:spPr>
          <a:xfrm>
            <a:off x="40863" y="4531346"/>
            <a:ext cx="6412684" cy="1945918"/>
          </a:xfrm>
          <a:prstGeom prst="rect">
            <a:avLst/>
          </a:prstGeom>
        </p:spPr>
      </p:pic>
      <p:sp>
        <p:nvSpPr>
          <p:cNvPr id="9" name="Arrow: Down 8">
            <a:extLst>
              <a:ext uri="{FF2B5EF4-FFF2-40B4-BE49-F238E27FC236}">
                <a16:creationId xmlns:a16="http://schemas.microsoft.com/office/drawing/2014/main" id="{001ECA2D-29AA-3225-E3C4-58308160B42D}"/>
              </a:ext>
            </a:extLst>
          </p:cNvPr>
          <p:cNvSpPr/>
          <p:nvPr/>
        </p:nvSpPr>
        <p:spPr>
          <a:xfrm rot="1518341">
            <a:off x="3228991" y="3075571"/>
            <a:ext cx="484632" cy="141997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Down 9">
            <a:extLst>
              <a:ext uri="{FF2B5EF4-FFF2-40B4-BE49-F238E27FC236}">
                <a16:creationId xmlns:a16="http://schemas.microsoft.com/office/drawing/2014/main" id="{E4FB0073-D91A-1702-CB7F-642EFF29FEB0}"/>
              </a:ext>
            </a:extLst>
          </p:cNvPr>
          <p:cNvSpPr/>
          <p:nvPr/>
        </p:nvSpPr>
        <p:spPr>
          <a:xfrm rot="19911287">
            <a:off x="8691914" y="2928404"/>
            <a:ext cx="484632" cy="133216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80710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1AC71-B708-775E-CEF4-6C15E032285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DECB08F-81CE-7273-3B31-BA97143F62C6}"/>
              </a:ext>
            </a:extLst>
          </p:cNvPr>
          <p:cNvSpPr txBox="1"/>
          <p:nvPr/>
        </p:nvSpPr>
        <p:spPr>
          <a:xfrm>
            <a:off x="1211007" y="329505"/>
            <a:ext cx="9769983" cy="523220"/>
          </a:xfrm>
          <a:prstGeom prst="rect">
            <a:avLst/>
          </a:prstGeom>
          <a:noFill/>
        </p:spPr>
        <p:txBody>
          <a:bodyPr wrap="square" rtlCol="0">
            <a:spAutoFit/>
          </a:bodyPr>
          <a:lstStyle/>
          <a:p>
            <a:r>
              <a:rPr lang="es-CO" sz="2800" b="1" dirty="0"/>
              <a:t>Diseño de la base de datos y modelo Entidad-Relación</a:t>
            </a:r>
            <a:endParaRPr lang="es-CO" sz="2400" b="1" dirty="0"/>
          </a:p>
        </p:txBody>
      </p:sp>
      <p:sp>
        <p:nvSpPr>
          <p:cNvPr id="2" name="Rectangle 1">
            <a:extLst>
              <a:ext uri="{FF2B5EF4-FFF2-40B4-BE49-F238E27FC236}">
                <a16:creationId xmlns:a16="http://schemas.microsoft.com/office/drawing/2014/main" id="{F753F1F9-2AA0-CEC9-A21F-2335B5D1071A}"/>
              </a:ext>
            </a:extLst>
          </p:cNvPr>
          <p:cNvSpPr/>
          <p:nvPr/>
        </p:nvSpPr>
        <p:spPr>
          <a:xfrm>
            <a:off x="4352925" y="1240572"/>
            <a:ext cx="3486150" cy="189315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F0BFFA0-7D46-7C36-50AB-90CF96641422}"/>
              </a:ext>
            </a:extLst>
          </p:cNvPr>
          <p:cNvSpPr/>
          <p:nvPr/>
        </p:nvSpPr>
        <p:spPr>
          <a:xfrm>
            <a:off x="3923296" y="4376051"/>
            <a:ext cx="4694492" cy="202474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4B9295E-0DC9-2D1C-52C2-A559C25D6381}"/>
              </a:ext>
            </a:extLst>
          </p:cNvPr>
          <p:cNvSpPr txBox="1"/>
          <p:nvPr/>
        </p:nvSpPr>
        <p:spPr>
          <a:xfrm>
            <a:off x="4752974" y="1715806"/>
            <a:ext cx="2686050" cy="830997"/>
          </a:xfrm>
          <a:prstGeom prst="rect">
            <a:avLst/>
          </a:prstGeom>
          <a:noFill/>
        </p:spPr>
        <p:txBody>
          <a:bodyPr wrap="square" rtlCol="0">
            <a:spAutoFit/>
          </a:bodyPr>
          <a:lstStyle/>
          <a:p>
            <a:r>
              <a:rPr lang="es-CO" sz="2400" b="1" dirty="0"/>
              <a:t>Modelo de datos</a:t>
            </a:r>
          </a:p>
          <a:p>
            <a:r>
              <a:rPr lang="es-CO" sz="2400" b="1" dirty="0"/>
              <a:t>Entidad-Relación</a:t>
            </a:r>
            <a:endParaRPr lang="en-US" sz="2400" b="1" dirty="0"/>
          </a:p>
        </p:txBody>
      </p:sp>
      <p:sp>
        <p:nvSpPr>
          <p:cNvPr id="12" name="TextBox 11">
            <a:extLst>
              <a:ext uri="{FF2B5EF4-FFF2-40B4-BE49-F238E27FC236}">
                <a16:creationId xmlns:a16="http://schemas.microsoft.com/office/drawing/2014/main" id="{E8D957A7-455A-A0C7-2EA0-84E71249A281}"/>
              </a:ext>
            </a:extLst>
          </p:cNvPr>
          <p:cNvSpPr txBox="1"/>
          <p:nvPr/>
        </p:nvSpPr>
        <p:spPr>
          <a:xfrm>
            <a:off x="4547795" y="4854056"/>
            <a:ext cx="3445495" cy="1015663"/>
          </a:xfrm>
          <a:prstGeom prst="rect">
            <a:avLst/>
          </a:prstGeom>
          <a:noFill/>
        </p:spPr>
        <p:txBody>
          <a:bodyPr wrap="none" rtlCol="0">
            <a:spAutoFit/>
          </a:bodyPr>
          <a:lstStyle/>
          <a:p>
            <a:r>
              <a:rPr lang="es-CO" sz="2000" b="1" dirty="0"/>
              <a:t>Base de datos Relacionales </a:t>
            </a:r>
          </a:p>
          <a:p>
            <a:r>
              <a:rPr lang="es-CO" sz="2000" b="1" dirty="0"/>
              <a:t>y conjunto de restricciones </a:t>
            </a:r>
          </a:p>
          <a:p>
            <a:r>
              <a:rPr lang="es-CO" sz="2000" b="1" dirty="0"/>
              <a:t>asociado</a:t>
            </a:r>
            <a:endParaRPr lang="en-US" sz="2000" b="1" dirty="0"/>
          </a:p>
        </p:txBody>
      </p:sp>
      <p:sp>
        <p:nvSpPr>
          <p:cNvPr id="14" name="Arrow: Down 13">
            <a:extLst>
              <a:ext uri="{FF2B5EF4-FFF2-40B4-BE49-F238E27FC236}">
                <a16:creationId xmlns:a16="http://schemas.microsoft.com/office/drawing/2014/main" id="{50B73774-4BD1-0413-DF03-BB2A4822BACD}"/>
              </a:ext>
            </a:extLst>
          </p:cNvPr>
          <p:cNvSpPr/>
          <p:nvPr/>
        </p:nvSpPr>
        <p:spPr>
          <a:xfrm>
            <a:off x="5548312" y="3299924"/>
            <a:ext cx="1095375" cy="9784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3166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B5EA6-5AB4-DF45-6F0B-0BA45690B1C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F6E539C-12B8-DE6B-2A99-567D3013A247}"/>
              </a:ext>
            </a:extLst>
          </p:cNvPr>
          <p:cNvSpPr txBox="1"/>
          <p:nvPr/>
        </p:nvSpPr>
        <p:spPr>
          <a:xfrm>
            <a:off x="991932" y="362890"/>
            <a:ext cx="10333293" cy="5201424"/>
          </a:xfrm>
          <a:prstGeom prst="rect">
            <a:avLst/>
          </a:prstGeom>
          <a:noFill/>
        </p:spPr>
        <p:txBody>
          <a:bodyPr wrap="square" rtlCol="0">
            <a:spAutoFit/>
          </a:bodyPr>
          <a:lstStyle/>
          <a:p>
            <a:r>
              <a:rPr lang="es-CO" sz="2400" b="1" dirty="0"/>
              <a:t>Diseño de la base de datos y modelo Entidad-Relación</a:t>
            </a:r>
          </a:p>
          <a:p>
            <a:endParaRPr lang="es-CO" sz="2400" b="1" dirty="0"/>
          </a:p>
          <a:p>
            <a:r>
              <a:rPr lang="es-CO" sz="2400" b="1" dirty="0"/>
              <a:t>Fases de diseño</a:t>
            </a:r>
          </a:p>
          <a:p>
            <a:endParaRPr lang="es-CO" sz="2000" b="1" dirty="0"/>
          </a:p>
          <a:p>
            <a:pPr marL="457200" indent="-457200">
              <a:buAutoNum type="arabicPeriod"/>
            </a:pPr>
            <a:r>
              <a:rPr lang="es-ES" sz="2000" dirty="0"/>
              <a:t>La fase inicial del diseño de la BD es la caracterización completa de las necesidades de datos de los posibles usuarios de la BD. El diseñador de la base de datos debe interactuar con los expertos y los usuarios del dominio para realizar esta tarea. El resultado de esta fase es una especificación de requisitos del usuario.</a:t>
            </a:r>
          </a:p>
          <a:p>
            <a:pPr marL="457200" indent="-457200">
              <a:buAutoNum type="arabicPeriod"/>
            </a:pPr>
            <a:endParaRPr lang="es-ES" sz="2000" dirty="0"/>
          </a:p>
          <a:p>
            <a:pPr marL="457200" indent="-457200">
              <a:buAutoNum type="arabicPeriod"/>
            </a:pPr>
            <a:r>
              <a:rPr lang="es-ES" sz="2000" dirty="0"/>
              <a:t>El diseñador elige el modelo de datos y traduce estos requisitos en un </a:t>
            </a:r>
            <a:r>
              <a:rPr lang="es-ES" sz="2000" b="1" dirty="0"/>
              <a:t>esquema conceptual </a:t>
            </a:r>
            <a:r>
              <a:rPr lang="es-ES" sz="2000" dirty="0"/>
              <a:t>de la BD. El esquema desarrollado en esta fase de diseño conceptual proporciona una visión detallada de la empresa. El </a:t>
            </a:r>
            <a:r>
              <a:rPr lang="es-ES" sz="2000" b="1" dirty="0"/>
              <a:t>modelo entidad-relación se utiliza para representar el diseño conceptual</a:t>
            </a:r>
            <a:r>
              <a:rPr lang="es-ES" sz="2000" dirty="0"/>
              <a:t>. El esquema conceptual especifica las entidades que se representan en la base de datos, sus atributos, las relaciones entre ellas y las restricciones. La fase de diseño conceptual genera un diagrama entidad-relación que ofrece una representación gráfica del esquema.</a:t>
            </a:r>
          </a:p>
        </p:txBody>
      </p:sp>
    </p:spTree>
    <p:extLst>
      <p:ext uri="{BB962C8B-B14F-4D97-AF65-F5344CB8AC3E}">
        <p14:creationId xmlns:p14="http://schemas.microsoft.com/office/powerpoint/2010/main" val="39746240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38E9C-4AED-49F5-BF63-5E0EF9E140C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83FF119-39D2-568D-5DDC-C7F6352E6AF5}"/>
              </a:ext>
            </a:extLst>
          </p:cNvPr>
          <p:cNvSpPr txBox="1"/>
          <p:nvPr/>
        </p:nvSpPr>
        <p:spPr>
          <a:xfrm>
            <a:off x="1001458" y="410515"/>
            <a:ext cx="10047542" cy="5693866"/>
          </a:xfrm>
          <a:prstGeom prst="rect">
            <a:avLst/>
          </a:prstGeom>
          <a:noFill/>
        </p:spPr>
        <p:txBody>
          <a:bodyPr wrap="square" rtlCol="0">
            <a:spAutoFit/>
          </a:bodyPr>
          <a:lstStyle/>
          <a:p>
            <a:r>
              <a:rPr lang="es-CO" sz="2400" b="1" dirty="0"/>
              <a:t>Fases de diseño</a:t>
            </a:r>
            <a:endParaRPr lang="es-ES" sz="2000" dirty="0"/>
          </a:p>
          <a:p>
            <a:pPr marL="457200" indent="-457200">
              <a:buAutoNum type="arabicPeriod"/>
            </a:pPr>
            <a:endParaRPr lang="es-ES" sz="2000" dirty="0"/>
          </a:p>
          <a:p>
            <a:pPr marL="457200" indent="-457200">
              <a:buAutoNum type="arabicPeriod" startAt="3"/>
            </a:pPr>
            <a:r>
              <a:rPr lang="es-ES" sz="2000" dirty="0"/>
              <a:t>El esquema conceptual desarrollado indica también los requisitos funcionales de la empresa. En la especificación de requisitos funcionales, los usuarios describen los tipos de operaciones que se llevarán a cabo sobre los datos. Algunos ejemplos de operaciones son la modificación, actualización, búsqueda, recuperación y el borrado de datos.</a:t>
            </a:r>
          </a:p>
          <a:p>
            <a:pPr marL="457200" indent="-457200">
              <a:buAutoNum type="arabicPeriod" startAt="3"/>
            </a:pPr>
            <a:endParaRPr lang="es-ES" sz="2000" dirty="0"/>
          </a:p>
          <a:p>
            <a:pPr marL="457200" indent="-457200">
              <a:buAutoNum type="arabicPeriod" startAt="3"/>
            </a:pPr>
            <a:r>
              <a:rPr lang="es-ES" sz="2000" dirty="0"/>
              <a:t>En la fase de diseño lógico el diseñador traduce el esquema conceptual de alto nivel al modelo de datos de la implementación del sistema de BD que se va a usar. El </a:t>
            </a:r>
            <a:r>
              <a:rPr lang="es-ES" sz="2000" b="1" dirty="0"/>
              <a:t>modelo de implementación de los datos es el modelo relacional</a:t>
            </a:r>
            <a:r>
              <a:rPr lang="es-ES" sz="2000" dirty="0"/>
              <a:t>, y este paso consiste en la traducción del esquema conceptual definido mediante el modelo entidad-relación en un esquema de relación.</a:t>
            </a:r>
          </a:p>
          <a:p>
            <a:pPr marL="457200" indent="-457200">
              <a:buAutoNum type="arabicPeriod" startAt="3"/>
            </a:pPr>
            <a:endParaRPr lang="es-ES" sz="2000" dirty="0"/>
          </a:p>
          <a:p>
            <a:pPr marL="457200" indent="-457200">
              <a:buAutoNum type="arabicPeriod" startAt="3"/>
            </a:pPr>
            <a:r>
              <a:rPr lang="es-ES" sz="2000" dirty="0"/>
              <a:t>El diseñador usa el esquema de BD resultante propio del sistema en la siguiente fase de diseño físico, en la que se especifican las características físicas de la base de datos. Entre estas características está la forma de organización de los archivos y las estructuras de almacenamiento de archivos.</a:t>
            </a:r>
          </a:p>
        </p:txBody>
      </p:sp>
    </p:spTree>
    <p:extLst>
      <p:ext uri="{BB962C8B-B14F-4D97-AF65-F5344CB8AC3E}">
        <p14:creationId xmlns:p14="http://schemas.microsoft.com/office/powerpoint/2010/main" val="2448886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59206-2FE2-75A5-A894-6BB7DDC04D8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5FDB241-443F-6C89-DEAE-579F644DB43A}"/>
              </a:ext>
            </a:extLst>
          </p:cNvPr>
          <p:cNvSpPr txBox="1"/>
          <p:nvPr/>
        </p:nvSpPr>
        <p:spPr>
          <a:xfrm>
            <a:off x="1001458" y="410515"/>
            <a:ext cx="10047542" cy="954107"/>
          </a:xfrm>
          <a:prstGeom prst="rect">
            <a:avLst/>
          </a:prstGeom>
          <a:noFill/>
        </p:spPr>
        <p:txBody>
          <a:bodyPr wrap="square" rtlCol="0">
            <a:spAutoFit/>
          </a:bodyPr>
          <a:lstStyle/>
          <a:p>
            <a:r>
              <a:rPr lang="es-CO" sz="2800" b="1" dirty="0"/>
              <a:t>Modelo entidad-relación: conjunto de entidades y conjunto de relaciones</a:t>
            </a:r>
            <a:endParaRPr lang="es-ES" sz="2800" dirty="0"/>
          </a:p>
        </p:txBody>
      </p:sp>
      <p:pic>
        <p:nvPicPr>
          <p:cNvPr id="3" name="Picture 2">
            <a:extLst>
              <a:ext uri="{FF2B5EF4-FFF2-40B4-BE49-F238E27FC236}">
                <a16:creationId xmlns:a16="http://schemas.microsoft.com/office/drawing/2014/main" id="{EB785EC6-8B60-50FA-F6BF-3225A2BC1262}"/>
              </a:ext>
            </a:extLst>
          </p:cNvPr>
          <p:cNvPicPr>
            <a:picLocks noChangeAspect="1"/>
          </p:cNvPicPr>
          <p:nvPr/>
        </p:nvPicPr>
        <p:blipFill>
          <a:blip r:embed="rId2"/>
          <a:stretch>
            <a:fillRect/>
          </a:stretch>
        </p:blipFill>
        <p:spPr>
          <a:xfrm>
            <a:off x="161925" y="2115082"/>
            <a:ext cx="5244190" cy="3147560"/>
          </a:xfrm>
          <a:prstGeom prst="rect">
            <a:avLst/>
          </a:prstGeom>
        </p:spPr>
      </p:pic>
      <p:pic>
        <p:nvPicPr>
          <p:cNvPr id="6" name="Picture 5">
            <a:extLst>
              <a:ext uri="{FF2B5EF4-FFF2-40B4-BE49-F238E27FC236}">
                <a16:creationId xmlns:a16="http://schemas.microsoft.com/office/drawing/2014/main" id="{77268370-1A4C-8544-B786-C5A3729F84D9}"/>
              </a:ext>
            </a:extLst>
          </p:cNvPr>
          <p:cNvPicPr>
            <a:picLocks noChangeAspect="1"/>
          </p:cNvPicPr>
          <p:nvPr/>
        </p:nvPicPr>
        <p:blipFill>
          <a:blip r:embed="rId3"/>
          <a:stretch>
            <a:fillRect/>
          </a:stretch>
        </p:blipFill>
        <p:spPr>
          <a:xfrm>
            <a:off x="6852560" y="2115082"/>
            <a:ext cx="5244190" cy="3103284"/>
          </a:xfrm>
          <a:prstGeom prst="rect">
            <a:avLst/>
          </a:prstGeom>
        </p:spPr>
      </p:pic>
      <p:sp>
        <p:nvSpPr>
          <p:cNvPr id="7" name="Arrow: Right 6">
            <a:extLst>
              <a:ext uri="{FF2B5EF4-FFF2-40B4-BE49-F238E27FC236}">
                <a16:creationId xmlns:a16="http://schemas.microsoft.com/office/drawing/2014/main" id="{A6D2FFCF-7ADC-BE68-4961-448045931AC2}"/>
              </a:ext>
            </a:extLst>
          </p:cNvPr>
          <p:cNvSpPr/>
          <p:nvPr/>
        </p:nvSpPr>
        <p:spPr>
          <a:xfrm>
            <a:off x="5640133" y="3143250"/>
            <a:ext cx="978408" cy="830996"/>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69F5A6A-A108-D9A4-DBE5-503A0AE88185}"/>
              </a:ext>
            </a:extLst>
          </p:cNvPr>
          <p:cNvSpPr txBox="1"/>
          <p:nvPr/>
        </p:nvSpPr>
        <p:spPr>
          <a:xfrm>
            <a:off x="1552575" y="1714500"/>
            <a:ext cx="2562368" cy="369332"/>
          </a:xfrm>
          <a:prstGeom prst="rect">
            <a:avLst/>
          </a:prstGeom>
          <a:noFill/>
        </p:spPr>
        <p:txBody>
          <a:bodyPr wrap="none" rtlCol="0">
            <a:spAutoFit/>
          </a:bodyPr>
          <a:lstStyle/>
          <a:p>
            <a:r>
              <a:rPr lang="es-CO" b="1" dirty="0"/>
              <a:t>Conjunto de entidades</a:t>
            </a:r>
            <a:endParaRPr lang="en-US" b="1" dirty="0"/>
          </a:p>
        </p:txBody>
      </p:sp>
      <p:sp>
        <p:nvSpPr>
          <p:cNvPr id="9" name="TextBox 8">
            <a:extLst>
              <a:ext uri="{FF2B5EF4-FFF2-40B4-BE49-F238E27FC236}">
                <a16:creationId xmlns:a16="http://schemas.microsoft.com/office/drawing/2014/main" id="{0ADEE46C-73A0-1055-746F-DA9F5B9F1C5E}"/>
              </a:ext>
            </a:extLst>
          </p:cNvPr>
          <p:cNvSpPr txBox="1"/>
          <p:nvPr/>
        </p:nvSpPr>
        <p:spPr>
          <a:xfrm>
            <a:off x="7753350" y="1639634"/>
            <a:ext cx="2622321" cy="369332"/>
          </a:xfrm>
          <a:prstGeom prst="rect">
            <a:avLst/>
          </a:prstGeom>
          <a:noFill/>
        </p:spPr>
        <p:txBody>
          <a:bodyPr wrap="none" rtlCol="0">
            <a:spAutoFit/>
          </a:bodyPr>
          <a:lstStyle/>
          <a:p>
            <a:r>
              <a:rPr lang="es-CO" b="1" dirty="0"/>
              <a:t>Conjunto de relaciones</a:t>
            </a:r>
            <a:endParaRPr lang="en-US" b="1" dirty="0"/>
          </a:p>
        </p:txBody>
      </p:sp>
    </p:spTree>
    <p:extLst>
      <p:ext uri="{BB962C8B-B14F-4D97-AF65-F5344CB8AC3E}">
        <p14:creationId xmlns:p14="http://schemas.microsoft.com/office/powerpoint/2010/main" val="21717589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F94DA-AE12-5C20-46B6-BD2B59CF9E0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B25479C-51A3-FC73-6E60-CEB7949178F2}"/>
              </a:ext>
            </a:extLst>
          </p:cNvPr>
          <p:cNvSpPr txBox="1"/>
          <p:nvPr/>
        </p:nvSpPr>
        <p:spPr>
          <a:xfrm>
            <a:off x="1001458" y="300787"/>
            <a:ext cx="10047542" cy="954107"/>
          </a:xfrm>
          <a:prstGeom prst="rect">
            <a:avLst/>
          </a:prstGeom>
          <a:noFill/>
        </p:spPr>
        <p:txBody>
          <a:bodyPr wrap="square" rtlCol="0">
            <a:spAutoFit/>
          </a:bodyPr>
          <a:lstStyle/>
          <a:p>
            <a:r>
              <a:rPr lang="es-CO" sz="2800" b="1" dirty="0"/>
              <a:t>Modelo entidad-relación: conjunto de entidades y conjunto de relaciones</a:t>
            </a:r>
            <a:endParaRPr lang="es-ES" sz="2800" dirty="0"/>
          </a:p>
        </p:txBody>
      </p:sp>
      <p:pic>
        <p:nvPicPr>
          <p:cNvPr id="5" name="Picture 4">
            <a:extLst>
              <a:ext uri="{FF2B5EF4-FFF2-40B4-BE49-F238E27FC236}">
                <a16:creationId xmlns:a16="http://schemas.microsoft.com/office/drawing/2014/main" id="{470EFCC9-E063-F0AA-118B-24742A030799}"/>
              </a:ext>
            </a:extLst>
          </p:cNvPr>
          <p:cNvPicPr>
            <a:picLocks noChangeAspect="1"/>
          </p:cNvPicPr>
          <p:nvPr/>
        </p:nvPicPr>
        <p:blipFill>
          <a:blip r:embed="rId2"/>
          <a:stretch>
            <a:fillRect/>
          </a:stretch>
        </p:blipFill>
        <p:spPr>
          <a:xfrm>
            <a:off x="2154266" y="1364622"/>
            <a:ext cx="7282342" cy="4898242"/>
          </a:xfrm>
          <a:prstGeom prst="rect">
            <a:avLst/>
          </a:prstGeom>
        </p:spPr>
      </p:pic>
    </p:spTree>
    <p:extLst>
      <p:ext uri="{BB962C8B-B14F-4D97-AF65-F5344CB8AC3E}">
        <p14:creationId xmlns:p14="http://schemas.microsoft.com/office/powerpoint/2010/main" val="9102213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1A12F-A803-9C78-84F2-FB32F8A82B2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B7916C9-A11B-493E-D6CC-41F2678D6FEA}"/>
              </a:ext>
            </a:extLst>
          </p:cNvPr>
          <p:cNvSpPr txBox="1"/>
          <p:nvPr/>
        </p:nvSpPr>
        <p:spPr>
          <a:xfrm>
            <a:off x="895445" y="565963"/>
            <a:ext cx="10401110" cy="1877437"/>
          </a:xfrm>
          <a:prstGeom prst="rect">
            <a:avLst/>
          </a:prstGeom>
          <a:noFill/>
        </p:spPr>
        <p:txBody>
          <a:bodyPr wrap="square" rtlCol="0">
            <a:spAutoFit/>
          </a:bodyPr>
          <a:lstStyle/>
          <a:p>
            <a:r>
              <a:rPr lang="es-CO" sz="2800" b="1" dirty="0"/>
              <a:t>Modelo entidad-relación: atributos</a:t>
            </a:r>
          </a:p>
          <a:p>
            <a:endParaRPr lang="es-CO" sz="2800" b="1" dirty="0"/>
          </a:p>
          <a:p>
            <a:r>
              <a:rPr lang="es-ES" sz="2000" dirty="0"/>
              <a:t>Para cada atributo hay un conjunto de valores permitidos, denominados </a:t>
            </a:r>
            <a:r>
              <a:rPr lang="es-ES" sz="2000" b="1" dirty="0"/>
              <a:t>dominio o conjunto de valores </a:t>
            </a:r>
            <a:r>
              <a:rPr lang="es-ES" sz="2000" dirty="0"/>
              <a:t>de ese atributo. El dominio del atributo </a:t>
            </a:r>
            <a:r>
              <a:rPr lang="es-ES" sz="2000" b="1" dirty="0" err="1"/>
              <a:t>nombre_cliente</a:t>
            </a:r>
            <a:r>
              <a:rPr lang="es-ES" sz="2000" b="1" dirty="0"/>
              <a:t> </a:t>
            </a:r>
            <a:r>
              <a:rPr lang="es-ES" sz="2000" dirty="0"/>
              <a:t>puede ser el conjunto de todas las cadenas de texto de una cierta longitud. </a:t>
            </a:r>
          </a:p>
        </p:txBody>
      </p:sp>
      <p:pic>
        <p:nvPicPr>
          <p:cNvPr id="3" name="Picture 2">
            <a:extLst>
              <a:ext uri="{FF2B5EF4-FFF2-40B4-BE49-F238E27FC236}">
                <a16:creationId xmlns:a16="http://schemas.microsoft.com/office/drawing/2014/main" id="{18513E1D-D9FB-2EF8-1498-B43B5FABFFAF}"/>
              </a:ext>
            </a:extLst>
          </p:cNvPr>
          <p:cNvPicPr>
            <a:picLocks noChangeAspect="1"/>
          </p:cNvPicPr>
          <p:nvPr/>
        </p:nvPicPr>
        <p:blipFill>
          <a:blip r:embed="rId2"/>
          <a:stretch>
            <a:fillRect/>
          </a:stretch>
        </p:blipFill>
        <p:spPr>
          <a:xfrm>
            <a:off x="1034913" y="2705047"/>
            <a:ext cx="10122173" cy="2945946"/>
          </a:xfrm>
          <a:prstGeom prst="rect">
            <a:avLst/>
          </a:prstGeom>
        </p:spPr>
      </p:pic>
    </p:spTree>
    <p:extLst>
      <p:ext uri="{BB962C8B-B14F-4D97-AF65-F5344CB8AC3E}">
        <p14:creationId xmlns:p14="http://schemas.microsoft.com/office/powerpoint/2010/main" val="1880019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77907-D826-8C17-2C80-ADFDB71F888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6D75D55-1D74-DDCA-081D-2B62EF4115F7}"/>
              </a:ext>
            </a:extLst>
          </p:cNvPr>
          <p:cNvSpPr txBox="1"/>
          <p:nvPr/>
        </p:nvSpPr>
        <p:spPr>
          <a:xfrm>
            <a:off x="584549" y="100585"/>
            <a:ext cx="10324243" cy="2277547"/>
          </a:xfrm>
          <a:prstGeom prst="rect">
            <a:avLst/>
          </a:prstGeom>
          <a:noFill/>
        </p:spPr>
        <p:txBody>
          <a:bodyPr wrap="square" rtlCol="0">
            <a:spAutoFit/>
          </a:bodyPr>
          <a:lstStyle/>
          <a:p>
            <a:r>
              <a:rPr lang="es-CO" sz="2400" b="1" dirty="0"/>
              <a:t>Modelo entidad-relación: correspondencia de cardinalidades</a:t>
            </a:r>
          </a:p>
          <a:p>
            <a:endParaRPr lang="es-CO" sz="2800" b="1" dirty="0"/>
          </a:p>
          <a:p>
            <a:r>
              <a:rPr lang="es-ES" dirty="0"/>
              <a:t>La correspondencia de cardinalidades, o razón de cardinalidad, expresa el número de entidades a las que otra entidad se puede asociar mediante un conjunto de relaciones. La correspondencia de cardinalidades resulta muy útil para describir conjuntos de relaciones binarias, aunque pueda contribuir a la descripción de conjuntos de relaciones que impliquen más de dos conjuntos de entidades.</a:t>
            </a:r>
          </a:p>
        </p:txBody>
      </p:sp>
      <p:pic>
        <p:nvPicPr>
          <p:cNvPr id="3" name="Picture 2">
            <a:extLst>
              <a:ext uri="{FF2B5EF4-FFF2-40B4-BE49-F238E27FC236}">
                <a16:creationId xmlns:a16="http://schemas.microsoft.com/office/drawing/2014/main" id="{047947BB-E170-0EC7-5A2A-BAFFDC871E94}"/>
              </a:ext>
            </a:extLst>
          </p:cNvPr>
          <p:cNvPicPr>
            <a:picLocks noChangeAspect="1"/>
          </p:cNvPicPr>
          <p:nvPr/>
        </p:nvPicPr>
        <p:blipFill>
          <a:blip r:embed="rId2"/>
          <a:stretch>
            <a:fillRect/>
          </a:stretch>
        </p:blipFill>
        <p:spPr>
          <a:xfrm>
            <a:off x="584549" y="2612349"/>
            <a:ext cx="9842629" cy="3980475"/>
          </a:xfrm>
          <a:prstGeom prst="rect">
            <a:avLst/>
          </a:prstGeom>
        </p:spPr>
      </p:pic>
    </p:spTree>
    <p:extLst>
      <p:ext uri="{BB962C8B-B14F-4D97-AF65-F5344CB8AC3E}">
        <p14:creationId xmlns:p14="http://schemas.microsoft.com/office/powerpoint/2010/main" val="5877392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A927E-9CA3-4477-6FC9-A4BC29AD87B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89CFBA7-EEFA-633F-7EF7-8B10450F7967}"/>
              </a:ext>
            </a:extLst>
          </p:cNvPr>
          <p:cNvSpPr txBox="1"/>
          <p:nvPr/>
        </p:nvSpPr>
        <p:spPr>
          <a:xfrm>
            <a:off x="584549" y="100585"/>
            <a:ext cx="10324243" cy="461665"/>
          </a:xfrm>
          <a:prstGeom prst="rect">
            <a:avLst/>
          </a:prstGeom>
          <a:noFill/>
        </p:spPr>
        <p:txBody>
          <a:bodyPr wrap="square" rtlCol="0">
            <a:spAutoFit/>
          </a:bodyPr>
          <a:lstStyle/>
          <a:p>
            <a:r>
              <a:rPr lang="es-CO" sz="2400" b="1" dirty="0"/>
              <a:t>Modelo entidad-relación: correspondencia de cardinalidades</a:t>
            </a:r>
          </a:p>
        </p:txBody>
      </p:sp>
      <p:pic>
        <p:nvPicPr>
          <p:cNvPr id="5" name="Picture 4">
            <a:extLst>
              <a:ext uri="{FF2B5EF4-FFF2-40B4-BE49-F238E27FC236}">
                <a16:creationId xmlns:a16="http://schemas.microsoft.com/office/drawing/2014/main" id="{D5D28969-2F29-C68A-9983-2EBCE1F3095F}"/>
              </a:ext>
            </a:extLst>
          </p:cNvPr>
          <p:cNvPicPr>
            <a:picLocks noChangeAspect="1"/>
          </p:cNvPicPr>
          <p:nvPr/>
        </p:nvPicPr>
        <p:blipFill>
          <a:blip r:embed="rId2"/>
          <a:stretch>
            <a:fillRect/>
          </a:stretch>
        </p:blipFill>
        <p:spPr>
          <a:xfrm>
            <a:off x="6500716" y="1785788"/>
            <a:ext cx="5615083" cy="3023956"/>
          </a:xfrm>
          <a:prstGeom prst="rect">
            <a:avLst/>
          </a:prstGeom>
        </p:spPr>
      </p:pic>
      <p:pic>
        <p:nvPicPr>
          <p:cNvPr id="7" name="Picture 6">
            <a:extLst>
              <a:ext uri="{FF2B5EF4-FFF2-40B4-BE49-F238E27FC236}">
                <a16:creationId xmlns:a16="http://schemas.microsoft.com/office/drawing/2014/main" id="{4AB4DFDF-6016-1EAC-3ECF-269279A9FD52}"/>
              </a:ext>
            </a:extLst>
          </p:cNvPr>
          <p:cNvPicPr>
            <a:picLocks noChangeAspect="1"/>
          </p:cNvPicPr>
          <p:nvPr/>
        </p:nvPicPr>
        <p:blipFill>
          <a:blip r:embed="rId3"/>
          <a:stretch>
            <a:fillRect/>
          </a:stretch>
        </p:blipFill>
        <p:spPr>
          <a:xfrm>
            <a:off x="326211" y="1558717"/>
            <a:ext cx="5940864" cy="3251027"/>
          </a:xfrm>
          <a:prstGeom prst="rect">
            <a:avLst/>
          </a:prstGeom>
        </p:spPr>
      </p:pic>
    </p:spTree>
    <p:extLst>
      <p:ext uri="{BB962C8B-B14F-4D97-AF65-F5344CB8AC3E}">
        <p14:creationId xmlns:p14="http://schemas.microsoft.com/office/powerpoint/2010/main" val="2379886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B788C-0E1D-AE60-1B7A-A395BB714F8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59C8881-F06C-23B2-B31F-410356DB59FB}"/>
              </a:ext>
            </a:extLst>
          </p:cNvPr>
          <p:cNvSpPr txBox="1"/>
          <p:nvPr/>
        </p:nvSpPr>
        <p:spPr>
          <a:xfrm>
            <a:off x="1124045" y="457201"/>
            <a:ext cx="10324243" cy="461665"/>
          </a:xfrm>
          <a:prstGeom prst="rect">
            <a:avLst/>
          </a:prstGeom>
          <a:noFill/>
        </p:spPr>
        <p:txBody>
          <a:bodyPr wrap="square" rtlCol="0">
            <a:spAutoFit/>
          </a:bodyPr>
          <a:lstStyle/>
          <a:p>
            <a:r>
              <a:rPr lang="es-CO" sz="2400" b="1" dirty="0"/>
              <a:t>Diagramas entidad-relación</a:t>
            </a:r>
          </a:p>
        </p:txBody>
      </p:sp>
      <p:pic>
        <p:nvPicPr>
          <p:cNvPr id="3" name="Picture 2">
            <a:extLst>
              <a:ext uri="{FF2B5EF4-FFF2-40B4-BE49-F238E27FC236}">
                <a16:creationId xmlns:a16="http://schemas.microsoft.com/office/drawing/2014/main" id="{78426DD8-7A03-1818-DA0C-17CA18C7A30D}"/>
              </a:ext>
            </a:extLst>
          </p:cNvPr>
          <p:cNvPicPr>
            <a:picLocks noChangeAspect="1"/>
          </p:cNvPicPr>
          <p:nvPr/>
        </p:nvPicPr>
        <p:blipFill>
          <a:blip r:embed="rId2"/>
          <a:stretch>
            <a:fillRect/>
          </a:stretch>
        </p:blipFill>
        <p:spPr>
          <a:xfrm>
            <a:off x="149599" y="1561699"/>
            <a:ext cx="11419058" cy="3734602"/>
          </a:xfrm>
          <a:prstGeom prst="rect">
            <a:avLst/>
          </a:prstGeom>
        </p:spPr>
      </p:pic>
    </p:spTree>
    <p:extLst>
      <p:ext uri="{BB962C8B-B14F-4D97-AF65-F5344CB8AC3E}">
        <p14:creationId xmlns:p14="http://schemas.microsoft.com/office/powerpoint/2010/main" val="30687433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5D017-3F26-91A7-04C0-A8E05B6947D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D5F6424-D668-8A27-D815-50CD252C8A9C}"/>
              </a:ext>
            </a:extLst>
          </p:cNvPr>
          <p:cNvSpPr txBox="1"/>
          <p:nvPr/>
        </p:nvSpPr>
        <p:spPr>
          <a:xfrm>
            <a:off x="1096613" y="219457"/>
            <a:ext cx="10324243" cy="461665"/>
          </a:xfrm>
          <a:prstGeom prst="rect">
            <a:avLst/>
          </a:prstGeom>
          <a:noFill/>
        </p:spPr>
        <p:txBody>
          <a:bodyPr wrap="square" rtlCol="0">
            <a:spAutoFit/>
          </a:bodyPr>
          <a:lstStyle/>
          <a:p>
            <a:r>
              <a:rPr lang="es-CO" sz="2400" b="1" dirty="0"/>
              <a:t>Diagramas entidad-relación</a:t>
            </a:r>
          </a:p>
        </p:txBody>
      </p:sp>
      <p:pic>
        <p:nvPicPr>
          <p:cNvPr id="5" name="Picture 4">
            <a:extLst>
              <a:ext uri="{FF2B5EF4-FFF2-40B4-BE49-F238E27FC236}">
                <a16:creationId xmlns:a16="http://schemas.microsoft.com/office/drawing/2014/main" id="{E39CD6ED-A6CB-808B-8096-7001C4C5E2F9}"/>
              </a:ext>
            </a:extLst>
          </p:cNvPr>
          <p:cNvPicPr>
            <a:picLocks noChangeAspect="1"/>
          </p:cNvPicPr>
          <p:nvPr/>
        </p:nvPicPr>
        <p:blipFill>
          <a:blip r:embed="rId2"/>
          <a:stretch>
            <a:fillRect/>
          </a:stretch>
        </p:blipFill>
        <p:spPr>
          <a:xfrm>
            <a:off x="1450542" y="1087572"/>
            <a:ext cx="8818805" cy="4682855"/>
          </a:xfrm>
          <a:prstGeom prst="rect">
            <a:avLst/>
          </a:prstGeom>
        </p:spPr>
      </p:pic>
    </p:spTree>
    <p:extLst>
      <p:ext uri="{BB962C8B-B14F-4D97-AF65-F5344CB8AC3E}">
        <p14:creationId xmlns:p14="http://schemas.microsoft.com/office/powerpoint/2010/main" val="7464279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36396-ED6C-6F07-CDF5-E911AE337AB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3369EC9-4061-C2A2-C752-ADED0022AA97}"/>
              </a:ext>
            </a:extLst>
          </p:cNvPr>
          <p:cNvSpPr txBox="1"/>
          <p:nvPr/>
        </p:nvSpPr>
        <p:spPr>
          <a:xfrm>
            <a:off x="439388" y="1867282"/>
            <a:ext cx="2865787" cy="830997"/>
          </a:xfrm>
          <a:prstGeom prst="rect">
            <a:avLst/>
          </a:prstGeom>
          <a:noFill/>
        </p:spPr>
        <p:txBody>
          <a:bodyPr wrap="square" rtlCol="0">
            <a:spAutoFit/>
          </a:bodyPr>
          <a:lstStyle/>
          <a:p>
            <a:r>
              <a:rPr lang="es-CO" sz="2400" b="1" dirty="0"/>
              <a:t>Diagramas </a:t>
            </a:r>
          </a:p>
          <a:p>
            <a:r>
              <a:rPr lang="es-CO" sz="2400" b="1" dirty="0"/>
              <a:t>entidad-relación</a:t>
            </a:r>
          </a:p>
        </p:txBody>
      </p:sp>
      <p:pic>
        <p:nvPicPr>
          <p:cNvPr id="6" name="Picture 5">
            <a:extLst>
              <a:ext uri="{FF2B5EF4-FFF2-40B4-BE49-F238E27FC236}">
                <a16:creationId xmlns:a16="http://schemas.microsoft.com/office/drawing/2014/main" id="{4909D374-717F-6B7E-942F-C6BDB1E11EAD}"/>
              </a:ext>
            </a:extLst>
          </p:cNvPr>
          <p:cNvPicPr>
            <a:picLocks noChangeAspect="1"/>
          </p:cNvPicPr>
          <p:nvPr/>
        </p:nvPicPr>
        <p:blipFill>
          <a:blip r:embed="rId2"/>
          <a:stretch>
            <a:fillRect/>
          </a:stretch>
        </p:blipFill>
        <p:spPr>
          <a:xfrm>
            <a:off x="4324738" y="0"/>
            <a:ext cx="6438123" cy="6858000"/>
          </a:xfrm>
          <a:prstGeom prst="rect">
            <a:avLst/>
          </a:prstGeom>
        </p:spPr>
      </p:pic>
    </p:spTree>
    <p:extLst>
      <p:ext uri="{BB962C8B-B14F-4D97-AF65-F5344CB8AC3E}">
        <p14:creationId xmlns:p14="http://schemas.microsoft.com/office/powerpoint/2010/main" val="3882749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B9746-BB6D-C2D9-B34E-17E12F764DE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96A0400-EB48-3A7E-49CA-2D66762FC8B4}"/>
              </a:ext>
            </a:extLst>
          </p:cNvPr>
          <p:cNvSpPr txBox="1"/>
          <p:nvPr/>
        </p:nvSpPr>
        <p:spPr>
          <a:xfrm>
            <a:off x="801339" y="1905382"/>
            <a:ext cx="2608612" cy="830997"/>
          </a:xfrm>
          <a:prstGeom prst="rect">
            <a:avLst/>
          </a:prstGeom>
          <a:noFill/>
        </p:spPr>
        <p:txBody>
          <a:bodyPr wrap="square" rtlCol="0">
            <a:spAutoFit/>
          </a:bodyPr>
          <a:lstStyle/>
          <a:p>
            <a:r>
              <a:rPr lang="es-CO" sz="2400" b="1" dirty="0"/>
              <a:t>Diagramas entidad-relación</a:t>
            </a:r>
          </a:p>
        </p:txBody>
      </p:sp>
      <p:pic>
        <p:nvPicPr>
          <p:cNvPr id="6" name="Picture 5">
            <a:extLst>
              <a:ext uri="{FF2B5EF4-FFF2-40B4-BE49-F238E27FC236}">
                <a16:creationId xmlns:a16="http://schemas.microsoft.com/office/drawing/2014/main" id="{B74B2C66-28D2-F7EB-AF91-F1CB6715BFE5}"/>
              </a:ext>
            </a:extLst>
          </p:cNvPr>
          <p:cNvPicPr>
            <a:picLocks noChangeAspect="1"/>
          </p:cNvPicPr>
          <p:nvPr/>
        </p:nvPicPr>
        <p:blipFill>
          <a:blip r:embed="rId2"/>
          <a:stretch>
            <a:fillRect/>
          </a:stretch>
        </p:blipFill>
        <p:spPr>
          <a:xfrm>
            <a:off x="5333620" y="-75818"/>
            <a:ext cx="5449060" cy="3277057"/>
          </a:xfrm>
          <a:prstGeom prst="rect">
            <a:avLst/>
          </a:prstGeom>
        </p:spPr>
      </p:pic>
      <p:pic>
        <p:nvPicPr>
          <p:cNvPr id="8" name="Picture 7">
            <a:extLst>
              <a:ext uri="{FF2B5EF4-FFF2-40B4-BE49-F238E27FC236}">
                <a16:creationId xmlns:a16="http://schemas.microsoft.com/office/drawing/2014/main" id="{436038FC-98CB-125D-D31F-E121AC4A8F16}"/>
              </a:ext>
            </a:extLst>
          </p:cNvPr>
          <p:cNvPicPr>
            <a:picLocks noChangeAspect="1"/>
          </p:cNvPicPr>
          <p:nvPr/>
        </p:nvPicPr>
        <p:blipFill>
          <a:blip r:embed="rId3"/>
          <a:stretch>
            <a:fillRect/>
          </a:stretch>
        </p:blipFill>
        <p:spPr>
          <a:xfrm>
            <a:off x="3857101" y="3390900"/>
            <a:ext cx="7506748" cy="3381847"/>
          </a:xfrm>
          <a:prstGeom prst="rect">
            <a:avLst/>
          </a:prstGeom>
        </p:spPr>
      </p:pic>
    </p:spTree>
    <p:extLst>
      <p:ext uri="{BB962C8B-B14F-4D97-AF65-F5344CB8AC3E}">
        <p14:creationId xmlns:p14="http://schemas.microsoft.com/office/powerpoint/2010/main" val="39798522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0FD43-41DA-E628-3905-6AE92008802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74180EC-E656-74B5-B3CE-D4ABE0C7050C}"/>
              </a:ext>
            </a:extLst>
          </p:cNvPr>
          <p:cNvSpPr txBox="1"/>
          <p:nvPr/>
        </p:nvSpPr>
        <p:spPr>
          <a:xfrm>
            <a:off x="1001364" y="1752982"/>
            <a:ext cx="2589562" cy="830997"/>
          </a:xfrm>
          <a:prstGeom prst="rect">
            <a:avLst/>
          </a:prstGeom>
          <a:noFill/>
        </p:spPr>
        <p:txBody>
          <a:bodyPr wrap="square" rtlCol="0">
            <a:spAutoFit/>
          </a:bodyPr>
          <a:lstStyle/>
          <a:p>
            <a:r>
              <a:rPr lang="es-CO" sz="2400" b="1" dirty="0"/>
              <a:t>Diagramas entidad-relación</a:t>
            </a:r>
          </a:p>
        </p:txBody>
      </p:sp>
      <p:pic>
        <p:nvPicPr>
          <p:cNvPr id="6" name="Picture 5">
            <a:extLst>
              <a:ext uri="{FF2B5EF4-FFF2-40B4-BE49-F238E27FC236}">
                <a16:creationId xmlns:a16="http://schemas.microsoft.com/office/drawing/2014/main" id="{4533A705-C045-D0F5-845D-20174094256D}"/>
              </a:ext>
            </a:extLst>
          </p:cNvPr>
          <p:cNvPicPr>
            <a:picLocks noChangeAspect="1"/>
          </p:cNvPicPr>
          <p:nvPr/>
        </p:nvPicPr>
        <p:blipFill>
          <a:blip r:embed="rId2"/>
          <a:stretch>
            <a:fillRect/>
          </a:stretch>
        </p:blipFill>
        <p:spPr>
          <a:xfrm>
            <a:off x="3952435" y="232916"/>
            <a:ext cx="6306430" cy="6392167"/>
          </a:xfrm>
          <a:prstGeom prst="rect">
            <a:avLst/>
          </a:prstGeom>
        </p:spPr>
      </p:pic>
    </p:spTree>
    <p:extLst>
      <p:ext uri="{BB962C8B-B14F-4D97-AF65-F5344CB8AC3E}">
        <p14:creationId xmlns:p14="http://schemas.microsoft.com/office/powerpoint/2010/main" val="31737854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235F5-0F93-2DBB-5BDD-E7B494A56E4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B26C2F1-964B-DDD9-E0A2-F0D54D9F85BB}"/>
              </a:ext>
            </a:extLst>
          </p:cNvPr>
          <p:cNvSpPr txBox="1"/>
          <p:nvPr/>
        </p:nvSpPr>
        <p:spPr>
          <a:xfrm>
            <a:off x="1001364" y="1752982"/>
            <a:ext cx="2589562" cy="830997"/>
          </a:xfrm>
          <a:prstGeom prst="rect">
            <a:avLst/>
          </a:prstGeom>
          <a:noFill/>
        </p:spPr>
        <p:txBody>
          <a:bodyPr wrap="square" rtlCol="0">
            <a:spAutoFit/>
          </a:bodyPr>
          <a:lstStyle/>
          <a:p>
            <a:r>
              <a:rPr lang="es-CO" sz="2400" b="1" dirty="0"/>
              <a:t>Diagramas entidad-relación</a:t>
            </a:r>
          </a:p>
        </p:txBody>
      </p:sp>
      <p:pic>
        <p:nvPicPr>
          <p:cNvPr id="3" name="Picture 2">
            <a:extLst>
              <a:ext uri="{FF2B5EF4-FFF2-40B4-BE49-F238E27FC236}">
                <a16:creationId xmlns:a16="http://schemas.microsoft.com/office/drawing/2014/main" id="{8F4EB4C7-4DF5-86E8-4FD4-80C253201DF7}"/>
              </a:ext>
            </a:extLst>
          </p:cNvPr>
          <p:cNvPicPr>
            <a:picLocks noChangeAspect="1"/>
          </p:cNvPicPr>
          <p:nvPr/>
        </p:nvPicPr>
        <p:blipFill>
          <a:blip r:embed="rId2"/>
          <a:stretch>
            <a:fillRect/>
          </a:stretch>
        </p:blipFill>
        <p:spPr>
          <a:xfrm>
            <a:off x="4123853" y="54777"/>
            <a:ext cx="5772622" cy="3357877"/>
          </a:xfrm>
          <a:prstGeom prst="rect">
            <a:avLst/>
          </a:prstGeom>
        </p:spPr>
      </p:pic>
      <p:pic>
        <p:nvPicPr>
          <p:cNvPr id="7" name="Picture 6">
            <a:extLst>
              <a:ext uri="{FF2B5EF4-FFF2-40B4-BE49-F238E27FC236}">
                <a16:creationId xmlns:a16="http://schemas.microsoft.com/office/drawing/2014/main" id="{723487FB-7B85-78A8-282E-0D0F4ED15DC7}"/>
              </a:ext>
            </a:extLst>
          </p:cNvPr>
          <p:cNvPicPr>
            <a:picLocks noChangeAspect="1"/>
          </p:cNvPicPr>
          <p:nvPr/>
        </p:nvPicPr>
        <p:blipFill>
          <a:blip r:embed="rId3"/>
          <a:stretch>
            <a:fillRect/>
          </a:stretch>
        </p:blipFill>
        <p:spPr>
          <a:xfrm>
            <a:off x="4261978" y="3542904"/>
            <a:ext cx="6582694" cy="2838846"/>
          </a:xfrm>
          <a:prstGeom prst="rect">
            <a:avLst/>
          </a:prstGeom>
        </p:spPr>
      </p:pic>
    </p:spTree>
    <p:extLst>
      <p:ext uri="{BB962C8B-B14F-4D97-AF65-F5344CB8AC3E}">
        <p14:creationId xmlns:p14="http://schemas.microsoft.com/office/powerpoint/2010/main" val="35135779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EC6FC-7A4F-FFB2-473B-58F8E9EF118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BD6D005-B400-D1F8-F836-358AB4B6D109}"/>
              </a:ext>
            </a:extLst>
          </p:cNvPr>
          <p:cNvSpPr txBox="1"/>
          <p:nvPr/>
        </p:nvSpPr>
        <p:spPr>
          <a:xfrm>
            <a:off x="1001364" y="1752982"/>
            <a:ext cx="2589562" cy="830997"/>
          </a:xfrm>
          <a:prstGeom prst="rect">
            <a:avLst/>
          </a:prstGeom>
          <a:noFill/>
        </p:spPr>
        <p:txBody>
          <a:bodyPr wrap="square" rtlCol="0">
            <a:spAutoFit/>
          </a:bodyPr>
          <a:lstStyle/>
          <a:p>
            <a:r>
              <a:rPr lang="es-CO" sz="2400" b="1" dirty="0"/>
              <a:t>Diagramas entidad-relación</a:t>
            </a:r>
          </a:p>
        </p:txBody>
      </p:sp>
      <p:pic>
        <p:nvPicPr>
          <p:cNvPr id="5" name="Picture 4">
            <a:extLst>
              <a:ext uri="{FF2B5EF4-FFF2-40B4-BE49-F238E27FC236}">
                <a16:creationId xmlns:a16="http://schemas.microsoft.com/office/drawing/2014/main" id="{5CA2BD74-015E-55F3-CEC9-31DC3558C2ED}"/>
              </a:ext>
            </a:extLst>
          </p:cNvPr>
          <p:cNvPicPr>
            <a:picLocks noChangeAspect="1"/>
          </p:cNvPicPr>
          <p:nvPr/>
        </p:nvPicPr>
        <p:blipFill>
          <a:blip r:embed="rId2"/>
          <a:stretch>
            <a:fillRect/>
          </a:stretch>
        </p:blipFill>
        <p:spPr>
          <a:xfrm>
            <a:off x="4779416" y="399627"/>
            <a:ext cx="6411220" cy="6058746"/>
          </a:xfrm>
          <a:prstGeom prst="rect">
            <a:avLst/>
          </a:prstGeom>
        </p:spPr>
      </p:pic>
    </p:spTree>
    <p:extLst>
      <p:ext uri="{BB962C8B-B14F-4D97-AF65-F5344CB8AC3E}">
        <p14:creationId xmlns:p14="http://schemas.microsoft.com/office/powerpoint/2010/main" val="40534832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F3D92-6912-78F1-3783-4F859249C2C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66C14B5-86A5-6EF5-9B4C-AF35CE422A8B}"/>
              </a:ext>
            </a:extLst>
          </p:cNvPr>
          <p:cNvSpPr txBox="1"/>
          <p:nvPr/>
        </p:nvSpPr>
        <p:spPr>
          <a:xfrm>
            <a:off x="1149858" y="135344"/>
            <a:ext cx="9484614" cy="6186309"/>
          </a:xfrm>
          <a:prstGeom prst="rect">
            <a:avLst/>
          </a:prstGeom>
          <a:noFill/>
        </p:spPr>
        <p:txBody>
          <a:bodyPr wrap="square" rtlCol="0">
            <a:spAutoFit/>
          </a:bodyPr>
          <a:lstStyle/>
          <a:p>
            <a:r>
              <a:rPr lang="es-CO" sz="2800" b="1" dirty="0"/>
              <a:t>Gestión de transacciones</a:t>
            </a:r>
          </a:p>
          <a:p>
            <a:endParaRPr lang="es-CO" sz="2800" b="1" dirty="0"/>
          </a:p>
          <a:p>
            <a:r>
              <a:rPr lang="es-CO" sz="2000" b="1" dirty="0"/>
              <a:t>Concepto de transacción</a:t>
            </a:r>
          </a:p>
          <a:p>
            <a:endParaRPr lang="es-CO" sz="2000" b="1" dirty="0"/>
          </a:p>
          <a:p>
            <a:r>
              <a:rPr lang="es-CO" sz="2000" dirty="0"/>
              <a:t>Es una colección de operaciones que forman una unidad lógica de trabajo. Una transacción se inicia por la ejecución de un programa de usuario escrito en un lenguaje de manipulación de datos de alto nivel o en un lenguaje de programación (SQL, Java) y está delimitado por instrucciones de la forma </a:t>
            </a:r>
            <a:r>
              <a:rPr lang="es-CO" sz="2000" b="1" dirty="0" err="1"/>
              <a:t>begin</a:t>
            </a:r>
            <a:r>
              <a:rPr lang="es-CO" sz="2000" b="1" dirty="0"/>
              <a:t> </a:t>
            </a:r>
            <a:r>
              <a:rPr lang="es-CO" sz="2000" b="1" dirty="0" err="1"/>
              <a:t>transaction</a:t>
            </a:r>
            <a:r>
              <a:rPr lang="es-CO" sz="2000" dirty="0"/>
              <a:t> y </a:t>
            </a:r>
            <a:r>
              <a:rPr lang="es-CO" sz="2000" b="1" dirty="0" err="1"/>
              <a:t>end</a:t>
            </a:r>
            <a:r>
              <a:rPr lang="es-CO" sz="2000" b="1" dirty="0"/>
              <a:t> </a:t>
            </a:r>
            <a:r>
              <a:rPr lang="es-CO" sz="2000" b="1" dirty="0" err="1"/>
              <a:t>transaction</a:t>
            </a:r>
            <a:r>
              <a:rPr lang="es-CO" sz="2000" dirty="0"/>
              <a:t>. </a:t>
            </a:r>
          </a:p>
          <a:p>
            <a:endParaRPr lang="es-CO" sz="2000" dirty="0"/>
          </a:p>
          <a:p>
            <a:r>
              <a:rPr lang="es-CO" sz="2000" dirty="0"/>
              <a:t>La transacción consiste en todas las operaciones que se ejecutan entre </a:t>
            </a:r>
            <a:r>
              <a:rPr lang="es-CO" sz="2000" b="1" dirty="0" err="1"/>
              <a:t>begin</a:t>
            </a:r>
            <a:r>
              <a:rPr lang="es-CO" sz="2000" b="1" dirty="0"/>
              <a:t> </a:t>
            </a:r>
            <a:r>
              <a:rPr lang="es-CO" sz="2000" b="1" dirty="0" err="1"/>
              <a:t>transaction</a:t>
            </a:r>
            <a:r>
              <a:rPr lang="es-CO" sz="2000" b="1" dirty="0"/>
              <a:t> y </a:t>
            </a:r>
            <a:r>
              <a:rPr lang="es-CO" sz="2000" b="1" dirty="0" err="1"/>
              <a:t>end</a:t>
            </a:r>
            <a:r>
              <a:rPr lang="es-CO" sz="2000" b="1" dirty="0"/>
              <a:t> </a:t>
            </a:r>
            <a:r>
              <a:rPr lang="es-CO" sz="2000" b="1" dirty="0" err="1"/>
              <a:t>transaction</a:t>
            </a:r>
            <a:r>
              <a:rPr lang="es-CO" sz="2000" dirty="0"/>
              <a:t>.</a:t>
            </a:r>
          </a:p>
          <a:p>
            <a:endParaRPr lang="es-CO" sz="2000" dirty="0"/>
          </a:p>
          <a:p>
            <a:r>
              <a:rPr lang="es-CO" sz="2000" dirty="0"/>
              <a:t>Un sistema de base de datos debe asegurar que la ejecución de las transacciones se realice adecuadamente a pesar de la existencia de fallos, es decir, se ejecuta la transacción completa o no se ejecuta en absoluto. </a:t>
            </a:r>
          </a:p>
          <a:p>
            <a:endParaRPr lang="es-CO" sz="2000" dirty="0"/>
          </a:p>
          <a:p>
            <a:r>
              <a:rPr lang="es-CO" sz="2000" dirty="0"/>
              <a:t>Además, debe gestionar la ejecución concurrente de las transacciones evitando introducir inconsistencias.</a:t>
            </a:r>
          </a:p>
        </p:txBody>
      </p:sp>
    </p:spTree>
    <p:extLst>
      <p:ext uri="{BB962C8B-B14F-4D97-AF65-F5344CB8AC3E}">
        <p14:creationId xmlns:p14="http://schemas.microsoft.com/office/powerpoint/2010/main" val="34770997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92E7D-2D57-A971-419C-6F156D7FEC0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5343BF4-7339-00A7-5923-289314675C82}"/>
              </a:ext>
            </a:extLst>
          </p:cNvPr>
          <p:cNvSpPr txBox="1"/>
          <p:nvPr/>
        </p:nvSpPr>
        <p:spPr>
          <a:xfrm>
            <a:off x="628650" y="544792"/>
            <a:ext cx="10499598" cy="5139869"/>
          </a:xfrm>
          <a:prstGeom prst="rect">
            <a:avLst/>
          </a:prstGeom>
          <a:noFill/>
        </p:spPr>
        <p:txBody>
          <a:bodyPr wrap="square" rtlCol="0">
            <a:spAutoFit/>
          </a:bodyPr>
          <a:lstStyle/>
          <a:p>
            <a:r>
              <a:rPr lang="es-CO" sz="2800" b="1" dirty="0"/>
              <a:t>Concepto de transacción</a:t>
            </a:r>
          </a:p>
          <a:p>
            <a:endParaRPr lang="es-CO" sz="2000" b="1" dirty="0"/>
          </a:p>
          <a:p>
            <a:endParaRPr lang="es-CO" sz="2000" b="1" dirty="0"/>
          </a:p>
          <a:p>
            <a:r>
              <a:rPr lang="es-CO" sz="2000" dirty="0"/>
              <a:t>Para asegurar la integridad de los datos se necesita que el sistema de base de datos mantenga las siguientes propiedades de las transacciones (propiedades ACID):</a:t>
            </a:r>
          </a:p>
          <a:p>
            <a:endParaRPr lang="es-CO" sz="2000" dirty="0"/>
          </a:p>
          <a:p>
            <a:r>
              <a:rPr lang="es-CO" sz="2000" dirty="0"/>
              <a:t>ACID: Atomicity, Consistency, Isolation, Durability.</a:t>
            </a:r>
          </a:p>
          <a:p>
            <a:endParaRPr lang="es-CO" sz="2000" dirty="0"/>
          </a:p>
          <a:p>
            <a:pPr marL="342900" indent="-342900">
              <a:buFontTx/>
              <a:buChar char="-"/>
            </a:pPr>
            <a:r>
              <a:rPr lang="es-CO" sz="2000" b="1" dirty="0"/>
              <a:t>Atomicidad: </a:t>
            </a:r>
            <a:r>
              <a:rPr lang="es-CO" sz="2000" dirty="0"/>
              <a:t>Todas las operaciones de la transacción se realizan adecuadamente en la BD o no se realiza ninguna de ellas.</a:t>
            </a:r>
          </a:p>
          <a:p>
            <a:pPr marL="342900" indent="-342900">
              <a:buFontTx/>
              <a:buChar char="-"/>
            </a:pPr>
            <a:r>
              <a:rPr lang="es-CO" sz="2000" b="1" dirty="0"/>
              <a:t>Consistencia:</a:t>
            </a:r>
            <a:r>
              <a:rPr lang="es-CO" sz="2000" dirty="0"/>
              <a:t> La ejecución aislada de la transacción conserva la consistencia de la BD.</a:t>
            </a:r>
          </a:p>
          <a:p>
            <a:pPr marL="342900" indent="-342900">
              <a:buFontTx/>
              <a:buChar char="-"/>
            </a:pPr>
            <a:r>
              <a:rPr lang="es-CO" sz="2000" b="1" dirty="0"/>
              <a:t>Aislamiento: </a:t>
            </a:r>
            <a:r>
              <a:rPr lang="es-CO" sz="2000" dirty="0"/>
              <a:t>Aunque se ejecuten varias transacciones concurrentemente, el sistema garantiza que para cada par de transacciones Ti y </a:t>
            </a:r>
            <a:r>
              <a:rPr lang="es-CO" sz="2000" dirty="0" err="1"/>
              <a:t>Tj</a:t>
            </a:r>
            <a:r>
              <a:rPr lang="es-CO" sz="2000" dirty="0"/>
              <a:t>,  Ti ha terminado su ejecución antes de que comience </a:t>
            </a:r>
            <a:r>
              <a:rPr lang="es-CO" sz="2000" dirty="0" err="1"/>
              <a:t>Tj</a:t>
            </a:r>
            <a:r>
              <a:rPr lang="es-CO" sz="2000" dirty="0"/>
              <a:t>.</a:t>
            </a:r>
          </a:p>
          <a:p>
            <a:pPr marL="342900" indent="-342900">
              <a:buFontTx/>
              <a:buChar char="-"/>
            </a:pPr>
            <a:r>
              <a:rPr lang="es-CO" sz="2000" b="1" dirty="0"/>
              <a:t>Durabilidad: </a:t>
            </a:r>
            <a:r>
              <a:rPr lang="es-CO" sz="2000" dirty="0"/>
              <a:t>Después de  la finalización con éxito de una transacción, los cambios realizados en la BD permanecen, incluso si hay fallos en el sistema.</a:t>
            </a:r>
          </a:p>
        </p:txBody>
      </p:sp>
    </p:spTree>
    <p:extLst>
      <p:ext uri="{BB962C8B-B14F-4D97-AF65-F5344CB8AC3E}">
        <p14:creationId xmlns:p14="http://schemas.microsoft.com/office/powerpoint/2010/main" val="13421071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C5F83-D8FF-E06E-23CC-1F1340AF41B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66D97BC-FE73-5D51-40FC-31B3B39721C6}"/>
              </a:ext>
            </a:extLst>
          </p:cNvPr>
          <p:cNvSpPr txBox="1"/>
          <p:nvPr/>
        </p:nvSpPr>
        <p:spPr>
          <a:xfrm>
            <a:off x="518922" y="2887688"/>
            <a:ext cx="3376422" cy="954107"/>
          </a:xfrm>
          <a:prstGeom prst="rect">
            <a:avLst/>
          </a:prstGeom>
          <a:noFill/>
        </p:spPr>
        <p:txBody>
          <a:bodyPr wrap="square" rtlCol="0">
            <a:spAutoFit/>
          </a:bodyPr>
          <a:lstStyle/>
          <a:p>
            <a:r>
              <a:rPr lang="es-CO" sz="2800" b="1" dirty="0"/>
              <a:t>Arquitectura de las</a:t>
            </a:r>
          </a:p>
          <a:p>
            <a:r>
              <a:rPr lang="es-CO" sz="2800" b="1" dirty="0"/>
              <a:t> bases de datos</a:t>
            </a:r>
            <a:endParaRPr lang="es-CO" sz="2400" b="1" dirty="0"/>
          </a:p>
        </p:txBody>
      </p:sp>
      <p:pic>
        <p:nvPicPr>
          <p:cNvPr id="3" name="Picture 2">
            <a:extLst>
              <a:ext uri="{FF2B5EF4-FFF2-40B4-BE49-F238E27FC236}">
                <a16:creationId xmlns:a16="http://schemas.microsoft.com/office/drawing/2014/main" id="{4B185E3C-0898-DB16-BDAD-E98339555129}"/>
              </a:ext>
            </a:extLst>
          </p:cNvPr>
          <p:cNvPicPr>
            <a:picLocks noChangeAspect="1"/>
          </p:cNvPicPr>
          <p:nvPr/>
        </p:nvPicPr>
        <p:blipFill>
          <a:blip r:embed="rId2"/>
          <a:stretch>
            <a:fillRect/>
          </a:stretch>
        </p:blipFill>
        <p:spPr>
          <a:xfrm>
            <a:off x="4661698" y="0"/>
            <a:ext cx="7011380" cy="6858000"/>
          </a:xfrm>
          <a:prstGeom prst="rect">
            <a:avLst/>
          </a:prstGeom>
        </p:spPr>
      </p:pic>
    </p:spTree>
    <p:extLst>
      <p:ext uri="{BB962C8B-B14F-4D97-AF65-F5344CB8AC3E}">
        <p14:creationId xmlns:p14="http://schemas.microsoft.com/office/powerpoint/2010/main" val="34297167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375C7-F63A-65C4-A8E2-211F439A2E5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285930B-5829-69F6-4EBE-CFE47314BAEC}"/>
              </a:ext>
            </a:extLst>
          </p:cNvPr>
          <p:cNvSpPr txBox="1"/>
          <p:nvPr/>
        </p:nvSpPr>
        <p:spPr>
          <a:xfrm>
            <a:off x="1003554" y="391376"/>
            <a:ext cx="6933438" cy="523220"/>
          </a:xfrm>
          <a:prstGeom prst="rect">
            <a:avLst/>
          </a:prstGeom>
          <a:noFill/>
        </p:spPr>
        <p:txBody>
          <a:bodyPr wrap="square" rtlCol="0">
            <a:spAutoFit/>
          </a:bodyPr>
          <a:lstStyle/>
          <a:p>
            <a:r>
              <a:rPr lang="es-CO" sz="2800" b="1" dirty="0"/>
              <a:t>Arquitectura de dos y tres capas</a:t>
            </a:r>
          </a:p>
        </p:txBody>
      </p:sp>
      <p:pic>
        <p:nvPicPr>
          <p:cNvPr id="5" name="Picture 4">
            <a:extLst>
              <a:ext uri="{FF2B5EF4-FFF2-40B4-BE49-F238E27FC236}">
                <a16:creationId xmlns:a16="http://schemas.microsoft.com/office/drawing/2014/main" id="{5F4A6CFD-CA7D-3272-C169-AE2B55C0E716}"/>
              </a:ext>
            </a:extLst>
          </p:cNvPr>
          <p:cNvPicPr>
            <a:picLocks noChangeAspect="1"/>
          </p:cNvPicPr>
          <p:nvPr/>
        </p:nvPicPr>
        <p:blipFill>
          <a:blip r:embed="rId2"/>
          <a:stretch>
            <a:fillRect/>
          </a:stretch>
        </p:blipFill>
        <p:spPr>
          <a:xfrm>
            <a:off x="1550204" y="1587471"/>
            <a:ext cx="9402487" cy="4963218"/>
          </a:xfrm>
          <a:prstGeom prst="rect">
            <a:avLst/>
          </a:prstGeom>
        </p:spPr>
      </p:pic>
    </p:spTree>
    <p:extLst>
      <p:ext uri="{BB962C8B-B14F-4D97-AF65-F5344CB8AC3E}">
        <p14:creationId xmlns:p14="http://schemas.microsoft.com/office/powerpoint/2010/main" val="13783760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629C2-7E92-7260-5F12-3AEA19C86AE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D8EE938-5E69-8223-C5A1-ED4BB24CCDD7}"/>
              </a:ext>
            </a:extLst>
          </p:cNvPr>
          <p:cNvSpPr txBox="1"/>
          <p:nvPr/>
        </p:nvSpPr>
        <p:spPr>
          <a:xfrm>
            <a:off x="994410" y="171920"/>
            <a:ext cx="9502902" cy="5755422"/>
          </a:xfrm>
          <a:prstGeom prst="rect">
            <a:avLst/>
          </a:prstGeom>
          <a:noFill/>
        </p:spPr>
        <p:txBody>
          <a:bodyPr wrap="square" rtlCol="0">
            <a:spAutoFit/>
          </a:bodyPr>
          <a:lstStyle/>
          <a:p>
            <a:r>
              <a:rPr lang="es-CO" sz="2800" b="1" dirty="0"/>
              <a:t>Usuarios y administradores de bases de datos</a:t>
            </a:r>
          </a:p>
          <a:p>
            <a:endParaRPr lang="es-CO" sz="2000" b="1" dirty="0"/>
          </a:p>
          <a:p>
            <a:endParaRPr lang="es-CO" sz="2000" b="1" dirty="0"/>
          </a:p>
          <a:p>
            <a:r>
              <a:rPr lang="es-CO" sz="2000" b="1" dirty="0"/>
              <a:t>Usuarios de bases de datos e interfaces de usuario</a:t>
            </a:r>
          </a:p>
          <a:p>
            <a:endParaRPr lang="es-CO" sz="2000" dirty="0"/>
          </a:p>
          <a:p>
            <a:r>
              <a:rPr lang="es-CO" sz="2000" dirty="0"/>
              <a:t>Hay 4 tipos diferentes de usuarios de los sistemas de bases de datos, diferenciados por la forma en que esperan interactuar con el sistema:</a:t>
            </a:r>
          </a:p>
          <a:p>
            <a:endParaRPr lang="es-CO" sz="2000" dirty="0"/>
          </a:p>
          <a:p>
            <a:pPr marL="342900" indent="-342900">
              <a:buFontTx/>
              <a:buChar char="-"/>
            </a:pPr>
            <a:r>
              <a:rPr lang="es-CO" sz="2000" b="1" dirty="0"/>
              <a:t>Usuarios normales: </a:t>
            </a:r>
            <a:r>
              <a:rPr lang="es-CO" sz="2000" dirty="0"/>
              <a:t>consultas de cuentas bancarias, pagos, transferencias bancarias.</a:t>
            </a:r>
          </a:p>
          <a:p>
            <a:pPr marL="342900" indent="-342900">
              <a:buFontTx/>
              <a:buChar char="-"/>
            </a:pPr>
            <a:r>
              <a:rPr lang="es-CO" sz="2000" b="1" dirty="0"/>
              <a:t>Programadores de aplicaciones:</a:t>
            </a:r>
            <a:r>
              <a:rPr lang="es-CO" sz="2000" dirty="0"/>
              <a:t> desarrollar programas de aplicación, crear formularios e informes con los datos.</a:t>
            </a:r>
          </a:p>
          <a:p>
            <a:pPr marL="342900" indent="-342900">
              <a:buFontTx/>
              <a:buChar char="-"/>
            </a:pPr>
            <a:r>
              <a:rPr lang="es-CO" sz="2000" b="1" dirty="0"/>
              <a:t>Usuarios sofisticados: </a:t>
            </a:r>
            <a:r>
              <a:rPr lang="es-CO" sz="2000" dirty="0"/>
              <a:t>No escriben programas y hacer consultas al procesador de consultas.</a:t>
            </a:r>
          </a:p>
          <a:p>
            <a:pPr marL="342900" indent="-342900">
              <a:buFontTx/>
              <a:buChar char="-"/>
            </a:pPr>
            <a:r>
              <a:rPr lang="es-CO" sz="2000" b="1" dirty="0"/>
              <a:t>Usuarios especializados: </a:t>
            </a:r>
            <a:r>
              <a:rPr lang="es-CO" sz="2000" dirty="0"/>
              <a:t>Escriben aplicaciones de bases de datos no tradicionales. Ejemplo: sistemas de base de conocimientos, sistemas expertos, sistemas de modelado del entorno.</a:t>
            </a:r>
          </a:p>
          <a:p>
            <a:endParaRPr lang="es-CO" sz="2000" dirty="0"/>
          </a:p>
        </p:txBody>
      </p:sp>
    </p:spTree>
    <p:extLst>
      <p:ext uri="{BB962C8B-B14F-4D97-AF65-F5344CB8AC3E}">
        <p14:creationId xmlns:p14="http://schemas.microsoft.com/office/powerpoint/2010/main" val="18164338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64122-F823-6076-9C4C-202AA88E60A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5852AE5-ED04-6EFF-1B39-8617910F9C7E}"/>
              </a:ext>
            </a:extLst>
          </p:cNvPr>
          <p:cNvSpPr txBox="1"/>
          <p:nvPr/>
        </p:nvSpPr>
        <p:spPr>
          <a:xfrm>
            <a:off x="994410" y="171920"/>
            <a:ext cx="9502902" cy="5755422"/>
          </a:xfrm>
          <a:prstGeom prst="rect">
            <a:avLst/>
          </a:prstGeom>
          <a:noFill/>
        </p:spPr>
        <p:txBody>
          <a:bodyPr wrap="square" rtlCol="0">
            <a:spAutoFit/>
          </a:bodyPr>
          <a:lstStyle/>
          <a:p>
            <a:r>
              <a:rPr lang="es-CO" sz="2800" b="1" dirty="0"/>
              <a:t>Usuarios y administradores de bases de datos</a:t>
            </a:r>
          </a:p>
          <a:p>
            <a:endParaRPr lang="es-CO" sz="2000" b="1" dirty="0"/>
          </a:p>
          <a:p>
            <a:endParaRPr lang="es-CO" sz="2000" b="1" dirty="0"/>
          </a:p>
          <a:p>
            <a:r>
              <a:rPr lang="es-CO" sz="2000" b="1" dirty="0"/>
              <a:t>Administrador de bases de datos</a:t>
            </a:r>
          </a:p>
          <a:p>
            <a:endParaRPr lang="es-CO" sz="2000" dirty="0"/>
          </a:p>
          <a:p>
            <a:r>
              <a:rPr lang="es-CO" sz="2000" dirty="0"/>
              <a:t>Funciones del administrador de base de datos:</a:t>
            </a:r>
          </a:p>
          <a:p>
            <a:endParaRPr lang="es-CO" sz="2000" dirty="0"/>
          </a:p>
          <a:p>
            <a:pPr marL="342900" indent="-342900">
              <a:buFontTx/>
              <a:buChar char="-"/>
            </a:pPr>
            <a:r>
              <a:rPr lang="es-CO" sz="2000" b="1" dirty="0"/>
              <a:t>La definición del esquema: </a:t>
            </a:r>
            <a:r>
              <a:rPr lang="es-CO" sz="2000" dirty="0"/>
              <a:t>crear el esquema mediante la ejecución de las instrucciones de definición de datos en el LDD.</a:t>
            </a:r>
          </a:p>
          <a:p>
            <a:pPr marL="342900" indent="-342900">
              <a:buFontTx/>
              <a:buChar char="-"/>
            </a:pPr>
            <a:r>
              <a:rPr lang="es-CO" sz="2000" b="1" dirty="0"/>
              <a:t>La definición de la estructura y del método de acceso: </a:t>
            </a:r>
          </a:p>
          <a:p>
            <a:pPr marL="342900" indent="-342900">
              <a:buFontTx/>
              <a:buChar char="-"/>
            </a:pPr>
            <a:r>
              <a:rPr lang="es-CO" sz="2000" b="1" dirty="0"/>
              <a:t>La modificación del esquema y de la organización física: </a:t>
            </a:r>
            <a:r>
              <a:rPr lang="es-CO" sz="2000" dirty="0"/>
              <a:t>refleja las necesidades cambiantes de la organización para mejorar el rendimiento.</a:t>
            </a:r>
          </a:p>
          <a:p>
            <a:pPr marL="342900" indent="-342900">
              <a:buFontTx/>
              <a:buChar char="-"/>
            </a:pPr>
            <a:r>
              <a:rPr lang="es-CO" sz="2000" b="1" dirty="0"/>
              <a:t>La concesión de autorización para el acceso a los datos: </a:t>
            </a:r>
            <a:r>
              <a:rPr lang="es-CO" sz="2000" dirty="0"/>
              <a:t>control de acceso de los usuarios a las partes del sistema de base de datos.</a:t>
            </a:r>
          </a:p>
          <a:p>
            <a:pPr marL="342900" indent="-342900">
              <a:buFontTx/>
              <a:buChar char="-"/>
            </a:pPr>
            <a:r>
              <a:rPr lang="es-CO" sz="2000" b="1" dirty="0"/>
              <a:t>Las actividades de mantenimiento de la base de datos:</a:t>
            </a:r>
            <a:r>
              <a:rPr lang="es-CO" sz="2000" dirty="0"/>
              <a:t> copia de seguridad periódica de la base de datos, suficiente espacio libre en el disco, supervisar trabajos de los usuarios y monitorear el rendimiento.</a:t>
            </a:r>
          </a:p>
          <a:p>
            <a:endParaRPr lang="es-CO" sz="2000" dirty="0"/>
          </a:p>
        </p:txBody>
      </p:sp>
    </p:spTree>
    <p:extLst>
      <p:ext uri="{BB962C8B-B14F-4D97-AF65-F5344CB8AC3E}">
        <p14:creationId xmlns:p14="http://schemas.microsoft.com/office/powerpoint/2010/main" val="24946162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57D18-A6EB-155E-B63B-AF3B6F4D29F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09A2966-91B0-0E08-2D73-E016ADC1F6BF}"/>
              </a:ext>
            </a:extLst>
          </p:cNvPr>
          <p:cNvSpPr txBox="1"/>
          <p:nvPr/>
        </p:nvSpPr>
        <p:spPr>
          <a:xfrm>
            <a:off x="1177290" y="254216"/>
            <a:ext cx="9502902" cy="6217087"/>
          </a:xfrm>
          <a:prstGeom prst="rect">
            <a:avLst/>
          </a:prstGeom>
          <a:noFill/>
        </p:spPr>
        <p:txBody>
          <a:bodyPr wrap="square" rtlCol="0">
            <a:spAutoFit/>
          </a:bodyPr>
          <a:lstStyle/>
          <a:p>
            <a:r>
              <a:rPr lang="es-CO" sz="2800" b="1" dirty="0"/>
              <a:t>Bases de datos relacionales</a:t>
            </a:r>
          </a:p>
          <a:p>
            <a:endParaRPr lang="es-CO" sz="2000" b="1" dirty="0"/>
          </a:p>
          <a:p>
            <a:r>
              <a:rPr lang="es-CO" dirty="0"/>
              <a:t>Modelo de datos </a:t>
            </a:r>
            <a:r>
              <a:rPr lang="es-CO" dirty="0">
                <a:sym typeface="Wingdings" panose="05000000000000000000" pitchFamily="2" charset="2"/>
              </a:rPr>
              <a:t> herramientas para la descripción de datos, la relación entre ellos, semántica y restricciones de consistencia.</a:t>
            </a:r>
          </a:p>
          <a:p>
            <a:endParaRPr lang="es-CO" dirty="0">
              <a:sym typeface="Wingdings" panose="05000000000000000000" pitchFamily="2" charset="2"/>
            </a:endParaRPr>
          </a:p>
          <a:p>
            <a:r>
              <a:rPr lang="es-CO" dirty="0">
                <a:sym typeface="Wingdings" panose="05000000000000000000" pitchFamily="2" charset="2"/>
              </a:rPr>
              <a:t>El modelo relacional  utiliza un conjunto de tablas para representar los datos y las relaciones entre ellos.</a:t>
            </a:r>
          </a:p>
          <a:p>
            <a:endParaRPr lang="es-CO" sz="2000" b="1" dirty="0"/>
          </a:p>
          <a:p>
            <a:r>
              <a:rPr lang="es-CO" sz="2000" b="1" dirty="0"/>
              <a:t>Estructura de las bases de datos relacionales</a:t>
            </a:r>
          </a:p>
          <a:p>
            <a:endParaRPr lang="es-CO" sz="2000" dirty="0"/>
          </a:p>
          <a:p>
            <a:r>
              <a:rPr lang="es-CO" dirty="0"/>
              <a:t>Una base de datos relacional consiste de un conjunto de </a:t>
            </a:r>
            <a:r>
              <a:rPr lang="es-CO" b="1" dirty="0">
                <a:solidFill>
                  <a:srgbClr val="FF0000"/>
                </a:solidFill>
              </a:rPr>
              <a:t>tablas</a:t>
            </a:r>
            <a:r>
              <a:rPr lang="es-CO" dirty="0"/>
              <a:t>. Cada fila de la tabla representa una relación entre un conjunto de valores.</a:t>
            </a:r>
          </a:p>
          <a:p>
            <a:endParaRPr lang="es-CO" dirty="0"/>
          </a:p>
          <a:p>
            <a:r>
              <a:rPr lang="es-CO" dirty="0"/>
              <a:t>La tabla tiene columnas  o cabeceras de columna </a:t>
            </a:r>
            <a:r>
              <a:rPr lang="es-CO" dirty="0">
                <a:sym typeface="Wingdings" panose="05000000000000000000" pitchFamily="2" charset="2"/>
              </a:rPr>
              <a:t>  </a:t>
            </a:r>
            <a:r>
              <a:rPr lang="es-CO" b="1" dirty="0">
                <a:solidFill>
                  <a:srgbClr val="FF0000"/>
                </a:solidFill>
                <a:sym typeface="Wingdings" panose="05000000000000000000" pitchFamily="2" charset="2"/>
              </a:rPr>
              <a:t>atributos.</a:t>
            </a:r>
          </a:p>
          <a:p>
            <a:r>
              <a:rPr lang="es-CO" dirty="0">
                <a:sym typeface="Wingdings" panose="05000000000000000000" pitchFamily="2" charset="2"/>
              </a:rPr>
              <a:t>Conjunto de valores permitidos en el atributo    </a:t>
            </a:r>
            <a:r>
              <a:rPr lang="es-CO" b="1" dirty="0">
                <a:solidFill>
                  <a:srgbClr val="FF0000"/>
                </a:solidFill>
                <a:sym typeface="Wingdings" panose="05000000000000000000" pitchFamily="2" charset="2"/>
              </a:rPr>
              <a:t>dominio.</a:t>
            </a:r>
          </a:p>
          <a:p>
            <a:r>
              <a:rPr lang="es-CO" dirty="0">
                <a:sym typeface="Wingdings" panose="05000000000000000000" pitchFamily="2" charset="2"/>
              </a:rPr>
              <a:t>Las filas de la tabla constituyen una </a:t>
            </a:r>
            <a:r>
              <a:rPr lang="es-CO" b="1" dirty="0">
                <a:solidFill>
                  <a:srgbClr val="FF0000"/>
                </a:solidFill>
                <a:sym typeface="Wingdings" panose="05000000000000000000" pitchFamily="2" charset="2"/>
              </a:rPr>
              <a:t>tupla </a:t>
            </a:r>
            <a:r>
              <a:rPr lang="es-CO" dirty="0">
                <a:sym typeface="Wingdings" panose="05000000000000000000" pitchFamily="2" charset="2"/>
              </a:rPr>
              <a:t>   cada posición de la tupla </a:t>
            </a:r>
            <a:r>
              <a:rPr lang="es-CO" b="1" dirty="0">
                <a:solidFill>
                  <a:srgbClr val="FF0000"/>
                </a:solidFill>
                <a:sym typeface="Wingdings" panose="05000000000000000000" pitchFamily="2" charset="2"/>
              </a:rPr>
              <a:t>tiene un dominio </a:t>
            </a:r>
            <a:r>
              <a:rPr lang="es-CO" b="1" dirty="0" err="1">
                <a:solidFill>
                  <a:srgbClr val="FF0000"/>
                </a:solidFill>
                <a:sym typeface="Wingdings" panose="05000000000000000000" pitchFamily="2" charset="2"/>
              </a:rPr>
              <a:t>Dx</a:t>
            </a:r>
            <a:r>
              <a:rPr lang="es-CO" dirty="0">
                <a:sym typeface="Wingdings" panose="05000000000000000000" pitchFamily="2" charset="2"/>
              </a:rPr>
              <a:t>. Así, una tabla con 3 columnas tiene tuplas de la forma: (v1, v2, v3).</a:t>
            </a:r>
          </a:p>
          <a:p>
            <a:endParaRPr lang="es-CO" dirty="0">
              <a:sym typeface="Wingdings" panose="05000000000000000000" pitchFamily="2" charset="2"/>
            </a:endParaRPr>
          </a:p>
          <a:p>
            <a:r>
              <a:rPr lang="es-CO" dirty="0">
                <a:sym typeface="Wingdings" panose="05000000000000000000" pitchFamily="2" charset="2"/>
              </a:rPr>
              <a:t>En la tupla (v1, v2, v3)   v1 está en el dominio D1, v2 está en el dominio D2 y v3 está en el dominio D3.</a:t>
            </a:r>
          </a:p>
          <a:p>
            <a:r>
              <a:rPr lang="es-CO" dirty="0">
                <a:sym typeface="Wingdings" panose="05000000000000000000" pitchFamily="2" charset="2"/>
              </a:rPr>
              <a:t>Por lo tanto la tabla es un subconjunto de D1 x D2 x D3</a:t>
            </a:r>
            <a:r>
              <a:rPr lang="es-CO" sz="2000" dirty="0">
                <a:sym typeface="Wingdings" panose="05000000000000000000" pitchFamily="2" charset="2"/>
              </a:rPr>
              <a:t>.</a:t>
            </a:r>
            <a:endParaRPr lang="es-CO" sz="2000" dirty="0"/>
          </a:p>
        </p:txBody>
      </p:sp>
    </p:spTree>
    <p:extLst>
      <p:ext uri="{BB962C8B-B14F-4D97-AF65-F5344CB8AC3E}">
        <p14:creationId xmlns:p14="http://schemas.microsoft.com/office/powerpoint/2010/main" val="9776392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B94AF-8818-9233-765C-505850D2265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86EA12B-85E2-4C0E-105B-151F4B5933EF}"/>
              </a:ext>
            </a:extLst>
          </p:cNvPr>
          <p:cNvSpPr txBox="1"/>
          <p:nvPr/>
        </p:nvSpPr>
        <p:spPr>
          <a:xfrm>
            <a:off x="1177290" y="254216"/>
            <a:ext cx="9502902" cy="2308324"/>
          </a:xfrm>
          <a:prstGeom prst="rect">
            <a:avLst/>
          </a:prstGeom>
          <a:noFill/>
        </p:spPr>
        <p:txBody>
          <a:bodyPr wrap="square" rtlCol="0">
            <a:spAutoFit/>
          </a:bodyPr>
          <a:lstStyle/>
          <a:p>
            <a:r>
              <a:rPr lang="es-CO" sz="2800" b="1" dirty="0"/>
              <a:t>Bases de datos relacionales</a:t>
            </a:r>
          </a:p>
          <a:p>
            <a:endParaRPr lang="es-CO" sz="2000" b="1" dirty="0"/>
          </a:p>
          <a:p>
            <a:r>
              <a:rPr lang="es-CO" dirty="0">
                <a:sym typeface="Wingdings" panose="05000000000000000000" pitchFamily="2" charset="2"/>
              </a:rPr>
              <a:t>En general, una tabla de n atributos debe ser un subconjunto de: </a:t>
            </a:r>
          </a:p>
          <a:p>
            <a:endParaRPr lang="es-CO" dirty="0">
              <a:sym typeface="Wingdings" panose="05000000000000000000" pitchFamily="2" charset="2"/>
            </a:endParaRPr>
          </a:p>
          <a:p>
            <a:r>
              <a:rPr lang="es-CO" dirty="0">
                <a:sym typeface="Wingdings" panose="05000000000000000000" pitchFamily="2" charset="2"/>
              </a:rPr>
              <a:t>D1 x D2 x D3</a:t>
            </a:r>
            <a:r>
              <a:rPr lang="es-CO" sz="2000" dirty="0">
                <a:sym typeface="Wingdings" panose="05000000000000000000" pitchFamily="2" charset="2"/>
              </a:rPr>
              <a:t> x D4 xD5 x………….x Dn-1 x </a:t>
            </a:r>
            <a:r>
              <a:rPr lang="es-CO" sz="2000" dirty="0" err="1">
                <a:sym typeface="Wingdings" panose="05000000000000000000" pitchFamily="2" charset="2"/>
              </a:rPr>
              <a:t>Dn</a:t>
            </a:r>
            <a:r>
              <a:rPr lang="es-CO" sz="2000" dirty="0">
                <a:sym typeface="Wingdings" panose="05000000000000000000" pitchFamily="2" charset="2"/>
              </a:rPr>
              <a:t>.</a:t>
            </a:r>
          </a:p>
          <a:p>
            <a:endParaRPr lang="es-CO" sz="2000" dirty="0">
              <a:sym typeface="Wingdings" panose="05000000000000000000" pitchFamily="2" charset="2"/>
            </a:endParaRPr>
          </a:p>
          <a:p>
            <a:r>
              <a:rPr lang="es-CO" sz="2000" b="1" dirty="0">
                <a:solidFill>
                  <a:srgbClr val="FF0000"/>
                </a:solidFill>
                <a:sym typeface="Wingdings" panose="05000000000000000000" pitchFamily="2" charset="2"/>
              </a:rPr>
              <a:t>Relación y tupla </a:t>
            </a:r>
            <a:r>
              <a:rPr lang="es-CO" sz="2000" dirty="0">
                <a:sym typeface="Wingdings" panose="05000000000000000000" pitchFamily="2" charset="2"/>
              </a:rPr>
              <a:t>son sinónimos de </a:t>
            </a:r>
            <a:r>
              <a:rPr lang="es-CO" sz="2000" b="1" dirty="0">
                <a:solidFill>
                  <a:srgbClr val="FF0000"/>
                </a:solidFill>
                <a:sym typeface="Wingdings" panose="05000000000000000000" pitchFamily="2" charset="2"/>
              </a:rPr>
              <a:t>tabla y fila</a:t>
            </a:r>
            <a:r>
              <a:rPr lang="es-CO" sz="2000" dirty="0">
                <a:sym typeface="Wingdings" panose="05000000000000000000" pitchFamily="2" charset="2"/>
              </a:rPr>
              <a:t>.</a:t>
            </a:r>
          </a:p>
        </p:txBody>
      </p:sp>
      <p:pic>
        <p:nvPicPr>
          <p:cNvPr id="3" name="Picture 2">
            <a:extLst>
              <a:ext uri="{FF2B5EF4-FFF2-40B4-BE49-F238E27FC236}">
                <a16:creationId xmlns:a16="http://schemas.microsoft.com/office/drawing/2014/main" id="{31B84DFF-CD34-7118-D3DB-6AB1F96CDB75}"/>
              </a:ext>
            </a:extLst>
          </p:cNvPr>
          <p:cNvPicPr>
            <a:picLocks noChangeAspect="1"/>
          </p:cNvPicPr>
          <p:nvPr/>
        </p:nvPicPr>
        <p:blipFill>
          <a:blip r:embed="rId2"/>
          <a:stretch>
            <a:fillRect/>
          </a:stretch>
        </p:blipFill>
        <p:spPr>
          <a:xfrm>
            <a:off x="3042111" y="2868874"/>
            <a:ext cx="4126786" cy="2788775"/>
          </a:xfrm>
          <a:prstGeom prst="rect">
            <a:avLst/>
          </a:prstGeom>
        </p:spPr>
      </p:pic>
      <p:sp>
        <p:nvSpPr>
          <p:cNvPr id="5" name="Right Brace 4">
            <a:extLst>
              <a:ext uri="{FF2B5EF4-FFF2-40B4-BE49-F238E27FC236}">
                <a16:creationId xmlns:a16="http://schemas.microsoft.com/office/drawing/2014/main" id="{31E22A04-15AF-41E9-6963-ACE45778EF9D}"/>
              </a:ext>
            </a:extLst>
          </p:cNvPr>
          <p:cNvSpPr/>
          <p:nvPr/>
        </p:nvSpPr>
        <p:spPr>
          <a:xfrm>
            <a:off x="7098379" y="2868874"/>
            <a:ext cx="914400" cy="2231136"/>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6A22EA2B-E81C-E714-F67B-C10B20A51559}"/>
              </a:ext>
            </a:extLst>
          </p:cNvPr>
          <p:cNvSpPr txBox="1"/>
          <p:nvPr/>
        </p:nvSpPr>
        <p:spPr>
          <a:xfrm>
            <a:off x="8166928" y="3799776"/>
            <a:ext cx="982961" cy="369332"/>
          </a:xfrm>
          <a:prstGeom prst="rect">
            <a:avLst/>
          </a:prstGeom>
          <a:noFill/>
        </p:spPr>
        <p:txBody>
          <a:bodyPr wrap="none" rtlCol="0">
            <a:spAutoFit/>
          </a:bodyPr>
          <a:lstStyle/>
          <a:p>
            <a:r>
              <a:rPr lang="es-CO" dirty="0">
                <a:solidFill>
                  <a:srgbClr val="FF0000"/>
                </a:solidFill>
              </a:rPr>
              <a:t>7 tuplas</a:t>
            </a:r>
            <a:endParaRPr lang="en-US" dirty="0">
              <a:solidFill>
                <a:srgbClr val="FF0000"/>
              </a:solidFill>
            </a:endParaRPr>
          </a:p>
        </p:txBody>
      </p:sp>
      <p:sp>
        <p:nvSpPr>
          <p:cNvPr id="7" name="TextBox 6">
            <a:extLst>
              <a:ext uri="{FF2B5EF4-FFF2-40B4-BE49-F238E27FC236}">
                <a16:creationId xmlns:a16="http://schemas.microsoft.com/office/drawing/2014/main" id="{3DC06574-807C-F5FE-67BC-321CF40962EE}"/>
              </a:ext>
            </a:extLst>
          </p:cNvPr>
          <p:cNvSpPr txBox="1"/>
          <p:nvPr/>
        </p:nvSpPr>
        <p:spPr>
          <a:xfrm>
            <a:off x="1106424" y="5833872"/>
            <a:ext cx="6088526" cy="369332"/>
          </a:xfrm>
          <a:prstGeom prst="rect">
            <a:avLst/>
          </a:prstGeom>
          <a:noFill/>
        </p:spPr>
        <p:txBody>
          <a:bodyPr wrap="none" rtlCol="0">
            <a:spAutoFit/>
          </a:bodyPr>
          <a:lstStyle/>
          <a:p>
            <a:r>
              <a:rPr lang="es-CO" dirty="0"/>
              <a:t>Ejemplo: el valor de la tupla t en el atributo </a:t>
            </a:r>
            <a:r>
              <a:rPr lang="es-CO" dirty="0" err="1"/>
              <a:t>numero_cuenta</a:t>
            </a:r>
            <a:r>
              <a:rPr lang="es-CO" dirty="0"/>
              <a:t>,</a:t>
            </a:r>
            <a:endParaRPr lang="en-US" dirty="0"/>
          </a:p>
        </p:txBody>
      </p:sp>
      <p:pic>
        <p:nvPicPr>
          <p:cNvPr id="9" name="Picture 8">
            <a:extLst>
              <a:ext uri="{FF2B5EF4-FFF2-40B4-BE49-F238E27FC236}">
                <a16:creationId xmlns:a16="http://schemas.microsoft.com/office/drawing/2014/main" id="{C668657C-1815-D938-0B5C-494AC24080B7}"/>
              </a:ext>
            </a:extLst>
          </p:cNvPr>
          <p:cNvPicPr>
            <a:picLocks noChangeAspect="1"/>
          </p:cNvPicPr>
          <p:nvPr/>
        </p:nvPicPr>
        <p:blipFill>
          <a:blip r:embed="rId3"/>
          <a:stretch>
            <a:fillRect/>
          </a:stretch>
        </p:blipFill>
        <p:spPr>
          <a:xfrm>
            <a:off x="7194950" y="5837537"/>
            <a:ext cx="3096057" cy="362001"/>
          </a:xfrm>
          <a:prstGeom prst="rect">
            <a:avLst/>
          </a:prstGeom>
        </p:spPr>
      </p:pic>
      <p:sp>
        <p:nvSpPr>
          <p:cNvPr id="10" name="TextBox 9">
            <a:extLst>
              <a:ext uri="{FF2B5EF4-FFF2-40B4-BE49-F238E27FC236}">
                <a16:creationId xmlns:a16="http://schemas.microsoft.com/office/drawing/2014/main" id="{89FB2ECF-FBE7-887B-91FB-4B13FCB59B94}"/>
              </a:ext>
            </a:extLst>
          </p:cNvPr>
          <p:cNvSpPr txBox="1"/>
          <p:nvPr/>
        </p:nvSpPr>
        <p:spPr>
          <a:xfrm>
            <a:off x="1106424" y="6258799"/>
            <a:ext cx="6194581" cy="369332"/>
          </a:xfrm>
          <a:prstGeom prst="rect">
            <a:avLst/>
          </a:prstGeom>
          <a:noFill/>
        </p:spPr>
        <p:txBody>
          <a:bodyPr wrap="none" rtlCol="0">
            <a:spAutoFit/>
          </a:bodyPr>
          <a:lstStyle/>
          <a:p>
            <a:r>
              <a:rPr lang="es-CO" dirty="0"/>
              <a:t>Ejemplo: el valor de la tupla t en el atributo </a:t>
            </a:r>
            <a:r>
              <a:rPr lang="es-CO" dirty="0" err="1"/>
              <a:t>nombre_sucursal</a:t>
            </a:r>
            <a:r>
              <a:rPr lang="es-CO" dirty="0"/>
              <a:t>,</a:t>
            </a:r>
            <a:endParaRPr lang="en-US" dirty="0"/>
          </a:p>
        </p:txBody>
      </p:sp>
      <p:pic>
        <p:nvPicPr>
          <p:cNvPr id="13" name="Picture 12">
            <a:extLst>
              <a:ext uri="{FF2B5EF4-FFF2-40B4-BE49-F238E27FC236}">
                <a16:creationId xmlns:a16="http://schemas.microsoft.com/office/drawing/2014/main" id="{460BD6C0-A11E-BBD5-0EC5-15911955C837}"/>
              </a:ext>
            </a:extLst>
          </p:cNvPr>
          <p:cNvPicPr>
            <a:picLocks noChangeAspect="1"/>
          </p:cNvPicPr>
          <p:nvPr/>
        </p:nvPicPr>
        <p:blipFill>
          <a:blip r:embed="rId4"/>
          <a:stretch>
            <a:fillRect/>
          </a:stretch>
        </p:blipFill>
        <p:spPr>
          <a:xfrm>
            <a:off x="7355504" y="6199538"/>
            <a:ext cx="3324689" cy="362001"/>
          </a:xfrm>
          <a:prstGeom prst="rect">
            <a:avLst/>
          </a:prstGeom>
        </p:spPr>
      </p:pic>
    </p:spTree>
    <p:extLst>
      <p:ext uri="{BB962C8B-B14F-4D97-AF65-F5344CB8AC3E}">
        <p14:creationId xmlns:p14="http://schemas.microsoft.com/office/powerpoint/2010/main" val="31561331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CF14A-B6CB-11EB-75AB-505013A2CF9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9F18CA6-55B4-A8BC-131D-28CC54444420}"/>
              </a:ext>
            </a:extLst>
          </p:cNvPr>
          <p:cNvSpPr txBox="1"/>
          <p:nvPr/>
        </p:nvSpPr>
        <p:spPr>
          <a:xfrm>
            <a:off x="1050451" y="139271"/>
            <a:ext cx="10371582" cy="2769989"/>
          </a:xfrm>
          <a:prstGeom prst="rect">
            <a:avLst/>
          </a:prstGeom>
          <a:noFill/>
        </p:spPr>
        <p:txBody>
          <a:bodyPr wrap="square" rtlCol="0">
            <a:spAutoFit/>
          </a:bodyPr>
          <a:lstStyle/>
          <a:p>
            <a:r>
              <a:rPr lang="es-CO" sz="2800" b="1" dirty="0"/>
              <a:t>Esquema de la base de datos</a:t>
            </a:r>
          </a:p>
          <a:p>
            <a:endParaRPr lang="es-CO" sz="2000" b="1" dirty="0"/>
          </a:p>
          <a:p>
            <a:r>
              <a:rPr lang="es-CO" dirty="0">
                <a:sym typeface="Wingdings" panose="05000000000000000000" pitchFamily="2" charset="2"/>
              </a:rPr>
              <a:t>Esquema de la base de datos   diseño lógico de la base de datos.</a:t>
            </a:r>
          </a:p>
          <a:p>
            <a:endParaRPr lang="es-CO" dirty="0">
              <a:sym typeface="Wingdings" panose="05000000000000000000" pitchFamily="2" charset="2"/>
            </a:endParaRPr>
          </a:p>
          <a:p>
            <a:r>
              <a:rPr lang="es-CO" dirty="0">
                <a:sym typeface="Wingdings" panose="05000000000000000000" pitchFamily="2" charset="2"/>
              </a:rPr>
              <a:t>Ejemplar de la base de datos   estado de la base de datos en un momento dado (instante de tiempo).</a:t>
            </a:r>
          </a:p>
          <a:p>
            <a:endParaRPr lang="es-CO" dirty="0">
              <a:sym typeface="Wingdings" panose="05000000000000000000" pitchFamily="2" charset="2"/>
            </a:endParaRPr>
          </a:p>
          <a:p>
            <a:r>
              <a:rPr lang="es-CO" dirty="0">
                <a:sym typeface="Wingdings" panose="05000000000000000000" pitchFamily="2" charset="2"/>
              </a:rPr>
              <a:t>Esquema de la relación   definición de tipos de los lenguajes de programación.</a:t>
            </a:r>
          </a:p>
          <a:p>
            <a:endParaRPr lang="es-CO" dirty="0">
              <a:sym typeface="Wingdings" panose="05000000000000000000" pitchFamily="2" charset="2"/>
            </a:endParaRPr>
          </a:p>
          <a:p>
            <a:r>
              <a:rPr lang="es-CO" dirty="0"/>
              <a:t>Ejemplar de la relación  </a:t>
            </a:r>
            <a:r>
              <a:rPr lang="es-CO" dirty="0">
                <a:sym typeface="Wingdings" panose="05000000000000000000" pitchFamily="2" charset="2"/>
              </a:rPr>
              <a:t>  valor de una variable en los lenguajes de programación.</a:t>
            </a:r>
          </a:p>
        </p:txBody>
      </p:sp>
      <p:pic>
        <p:nvPicPr>
          <p:cNvPr id="8" name="Picture 7">
            <a:extLst>
              <a:ext uri="{FF2B5EF4-FFF2-40B4-BE49-F238E27FC236}">
                <a16:creationId xmlns:a16="http://schemas.microsoft.com/office/drawing/2014/main" id="{8AC0BD35-A5E7-AAAA-7C9E-4EA46E9CC5AA}"/>
              </a:ext>
            </a:extLst>
          </p:cNvPr>
          <p:cNvPicPr>
            <a:picLocks noChangeAspect="1"/>
          </p:cNvPicPr>
          <p:nvPr/>
        </p:nvPicPr>
        <p:blipFill>
          <a:blip r:embed="rId2"/>
          <a:stretch>
            <a:fillRect/>
          </a:stretch>
        </p:blipFill>
        <p:spPr>
          <a:xfrm>
            <a:off x="2577965" y="5546364"/>
            <a:ext cx="6657475" cy="537681"/>
          </a:xfrm>
          <a:prstGeom prst="rect">
            <a:avLst/>
          </a:prstGeom>
        </p:spPr>
      </p:pic>
      <p:pic>
        <p:nvPicPr>
          <p:cNvPr id="12" name="Picture 11">
            <a:extLst>
              <a:ext uri="{FF2B5EF4-FFF2-40B4-BE49-F238E27FC236}">
                <a16:creationId xmlns:a16="http://schemas.microsoft.com/office/drawing/2014/main" id="{84083E3B-D2D0-7D0E-AAF7-22A9D786E266}"/>
              </a:ext>
            </a:extLst>
          </p:cNvPr>
          <p:cNvPicPr>
            <a:picLocks noChangeAspect="1"/>
          </p:cNvPicPr>
          <p:nvPr/>
        </p:nvPicPr>
        <p:blipFill>
          <a:blip r:embed="rId3"/>
          <a:stretch>
            <a:fillRect/>
          </a:stretch>
        </p:blipFill>
        <p:spPr>
          <a:xfrm>
            <a:off x="4214741" y="6171558"/>
            <a:ext cx="3018163" cy="531366"/>
          </a:xfrm>
          <a:prstGeom prst="rect">
            <a:avLst/>
          </a:prstGeom>
        </p:spPr>
      </p:pic>
      <p:pic>
        <p:nvPicPr>
          <p:cNvPr id="15" name="Picture 14">
            <a:extLst>
              <a:ext uri="{FF2B5EF4-FFF2-40B4-BE49-F238E27FC236}">
                <a16:creationId xmlns:a16="http://schemas.microsoft.com/office/drawing/2014/main" id="{F83B063C-2E60-53E4-2F81-A9396766BC8D}"/>
              </a:ext>
            </a:extLst>
          </p:cNvPr>
          <p:cNvPicPr>
            <a:picLocks noChangeAspect="1"/>
          </p:cNvPicPr>
          <p:nvPr/>
        </p:nvPicPr>
        <p:blipFill>
          <a:blip r:embed="rId4"/>
          <a:stretch>
            <a:fillRect/>
          </a:stretch>
        </p:blipFill>
        <p:spPr>
          <a:xfrm>
            <a:off x="3902149" y="2909260"/>
            <a:ext cx="3643345" cy="2462078"/>
          </a:xfrm>
          <a:prstGeom prst="rect">
            <a:avLst/>
          </a:prstGeom>
        </p:spPr>
      </p:pic>
    </p:spTree>
    <p:extLst>
      <p:ext uri="{BB962C8B-B14F-4D97-AF65-F5344CB8AC3E}">
        <p14:creationId xmlns:p14="http://schemas.microsoft.com/office/powerpoint/2010/main" val="32130814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0CD8E-CF75-03B8-91FA-AC910740E16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7F20995-BA88-E594-A81C-87497FF5A243}"/>
              </a:ext>
            </a:extLst>
          </p:cNvPr>
          <p:cNvSpPr txBox="1"/>
          <p:nvPr/>
        </p:nvSpPr>
        <p:spPr>
          <a:xfrm>
            <a:off x="1287018" y="309080"/>
            <a:ext cx="10371582" cy="523220"/>
          </a:xfrm>
          <a:prstGeom prst="rect">
            <a:avLst/>
          </a:prstGeom>
          <a:noFill/>
        </p:spPr>
        <p:txBody>
          <a:bodyPr wrap="square" rtlCol="0">
            <a:spAutoFit/>
          </a:bodyPr>
          <a:lstStyle/>
          <a:p>
            <a:r>
              <a:rPr lang="es-CO" sz="2800" b="1" dirty="0"/>
              <a:t>Esquema de la base de datos</a:t>
            </a:r>
          </a:p>
        </p:txBody>
      </p:sp>
      <p:pic>
        <p:nvPicPr>
          <p:cNvPr id="5" name="Picture 4">
            <a:extLst>
              <a:ext uri="{FF2B5EF4-FFF2-40B4-BE49-F238E27FC236}">
                <a16:creationId xmlns:a16="http://schemas.microsoft.com/office/drawing/2014/main" id="{2AD818AB-EBC8-3E4B-A3FC-7F0EB5072C48}"/>
              </a:ext>
            </a:extLst>
          </p:cNvPr>
          <p:cNvPicPr>
            <a:picLocks noChangeAspect="1"/>
          </p:cNvPicPr>
          <p:nvPr/>
        </p:nvPicPr>
        <p:blipFill>
          <a:blip r:embed="rId2"/>
          <a:stretch>
            <a:fillRect/>
          </a:stretch>
        </p:blipFill>
        <p:spPr>
          <a:xfrm>
            <a:off x="2695100" y="1566602"/>
            <a:ext cx="6801799" cy="3724795"/>
          </a:xfrm>
          <a:prstGeom prst="rect">
            <a:avLst/>
          </a:prstGeom>
        </p:spPr>
      </p:pic>
      <p:pic>
        <p:nvPicPr>
          <p:cNvPr id="7" name="Picture 6">
            <a:extLst>
              <a:ext uri="{FF2B5EF4-FFF2-40B4-BE49-F238E27FC236}">
                <a16:creationId xmlns:a16="http://schemas.microsoft.com/office/drawing/2014/main" id="{8889097D-B7A4-4133-12E3-84DE2E986948}"/>
              </a:ext>
            </a:extLst>
          </p:cNvPr>
          <p:cNvPicPr>
            <a:picLocks noChangeAspect="1"/>
          </p:cNvPicPr>
          <p:nvPr/>
        </p:nvPicPr>
        <p:blipFill>
          <a:blip r:embed="rId3"/>
          <a:stretch>
            <a:fillRect/>
          </a:stretch>
        </p:blipFill>
        <p:spPr>
          <a:xfrm>
            <a:off x="2695100" y="5704677"/>
            <a:ext cx="6944694" cy="514422"/>
          </a:xfrm>
          <a:prstGeom prst="rect">
            <a:avLst/>
          </a:prstGeom>
        </p:spPr>
      </p:pic>
    </p:spTree>
    <p:extLst>
      <p:ext uri="{BB962C8B-B14F-4D97-AF65-F5344CB8AC3E}">
        <p14:creationId xmlns:p14="http://schemas.microsoft.com/office/powerpoint/2010/main" val="29030108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5A9A6-FF08-9280-E132-C03C88DC9DC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C96EB32-AAE7-DE52-22BA-B8780CEF61B6}"/>
              </a:ext>
            </a:extLst>
          </p:cNvPr>
          <p:cNvSpPr txBox="1"/>
          <p:nvPr/>
        </p:nvSpPr>
        <p:spPr>
          <a:xfrm>
            <a:off x="1287018" y="309080"/>
            <a:ext cx="10371582" cy="523220"/>
          </a:xfrm>
          <a:prstGeom prst="rect">
            <a:avLst/>
          </a:prstGeom>
          <a:noFill/>
        </p:spPr>
        <p:txBody>
          <a:bodyPr wrap="square" rtlCol="0">
            <a:spAutoFit/>
          </a:bodyPr>
          <a:lstStyle/>
          <a:p>
            <a:r>
              <a:rPr lang="es-CO" sz="2800" b="1" dirty="0"/>
              <a:t>Esquema de la base de datos</a:t>
            </a:r>
          </a:p>
        </p:txBody>
      </p:sp>
      <p:pic>
        <p:nvPicPr>
          <p:cNvPr id="3" name="Picture 2">
            <a:extLst>
              <a:ext uri="{FF2B5EF4-FFF2-40B4-BE49-F238E27FC236}">
                <a16:creationId xmlns:a16="http://schemas.microsoft.com/office/drawing/2014/main" id="{E246D067-24AB-6B34-5C31-F83752BD0C1E}"/>
              </a:ext>
            </a:extLst>
          </p:cNvPr>
          <p:cNvPicPr>
            <a:picLocks noChangeAspect="1"/>
          </p:cNvPicPr>
          <p:nvPr/>
        </p:nvPicPr>
        <p:blipFill>
          <a:blip r:embed="rId2"/>
          <a:stretch>
            <a:fillRect/>
          </a:stretch>
        </p:blipFill>
        <p:spPr>
          <a:xfrm>
            <a:off x="3571109" y="1244722"/>
            <a:ext cx="4540814" cy="4016272"/>
          </a:xfrm>
          <a:prstGeom prst="rect">
            <a:avLst/>
          </a:prstGeom>
        </p:spPr>
      </p:pic>
      <p:pic>
        <p:nvPicPr>
          <p:cNvPr id="8" name="Picture 7">
            <a:extLst>
              <a:ext uri="{FF2B5EF4-FFF2-40B4-BE49-F238E27FC236}">
                <a16:creationId xmlns:a16="http://schemas.microsoft.com/office/drawing/2014/main" id="{32B4835E-D604-94E3-5128-A77460CB2E2A}"/>
              </a:ext>
            </a:extLst>
          </p:cNvPr>
          <p:cNvPicPr>
            <a:picLocks noChangeAspect="1"/>
          </p:cNvPicPr>
          <p:nvPr/>
        </p:nvPicPr>
        <p:blipFill>
          <a:blip r:embed="rId3"/>
          <a:stretch>
            <a:fillRect/>
          </a:stretch>
        </p:blipFill>
        <p:spPr>
          <a:xfrm>
            <a:off x="2214849" y="5321951"/>
            <a:ext cx="6811326" cy="676369"/>
          </a:xfrm>
          <a:prstGeom prst="rect">
            <a:avLst/>
          </a:prstGeom>
        </p:spPr>
      </p:pic>
      <p:pic>
        <p:nvPicPr>
          <p:cNvPr id="10" name="Picture 9">
            <a:extLst>
              <a:ext uri="{FF2B5EF4-FFF2-40B4-BE49-F238E27FC236}">
                <a16:creationId xmlns:a16="http://schemas.microsoft.com/office/drawing/2014/main" id="{B8251484-B0F5-07D5-AB5D-A8AAAF01F4C2}"/>
              </a:ext>
            </a:extLst>
          </p:cNvPr>
          <p:cNvPicPr>
            <a:picLocks noChangeAspect="1"/>
          </p:cNvPicPr>
          <p:nvPr/>
        </p:nvPicPr>
        <p:blipFill>
          <a:blip r:embed="rId4"/>
          <a:stretch>
            <a:fillRect/>
          </a:stretch>
        </p:blipFill>
        <p:spPr>
          <a:xfrm>
            <a:off x="2293051" y="6120235"/>
            <a:ext cx="2686425" cy="428685"/>
          </a:xfrm>
          <a:prstGeom prst="rect">
            <a:avLst/>
          </a:prstGeom>
        </p:spPr>
      </p:pic>
    </p:spTree>
    <p:extLst>
      <p:ext uri="{BB962C8B-B14F-4D97-AF65-F5344CB8AC3E}">
        <p14:creationId xmlns:p14="http://schemas.microsoft.com/office/powerpoint/2010/main" val="30891649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921AE-1E19-7262-9771-65EE19777D9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073744E-9E45-B7F8-2EF4-E830005F25AD}"/>
              </a:ext>
            </a:extLst>
          </p:cNvPr>
          <p:cNvSpPr txBox="1"/>
          <p:nvPr/>
        </p:nvSpPr>
        <p:spPr>
          <a:xfrm>
            <a:off x="1287018" y="309080"/>
            <a:ext cx="10371582" cy="523220"/>
          </a:xfrm>
          <a:prstGeom prst="rect">
            <a:avLst/>
          </a:prstGeom>
          <a:noFill/>
        </p:spPr>
        <p:txBody>
          <a:bodyPr wrap="square" rtlCol="0">
            <a:spAutoFit/>
          </a:bodyPr>
          <a:lstStyle/>
          <a:p>
            <a:r>
              <a:rPr lang="es-CO" sz="2800" b="1" dirty="0"/>
              <a:t>Esquema de la base de datos</a:t>
            </a:r>
          </a:p>
        </p:txBody>
      </p:sp>
      <p:pic>
        <p:nvPicPr>
          <p:cNvPr id="5" name="Picture 4">
            <a:extLst>
              <a:ext uri="{FF2B5EF4-FFF2-40B4-BE49-F238E27FC236}">
                <a16:creationId xmlns:a16="http://schemas.microsoft.com/office/drawing/2014/main" id="{91246099-914B-C35F-A4CA-8FB9481FD9E3}"/>
              </a:ext>
            </a:extLst>
          </p:cNvPr>
          <p:cNvPicPr>
            <a:picLocks noChangeAspect="1"/>
          </p:cNvPicPr>
          <p:nvPr/>
        </p:nvPicPr>
        <p:blipFill>
          <a:blip r:embed="rId2"/>
          <a:stretch>
            <a:fillRect/>
          </a:stretch>
        </p:blipFill>
        <p:spPr>
          <a:xfrm>
            <a:off x="3431543" y="1263703"/>
            <a:ext cx="4505954" cy="3781953"/>
          </a:xfrm>
          <a:prstGeom prst="rect">
            <a:avLst/>
          </a:prstGeom>
        </p:spPr>
      </p:pic>
      <p:pic>
        <p:nvPicPr>
          <p:cNvPr id="7" name="Picture 6">
            <a:extLst>
              <a:ext uri="{FF2B5EF4-FFF2-40B4-BE49-F238E27FC236}">
                <a16:creationId xmlns:a16="http://schemas.microsoft.com/office/drawing/2014/main" id="{2EFBC368-C8F6-3503-8C18-39A09D9D118A}"/>
              </a:ext>
            </a:extLst>
          </p:cNvPr>
          <p:cNvPicPr>
            <a:picLocks noChangeAspect="1"/>
          </p:cNvPicPr>
          <p:nvPr/>
        </p:nvPicPr>
        <p:blipFill>
          <a:blip r:embed="rId3"/>
          <a:stretch>
            <a:fillRect/>
          </a:stretch>
        </p:blipFill>
        <p:spPr>
          <a:xfrm>
            <a:off x="2922617" y="5222770"/>
            <a:ext cx="5944430" cy="743054"/>
          </a:xfrm>
          <a:prstGeom prst="rect">
            <a:avLst/>
          </a:prstGeom>
        </p:spPr>
      </p:pic>
      <p:pic>
        <p:nvPicPr>
          <p:cNvPr id="10" name="Picture 9">
            <a:extLst>
              <a:ext uri="{FF2B5EF4-FFF2-40B4-BE49-F238E27FC236}">
                <a16:creationId xmlns:a16="http://schemas.microsoft.com/office/drawing/2014/main" id="{43799A02-E608-218F-00B5-D7A6E7184BD4}"/>
              </a:ext>
            </a:extLst>
          </p:cNvPr>
          <p:cNvPicPr>
            <a:picLocks noChangeAspect="1"/>
          </p:cNvPicPr>
          <p:nvPr/>
        </p:nvPicPr>
        <p:blipFill>
          <a:blip r:embed="rId4"/>
          <a:stretch>
            <a:fillRect/>
          </a:stretch>
        </p:blipFill>
        <p:spPr>
          <a:xfrm>
            <a:off x="3004340" y="5923832"/>
            <a:ext cx="3238952" cy="438211"/>
          </a:xfrm>
          <a:prstGeom prst="rect">
            <a:avLst/>
          </a:prstGeom>
        </p:spPr>
      </p:pic>
    </p:spTree>
    <p:extLst>
      <p:ext uri="{BB962C8B-B14F-4D97-AF65-F5344CB8AC3E}">
        <p14:creationId xmlns:p14="http://schemas.microsoft.com/office/powerpoint/2010/main" val="33330673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18E9E-43B0-48BD-E262-B4F0C286C5E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2F7FFCE-C2A8-2D35-2D10-B1888EB5DD6E}"/>
              </a:ext>
            </a:extLst>
          </p:cNvPr>
          <p:cNvSpPr txBox="1"/>
          <p:nvPr/>
        </p:nvSpPr>
        <p:spPr>
          <a:xfrm>
            <a:off x="1287018" y="309080"/>
            <a:ext cx="10371582" cy="523220"/>
          </a:xfrm>
          <a:prstGeom prst="rect">
            <a:avLst/>
          </a:prstGeom>
          <a:noFill/>
        </p:spPr>
        <p:txBody>
          <a:bodyPr wrap="square" rtlCol="0">
            <a:spAutoFit/>
          </a:bodyPr>
          <a:lstStyle/>
          <a:p>
            <a:r>
              <a:rPr lang="es-CO" sz="2800" b="1" dirty="0"/>
              <a:t>Esquema de la base de datos</a:t>
            </a:r>
          </a:p>
        </p:txBody>
      </p:sp>
      <p:pic>
        <p:nvPicPr>
          <p:cNvPr id="3" name="Picture 2">
            <a:extLst>
              <a:ext uri="{FF2B5EF4-FFF2-40B4-BE49-F238E27FC236}">
                <a16:creationId xmlns:a16="http://schemas.microsoft.com/office/drawing/2014/main" id="{EB61C442-0EFD-4FD4-AEB3-B04DF2C059A0}"/>
              </a:ext>
            </a:extLst>
          </p:cNvPr>
          <p:cNvPicPr>
            <a:picLocks noChangeAspect="1"/>
          </p:cNvPicPr>
          <p:nvPr/>
        </p:nvPicPr>
        <p:blipFill>
          <a:blip r:embed="rId2"/>
          <a:stretch>
            <a:fillRect/>
          </a:stretch>
        </p:blipFill>
        <p:spPr>
          <a:xfrm>
            <a:off x="1392415" y="4493256"/>
            <a:ext cx="7468642" cy="962159"/>
          </a:xfrm>
          <a:prstGeom prst="rect">
            <a:avLst/>
          </a:prstGeom>
        </p:spPr>
      </p:pic>
      <p:pic>
        <p:nvPicPr>
          <p:cNvPr id="8" name="Picture 7">
            <a:extLst>
              <a:ext uri="{FF2B5EF4-FFF2-40B4-BE49-F238E27FC236}">
                <a16:creationId xmlns:a16="http://schemas.microsoft.com/office/drawing/2014/main" id="{064F6D75-9DDF-C83F-EC04-65C366F90BB9}"/>
              </a:ext>
            </a:extLst>
          </p:cNvPr>
          <p:cNvPicPr>
            <a:picLocks noChangeAspect="1"/>
          </p:cNvPicPr>
          <p:nvPr/>
        </p:nvPicPr>
        <p:blipFill>
          <a:blip r:embed="rId3"/>
          <a:stretch>
            <a:fillRect/>
          </a:stretch>
        </p:blipFill>
        <p:spPr>
          <a:xfrm>
            <a:off x="1649498" y="5455415"/>
            <a:ext cx="3315163" cy="552527"/>
          </a:xfrm>
          <a:prstGeom prst="rect">
            <a:avLst/>
          </a:prstGeom>
        </p:spPr>
      </p:pic>
      <p:pic>
        <p:nvPicPr>
          <p:cNvPr id="11" name="Picture 10">
            <a:extLst>
              <a:ext uri="{FF2B5EF4-FFF2-40B4-BE49-F238E27FC236}">
                <a16:creationId xmlns:a16="http://schemas.microsoft.com/office/drawing/2014/main" id="{C79A5567-B034-2B07-6817-4A3A68580B1B}"/>
              </a:ext>
            </a:extLst>
          </p:cNvPr>
          <p:cNvPicPr>
            <a:picLocks noChangeAspect="1"/>
          </p:cNvPicPr>
          <p:nvPr/>
        </p:nvPicPr>
        <p:blipFill>
          <a:blip r:embed="rId4"/>
          <a:stretch>
            <a:fillRect/>
          </a:stretch>
        </p:blipFill>
        <p:spPr>
          <a:xfrm>
            <a:off x="1611520" y="6082241"/>
            <a:ext cx="3515216" cy="381053"/>
          </a:xfrm>
          <a:prstGeom prst="rect">
            <a:avLst/>
          </a:prstGeom>
        </p:spPr>
      </p:pic>
      <p:pic>
        <p:nvPicPr>
          <p:cNvPr id="13" name="Picture 12">
            <a:extLst>
              <a:ext uri="{FF2B5EF4-FFF2-40B4-BE49-F238E27FC236}">
                <a16:creationId xmlns:a16="http://schemas.microsoft.com/office/drawing/2014/main" id="{A8F06A72-9BC9-64A9-C7E7-79BB93E8FB17}"/>
              </a:ext>
            </a:extLst>
          </p:cNvPr>
          <p:cNvPicPr>
            <a:picLocks noChangeAspect="1"/>
          </p:cNvPicPr>
          <p:nvPr/>
        </p:nvPicPr>
        <p:blipFill>
          <a:blip r:embed="rId5"/>
          <a:stretch>
            <a:fillRect/>
          </a:stretch>
        </p:blipFill>
        <p:spPr>
          <a:xfrm>
            <a:off x="788636" y="1078784"/>
            <a:ext cx="4644735" cy="2972008"/>
          </a:xfrm>
          <a:prstGeom prst="rect">
            <a:avLst/>
          </a:prstGeom>
        </p:spPr>
      </p:pic>
      <p:pic>
        <p:nvPicPr>
          <p:cNvPr id="15" name="Picture 14">
            <a:extLst>
              <a:ext uri="{FF2B5EF4-FFF2-40B4-BE49-F238E27FC236}">
                <a16:creationId xmlns:a16="http://schemas.microsoft.com/office/drawing/2014/main" id="{CB4FE834-0CB1-C258-9EFC-2CF8D6CE7D05}"/>
              </a:ext>
            </a:extLst>
          </p:cNvPr>
          <p:cNvPicPr>
            <a:picLocks noChangeAspect="1"/>
          </p:cNvPicPr>
          <p:nvPr/>
        </p:nvPicPr>
        <p:blipFill>
          <a:blip r:embed="rId6"/>
          <a:stretch>
            <a:fillRect/>
          </a:stretch>
        </p:blipFill>
        <p:spPr>
          <a:xfrm>
            <a:off x="6472809" y="1078784"/>
            <a:ext cx="3343110" cy="3050496"/>
          </a:xfrm>
          <a:prstGeom prst="rect">
            <a:avLst/>
          </a:prstGeom>
        </p:spPr>
      </p:pic>
    </p:spTree>
    <p:extLst>
      <p:ext uri="{BB962C8B-B14F-4D97-AF65-F5344CB8AC3E}">
        <p14:creationId xmlns:p14="http://schemas.microsoft.com/office/powerpoint/2010/main" val="1271335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A6039-1613-A2EA-451F-0BEF559A0A5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5FFA223-846A-A1CF-9B4C-59F6171F6CC3}"/>
              </a:ext>
            </a:extLst>
          </p:cNvPr>
          <p:cNvSpPr txBox="1"/>
          <p:nvPr/>
        </p:nvSpPr>
        <p:spPr>
          <a:xfrm>
            <a:off x="1287018" y="309080"/>
            <a:ext cx="10371582" cy="2431435"/>
          </a:xfrm>
          <a:prstGeom prst="rect">
            <a:avLst/>
          </a:prstGeom>
          <a:noFill/>
        </p:spPr>
        <p:txBody>
          <a:bodyPr wrap="square" rtlCol="0">
            <a:spAutoFit/>
          </a:bodyPr>
          <a:lstStyle/>
          <a:p>
            <a:r>
              <a:rPr lang="es-CO" sz="2800" b="1" dirty="0"/>
              <a:t>Esquema de la base de datos</a:t>
            </a:r>
          </a:p>
          <a:p>
            <a:endParaRPr lang="es-CO" sz="2800" b="1" dirty="0"/>
          </a:p>
          <a:p>
            <a:r>
              <a:rPr lang="es-CO" sz="2400" dirty="0"/>
              <a:t>Es ineficiente utilizar un esquema con todos los atributos.</a:t>
            </a:r>
          </a:p>
          <a:p>
            <a:endParaRPr lang="es-CO" sz="2400" dirty="0"/>
          </a:p>
          <a:p>
            <a:r>
              <a:rPr lang="es-CO" sz="2400" dirty="0"/>
              <a:t>Si un cliente tiene varias cuentas, hay que repetir su dirección una vez por cada cuenta.</a:t>
            </a:r>
          </a:p>
        </p:txBody>
      </p:sp>
      <p:pic>
        <p:nvPicPr>
          <p:cNvPr id="3" name="Picture 2">
            <a:extLst>
              <a:ext uri="{FF2B5EF4-FFF2-40B4-BE49-F238E27FC236}">
                <a16:creationId xmlns:a16="http://schemas.microsoft.com/office/drawing/2014/main" id="{4F08D5C3-A261-3A46-FDB7-ECCC3D946E33}"/>
              </a:ext>
            </a:extLst>
          </p:cNvPr>
          <p:cNvPicPr>
            <a:picLocks noChangeAspect="1"/>
          </p:cNvPicPr>
          <p:nvPr/>
        </p:nvPicPr>
        <p:blipFill>
          <a:blip r:embed="rId2"/>
          <a:stretch>
            <a:fillRect/>
          </a:stretch>
        </p:blipFill>
        <p:spPr>
          <a:xfrm>
            <a:off x="2497102" y="3231384"/>
            <a:ext cx="7783011" cy="962159"/>
          </a:xfrm>
          <a:prstGeom prst="rect">
            <a:avLst/>
          </a:prstGeom>
        </p:spPr>
      </p:pic>
    </p:spTree>
    <p:extLst>
      <p:ext uri="{BB962C8B-B14F-4D97-AF65-F5344CB8AC3E}">
        <p14:creationId xmlns:p14="http://schemas.microsoft.com/office/powerpoint/2010/main" val="12261473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623BD-9436-83FD-5173-6F3774F6C3F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665DA59-2CAD-B9FE-B119-0F91FB7E710E}"/>
              </a:ext>
            </a:extLst>
          </p:cNvPr>
          <p:cNvSpPr txBox="1"/>
          <p:nvPr/>
        </p:nvSpPr>
        <p:spPr>
          <a:xfrm>
            <a:off x="994410" y="555968"/>
            <a:ext cx="9530334" cy="5755422"/>
          </a:xfrm>
          <a:prstGeom prst="rect">
            <a:avLst/>
          </a:prstGeom>
          <a:noFill/>
        </p:spPr>
        <p:txBody>
          <a:bodyPr wrap="square" rtlCol="0">
            <a:spAutoFit/>
          </a:bodyPr>
          <a:lstStyle/>
          <a:p>
            <a:r>
              <a:rPr lang="es-CO" sz="2800" b="1" dirty="0"/>
              <a:t>Claves</a:t>
            </a:r>
          </a:p>
          <a:p>
            <a:endParaRPr lang="es-CO" sz="2000" dirty="0"/>
          </a:p>
          <a:p>
            <a:r>
              <a:rPr lang="es-CO" sz="2000" dirty="0"/>
              <a:t>Son propiedades que identifican toda la relación, pero no una tupla. La selección de una clave representa una restricción de la empresa del mundo real que se está modelando.</a:t>
            </a:r>
          </a:p>
          <a:p>
            <a:endParaRPr lang="es-CO" sz="2000" dirty="0"/>
          </a:p>
          <a:p>
            <a:r>
              <a:rPr lang="es-CO" sz="2000" dirty="0"/>
              <a:t>Tipos de claves:  superclave, clave candidata, clave primaria, clave externa.</a:t>
            </a:r>
          </a:p>
          <a:p>
            <a:endParaRPr lang="es-CO" sz="2000" dirty="0"/>
          </a:p>
          <a:p>
            <a:pPr marL="457200" indent="-457200">
              <a:buFontTx/>
              <a:buChar char="-"/>
            </a:pPr>
            <a:r>
              <a:rPr lang="es-CO" sz="2000" b="1" dirty="0"/>
              <a:t>Superclave: </a:t>
            </a:r>
            <a:r>
              <a:rPr lang="es-CO" sz="2000" dirty="0"/>
              <a:t>conjunto de uno o varios atributos que, considerados conjuntamente, permiten identificar de manera unívoca una tupla de la relación. Por ejemplo, el atributo id_cliente es suficiente para distinguir una tupla de otra. Id_cliente es una superclave. Ejemplo, la combinación </a:t>
            </a:r>
            <a:r>
              <a:rPr lang="es-CO" sz="2000" dirty="0" err="1"/>
              <a:t>nombre_cliente</a:t>
            </a:r>
            <a:r>
              <a:rPr lang="es-CO" sz="2000" dirty="0"/>
              <a:t>, id_cliente constituyen una superclave.</a:t>
            </a:r>
          </a:p>
          <a:p>
            <a:r>
              <a:rPr lang="es-CO" sz="2000" dirty="0"/>
              <a:t> </a:t>
            </a:r>
          </a:p>
          <a:p>
            <a:r>
              <a:rPr lang="es-CO" sz="2000" dirty="0"/>
              <a:t>¿Por qué </a:t>
            </a:r>
            <a:r>
              <a:rPr lang="es-CO" sz="2000" dirty="0" err="1"/>
              <a:t>nombre_cliente</a:t>
            </a:r>
            <a:r>
              <a:rPr lang="es-CO" sz="2000" dirty="0"/>
              <a:t> no es una superclave?</a:t>
            </a:r>
          </a:p>
          <a:p>
            <a:endParaRPr lang="es-CO" sz="2000" dirty="0"/>
          </a:p>
          <a:p>
            <a:r>
              <a:rPr lang="es-CO" sz="2000" dirty="0"/>
              <a:t>¿Por qué </a:t>
            </a:r>
            <a:r>
              <a:rPr lang="es-CO" sz="2000" dirty="0" err="1"/>
              <a:t>dirección_cliente</a:t>
            </a:r>
            <a:r>
              <a:rPr lang="es-CO" sz="2000" dirty="0"/>
              <a:t> no es una superclave?</a:t>
            </a:r>
          </a:p>
          <a:p>
            <a:endParaRPr lang="es-CO" sz="2000" dirty="0"/>
          </a:p>
        </p:txBody>
      </p:sp>
    </p:spTree>
    <p:extLst>
      <p:ext uri="{BB962C8B-B14F-4D97-AF65-F5344CB8AC3E}">
        <p14:creationId xmlns:p14="http://schemas.microsoft.com/office/powerpoint/2010/main" val="27107840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F68C9-120C-7215-15B0-DDF5569B7A1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A9BF1E6-AA10-6325-023A-1F7079351624}"/>
              </a:ext>
            </a:extLst>
          </p:cNvPr>
          <p:cNvSpPr txBox="1"/>
          <p:nvPr/>
        </p:nvSpPr>
        <p:spPr>
          <a:xfrm>
            <a:off x="1076706" y="656552"/>
            <a:ext cx="9530334" cy="4216539"/>
          </a:xfrm>
          <a:prstGeom prst="rect">
            <a:avLst/>
          </a:prstGeom>
          <a:noFill/>
        </p:spPr>
        <p:txBody>
          <a:bodyPr wrap="square" rtlCol="0">
            <a:spAutoFit/>
          </a:bodyPr>
          <a:lstStyle/>
          <a:p>
            <a:r>
              <a:rPr lang="es-CO" sz="2800" b="1" dirty="0"/>
              <a:t>Claves</a:t>
            </a:r>
          </a:p>
          <a:p>
            <a:endParaRPr lang="es-CO" sz="2000" dirty="0"/>
          </a:p>
          <a:p>
            <a:endParaRPr lang="es-CO" sz="2000" dirty="0"/>
          </a:p>
          <a:p>
            <a:r>
              <a:rPr lang="es-CO" sz="2000" dirty="0"/>
              <a:t>Tipos de claves:</a:t>
            </a:r>
          </a:p>
          <a:p>
            <a:endParaRPr lang="es-CO" sz="2000" dirty="0"/>
          </a:p>
          <a:p>
            <a:pPr marL="457200" indent="-457200">
              <a:buFontTx/>
              <a:buChar char="-"/>
            </a:pPr>
            <a:r>
              <a:rPr lang="es-CO" sz="2000" b="1" dirty="0"/>
              <a:t>Claves candidatas: </a:t>
            </a:r>
            <a:r>
              <a:rPr lang="es-CO" sz="2000" dirty="0"/>
              <a:t>combinación de atributos que conforman posibles claves.</a:t>
            </a:r>
          </a:p>
          <a:p>
            <a:endParaRPr lang="es-CO" sz="2000" dirty="0"/>
          </a:p>
          <a:p>
            <a:pPr marL="457200" indent="-457200">
              <a:buFontTx/>
              <a:buChar char="-"/>
            </a:pPr>
            <a:r>
              <a:rPr lang="es-CO" sz="2000" b="1" dirty="0"/>
              <a:t>Clave primaria: </a:t>
            </a:r>
            <a:r>
              <a:rPr lang="es-CO" sz="2000" dirty="0"/>
              <a:t>clave candidata que ha elegido el diseñador como medio principal para la identificación de las tuplas de una relación. Atributo que nunca se debe modificar. Por ejemplo número de identificación.</a:t>
            </a:r>
          </a:p>
          <a:p>
            <a:endParaRPr lang="es-CO" sz="2000" dirty="0"/>
          </a:p>
          <a:p>
            <a:pPr marL="457200" indent="-457200">
              <a:buFontTx/>
              <a:buChar char="-"/>
            </a:pPr>
            <a:r>
              <a:rPr lang="es-CO" sz="2000" b="1" dirty="0"/>
              <a:t>Clave externa: </a:t>
            </a:r>
            <a:r>
              <a:rPr lang="es-CO" sz="2000" dirty="0"/>
              <a:t>cuando un esquema incluye entre sus atributos la clave primaria de otro esquema de relación.</a:t>
            </a:r>
          </a:p>
        </p:txBody>
      </p:sp>
    </p:spTree>
    <p:extLst>
      <p:ext uri="{BB962C8B-B14F-4D97-AF65-F5344CB8AC3E}">
        <p14:creationId xmlns:p14="http://schemas.microsoft.com/office/powerpoint/2010/main" val="246045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A97A1-B4C3-2EAD-58F7-3E7FCCCC90E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A7F888C-2E76-A633-1CA6-69A87162103D}"/>
              </a:ext>
            </a:extLst>
          </p:cNvPr>
          <p:cNvSpPr txBox="1"/>
          <p:nvPr/>
        </p:nvSpPr>
        <p:spPr>
          <a:xfrm>
            <a:off x="1076706" y="656552"/>
            <a:ext cx="9530334" cy="830997"/>
          </a:xfrm>
          <a:prstGeom prst="rect">
            <a:avLst/>
          </a:prstGeom>
          <a:noFill/>
        </p:spPr>
        <p:txBody>
          <a:bodyPr wrap="square" rtlCol="0">
            <a:spAutoFit/>
          </a:bodyPr>
          <a:lstStyle/>
          <a:p>
            <a:r>
              <a:rPr lang="es-CO" sz="2800" b="1" dirty="0"/>
              <a:t>Diagramas de esquema</a:t>
            </a:r>
          </a:p>
          <a:p>
            <a:endParaRPr lang="es-CO" sz="2000" dirty="0"/>
          </a:p>
        </p:txBody>
      </p:sp>
      <p:pic>
        <p:nvPicPr>
          <p:cNvPr id="3" name="Picture 2">
            <a:extLst>
              <a:ext uri="{FF2B5EF4-FFF2-40B4-BE49-F238E27FC236}">
                <a16:creationId xmlns:a16="http://schemas.microsoft.com/office/drawing/2014/main" id="{54A862C5-B288-4BFB-2775-873E03A4693F}"/>
              </a:ext>
            </a:extLst>
          </p:cNvPr>
          <p:cNvPicPr>
            <a:picLocks noChangeAspect="1"/>
          </p:cNvPicPr>
          <p:nvPr/>
        </p:nvPicPr>
        <p:blipFill>
          <a:blip r:embed="rId2"/>
          <a:stretch>
            <a:fillRect/>
          </a:stretch>
        </p:blipFill>
        <p:spPr>
          <a:xfrm>
            <a:off x="1147072" y="1676059"/>
            <a:ext cx="9897856" cy="4877481"/>
          </a:xfrm>
          <a:prstGeom prst="rect">
            <a:avLst/>
          </a:prstGeom>
        </p:spPr>
      </p:pic>
    </p:spTree>
    <p:extLst>
      <p:ext uri="{BB962C8B-B14F-4D97-AF65-F5344CB8AC3E}">
        <p14:creationId xmlns:p14="http://schemas.microsoft.com/office/powerpoint/2010/main" val="20971065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20505</TotalTime>
  <Words>3818</Words>
  <Application>Microsoft Office PowerPoint</Application>
  <PresentationFormat>Widescreen</PresentationFormat>
  <Paragraphs>372</Paragraphs>
  <Slides>55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55</vt:i4>
      </vt:variant>
    </vt:vector>
  </HeadingPairs>
  <TitlesOfParts>
    <vt:vector size="60" baseType="lpstr">
      <vt:lpstr>Aptos</vt:lpstr>
      <vt:lpstr>Aptos Display</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Jorge Mario Becerra Pareja</dc:creator>
  <cp:lastModifiedBy>Jorge Mario Becerra Pareja</cp:lastModifiedBy>
  <cp:revision>140</cp:revision>
  <dcterms:created xsi:type="dcterms:W3CDTF">2025-03-22T21:56:45Z</dcterms:created>
  <dcterms:modified xsi:type="dcterms:W3CDTF">2025-09-02T06:50:52Z</dcterms:modified>
</cp:coreProperties>
</file>