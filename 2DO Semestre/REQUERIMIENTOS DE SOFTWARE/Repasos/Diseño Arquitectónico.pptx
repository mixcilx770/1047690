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860E-95E1-A378-7F2A-FE73B36C74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065A20-2432-196C-2CF2-FFFC8FE048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1BC791-3AAA-5E92-CA3A-E8265F639BF5}"/>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5" name="Footer Placeholder 4">
            <a:extLst>
              <a:ext uri="{FF2B5EF4-FFF2-40B4-BE49-F238E27FC236}">
                <a16:creationId xmlns:a16="http://schemas.microsoft.com/office/drawing/2014/main" id="{F26ECF84-F8EB-AB92-B210-3CCBB27D33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E29A7-A1B2-ECBB-A92F-2C4F6B45C132}"/>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466189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EDB6-08E4-976C-E407-78077DF3D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95654B-16C7-354A-1BE6-12AB07BFD2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45CD00-CEC0-C436-D514-71D9BF8F51D6}"/>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5" name="Footer Placeholder 4">
            <a:extLst>
              <a:ext uri="{FF2B5EF4-FFF2-40B4-BE49-F238E27FC236}">
                <a16:creationId xmlns:a16="http://schemas.microsoft.com/office/drawing/2014/main" id="{8A312E77-F970-B63C-12EB-0641E52988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A52C1A-CE50-8182-906C-03FFD765D11B}"/>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1134819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88187-ABA7-7777-C7B7-5D5FEE2DC4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ADD187-9DDC-BFD4-1BFE-B07D2F0BD9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EE585A-7E96-11A3-9CF5-BC1D8C91451A}"/>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5" name="Footer Placeholder 4">
            <a:extLst>
              <a:ext uri="{FF2B5EF4-FFF2-40B4-BE49-F238E27FC236}">
                <a16:creationId xmlns:a16="http://schemas.microsoft.com/office/drawing/2014/main" id="{9A286F06-77D6-6D81-B8F3-670A58665F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F52DD-FEB0-1D8D-FE4B-9CADEC407249}"/>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2203029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B6F4-BA63-04CE-86DE-0AF16BA78E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84DF14-8BC9-21BE-A18E-60FCD7CC94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94B345-3E56-B129-2FD3-506E0D0011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04BECB-1193-1552-1047-D4ACD45C8BF9}"/>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6" name="Footer Placeholder 5">
            <a:extLst>
              <a:ext uri="{FF2B5EF4-FFF2-40B4-BE49-F238E27FC236}">
                <a16:creationId xmlns:a16="http://schemas.microsoft.com/office/drawing/2014/main" id="{3CA7E135-054A-7CFC-8BC7-5DD4BE731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E6920D-64EC-5E99-E39A-A444B51C474E}"/>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3963210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DD336-B885-D0E2-34B2-A4DF4959B6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E5F6F8-DBE4-6B96-28A0-F1AD3B0FD9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EBC404-0553-AB21-11C8-EA1E848DB6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E14111-516C-3602-79EA-6E87DCF0F4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82C4FE-AB76-0752-C533-7196F07EC1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059F35-E122-1C26-7E95-FC216797585A}"/>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8" name="Footer Placeholder 7">
            <a:extLst>
              <a:ext uri="{FF2B5EF4-FFF2-40B4-BE49-F238E27FC236}">
                <a16:creationId xmlns:a16="http://schemas.microsoft.com/office/drawing/2014/main" id="{7A942AE5-6016-F2E5-1F8D-0E3FF9205D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C2D536-4A57-C014-948D-4D24F4C2E801}"/>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631550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2C3F-BCB3-C998-AF41-E23B7753BB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1EE83F-FEB5-40A7-9066-931727910878}"/>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4" name="Footer Placeholder 3">
            <a:extLst>
              <a:ext uri="{FF2B5EF4-FFF2-40B4-BE49-F238E27FC236}">
                <a16:creationId xmlns:a16="http://schemas.microsoft.com/office/drawing/2014/main" id="{A654E0CD-7AB2-E914-17FB-7E5C70E60B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B3094C-8BB2-D240-FFBB-7FF6E6B31495}"/>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121959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273BE5-9B79-DDF9-62A1-192B04B0C521}"/>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3" name="Footer Placeholder 2">
            <a:extLst>
              <a:ext uri="{FF2B5EF4-FFF2-40B4-BE49-F238E27FC236}">
                <a16:creationId xmlns:a16="http://schemas.microsoft.com/office/drawing/2014/main" id="{633801D5-1209-64F1-CCD6-620945225C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4D5DCB-ABEF-0D19-D5D5-251B4E580DF5}"/>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4042916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78871-663D-AB69-6B0D-61066CC7D2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12B555-5BAF-B96C-F377-DBE29F3D49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3E65C6-A4D4-EAC4-B279-41C57B8BD4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24A3A5-2360-9F00-521E-26DCDE3A98E9}"/>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6" name="Footer Placeholder 5">
            <a:extLst>
              <a:ext uri="{FF2B5EF4-FFF2-40B4-BE49-F238E27FC236}">
                <a16:creationId xmlns:a16="http://schemas.microsoft.com/office/drawing/2014/main" id="{0D42EF53-B16A-59F0-5ACE-FECBAF6A43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D0D16D-BB37-767C-1C11-AA15851AF81C}"/>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1860554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87DA-5945-A63A-1768-C9894130F8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5612BF-1643-0AB5-0BF4-FE659AB365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53432C-30ED-F659-FA42-46878B56F0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F57942-54DE-F28E-3409-2D4A22190308}"/>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6" name="Footer Placeholder 5">
            <a:extLst>
              <a:ext uri="{FF2B5EF4-FFF2-40B4-BE49-F238E27FC236}">
                <a16:creationId xmlns:a16="http://schemas.microsoft.com/office/drawing/2014/main" id="{231363E0-5554-FABD-FBAA-93111A1B1F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66FA84-B2F3-C7CD-AAAE-FC28CB32BA0F}"/>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1036754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0AD3C-9E22-D8F7-028C-E095FE85B4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42D283-6B53-85F2-AE34-C6561A1FDE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9067B-8D21-85C0-1321-F900F111B1C2}"/>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5" name="Footer Placeholder 4">
            <a:extLst>
              <a:ext uri="{FF2B5EF4-FFF2-40B4-BE49-F238E27FC236}">
                <a16:creationId xmlns:a16="http://schemas.microsoft.com/office/drawing/2014/main" id="{67BD8055-0F42-9293-FB22-AEE92D1A1B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62035-1932-A403-33B8-8B60129E7BFC}"/>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3361844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BDBCBC-B28D-F2F7-256A-731C98EB43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38707A-A0F9-4786-3FDB-51FD28905F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E42289-56DD-442B-BA0D-A9CB62237F4D}"/>
              </a:ext>
            </a:extLst>
          </p:cNvPr>
          <p:cNvSpPr>
            <a:spLocks noGrp="1"/>
          </p:cNvSpPr>
          <p:nvPr>
            <p:ph type="dt" sz="half" idx="10"/>
          </p:nvPr>
        </p:nvSpPr>
        <p:spPr/>
        <p:txBody>
          <a:bodyPr/>
          <a:lstStyle/>
          <a:p>
            <a:fld id="{8DC488B7-048F-4B47-85AE-FC195EA70EFD}" type="datetimeFigureOut">
              <a:rPr lang="en-US" smtClean="0"/>
              <a:t>11/17/2025</a:t>
            </a:fld>
            <a:endParaRPr lang="en-US"/>
          </a:p>
        </p:txBody>
      </p:sp>
      <p:sp>
        <p:nvSpPr>
          <p:cNvPr id="5" name="Footer Placeholder 4">
            <a:extLst>
              <a:ext uri="{FF2B5EF4-FFF2-40B4-BE49-F238E27FC236}">
                <a16:creationId xmlns:a16="http://schemas.microsoft.com/office/drawing/2014/main" id="{46AED8F1-D53B-A39E-E15C-E90E9F13A5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1767C3-D90C-D853-7C45-E6B557CC5072}"/>
              </a:ext>
            </a:extLst>
          </p:cNvPr>
          <p:cNvSpPr>
            <a:spLocks noGrp="1"/>
          </p:cNvSpPr>
          <p:nvPr>
            <p:ph type="sldNum" sz="quarter" idx="12"/>
          </p:nvPr>
        </p:nvSpPr>
        <p:spPr/>
        <p:txBody>
          <a:bodyPr/>
          <a:lstStyle/>
          <a:p>
            <a:fld id="{D5122F44-BC95-4275-AA79-21C6C99F4CBD}" type="slidenum">
              <a:rPr lang="en-US" smtClean="0"/>
              <a:t>‹#›</a:t>
            </a:fld>
            <a:endParaRPr lang="en-US"/>
          </a:p>
        </p:txBody>
      </p:sp>
    </p:spTree>
    <p:extLst>
      <p:ext uri="{BB962C8B-B14F-4D97-AF65-F5344CB8AC3E}">
        <p14:creationId xmlns:p14="http://schemas.microsoft.com/office/powerpoint/2010/main" val="1706575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825569-96F0-7484-9EE0-462B51BC87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CB3436-1EB8-C0F0-C4C0-F0C4BFE93F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89A66-126B-B405-6B3C-275E2A2CE4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C488B7-048F-4B47-85AE-FC195EA70EFD}" type="datetimeFigureOut">
              <a:rPr lang="en-US" smtClean="0"/>
              <a:t>11/17/2025</a:t>
            </a:fld>
            <a:endParaRPr lang="en-US"/>
          </a:p>
        </p:txBody>
      </p:sp>
      <p:sp>
        <p:nvSpPr>
          <p:cNvPr id="5" name="Footer Placeholder 4">
            <a:extLst>
              <a:ext uri="{FF2B5EF4-FFF2-40B4-BE49-F238E27FC236}">
                <a16:creationId xmlns:a16="http://schemas.microsoft.com/office/drawing/2014/main" id="{9A454FAC-948F-3B47-111A-98D8DEE2C4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79BA3B-DBC8-938A-1042-EACEA16942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122F44-BC95-4275-AA79-21C6C99F4CBD}" type="slidenum">
              <a:rPr lang="en-US" smtClean="0"/>
              <a:t>‹#›</a:t>
            </a:fld>
            <a:endParaRPr lang="en-US"/>
          </a:p>
        </p:txBody>
      </p:sp>
    </p:spTree>
    <p:extLst>
      <p:ext uri="{BB962C8B-B14F-4D97-AF65-F5344CB8AC3E}">
        <p14:creationId xmlns:p14="http://schemas.microsoft.com/office/powerpoint/2010/main" val="172734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1A2784-800D-EAA0-05D1-0B08321159B1}"/>
              </a:ext>
            </a:extLst>
          </p:cNvPr>
          <p:cNvSpPr txBox="1"/>
          <p:nvPr/>
        </p:nvSpPr>
        <p:spPr>
          <a:xfrm>
            <a:off x="1362075" y="1390650"/>
            <a:ext cx="9220200" cy="2246769"/>
          </a:xfrm>
          <a:prstGeom prst="rect">
            <a:avLst/>
          </a:prstGeom>
          <a:noFill/>
        </p:spPr>
        <p:txBody>
          <a:bodyPr wrap="square" rtlCol="0">
            <a:spAutoFit/>
          </a:bodyPr>
          <a:lstStyle/>
          <a:p>
            <a:r>
              <a:rPr lang="es-CO" sz="2800" b="1" dirty="0"/>
              <a:t>Diseño arquitectónico</a:t>
            </a:r>
          </a:p>
          <a:p>
            <a:endParaRPr lang="es-CO" sz="2800" b="1" dirty="0"/>
          </a:p>
          <a:p>
            <a:r>
              <a:rPr lang="es-CO" sz="2800" b="1" dirty="0"/>
              <a:t>Bibliografía</a:t>
            </a:r>
          </a:p>
          <a:p>
            <a:endParaRPr lang="es-CO" sz="2800" b="1" dirty="0"/>
          </a:p>
          <a:p>
            <a:r>
              <a:rPr lang="es-CO" sz="2800" b="1" dirty="0"/>
              <a:t>Ingeniería de software de Ian Sommerville. 9na edición</a:t>
            </a:r>
            <a:endParaRPr lang="en-US" sz="2800" b="1" dirty="0"/>
          </a:p>
        </p:txBody>
      </p:sp>
    </p:spTree>
    <p:extLst>
      <p:ext uri="{BB962C8B-B14F-4D97-AF65-F5344CB8AC3E}">
        <p14:creationId xmlns:p14="http://schemas.microsoft.com/office/powerpoint/2010/main" val="3485601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2AB50-7B9B-A82E-9082-EE2493DD2F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E2861D6-2C88-8B27-40AD-5D4A5A844A69}"/>
              </a:ext>
            </a:extLst>
          </p:cNvPr>
          <p:cNvSpPr txBox="1"/>
          <p:nvPr/>
        </p:nvSpPr>
        <p:spPr>
          <a:xfrm>
            <a:off x="923162" y="696158"/>
            <a:ext cx="10067925" cy="4278094"/>
          </a:xfrm>
          <a:prstGeom prst="rect">
            <a:avLst/>
          </a:prstGeom>
          <a:noFill/>
        </p:spPr>
        <p:txBody>
          <a:bodyPr wrap="square" rtlCol="0">
            <a:spAutoFit/>
          </a:bodyPr>
          <a:lstStyle/>
          <a:p>
            <a:r>
              <a:rPr lang="es-CO" sz="2800" b="1" dirty="0"/>
              <a:t>Diseño arquitectónico</a:t>
            </a:r>
          </a:p>
          <a:p>
            <a:endParaRPr lang="es-CO" sz="2800" b="1" dirty="0"/>
          </a:p>
          <a:p>
            <a:r>
              <a:rPr lang="es-ES" sz="2400" dirty="0"/>
              <a:t>El diseño arquitectónico se interesa por entender cómo debe organizarse un sistema y cómo tiene que diseñarse la estructura global de ese sistema. En el modelo del proceso de desarrollo de software, el diseño arquitectónico es la primera etapa en el proceso de diseño del software. Es el enlace crucial entre el diseño y la ingeniería de requerimientos, ya que identifica los principales componentes estructurales en un sistema y la relación entre ellos. La salida del proceso de diseño arquitectónico consiste en un modelo arquitectónico que describe la forma en que se organiza el sistema como un conjunto de componentes en comunicación.</a:t>
            </a:r>
            <a:endParaRPr lang="es-CO" sz="2400" b="1" dirty="0"/>
          </a:p>
        </p:txBody>
      </p:sp>
    </p:spTree>
    <p:extLst>
      <p:ext uri="{BB962C8B-B14F-4D97-AF65-F5344CB8AC3E}">
        <p14:creationId xmlns:p14="http://schemas.microsoft.com/office/powerpoint/2010/main" val="896201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4CB80-5192-C3BD-BC35-4934816462A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285F1A-8AFE-9346-4E7F-D7FA5AA9F38D}"/>
              </a:ext>
            </a:extLst>
          </p:cNvPr>
          <p:cNvSpPr txBox="1"/>
          <p:nvPr/>
        </p:nvSpPr>
        <p:spPr>
          <a:xfrm>
            <a:off x="538352" y="229814"/>
            <a:ext cx="5358765" cy="5693866"/>
          </a:xfrm>
          <a:prstGeom prst="rect">
            <a:avLst/>
          </a:prstGeom>
          <a:noFill/>
        </p:spPr>
        <p:txBody>
          <a:bodyPr wrap="square" rtlCol="0">
            <a:spAutoFit/>
          </a:bodyPr>
          <a:lstStyle/>
          <a:p>
            <a:r>
              <a:rPr lang="es-CO" sz="2800" b="1" dirty="0"/>
              <a:t>Ejemplo de arquitectura del sistema</a:t>
            </a:r>
          </a:p>
          <a:p>
            <a:endParaRPr lang="es-CO" sz="2800" b="1" dirty="0"/>
          </a:p>
          <a:p>
            <a:r>
              <a:rPr lang="en-US" sz="2000" dirty="0"/>
              <a:t>Modelo abstracto de la arquitectura para un </a:t>
            </a:r>
            <a:r>
              <a:rPr lang="es-ES" sz="2000" dirty="0"/>
              <a:t>sistema de robot empacador, que indica los componentes que tienen que desarrollarse. Este sistema robótico empaca diferentes clases de objetos. Usa un componente de visión para recoger los objetos de una banda transportadora, identifica la clase de objeto y selecciona el tipo correcto de empaque. Luego, el sistema mueve los objetos que va a empacar de la banda transportadora de entrega y coloca los objetos empacados en otro transportador. El modelo arquitectónico presenta dichos componentes y los vínculos </a:t>
            </a:r>
            <a:r>
              <a:rPr lang="en-US" sz="2000" dirty="0"/>
              <a:t>entre </a:t>
            </a:r>
            <a:r>
              <a:rPr lang="en-US" sz="2000" dirty="0" err="1"/>
              <a:t>ellos</a:t>
            </a:r>
            <a:r>
              <a:rPr lang="en-US" sz="2000" dirty="0"/>
              <a:t>.</a:t>
            </a:r>
            <a:endParaRPr lang="es-CO" sz="2000" dirty="0"/>
          </a:p>
        </p:txBody>
      </p:sp>
      <p:pic>
        <p:nvPicPr>
          <p:cNvPr id="3" name="Picture 2">
            <a:extLst>
              <a:ext uri="{FF2B5EF4-FFF2-40B4-BE49-F238E27FC236}">
                <a16:creationId xmlns:a16="http://schemas.microsoft.com/office/drawing/2014/main" id="{5EEDBE8C-5846-804E-D7C4-E1F9071EFA40}"/>
              </a:ext>
            </a:extLst>
          </p:cNvPr>
          <p:cNvPicPr>
            <a:picLocks noChangeAspect="1"/>
          </p:cNvPicPr>
          <p:nvPr/>
        </p:nvPicPr>
        <p:blipFill>
          <a:blip r:embed="rId2"/>
          <a:stretch>
            <a:fillRect/>
          </a:stretch>
        </p:blipFill>
        <p:spPr>
          <a:xfrm>
            <a:off x="6294885" y="1054994"/>
            <a:ext cx="5809488" cy="4240652"/>
          </a:xfrm>
          <a:prstGeom prst="rect">
            <a:avLst/>
          </a:prstGeom>
        </p:spPr>
      </p:pic>
    </p:spTree>
    <p:extLst>
      <p:ext uri="{BB962C8B-B14F-4D97-AF65-F5344CB8AC3E}">
        <p14:creationId xmlns:p14="http://schemas.microsoft.com/office/powerpoint/2010/main" val="4177994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DC471-912B-B10E-FDD9-DA6AF8AEB5F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4E7FCE0-24D5-9A1E-CFC0-242A4950D1A4}"/>
              </a:ext>
            </a:extLst>
          </p:cNvPr>
          <p:cNvPicPr>
            <a:picLocks noChangeAspect="1"/>
          </p:cNvPicPr>
          <p:nvPr/>
        </p:nvPicPr>
        <p:blipFill>
          <a:blip r:embed="rId2"/>
          <a:stretch>
            <a:fillRect/>
          </a:stretch>
        </p:blipFill>
        <p:spPr>
          <a:xfrm>
            <a:off x="985124" y="2250873"/>
            <a:ext cx="10221751" cy="3801005"/>
          </a:xfrm>
          <a:prstGeom prst="rect">
            <a:avLst/>
          </a:prstGeom>
        </p:spPr>
      </p:pic>
      <p:sp>
        <p:nvSpPr>
          <p:cNvPr id="5" name="TextBox 4">
            <a:extLst>
              <a:ext uri="{FF2B5EF4-FFF2-40B4-BE49-F238E27FC236}">
                <a16:creationId xmlns:a16="http://schemas.microsoft.com/office/drawing/2014/main" id="{0751A9A6-9326-F2B9-4992-785F489937C3}"/>
              </a:ext>
            </a:extLst>
          </p:cNvPr>
          <p:cNvSpPr txBox="1"/>
          <p:nvPr/>
        </p:nvSpPr>
        <p:spPr>
          <a:xfrm>
            <a:off x="1133855" y="292608"/>
            <a:ext cx="9555481" cy="1446550"/>
          </a:xfrm>
          <a:prstGeom prst="rect">
            <a:avLst/>
          </a:prstGeom>
          <a:noFill/>
        </p:spPr>
        <p:txBody>
          <a:bodyPr wrap="square" rtlCol="0">
            <a:spAutoFit/>
          </a:bodyPr>
          <a:lstStyle/>
          <a:p>
            <a:r>
              <a:rPr lang="es-ES" sz="2800" b="1" dirty="0"/>
              <a:t>Arquitectura de software</a:t>
            </a:r>
          </a:p>
          <a:p>
            <a:endParaRPr lang="es-ES" sz="2000" dirty="0"/>
          </a:p>
          <a:p>
            <a:r>
              <a:rPr lang="es-ES" sz="2000" dirty="0"/>
              <a:t>La arquitectura de software se diseña en dos niveles de abstracción denominados:  </a:t>
            </a:r>
            <a:r>
              <a:rPr lang="es-ES" sz="2000" i="1" dirty="0"/>
              <a:t>arquitectura en pequeño </a:t>
            </a:r>
            <a:r>
              <a:rPr lang="es-ES" sz="2000" dirty="0"/>
              <a:t>y </a:t>
            </a:r>
            <a:r>
              <a:rPr lang="es-ES" sz="2000" i="1" dirty="0"/>
              <a:t>arquitectura en grande</a:t>
            </a:r>
            <a:r>
              <a:rPr lang="es-ES" sz="2000" dirty="0"/>
              <a:t>:</a:t>
            </a:r>
            <a:endParaRPr lang="en-US" sz="2000" dirty="0"/>
          </a:p>
        </p:txBody>
      </p:sp>
    </p:spTree>
    <p:extLst>
      <p:ext uri="{BB962C8B-B14F-4D97-AF65-F5344CB8AC3E}">
        <p14:creationId xmlns:p14="http://schemas.microsoft.com/office/powerpoint/2010/main" val="614153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32CE5-98E0-5C65-43AC-418DE0DF1CC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F11C77-F35B-715A-50C5-9F30EFC6C01E}"/>
              </a:ext>
            </a:extLst>
          </p:cNvPr>
          <p:cNvSpPr txBox="1"/>
          <p:nvPr/>
        </p:nvSpPr>
        <p:spPr>
          <a:xfrm>
            <a:off x="832103" y="310896"/>
            <a:ext cx="10222993" cy="5755422"/>
          </a:xfrm>
          <a:prstGeom prst="rect">
            <a:avLst/>
          </a:prstGeom>
          <a:noFill/>
        </p:spPr>
        <p:txBody>
          <a:bodyPr wrap="square" rtlCol="0">
            <a:spAutoFit/>
          </a:bodyPr>
          <a:lstStyle/>
          <a:p>
            <a:r>
              <a:rPr lang="es-ES" sz="2800" b="1" dirty="0"/>
              <a:t>Arquitectura de software</a:t>
            </a:r>
          </a:p>
          <a:p>
            <a:endParaRPr lang="es-ES" sz="2800" b="1" dirty="0"/>
          </a:p>
          <a:p>
            <a:r>
              <a:rPr lang="es-ES" sz="2400" dirty="0"/>
              <a:t>La arquitectura de software es importante porque afecta el desempeño y la potencia, así como la capacidad de distribución y mantenimiento de un sistema.</a:t>
            </a:r>
          </a:p>
          <a:p>
            <a:endParaRPr lang="es-ES" sz="2400" dirty="0"/>
          </a:p>
          <a:p>
            <a:r>
              <a:rPr lang="es-ES" sz="2400" dirty="0"/>
              <a:t>Los componentes individuales implementan los requerimientos funcionales del sistema. Los requerimientos no funcionales dependen de la arquitectura del sistema, es decir, la forma en que dichos componentes se organizan y comunican. En muchos sistemas, los requerimientos no funcionales están también influidos por componentes individuales, pero no hay duda de que la arquitectura del sistema es la influencia dominante.</a:t>
            </a:r>
          </a:p>
          <a:p>
            <a:endParaRPr lang="es-ES" sz="2400" dirty="0"/>
          </a:p>
          <a:p>
            <a:r>
              <a:rPr lang="es-ES" sz="2400" dirty="0"/>
              <a:t>Hay tres ventajas de diseñar y documentar de </a:t>
            </a:r>
            <a:r>
              <a:rPr lang="en-US" sz="2400" dirty="0"/>
              <a:t>manera explícita la arquitectura de software:</a:t>
            </a:r>
            <a:endParaRPr lang="es-ES" sz="2400" b="1" dirty="0"/>
          </a:p>
        </p:txBody>
      </p:sp>
    </p:spTree>
    <p:extLst>
      <p:ext uri="{BB962C8B-B14F-4D97-AF65-F5344CB8AC3E}">
        <p14:creationId xmlns:p14="http://schemas.microsoft.com/office/powerpoint/2010/main" val="75628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BE80B-B241-0139-C0F4-F99FD215FA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9439305-9CEA-1567-920C-08060F049CB9}"/>
              </a:ext>
            </a:extLst>
          </p:cNvPr>
          <p:cNvSpPr txBox="1"/>
          <p:nvPr/>
        </p:nvSpPr>
        <p:spPr>
          <a:xfrm>
            <a:off x="822959" y="210312"/>
            <a:ext cx="10222993" cy="523220"/>
          </a:xfrm>
          <a:prstGeom prst="rect">
            <a:avLst/>
          </a:prstGeom>
          <a:noFill/>
        </p:spPr>
        <p:txBody>
          <a:bodyPr wrap="square" rtlCol="0">
            <a:spAutoFit/>
          </a:bodyPr>
          <a:lstStyle/>
          <a:p>
            <a:r>
              <a:rPr lang="es-ES" sz="2800" b="1" dirty="0"/>
              <a:t>Arquitectura de software</a:t>
            </a:r>
          </a:p>
        </p:txBody>
      </p:sp>
      <p:pic>
        <p:nvPicPr>
          <p:cNvPr id="6" name="Picture 5">
            <a:extLst>
              <a:ext uri="{FF2B5EF4-FFF2-40B4-BE49-F238E27FC236}">
                <a16:creationId xmlns:a16="http://schemas.microsoft.com/office/drawing/2014/main" id="{CB25A834-8559-232C-6061-FD0FF93F960E}"/>
              </a:ext>
            </a:extLst>
          </p:cNvPr>
          <p:cNvPicPr>
            <a:picLocks noChangeAspect="1"/>
          </p:cNvPicPr>
          <p:nvPr/>
        </p:nvPicPr>
        <p:blipFill>
          <a:blip r:embed="rId2"/>
          <a:stretch>
            <a:fillRect/>
          </a:stretch>
        </p:blipFill>
        <p:spPr>
          <a:xfrm>
            <a:off x="680520" y="1209126"/>
            <a:ext cx="10136015" cy="5134692"/>
          </a:xfrm>
          <a:prstGeom prst="rect">
            <a:avLst/>
          </a:prstGeom>
        </p:spPr>
      </p:pic>
    </p:spTree>
    <p:extLst>
      <p:ext uri="{BB962C8B-B14F-4D97-AF65-F5344CB8AC3E}">
        <p14:creationId xmlns:p14="http://schemas.microsoft.com/office/powerpoint/2010/main" val="1005321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80355-CA2B-4311-B7DF-A3BB626FD29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72231E5-CD02-133E-1BBF-7E55896B6DD3}"/>
              </a:ext>
            </a:extLst>
          </p:cNvPr>
          <p:cNvSpPr txBox="1"/>
          <p:nvPr/>
        </p:nvSpPr>
        <p:spPr>
          <a:xfrm>
            <a:off x="722375" y="438912"/>
            <a:ext cx="9848089" cy="5386090"/>
          </a:xfrm>
          <a:prstGeom prst="rect">
            <a:avLst/>
          </a:prstGeom>
          <a:noFill/>
        </p:spPr>
        <p:txBody>
          <a:bodyPr wrap="square" rtlCol="0">
            <a:spAutoFit/>
          </a:bodyPr>
          <a:lstStyle/>
          <a:p>
            <a:r>
              <a:rPr lang="es-ES" sz="2800" b="1" dirty="0"/>
              <a:t>Decisiones en el diseño arquitectónico (1)</a:t>
            </a:r>
          </a:p>
          <a:p>
            <a:endParaRPr lang="es-ES" sz="2800" b="1" dirty="0"/>
          </a:p>
          <a:p>
            <a:r>
              <a:rPr lang="es-ES" sz="2400" dirty="0"/>
              <a:t>El diseño arquitectónico es un proceso creativo en el cual se diseña una organización del sistema que cubrirá los requerimientos funcionales y no funcionales de éste. Puesto que se trata de un proceso creativo, las actividades dentro del proceso dependen del tipo de sistema que se va a desarrollar, los antecedentes y la experiencia del arquitecto del sistema, así como de los requerimientos específicos del sistema.</a:t>
            </a:r>
          </a:p>
          <a:p>
            <a:endParaRPr lang="es-ES" sz="2400" dirty="0"/>
          </a:p>
          <a:p>
            <a:r>
              <a:rPr lang="es-ES" sz="2400" dirty="0"/>
              <a:t>Durante el proceso de diseño arquitectónico, los arquitectos del sistema deben tomar algunas decisiones estructurales que afectarán profundamente el sistema y su proceso de desarrollo. Con base en su conocimiento y experiencia, deben considerar las siguientes preguntas fundamentales sobre el sistema:</a:t>
            </a:r>
          </a:p>
        </p:txBody>
      </p:sp>
    </p:spTree>
    <p:extLst>
      <p:ext uri="{BB962C8B-B14F-4D97-AF65-F5344CB8AC3E}">
        <p14:creationId xmlns:p14="http://schemas.microsoft.com/office/powerpoint/2010/main" val="549267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397C3-ED1D-CEA5-DDF1-D3C2FE4BEB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734E8A3-EE82-AE46-339F-2CBC98E0D88E}"/>
              </a:ext>
            </a:extLst>
          </p:cNvPr>
          <p:cNvSpPr txBox="1"/>
          <p:nvPr/>
        </p:nvSpPr>
        <p:spPr>
          <a:xfrm>
            <a:off x="694943" y="292608"/>
            <a:ext cx="9848089" cy="523220"/>
          </a:xfrm>
          <a:prstGeom prst="rect">
            <a:avLst/>
          </a:prstGeom>
          <a:noFill/>
        </p:spPr>
        <p:txBody>
          <a:bodyPr wrap="square" rtlCol="0">
            <a:spAutoFit/>
          </a:bodyPr>
          <a:lstStyle/>
          <a:p>
            <a:r>
              <a:rPr lang="es-ES" sz="2800" b="1" dirty="0"/>
              <a:t>Decisiones en el diseño arquitectónico (2)</a:t>
            </a:r>
          </a:p>
        </p:txBody>
      </p:sp>
      <p:pic>
        <p:nvPicPr>
          <p:cNvPr id="3" name="Picture 2">
            <a:extLst>
              <a:ext uri="{FF2B5EF4-FFF2-40B4-BE49-F238E27FC236}">
                <a16:creationId xmlns:a16="http://schemas.microsoft.com/office/drawing/2014/main" id="{85C6F449-A954-2EFE-6453-DC9E22AD7F20}"/>
              </a:ext>
            </a:extLst>
          </p:cNvPr>
          <p:cNvPicPr>
            <a:picLocks noChangeAspect="1"/>
          </p:cNvPicPr>
          <p:nvPr/>
        </p:nvPicPr>
        <p:blipFill>
          <a:blip r:embed="rId2"/>
          <a:stretch>
            <a:fillRect/>
          </a:stretch>
        </p:blipFill>
        <p:spPr>
          <a:xfrm>
            <a:off x="863400" y="1169730"/>
            <a:ext cx="10136015" cy="5029902"/>
          </a:xfrm>
          <a:prstGeom prst="rect">
            <a:avLst/>
          </a:prstGeom>
        </p:spPr>
      </p:pic>
    </p:spTree>
    <p:extLst>
      <p:ext uri="{BB962C8B-B14F-4D97-AF65-F5344CB8AC3E}">
        <p14:creationId xmlns:p14="http://schemas.microsoft.com/office/powerpoint/2010/main" val="2741149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377FF-CE0A-D964-77C3-8045D739FCB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F78FD0-497C-C53E-9842-B846027F79B9}"/>
              </a:ext>
            </a:extLst>
          </p:cNvPr>
          <p:cNvSpPr txBox="1"/>
          <p:nvPr/>
        </p:nvSpPr>
        <p:spPr>
          <a:xfrm>
            <a:off x="694943" y="539496"/>
            <a:ext cx="9848089" cy="523220"/>
          </a:xfrm>
          <a:prstGeom prst="rect">
            <a:avLst/>
          </a:prstGeom>
          <a:noFill/>
        </p:spPr>
        <p:txBody>
          <a:bodyPr wrap="square" rtlCol="0">
            <a:spAutoFit/>
          </a:bodyPr>
          <a:lstStyle/>
          <a:p>
            <a:r>
              <a:rPr lang="es-ES" sz="2800" b="1" dirty="0"/>
              <a:t>Decisiones en el diseño arquitectónico (3)</a:t>
            </a:r>
          </a:p>
        </p:txBody>
      </p:sp>
      <p:pic>
        <p:nvPicPr>
          <p:cNvPr id="7" name="Picture 6">
            <a:extLst>
              <a:ext uri="{FF2B5EF4-FFF2-40B4-BE49-F238E27FC236}">
                <a16:creationId xmlns:a16="http://schemas.microsoft.com/office/drawing/2014/main" id="{A721955D-E87A-9E74-C8A6-1D0A6DB75327}"/>
              </a:ext>
            </a:extLst>
          </p:cNvPr>
          <p:cNvPicPr>
            <a:picLocks noChangeAspect="1"/>
          </p:cNvPicPr>
          <p:nvPr/>
        </p:nvPicPr>
        <p:blipFill>
          <a:blip r:embed="rId2"/>
          <a:stretch>
            <a:fillRect/>
          </a:stretch>
        </p:blipFill>
        <p:spPr>
          <a:xfrm>
            <a:off x="694943" y="1763102"/>
            <a:ext cx="10836884" cy="2562009"/>
          </a:xfrm>
          <a:prstGeom prst="rect">
            <a:avLst/>
          </a:prstGeom>
        </p:spPr>
      </p:pic>
    </p:spTree>
    <p:extLst>
      <p:ext uri="{BB962C8B-B14F-4D97-AF65-F5344CB8AC3E}">
        <p14:creationId xmlns:p14="http://schemas.microsoft.com/office/powerpoint/2010/main" val="2663255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AF52-F85B-DF54-37E5-90D82D282D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75120E-6695-F061-4E6B-CDD177DF6A70}"/>
              </a:ext>
            </a:extLst>
          </p:cNvPr>
          <p:cNvSpPr txBox="1"/>
          <p:nvPr/>
        </p:nvSpPr>
        <p:spPr>
          <a:xfrm>
            <a:off x="694943" y="539496"/>
            <a:ext cx="9848089" cy="523220"/>
          </a:xfrm>
          <a:prstGeom prst="rect">
            <a:avLst/>
          </a:prstGeom>
          <a:noFill/>
        </p:spPr>
        <p:txBody>
          <a:bodyPr wrap="square" rtlCol="0">
            <a:spAutoFit/>
          </a:bodyPr>
          <a:lstStyle/>
          <a:p>
            <a:r>
              <a:rPr lang="es-ES" sz="2800" b="1" dirty="0"/>
              <a:t>Decisiones en el diseño arquitectónico (4)</a:t>
            </a:r>
          </a:p>
        </p:txBody>
      </p:sp>
      <p:pic>
        <p:nvPicPr>
          <p:cNvPr id="3" name="Picture 2">
            <a:extLst>
              <a:ext uri="{FF2B5EF4-FFF2-40B4-BE49-F238E27FC236}">
                <a16:creationId xmlns:a16="http://schemas.microsoft.com/office/drawing/2014/main" id="{40CF8E8C-4D13-2D74-1ED7-7C77544F9E80}"/>
              </a:ext>
            </a:extLst>
          </p:cNvPr>
          <p:cNvPicPr>
            <a:picLocks noChangeAspect="1"/>
          </p:cNvPicPr>
          <p:nvPr/>
        </p:nvPicPr>
        <p:blipFill>
          <a:blip r:embed="rId2"/>
          <a:stretch>
            <a:fillRect/>
          </a:stretch>
        </p:blipFill>
        <p:spPr>
          <a:xfrm>
            <a:off x="763581" y="1475019"/>
            <a:ext cx="10097909" cy="3048425"/>
          </a:xfrm>
          <a:prstGeom prst="rect">
            <a:avLst/>
          </a:prstGeom>
        </p:spPr>
      </p:pic>
    </p:spTree>
    <p:extLst>
      <p:ext uri="{BB962C8B-B14F-4D97-AF65-F5344CB8AC3E}">
        <p14:creationId xmlns:p14="http://schemas.microsoft.com/office/powerpoint/2010/main" val="1788206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80AD9-F800-0C14-C5A1-6DD7257144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3EE2CDB-BEA4-80F8-10D8-F0A0FE0F1D37}"/>
              </a:ext>
            </a:extLst>
          </p:cNvPr>
          <p:cNvSpPr txBox="1"/>
          <p:nvPr/>
        </p:nvSpPr>
        <p:spPr>
          <a:xfrm>
            <a:off x="694943" y="539496"/>
            <a:ext cx="9848089" cy="523220"/>
          </a:xfrm>
          <a:prstGeom prst="rect">
            <a:avLst/>
          </a:prstGeom>
          <a:noFill/>
        </p:spPr>
        <p:txBody>
          <a:bodyPr wrap="square" rtlCol="0">
            <a:spAutoFit/>
          </a:bodyPr>
          <a:lstStyle/>
          <a:p>
            <a:r>
              <a:rPr lang="es-ES" sz="2800" b="1" dirty="0"/>
              <a:t>Decisiones en el diseño arquitectónico (5)</a:t>
            </a:r>
          </a:p>
        </p:txBody>
      </p:sp>
      <p:pic>
        <p:nvPicPr>
          <p:cNvPr id="4" name="Picture 3">
            <a:extLst>
              <a:ext uri="{FF2B5EF4-FFF2-40B4-BE49-F238E27FC236}">
                <a16:creationId xmlns:a16="http://schemas.microsoft.com/office/drawing/2014/main" id="{42D4BA85-C958-95F3-30CB-807AC3A1F8E2}"/>
              </a:ext>
            </a:extLst>
          </p:cNvPr>
          <p:cNvPicPr>
            <a:picLocks noChangeAspect="1"/>
          </p:cNvPicPr>
          <p:nvPr/>
        </p:nvPicPr>
        <p:blipFill>
          <a:blip r:embed="rId2"/>
          <a:stretch>
            <a:fillRect/>
          </a:stretch>
        </p:blipFill>
        <p:spPr>
          <a:xfrm>
            <a:off x="694943" y="1328444"/>
            <a:ext cx="10078857" cy="4201111"/>
          </a:xfrm>
          <a:prstGeom prst="rect">
            <a:avLst/>
          </a:prstGeom>
        </p:spPr>
      </p:pic>
    </p:spTree>
    <p:extLst>
      <p:ext uri="{BB962C8B-B14F-4D97-AF65-F5344CB8AC3E}">
        <p14:creationId xmlns:p14="http://schemas.microsoft.com/office/powerpoint/2010/main" val="1688933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159A1-0402-2FB6-2BF1-B58DFEF12B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F6DDC8C-A868-861A-7A37-5E0F62A22AF8}"/>
              </a:ext>
            </a:extLst>
          </p:cNvPr>
          <p:cNvSpPr txBox="1"/>
          <p:nvPr/>
        </p:nvSpPr>
        <p:spPr>
          <a:xfrm>
            <a:off x="694943" y="539496"/>
            <a:ext cx="9848089" cy="523220"/>
          </a:xfrm>
          <a:prstGeom prst="rect">
            <a:avLst/>
          </a:prstGeom>
          <a:noFill/>
        </p:spPr>
        <p:txBody>
          <a:bodyPr wrap="square" rtlCol="0">
            <a:spAutoFit/>
          </a:bodyPr>
          <a:lstStyle/>
          <a:p>
            <a:r>
              <a:rPr lang="es-ES" sz="2800" b="1" dirty="0"/>
              <a:t>Decisiones en el diseño arquitectónico (6)</a:t>
            </a:r>
          </a:p>
        </p:txBody>
      </p:sp>
      <p:pic>
        <p:nvPicPr>
          <p:cNvPr id="3" name="Picture 2">
            <a:extLst>
              <a:ext uri="{FF2B5EF4-FFF2-40B4-BE49-F238E27FC236}">
                <a16:creationId xmlns:a16="http://schemas.microsoft.com/office/drawing/2014/main" id="{34579326-02CA-911E-C950-BB3068E586E1}"/>
              </a:ext>
            </a:extLst>
          </p:cNvPr>
          <p:cNvPicPr>
            <a:picLocks noChangeAspect="1"/>
          </p:cNvPicPr>
          <p:nvPr/>
        </p:nvPicPr>
        <p:blipFill>
          <a:blip r:embed="rId2"/>
          <a:stretch>
            <a:fillRect/>
          </a:stretch>
        </p:blipFill>
        <p:spPr>
          <a:xfrm>
            <a:off x="795776" y="1398888"/>
            <a:ext cx="10088383" cy="4791744"/>
          </a:xfrm>
          <a:prstGeom prst="rect">
            <a:avLst/>
          </a:prstGeom>
        </p:spPr>
      </p:pic>
    </p:spTree>
    <p:extLst>
      <p:ext uri="{BB962C8B-B14F-4D97-AF65-F5344CB8AC3E}">
        <p14:creationId xmlns:p14="http://schemas.microsoft.com/office/powerpoint/2010/main" val="1732855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793C0-3785-A54D-804F-87F83D37C84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477128-DBA1-B7A6-BE1C-E31B83D8C20B}"/>
              </a:ext>
            </a:extLst>
          </p:cNvPr>
          <p:cNvSpPr txBox="1"/>
          <p:nvPr/>
        </p:nvSpPr>
        <p:spPr>
          <a:xfrm>
            <a:off x="603503" y="502920"/>
            <a:ext cx="9848089" cy="523220"/>
          </a:xfrm>
          <a:prstGeom prst="rect">
            <a:avLst/>
          </a:prstGeom>
          <a:noFill/>
        </p:spPr>
        <p:txBody>
          <a:bodyPr wrap="square" rtlCol="0">
            <a:spAutoFit/>
          </a:bodyPr>
          <a:lstStyle/>
          <a:p>
            <a:r>
              <a:rPr lang="es-ES" sz="2800" b="1" dirty="0"/>
              <a:t>Vistas arquitectónicas (1)</a:t>
            </a:r>
          </a:p>
        </p:txBody>
      </p:sp>
      <p:pic>
        <p:nvPicPr>
          <p:cNvPr id="4" name="Picture 3">
            <a:extLst>
              <a:ext uri="{FF2B5EF4-FFF2-40B4-BE49-F238E27FC236}">
                <a16:creationId xmlns:a16="http://schemas.microsoft.com/office/drawing/2014/main" id="{F2CBA198-14EF-9436-5F05-3AD3B343DA6B}"/>
              </a:ext>
            </a:extLst>
          </p:cNvPr>
          <p:cNvPicPr>
            <a:picLocks noChangeAspect="1"/>
          </p:cNvPicPr>
          <p:nvPr/>
        </p:nvPicPr>
        <p:blipFill>
          <a:blip r:embed="rId2"/>
          <a:stretch>
            <a:fillRect/>
          </a:stretch>
        </p:blipFill>
        <p:spPr>
          <a:xfrm>
            <a:off x="694943" y="1471339"/>
            <a:ext cx="10193173" cy="3915321"/>
          </a:xfrm>
          <a:prstGeom prst="rect">
            <a:avLst/>
          </a:prstGeom>
        </p:spPr>
      </p:pic>
    </p:spTree>
    <p:extLst>
      <p:ext uri="{BB962C8B-B14F-4D97-AF65-F5344CB8AC3E}">
        <p14:creationId xmlns:p14="http://schemas.microsoft.com/office/powerpoint/2010/main" val="2923568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2A83-2DA2-DEEA-3DB2-55D55A59168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EE529A-AA5B-5FBC-137D-133E6586DA35}"/>
              </a:ext>
            </a:extLst>
          </p:cNvPr>
          <p:cNvSpPr txBox="1"/>
          <p:nvPr/>
        </p:nvSpPr>
        <p:spPr>
          <a:xfrm>
            <a:off x="603503" y="502920"/>
            <a:ext cx="9848089" cy="523220"/>
          </a:xfrm>
          <a:prstGeom prst="rect">
            <a:avLst/>
          </a:prstGeom>
          <a:noFill/>
        </p:spPr>
        <p:txBody>
          <a:bodyPr wrap="square" rtlCol="0">
            <a:spAutoFit/>
          </a:bodyPr>
          <a:lstStyle/>
          <a:p>
            <a:r>
              <a:rPr lang="es-ES" sz="2800" b="1" dirty="0"/>
              <a:t>Vistas arquitectónicas (2)</a:t>
            </a:r>
          </a:p>
        </p:txBody>
      </p:sp>
      <p:pic>
        <p:nvPicPr>
          <p:cNvPr id="3" name="Picture 2">
            <a:extLst>
              <a:ext uri="{FF2B5EF4-FFF2-40B4-BE49-F238E27FC236}">
                <a16:creationId xmlns:a16="http://schemas.microsoft.com/office/drawing/2014/main" id="{EE596029-45ED-8578-1B9D-0BAA07632C4B}"/>
              </a:ext>
            </a:extLst>
          </p:cNvPr>
          <p:cNvPicPr>
            <a:picLocks noChangeAspect="1"/>
          </p:cNvPicPr>
          <p:nvPr/>
        </p:nvPicPr>
        <p:blipFill>
          <a:blip r:embed="rId2"/>
          <a:stretch>
            <a:fillRect/>
          </a:stretch>
        </p:blipFill>
        <p:spPr>
          <a:xfrm>
            <a:off x="790631" y="1512567"/>
            <a:ext cx="10116962" cy="2772162"/>
          </a:xfrm>
          <a:prstGeom prst="rect">
            <a:avLst/>
          </a:prstGeom>
        </p:spPr>
      </p:pic>
    </p:spTree>
    <p:extLst>
      <p:ext uri="{BB962C8B-B14F-4D97-AF65-F5344CB8AC3E}">
        <p14:creationId xmlns:p14="http://schemas.microsoft.com/office/powerpoint/2010/main" val="2167816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3633F-3A87-2B4F-6A07-C96A4B706FF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10F5FC-CBBF-12F8-FFC9-A339367470B5}"/>
              </a:ext>
            </a:extLst>
          </p:cNvPr>
          <p:cNvSpPr txBox="1"/>
          <p:nvPr/>
        </p:nvSpPr>
        <p:spPr>
          <a:xfrm>
            <a:off x="603503" y="502920"/>
            <a:ext cx="9848089" cy="523220"/>
          </a:xfrm>
          <a:prstGeom prst="rect">
            <a:avLst/>
          </a:prstGeom>
          <a:noFill/>
        </p:spPr>
        <p:txBody>
          <a:bodyPr wrap="square" rtlCol="0">
            <a:spAutoFit/>
          </a:bodyPr>
          <a:lstStyle/>
          <a:p>
            <a:r>
              <a:rPr lang="es-ES" sz="2800" b="1" dirty="0"/>
              <a:t>Vistas arquitectónicas (3)</a:t>
            </a:r>
          </a:p>
        </p:txBody>
      </p:sp>
      <p:pic>
        <p:nvPicPr>
          <p:cNvPr id="4" name="Picture 3">
            <a:extLst>
              <a:ext uri="{FF2B5EF4-FFF2-40B4-BE49-F238E27FC236}">
                <a16:creationId xmlns:a16="http://schemas.microsoft.com/office/drawing/2014/main" id="{FCF9ECE0-6A36-3E4C-7CB1-01DE300C6C1D}"/>
              </a:ext>
            </a:extLst>
          </p:cNvPr>
          <p:cNvPicPr>
            <a:picLocks noChangeAspect="1"/>
          </p:cNvPicPr>
          <p:nvPr/>
        </p:nvPicPr>
        <p:blipFill>
          <a:blip r:embed="rId2"/>
          <a:stretch>
            <a:fillRect/>
          </a:stretch>
        </p:blipFill>
        <p:spPr>
          <a:xfrm>
            <a:off x="740148" y="1367139"/>
            <a:ext cx="10126488" cy="3867690"/>
          </a:xfrm>
          <a:prstGeom prst="rect">
            <a:avLst/>
          </a:prstGeom>
        </p:spPr>
      </p:pic>
    </p:spTree>
    <p:extLst>
      <p:ext uri="{BB962C8B-B14F-4D97-AF65-F5344CB8AC3E}">
        <p14:creationId xmlns:p14="http://schemas.microsoft.com/office/powerpoint/2010/main" val="3853822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F18D7-885E-0098-5873-69128B8C7C1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54D476-41DF-221B-F957-C33154C1EFE4}"/>
              </a:ext>
            </a:extLst>
          </p:cNvPr>
          <p:cNvSpPr txBox="1"/>
          <p:nvPr/>
        </p:nvSpPr>
        <p:spPr>
          <a:xfrm>
            <a:off x="585215" y="411480"/>
            <a:ext cx="9848089" cy="523220"/>
          </a:xfrm>
          <a:prstGeom prst="rect">
            <a:avLst/>
          </a:prstGeom>
          <a:noFill/>
        </p:spPr>
        <p:txBody>
          <a:bodyPr wrap="square" rtlCol="0">
            <a:spAutoFit/>
          </a:bodyPr>
          <a:lstStyle/>
          <a:p>
            <a:r>
              <a:rPr lang="es-ES" sz="2800" b="1" dirty="0"/>
              <a:t>Vistas arquitectónicas (4)</a:t>
            </a:r>
          </a:p>
        </p:txBody>
      </p:sp>
      <p:pic>
        <p:nvPicPr>
          <p:cNvPr id="3" name="Picture 2">
            <a:extLst>
              <a:ext uri="{FF2B5EF4-FFF2-40B4-BE49-F238E27FC236}">
                <a16:creationId xmlns:a16="http://schemas.microsoft.com/office/drawing/2014/main" id="{AB372039-8891-4EA3-5879-1E45C33F0314}"/>
              </a:ext>
            </a:extLst>
          </p:cNvPr>
          <p:cNvPicPr>
            <a:picLocks noChangeAspect="1"/>
          </p:cNvPicPr>
          <p:nvPr/>
        </p:nvPicPr>
        <p:blipFill>
          <a:blip r:embed="rId2"/>
          <a:stretch>
            <a:fillRect/>
          </a:stretch>
        </p:blipFill>
        <p:spPr>
          <a:xfrm>
            <a:off x="824738" y="1296727"/>
            <a:ext cx="10012172" cy="2819794"/>
          </a:xfrm>
          <a:prstGeom prst="rect">
            <a:avLst/>
          </a:prstGeom>
        </p:spPr>
      </p:pic>
      <p:pic>
        <p:nvPicPr>
          <p:cNvPr id="7" name="Picture 6">
            <a:extLst>
              <a:ext uri="{FF2B5EF4-FFF2-40B4-BE49-F238E27FC236}">
                <a16:creationId xmlns:a16="http://schemas.microsoft.com/office/drawing/2014/main" id="{5CA91689-913A-9F4C-498E-35C13C001623}"/>
              </a:ext>
            </a:extLst>
          </p:cNvPr>
          <p:cNvPicPr>
            <a:picLocks noChangeAspect="1"/>
          </p:cNvPicPr>
          <p:nvPr/>
        </p:nvPicPr>
        <p:blipFill>
          <a:blip r:embed="rId3"/>
          <a:stretch>
            <a:fillRect/>
          </a:stretch>
        </p:blipFill>
        <p:spPr>
          <a:xfrm>
            <a:off x="824738" y="4181595"/>
            <a:ext cx="10069330" cy="1000265"/>
          </a:xfrm>
          <a:prstGeom prst="rect">
            <a:avLst/>
          </a:prstGeom>
        </p:spPr>
      </p:pic>
    </p:spTree>
    <p:extLst>
      <p:ext uri="{BB962C8B-B14F-4D97-AF65-F5344CB8AC3E}">
        <p14:creationId xmlns:p14="http://schemas.microsoft.com/office/powerpoint/2010/main" val="1265345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029E0-F8FC-6CF0-C009-3F93029C4A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538164-AF8B-4E73-5974-C6CA8DD85E44}"/>
              </a:ext>
            </a:extLst>
          </p:cNvPr>
          <p:cNvSpPr txBox="1"/>
          <p:nvPr/>
        </p:nvSpPr>
        <p:spPr>
          <a:xfrm>
            <a:off x="585215" y="411480"/>
            <a:ext cx="9848089" cy="523220"/>
          </a:xfrm>
          <a:prstGeom prst="rect">
            <a:avLst/>
          </a:prstGeom>
          <a:noFill/>
        </p:spPr>
        <p:txBody>
          <a:bodyPr wrap="square" rtlCol="0">
            <a:spAutoFit/>
          </a:bodyPr>
          <a:lstStyle/>
          <a:p>
            <a:r>
              <a:rPr lang="es-ES" sz="2800" b="1" dirty="0"/>
              <a:t>Patrones arquitectónicos</a:t>
            </a:r>
          </a:p>
        </p:txBody>
      </p:sp>
      <p:pic>
        <p:nvPicPr>
          <p:cNvPr id="4" name="Picture 3">
            <a:extLst>
              <a:ext uri="{FF2B5EF4-FFF2-40B4-BE49-F238E27FC236}">
                <a16:creationId xmlns:a16="http://schemas.microsoft.com/office/drawing/2014/main" id="{B0D5A67E-8224-093C-D7F4-97907B49A27A}"/>
              </a:ext>
            </a:extLst>
          </p:cNvPr>
          <p:cNvPicPr>
            <a:picLocks noChangeAspect="1"/>
          </p:cNvPicPr>
          <p:nvPr/>
        </p:nvPicPr>
        <p:blipFill>
          <a:blip r:embed="rId2"/>
          <a:stretch>
            <a:fillRect/>
          </a:stretch>
        </p:blipFill>
        <p:spPr>
          <a:xfrm>
            <a:off x="825502" y="1598368"/>
            <a:ext cx="9974067" cy="1686160"/>
          </a:xfrm>
          <a:prstGeom prst="rect">
            <a:avLst/>
          </a:prstGeom>
        </p:spPr>
      </p:pic>
    </p:spTree>
    <p:extLst>
      <p:ext uri="{BB962C8B-B14F-4D97-AF65-F5344CB8AC3E}">
        <p14:creationId xmlns:p14="http://schemas.microsoft.com/office/powerpoint/2010/main" val="1550319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3C1BA-B8E0-AE02-74DC-9E3B28FC85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C8F217-92CF-EEF7-E5FB-7C008CE1A008}"/>
              </a:ext>
            </a:extLst>
          </p:cNvPr>
          <p:cNvSpPr txBox="1"/>
          <p:nvPr/>
        </p:nvSpPr>
        <p:spPr>
          <a:xfrm>
            <a:off x="585215" y="411480"/>
            <a:ext cx="9848089" cy="523220"/>
          </a:xfrm>
          <a:prstGeom prst="rect">
            <a:avLst/>
          </a:prstGeom>
          <a:noFill/>
        </p:spPr>
        <p:txBody>
          <a:bodyPr wrap="square" rtlCol="0">
            <a:spAutoFit/>
          </a:bodyPr>
          <a:lstStyle/>
          <a:p>
            <a:r>
              <a:rPr lang="es-ES" sz="2800" b="1" dirty="0"/>
              <a:t>Patrón modelo de vista de controlador (MVC)</a:t>
            </a:r>
          </a:p>
        </p:txBody>
      </p:sp>
      <p:pic>
        <p:nvPicPr>
          <p:cNvPr id="7" name="Picture 6">
            <a:extLst>
              <a:ext uri="{FF2B5EF4-FFF2-40B4-BE49-F238E27FC236}">
                <a16:creationId xmlns:a16="http://schemas.microsoft.com/office/drawing/2014/main" id="{B9E5844D-310B-CD26-39BD-C8CB29620BBA}"/>
              </a:ext>
            </a:extLst>
          </p:cNvPr>
          <p:cNvPicPr>
            <a:picLocks noChangeAspect="1"/>
          </p:cNvPicPr>
          <p:nvPr/>
        </p:nvPicPr>
        <p:blipFill>
          <a:blip r:embed="rId2"/>
          <a:stretch>
            <a:fillRect/>
          </a:stretch>
        </p:blipFill>
        <p:spPr>
          <a:xfrm>
            <a:off x="864930" y="1240684"/>
            <a:ext cx="10059804" cy="3334215"/>
          </a:xfrm>
          <a:prstGeom prst="rect">
            <a:avLst/>
          </a:prstGeom>
        </p:spPr>
      </p:pic>
    </p:spTree>
    <p:extLst>
      <p:ext uri="{BB962C8B-B14F-4D97-AF65-F5344CB8AC3E}">
        <p14:creationId xmlns:p14="http://schemas.microsoft.com/office/powerpoint/2010/main" val="247714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42F9A-8004-8728-4CB8-7C84865D1A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85F4FA8-E28A-506D-1314-468746E8528E}"/>
              </a:ext>
            </a:extLst>
          </p:cNvPr>
          <p:cNvSpPr txBox="1"/>
          <p:nvPr/>
        </p:nvSpPr>
        <p:spPr>
          <a:xfrm>
            <a:off x="585215" y="411480"/>
            <a:ext cx="9848089" cy="523220"/>
          </a:xfrm>
          <a:prstGeom prst="rect">
            <a:avLst/>
          </a:prstGeom>
          <a:noFill/>
        </p:spPr>
        <p:txBody>
          <a:bodyPr wrap="square" rtlCol="0">
            <a:spAutoFit/>
          </a:bodyPr>
          <a:lstStyle/>
          <a:p>
            <a:r>
              <a:rPr lang="es-ES" sz="2800" b="1" dirty="0"/>
              <a:t>Patrón modelo de vista de controlador (MVC)</a:t>
            </a:r>
          </a:p>
        </p:txBody>
      </p:sp>
      <p:pic>
        <p:nvPicPr>
          <p:cNvPr id="3" name="Picture 2">
            <a:extLst>
              <a:ext uri="{FF2B5EF4-FFF2-40B4-BE49-F238E27FC236}">
                <a16:creationId xmlns:a16="http://schemas.microsoft.com/office/drawing/2014/main" id="{DFC7E350-2610-4744-CA64-C6E7E64FFD89}"/>
              </a:ext>
            </a:extLst>
          </p:cNvPr>
          <p:cNvPicPr>
            <a:picLocks noChangeAspect="1"/>
          </p:cNvPicPr>
          <p:nvPr/>
        </p:nvPicPr>
        <p:blipFill>
          <a:blip r:embed="rId2"/>
          <a:stretch>
            <a:fillRect/>
          </a:stretch>
        </p:blipFill>
        <p:spPr>
          <a:xfrm>
            <a:off x="1042416" y="1274225"/>
            <a:ext cx="9848089" cy="4987798"/>
          </a:xfrm>
          <a:prstGeom prst="rect">
            <a:avLst/>
          </a:prstGeom>
        </p:spPr>
      </p:pic>
    </p:spTree>
    <p:extLst>
      <p:ext uri="{BB962C8B-B14F-4D97-AF65-F5344CB8AC3E}">
        <p14:creationId xmlns:p14="http://schemas.microsoft.com/office/powerpoint/2010/main" val="1797193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60DA1-3B29-728E-3ED9-025496FA87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957FBED-4D67-F7CE-7066-FB8324BD580C}"/>
              </a:ext>
            </a:extLst>
          </p:cNvPr>
          <p:cNvSpPr txBox="1"/>
          <p:nvPr/>
        </p:nvSpPr>
        <p:spPr>
          <a:xfrm>
            <a:off x="585215" y="411480"/>
            <a:ext cx="9848089" cy="523220"/>
          </a:xfrm>
          <a:prstGeom prst="rect">
            <a:avLst/>
          </a:prstGeom>
          <a:noFill/>
        </p:spPr>
        <p:txBody>
          <a:bodyPr wrap="square" rtlCol="0">
            <a:spAutoFit/>
          </a:bodyPr>
          <a:lstStyle/>
          <a:p>
            <a:r>
              <a:rPr lang="es-ES" sz="2800" b="1" dirty="0"/>
              <a:t>Patrón modelo de vista de controlador (MVC)</a:t>
            </a:r>
          </a:p>
        </p:txBody>
      </p:sp>
      <p:pic>
        <p:nvPicPr>
          <p:cNvPr id="4" name="Picture 3">
            <a:extLst>
              <a:ext uri="{FF2B5EF4-FFF2-40B4-BE49-F238E27FC236}">
                <a16:creationId xmlns:a16="http://schemas.microsoft.com/office/drawing/2014/main" id="{97841EF1-78A2-AD77-3A29-2D2F27EE1C8D}"/>
              </a:ext>
            </a:extLst>
          </p:cNvPr>
          <p:cNvPicPr>
            <a:picLocks noChangeAspect="1"/>
          </p:cNvPicPr>
          <p:nvPr/>
        </p:nvPicPr>
        <p:blipFill>
          <a:blip r:embed="rId2"/>
          <a:stretch>
            <a:fillRect/>
          </a:stretch>
        </p:blipFill>
        <p:spPr>
          <a:xfrm>
            <a:off x="777010" y="1348931"/>
            <a:ext cx="10027799" cy="4768406"/>
          </a:xfrm>
          <a:prstGeom prst="rect">
            <a:avLst/>
          </a:prstGeom>
        </p:spPr>
      </p:pic>
    </p:spTree>
    <p:extLst>
      <p:ext uri="{BB962C8B-B14F-4D97-AF65-F5344CB8AC3E}">
        <p14:creationId xmlns:p14="http://schemas.microsoft.com/office/powerpoint/2010/main" val="1721726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819EB-9340-C1DB-6E9F-A25034CB634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CB2E247-0E4C-78D1-0E6F-58A0A1EA1B20}"/>
              </a:ext>
            </a:extLst>
          </p:cNvPr>
          <p:cNvSpPr txBox="1"/>
          <p:nvPr/>
        </p:nvSpPr>
        <p:spPr>
          <a:xfrm>
            <a:off x="585215" y="411480"/>
            <a:ext cx="9848089" cy="523220"/>
          </a:xfrm>
          <a:prstGeom prst="rect">
            <a:avLst/>
          </a:prstGeom>
          <a:noFill/>
        </p:spPr>
        <p:txBody>
          <a:bodyPr wrap="square" rtlCol="0">
            <a:spAutoFit/>
          </a:bodyPr>
          <a:lstStyle/>
          <a:p>
            <a:r>
              <a:rPr lang="es-ES" sz="2800" b="1" dirty="0"/>
              <a:t>Patrón modelo de vista de controlador (MVC)</a:t>
            </a:r>
          </a:p>
        </p:txBody>
      </p:sp>
      <p:pic>
        <p:nvPicPr>
          <p:cNvPr id="3" name="Picture 2">
            <a:extLst>
              <a:ext uri="{FF2B5EF4-FFF2-40B4-BE49-F238E27FC236}">
                <a16:creationId xmlns:a16="http://schemas.microsoft.com/office/drawing/2014/main" id="{3E00343D-2F69-4122-E74D-56F4891BA1C4}"/>
              </a:ext>
            </a:extLst>
          </p:cNvPr>
          <p:cNvPicPr>
            <a:picLocks noChangeAspect="1"/>
          </p:cNvPicPr>
          <p:nvPr/>
        </p:nvPicPr>
        <p:blipFill>
          <a:blip r:embed="rId2"/>
          <a:stretch>
            <a:fillRect/>
          </a:stretch>
        </p:blipFill>
        <p:spPr>
          <a:xfrm>
            <a:off x="1137430" y="1051560"/>
            <a:ext cx="9524996" cy="5596128"/>
          </a:xfrm>
          <a:prstGeom prst="rect">
            <a:avLst/>
          </a:prstGeom>
        </p:spPr>
      </p:pic>
    </p:spTree>
    <p:extLst>
      <p:ext uri="{BB962C8B-B14F-4D97-AF65-F5344CB8AC3E}">
        <p14:creationId xmlns:p14="http://schemas.microsoft.com/office/powerpoint/2010/main" val="3981054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7651E-748F-4764-FCE2-6E5B6C15D5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DCC22D0-7880-F124-E13F-03AC87580374}"/>
              </a:ext>
            </a:extLst>
          </p:cNvPr>
          <p:cNvSpPr txBox="1"/>
          <p:nvPr/>
        </p:nvSpPr>
        <p:spPr>
          <a:xfrm>
            <a:off x="585215" y="411480"/>
            <a:ext cx="9848089" cy="523220"/>
          </a:xfrm>
          <a:prstGeom prst="rect">
            <a:avLst/>
          </a:prstGeom>
          <a:noFill/>
        </p:spPr>
        <p:txBody>
          <a:bodyPr wrap="square" rtlCol="0">
            <a:spAutoFit/>
          </a:bodyPr>
          <a:lstStyle/>
          <a:p>
            <a:r>
              <a:rPr lang="es-ES" sz="2800" b="1" dirty="0"/>
              <a:t>Arquitectura en capas</a:t>
            </a:r>
          </a:p>
        </p:txBody>
      </p:sp>
      <p:pic>
        <p:nvPicPr>
          <p:cNvPr id="4" name="Picture 3">
            <a:extLst>
              <a:ext uri="{FF2B5EF4-FFF2-40B4-BE49-F238E27FC236}">
                <a16:creationId xmlns:a16="http://schemas.microsoft.com/office/drawing/2014/main" id="{A9D6E30B-0978-DD55-7B50-ECCB703E2961}"/>
              </a:ext>
            </a:extLst>
          </p:cNvPr>
          <p:cNvPicPr>
            <a:picLocks noChangeAspect="1"/>
          </p:cNvPicPr>
          <p:nvPr/>
        </p:nvPicPr>
        <p:blipFill>
          <a:blip r:embed="rId2"/>
          <a:stretch>
            <a:fillRect/>
          </a:stretch>
        </p:blipFill>
        <p:spPr>
          <a:xfrm>
            <a:off x="859402" y="1375582"/>
            <a:ext cx="10107436" cy="2991267"/>
          </a:xfrm>
          <a:prstGeom prst="rect">
            <a:avLst/>
          </a:prstGeom>
        </p:spPr>
      </p:pic>
    </p:spTree>
    <p:extLst>
      <p:ext uri="{BB962C8B-B14F-4D97-AF65-F5344CB8AC3E}">
        <p14:creationId xmlns:p14="http://schemas.microsoft.com/office/powerpoint/2010/main" val="2734095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BBFBE-8382-9993-6126-96710AD4C2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FC8DDA-E7E8-F8AA-17AD-04CF61FC4899}"/>
              </a:ext>
            </a:extLst>
          </p:cNvPr>
          <p:cNvSpPr txBox="1"/>
          <p:nvPr/>
        </p:nvSpPr>
        <p:spPr>
          <a:xfrm>
            <a:off x="585215" y="411480"/>
            <a:ext cx="9848089" cy="523220"/>
          </a:xfrm>
          <a:prstGeom prst="rect">
            <a:avLst/>
          </a:prstGeom>
          <a:noFill/>
        </p:spPr>
        <p:txBody>
          <a:bodyPr wrap="square" rtlCol="0">
            <a:spAutoFit/>
          </a:bodyPr>
          <a:lstStyle/>
          <a:p>
            <a:r>
              <a:rPr lang="es-ES" sz="2800" b="1" dirty="0"/>
              <a:t>Patrón de arquitectura en capas</a:t>
            </a:r>
          </a:p>
        </p:txBody>
      </p:sp>
      <p:pic>
        <p:nvPicPr>
          <p:cNvPr id="3" name="Picture 2">
            <a:extLst>
              <a:ext uri="{FF2B5EF4-FFF2-40B4-BE49-F238E27FC236}">
                <a16:creationId xmlns:a16="http://schemas.microsoft.com/office/drawing/2014/main" id="{E166BDDA-9931-512D-5027-BB9947212F62}"/>
              </a:ext>
            </a:extLst>
          </p:cNvPr>
          <p:cNvPicPr>
            <a:picLocks noChangeAspect="1"/>
          </p:cNvPicPr>
          <p:nvPr/>
        </p:nvPicPr>
        <p:blipFill>
          <a:blip r:embed="rId2"/>
          <a:stretch>
            <a:fillRect/>
          </a:stretch>
        </p:blipFill>
        <p:spPr>
          <a:xfrm>
            <a:off x="1211499" y="1438892"/>
            <a:ext cx="9221805" cy="5071636"/>
          </a:xfrm>
          <a:prstGeom prst="rect">
            <a:avLst/>
          </a:prstGeom>
        </p:spPr>
      </p:pic>
    </p:spTree>
    <p:extLst>
      <p:ext uri="{BB962C8B-B14F-4D97-AF65-F5344CB8AC3E}">
        <p14:creationId xmlns:p14="http://schemas.microsoft.com/office/powerpoint/2010/main" val="312569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CDCDE-1460-5E38-1B1D-CCFE44A382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CD3B2E3-499F-90E7-EA38-7ADF7E4C895A}"/>
              </a:ext>
            </a:extLst>
          </p:cNvPr>
          <p:cNvSpPr txBox="1"/>
          <p:nvPr/>
        </p:nvSpPr>
        <p:spPr>
          <a:xfrm>
            <a:off x="585215" y="411480"/>
            <a:ext cx="9848089" cy="523220"/>
          </a:xfrm>
          <a:prstGeom prst="rect">
            <a:avLst/>
          </a:prstGeom>
          <a:noFill/>
        </p:spPr>
        <p:txBody>
          <a:bodyPr wrap="square" rtlCol="0">
            <a:spAutoFit/>
          </a:bodyPr>
          <a:lstStyle/>
          <a:p>
            <a:r>
              <a:rPr lang="es-ES" sz="2800" b="1" dirty="0"/>
              <a:t>Patrón de arquitectura en capas</a:t>
            </a:r>
          </a:p>
        </p:txBody>
      </p:sp>
      <p:pic>
        <p:nvPicPr>
          <p:cNvPr id="4" name="Picture 3">
            <a:extLst>
              <a:ext uri="{FF2B5EF4-FFF2-40B4-BE49-F238E27FC236}">
                <a16:creationId xmlns:a16="http://schemas.microsoft.com/office/drawing/2014/main" id="{DFDDC75E-C513-F937-0C0A-B8E7BAD1AFB3}"/>
              </a:ext>
            </a:extLst>
          </p:cNvPr>
          <p:cNvPicPr>
            <a:picLocks noChangeAspect="1"/>
          </p:cNvPicPr>
          <p:nvPr/>
        </p:nvPicPr>
        <p:blipFill>
          <a:blip r:embed="rId2"/>
          <a:stretch>
            <a:fillRect/>
          </a:stretch>
        </p:blipFill>
        <p:spPr>
          <a:xfrm>
            <a:off x="459296" y="1387657"/>
            <a:ext cx="10907647" cy="4667901"/>
          </a:xfrm>
          <a:prstGeom prst="rect">
            <a:avLst/>
          </a:prstGeom>
        </p:spPr>
      </p:pic>
    </p:spTree>
    <p:extLst>
      <p:ext uri="{BB962C8B-B14F-4D97-AF65-F5344CB8AC3E}">
        <p14:creationId xmlns:p14="http://schemas.microsoft.com/office/powerpoint/2010/main" val="905877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BFA62-42C7-3038-9448-7253C18192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73FCA8D-7CBB-7A8D-867B-A12CD9F50DC4}"/>
              </a:ext>
            </a:extLst>
          </p:cNvPr>
          <p:cNvSpPr txBox="1"/>
          <p:nvPr/>
        </p:nvSpPr>
        <p:spPr>
          <a:xfrm>
            <a:off x="576071" y="182880"/>
            <a:ext cx="9848089" cy="523220"/>
          </a:xfrm>
          <a:prstGeom prst="rect">
            <a:avLst/>
          </a:prstGeom>
          <a:noFill/>
        </p:spPr>
        <p:txBody>
          <a:bodyPr wrap="square" rtlCol="0">
            <a:spAutoFit/>
          </a:bodyPr>
          <a:lstStyle/>
          <a:p>
            <a:r>
              <a:rPr lang="es-ES" sz="2800" b="1" dirty="0"/>
              <a:t>Ejemplo de arquitectura en capas</a:t>
            </a:r>
          </a:p>
        </p:txBody>
      </p:sp>
      <p:pic>
        <p:nvPicPr>
          <p:cNvPr id="3" name="Picture 2">
            <a:extLst>
              <a:ext uri="{FF2B5EF4-FFF2-40B4-BE49-F238E27FC236}">
                <a16:creationId xmlns:a16="http://schemas.microsoft.com/office/drawing/2014/main" id="{1A6EEF1C-4547-DE5B-3C78-169218FD1539}"/>
              </a:ext>
            </a:extLst>
          </p:cNvPr>
          <p:cNvPicPr>
            <a:picLocks noChangeAspect="1"/>
          </p:cNvPicPr>
          <p:nvPr/>
        </p:nvPicPr>
        <p:blipFill>
          <a:blip r:embed="rId2"/>
          <a:stretch>
            <a:fillRect/>
          </a:stretch>
        </p:blipFill>
        <p:spPr>
          <a:xfrm>
            <a:off x="681667" y="908187"/>
            <a:ext cx="10078857" cy="1676634"/>
          </a:xfrm>
          <a:prstGeom prst="rect">
            <a:avLst/>
          </a:prstGeom>
        </p:spPr>
      </p:pic>
      <p:pic>
        <p:nvPicPr>
          <p:cNvPr id="7" name="Picture 6">
            <a:extLst>
              <a:ext uri="{FF2B5EF4-FFF2-40B4-BE49-F238E27FC236}">
                <a16:creationId xmlns:a16="http://schemas.microsoft.com/office/drawing/2014/main" id="{9A14A7E8-37FB-DAD4-7A5C-D7E226EE46E3}"/>
              </a:ext>
            </a:extLst>
          </p:cNvPr>
          <p:cNvPicPr>
            <a:picLocks noChangeAspect="1"/>
          </p:cNvPicPr>
          <p:nvPr/>
        </p:nvPicPr>
        <p:blipFill>
          <a:blip r:embed="rId3"/>
          <a:stretch>
            <a:fillRect/>
          </a:stretch>
        </p:blipFill>
        <p:spPr>
          <a:xfrm>
            <a:off x="4186545" y="2584821"/>
            <a:ext cx="4381276" cy="3939950"/>
          </a:xfrm>
          <a:prstGeom prst="rect">
            <a:avLst/>
          </a:prstGeom>
        </p:spPr>
      </p:pic>
    </p:spTree>
    <p:extLst>
      <p:ext uri="{BB962C8B-B14F-4D97-AF65-F5344CB8AC3E}">
        <p14:creationId xmlns:p14="http://schemas.microsoft.com/office/powerpoint/2010/main" val="464205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EF28-D770-7A34-76F2-6B8F7CCD7D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7C3185F-2488-373D-ABC7-376A997F815A}"/>
              </a:ext>
            </a:extLst>
          </p:cNvPr>
          <p:cNvSpPr txBox="1"/>
          <p:nvPr/>
        </p:nvSpPr>
        <p:spPr>
          <a:xfrm>
            <a:off x="713231" y="338209"/>
            <a:ext cx="9848089" cy="523220"/>
          </a:xfrm>
          <a:prstGeom prst="rect">
            <a:avLst/>
          </a:prstGeom>
          <a:noFill/>
        </p:spPr>
        <p:txBody>
          <a:bodyPr wrap="square" rtlCol="0">
            <a:spAutoFit/>
          </a:bodyPr>
          <a:lstStyle/>
          <a:p>
            <a:r>
              <a:rPr lang="es-ES" sz="2800" b="1" dirty="0"/>
              <a:t>Arquitectura de repositorio</a:t>
            </a:r>
          </a:p>
        </p:txBody>
      </p:sp>
      <p:pic>
        <p:nvPicPr>
          <p:cNvPr id="4" name="Picture 3">
            <a:extLst>
              <a:ext uri="{FF2B5EF4-FFF2-40B4-BE49-F238E27FC236}">
                <a16:creationId xmlns:a16="http://schemas.microsoft.com/office/drawing/2014/main" id="{623E92B3-7BA3-C785-33ED-C5569011F39D}"/>
              </a:ext>
            </a:extLst>
          </p:cNvPr>
          <p:cNvPicPr>
            <a:picLocks noChangeAspect="1"/>
          </p:cNvPicPr>
          <p:nvPr/>
        </p:nvPicPr>
        <p:blipFill>
          <a:blip r:embed="rId2"/>
          <a:stretch>
            <a:fillRect/>
          </a:stretch>
        </p:blipFill>
        <p:spPr>
          <a:xfrm>
            <a:off x="946461" y="1136755"/>
            <a:ext cx="10097909" cy="2133898"/>
          </a:xfrm>
          <a:prstGeom prst="rect">
            <a:avLst/>
          </a:prstGeom>
        </p:spPr>
      </p:pic>
      <p:pic>
        <p:nvPicPr>
          <p:cNvPr id="8" name="Picture 7">
            <a:extLst>
              <a:ext uri="{FF2B5EF4-FFF2-40B4-BE49-F238E27FC236}">
                <a16:creationId xmlns:a16="http://schemas.microsoft.com/office/drawing/2014/main" id="{2D37060B-EBD6-6552-93B3-9D5FDFC8D166}"/>
              </a:ext>
            </a:extLst>
          </p:cNvPr>
          <p:cNvPicPr>
            <a:picLocks noChangeAspect="1"/>
          </p:cNvPicPr>
          <p:nvPr/>
        </p:nvPicPr>
        <p:blipFill>
          <a:blip r:embed="rId3"/>
          <a:stretch>
            <a:fillRect/>
          </a:stretch>
        </p:blipFill>
        <p:spPr>
          <a:xfrm>
            <a:off x="1003619" y="3298085"/>
            <a:ext cx="10040751" cy="990738"/>
          </a:xfrm>
          <a:prstGeom prst="rect">
            <a:avLst/>
          </a:prstGeom>
        </p:spPr>
      </p:pic>
    </p:spTree>
    <p:extLst>
      <p:ext uri="{BB962C8B-B14F-4D97-AF65-F5344CB8AC3E}">
        <p14:creationId xmlns:p14="http://schemas.microsoft.com/office/powerpoint/2010/main" val="1096929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6EF97-7FED-6643-7AAB-FA9FF16D9C6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9CB0630-276C-E95A-0267-C81C8AA64EED}"/>
              </a:ext>
            </a:extLst>
          </p:cNvPr>
          <p:cNvSpPr txBox="1"/>
          <p:nvPr/>
        </p:nvSpPr>
        <p:spPr>
          <a:xfrm>
            <a:off x="822959" y="274320"/>
            <a:ext cx="9848089" cy="523220"/>
          </a:xfrm>
          <a:prstGeom prst="rect">
            <a:avLst/>
          </a:prstGeom>
          <a:noFill/>
        </p:spPr>
        <p:txBody>
          <a:bodyPr wrap="square" rtlCol="0">
            <a:spAutoFit/>
          </a:bodyPr>
          <a:lstStyle/>
          <a:p>
            <a:r>
              <a:rPr lang="es-ES" sz="2800" b="1" dirty="0"/>
              <a:t>Patrón de repositorio</a:t>
            </a:r>
          </a:p>
        </p:txBody>
      </p:sp>
      <p:pic>
        <p:nvPicPr>
          <p:cNvPr id="3" name="Picture 2">
            <a:extLst>
              <a:ext uri="{FF2B5EF4-FFF2-40B4-BE49-F238E27FC236}">
                <a16:creationId xmlns:a16="http://schemas.microsoft.com/office/drawing/2014/main" id="{7044B8E0-D4AA-3A82-01D2-BEB307F2FD48}"/>
              </a:ext>
            </a:extLst>
          </p:cNvPr>
          <p:cNvPicPr>
            <a:picLocks noChangeAspect="1"/>
          </p:cNvPicPr>
          <p:nvPr/>
        </p:nvPicPr>
        <p:blipFill>
          <a:blip r:embed="rId2"/>
          <a:stretch>
            <a:fillRect/>
          </a:stretch>
        </p:blipFill>
        <p:spPr>
          <a:xfrm>
            <a:off x="1334812" y="1144249"/>
            <a:ext cx="8955447" cy="5119391"/>
          </a:xfrm>
          <a:prstGeom prst="rect">
            <a:avLst/>
          </a:prstGeom>
        </p:spPr>
      </p:pic>
    </p:spTree>
    <p:extLst>
      <p:ext uri="{BB962C8B-B14F-4D97-AF65-F5344CB8AC3E}">
        <p14:creationId xmlns:p14="http://schemas.microsoft.com/office/powerpoint/2010/main" val="51847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D640B-9087-6B11-25E1-3A7AC0FA624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D4B9B2A-66AB-449F-B14C-1D4C76C673D9}"/>
              </a:ext>
            </a:extLst>
          </p:cNvPr>
          <p:cNvSpPr txBox="1"/>
          <p:nvPr/>
        </p:nvSpPr>
        <p:spPr>
          <a:xfrm>
            <a:off x="822959" y="274320"/>
            <a:ext cx="9848089" cy="523220"/>
          </a:xfrm>
          <a:prstGeom prst="rect">
            <a:avLst/>
          </a:prstGeom>
          <a:noFill/>
        </p:spPr>
        <p:txBody>
          <a:bodyPr wrap="square" rtlCol="0">
            <a:spAutoFit/>
          </a:bodyPr>
          <a:lstStyle/>
          <a:p>
            <a:r>
              <a:rPr lang="es-ES" sz="2800" b="1" dirty="0"/>
              <a:t>Ejemplo de arquitectura de repositorio</a:t>
            </a:r>
          </a:p>
        </p:txBody>
      </p:sp>
      <p:pic>
        <p:nvPicPr>
          <p:cNvPr id="4" name="Picture 3">
            <a:extLst>
              <a:ext uri="{FF2B5EF4-FFF2-40B4-BE49-F238E27FC236}">
                <a16:creationId xmlns:a16="http://schemas.microsoft.com/office/drawing/2014/main" id="{896E8875-4193-E940-D973-942E4415558E}"/>
              </a:ext>
            </a:extLst>
          </p:cNvPr>
          <p:cNvPicPr>
            <a:picLocks noChangeAspect="1"/>
          </p:cNvPicPr>
          <p:nvPr/>
        </p:nvPicPr>
        <p:blipFill>
          <a:blip r:embed="rId2"/>
          <a:stretch>
            <a:fillRect/>
          </a:stretch>
        </p:blipFill>
        <p:spPr>
          <a:xfrm>
            <a:off x="1197466" y="3074091"/>
            <a:ext cx="9747640" cy="3425884"/>
          </a:xfrm>
          <a:prstGeom prst="rect">
            <a:avLst/>
          </a:prstGeom>
        </p:spPr>
      </p:pic>
      <p:pic>
        <p:nvPicPr>
          <p:cNvPr id="7" name="Picture 6">
            <a:extLst>
              <a:ext uri="{FF2B5EF4-FFF2-40B4-BE49-F238E27FC236}">
                <a16:creationId xmlns:a16="http://schemas.microsoft.com/office/drawing/2014/main" id="{161DB00A-E910-822F-7640-5BE659974667}"/>
              </a:ext>
            </a:extLst>
          </p:cNvPr>
          <p:cNvPicPr>
            <a:picLocks noChangeAspect="1"/>
          </p:cNvPicPr>
          <p:nvPr/>
        </p:nvPicPr>
        <p:blipFill>
          <a:blip r:embed="rId3"/>
          <a:stretch>
            <a:fillRect/>
          </a:stretch>
        </p:blipFill>
        <p:spPr>
          <a:xfrm>
            <a:off x="1060437" y="1083209"/>
            <a:ext cx="10021699" cy="1705213"/>
          </a:xfrm>
          <a:prstGeom prst="rect">
            <a:avLst/>
          </a:prstGeom>
        </p:spPr>
      </p:pic>
    </p:spTree>
    <p:extLst>
      <p:ext uri="{BB962C8B-B14F-4D97-AF65-F5344CB8AC3E}">
        <p14:creationId xmlns:p14="http://schemas.microsoft.com/office/powerpoint/2010/main" val="3033989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ABE85-E59C-507B-ABAC-DCF6BF25D0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6B89E8B-271F-257F-AC78-025B71F256F6}"/>
              </a:ext>
            </a:extLst>
          </p:cNvPr>
          <p:cNvSpPr txBox="1"/>
          <p:nvPr/>
        </p:nvSpPr>
        <p:spPr>
          <a:xfrm>
            <a:off x="683759" y="164592"/>
            <a:ext cx="9848089" cy="523220"/>
          </a:xfrm>
          <a:prstGeom prst="rect">
            <a:avLst/>
          </a:prstGeom>
          <a:noFill/>
        </p:spPr>
        <p:txBody>
          <a:bodyPr wrap="square" rtlCol="0">
            <a:spAutoFit/>
          </a:bodyPr>
          <a:lstStyle/>
          <a:p>
            <a:r>
              <a:rPr lang="es-ES" sz="2800" b="1" dirty="0"/>
              <a:t>Arquitectura cliente/servidor</a:t>
            </a:r>
          </a:p>
        </p:txBody>
      </p:sp>
      <p:pic>
        <p:nvPicPr>
          <p:cNvPr id="3" name="Picture 2">
            <a:extLst>
              <a:ext uri="{FF2B5EF4-FFF2-40B4-BE49-F238E27FC236}">
                <a16:creationId xmlns:a16="http://schemas.microsoft.com/office/drawing/2014/main" id="{EFFBF7BE-59E4-8955-A27E-81B64123CE1E}"/>
              </a:ext>
            </a:extLst>
          </p:cNvPr>
          <p:cNvPicPr>
            <a:picLocks noChangeAspect="1"/>
          </p:cNvPicPr>
          <p:nvPr/>
        </p:nvPicPr>
        <p:blipFill>
          <a:blip r:embed="rId2"/>
          <a:stretch>
            <a:fillRect/>
          </a:stretch>
        </p:blipFill>
        <p:spPr>
          <a:xfrm>
            <a:off x="793487" y="1083579"/>
            <a:ext cx="10126488" cy="5239481"/>
          </a:xfrm>
          <a:prstGeom prst="rect">
            <a:avLst/>
          </a:prstGeom>
        </p:spPr>
      </p:pic>
    </p:spTree>
    <p:extLst>
      <p:ext uri="{BB962C8B-B14F-4D97-AF65-F5344CB8AC3E}">
        <p14:creationId xmlns:p14="http://schemas.microsoft.com/office/powerpoint/2010/main" val="1139484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F1231-1E21-2E7E-5964-0245B69257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0CF0AE-F08F-A870-4E26-37352B43040B}"/>
              </a:ext>
            </a:extLst>
          </p:cNvPr>
          <p:cNvSpPr txBox="1"/>
          <p:nvPr/>
        </p:nvSpPr>
        <p:spPr>
          <a:xfrm>
            <a:off x="683759" y="164592"/>
            <a:ext cx="9848089" cy="523220"/>
          </a:xfrm>
          <a:prstGeom prst="rect">
            <a:avLst/>
          </a:prstGeom>
          <a:noFill/>
        </p:spPr>
        <p:txBody>
          <a:bodyPr wrap="square" rtlCol="0">
            <a:spAutoFit/>
          </a:bodyPr>
          <a:lstStyle/>
          <a:p>
            <a:r>
              <a:rPr lang="es-ES" sz="2800" b="1" dirty="0"/>
              <a:t>Patrón de arquitectura cliente/servidor</a:t>
            </a:r>
          </a:p>
        </p:txBody>
      </p:sp>
      <p:pic>
        <p:nvPicPr>
          <p:cNvPr id="4" name="Picture 3">
            <a:extLst>
              <a:ext uri="{FF2B5EF4-FFF2-40B4-BE49-F238E27FC236}">
                <a16:creationId xmlns:a16="http://schemas.microsoft.com/office/drawing/2014/main" id="{C8651F98-377D-6DD3-471C-F1176C5669C4}"/>
              </a:ext>
            </a:extLst>
          </p:cNvPr>
          <p:cNvPicPr>
            <a:picLocks noChangeAspect="1"/>
          </p:cNvPicPr>
          <p:nvPr/>
        </p:nvPicPr>
        <p:blipFill>
          <a:blip r:embed="rId2"/>
          <a:stretch>
            <a:fillRect/>
          </a:stretch>
        </p:blipFill>
        <p:spPr>
          <a:xfrm>
            <a:off x="900739" y="1038178"/>
            <a:ext cx="10390522" cy="5281370"/>
          </a:xfrm>
          <a:prstGeom prst="rect">
            <a:avLst/>
          </a:prstGeom>
        </p:spPr>
      </p:pic>
    </p:spTree>
    <p:extLst>
      <p:ext uri="{BB962C8B-B14F-4D97-AF65-F5344CB8AC3E}">
        <p14:creationId xmlns:p14="http://schemas.microsoft.com/office/powerpoint/2010/main" val="1829900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4BC50-969A-8D63-CE55-0DC833D68BA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0254C06-E680-FCA8-8AC5-778EF44402F3}"/>
              </a:ext>
            </a:extLst>
          </p:cNvPr>
          <p:cNvSpPr txBox="1"/>
          <p:nvPr/>
        </p:nvSpPr>
        <p:spPr>
          <a:xfrm>
            <a:off x="683759" y="557784"/>
            <a:ext cx="9848089" cy="523220"/>
          </a:xfrm>
          <a:prstGeom prst="rect">
            <a:avLst/>
          </a:prstGeom>
          <a:noFill/>
        </p:spPr>
        <p:txBody>
          <a:bodyPr wrap="square" rtlCol="0">
            <a:spAutoFit/>
          </a:bodyPr>
          <a:lstStyle/>
          <a:p>
            <a:r>
              <a:rPr lang="es-ES" sz="2800" b="1" dirty="0"/>
              <a:t>Arquitectura cliente/servidor</a:t>
            </a:r>
          </a:p>
        </p:txBody>
      </p:sp>
      <p:pic>
        <p:nvPicPr>
          <p:cNvPr id="7" name="Picture 6">
            <a:extLst>
              <a:ext uri="{FF2B5EF4-FFF2-40B4-BE49-F238E27FC236}">
                <a16:creationId xmlns:a16="http://schemas.microsoft.com/office/drawing/2014/main" id="{08529199-5417-DEFF-2F49-21E0C02221C7}"/>
              </a:ext>
            </a:extLst>
          </p:cNvPr>
          <p:cNvPicPr>
            <a:picLocks noChangeAspect="1"/>
          </p:cNvPicPr>
          <p:nvPr/>
        </p:nvPicPr>
        <p:blipFill>
          <a:blip r:embed="rId2"/>
          <a:stretch>
            <a:fillRect/>
          </a:stretch>
        </p:blipFill>
        <p:spPr>
          <a:xfrm>
            <a:off x="893126" y="1534232"/>
            <a:ext cx="10021699" cy="3515216"/>
          </a:xfrm>
          <a:prstGeom prst="rect">
            <a:avLst/>
          </a:prstGeom>
        </p:spPr>
      </p:pic>
    </p:spTree>
    <p:extLst>
      <p:ext uri="{BB962C8B-B14F-4D97-AF65-F5344CB8AC3E}">
        <p14:creationId xmlns:p14="http://schemas.microsoft.com/office/powerpoint/2010/main" val="3318270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37DFC-4C09-77BC-4784-215A8D45EB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9C59AB8-816A-BFED-A815-37B9E3B04D2F}"/>
              </a:ext>
            </a:extLst>
          </p:cNvPr>
          <p:cNvSpPr txBox="1"/>
          <p:nvPr/>
        </p:nvSpPr>
        <p:spPr>
          <a:xfrm>
            <a:off x="711191" y="433904"/>
            <a:ext cx="9848089" cy="523220"/>
          </a:xfrm>
          <a:prstGeom prst="rect">
            <a:avLst/>
          </a:prstGeom>
          <a:noFill/>
        </p:spPr>
        <p:txBody>
          <a:bodyPr wrap="square" rtlCol="0">
            <a:spAutoFit/>
          </a:bodyPr>
          <a:lstStyle/>
          <a:p>
            <a:r>
              <a:rPr lang="es-ES" sz="2800" b="1" dirty="0"/>
              <a:t>Ejemplo de arquitectura cliente/servidor</a:t>
            </a:r>
          </a:p>
        </p:txBody>
      </p:sp>
      <p:pic>
        <p:nvPicPr>
          <p:cNvPr id="4" name="Picture 3">
            <a:extLst>
              <a:ext uri="{FF2B5EF4-FFF2-40B4-BE49-F238E27FC236}">
                <a16:creationId xmlns:a16="http://schemas.microsoft.com/office/drawing/2014/main" id="{C2D280A7-98EC-DCD6-B005-A4C8EE2E154F}"/>
              </a:ext>
            </a:extLst>
          </p:cNvPr>
          <p:cNvPicPr>
            <a:picLocks noChangeAspect="1"/>
          </p:cNvPicPr>
          <p:nvPr/>
        </p:nvPicPr>
        <p:blipFill>
          <a:blip r:embed="rId2"/>
          <a:stretch>
            <a:fillRect/>
          </a:stretch>
        </p:blipFill>
        <p:spPr>
          <a:xfrm>
            <a:off x="792711" y="1326314"/>
            <a:ext cx="10476460" cy="4443550"/>
          </a:xfrm>
          <a:prstGeom prst="rect">
            <a:avLst/>
          </a:prstGeom>
        </p:spPr>
      </p:pic>
    </p:spTree>
    <p:extLst>
      <p:ext uri="{BB962C8B-B14F-4D97-AF65-F5344CB8AC3E}">
        <p14:creationId xmlns:p14="http://schemas.microsoft.com/office/powerpoint/2010/main" val="1949467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2510-AF9C-56B2-466E-442B0FBE9D1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9EE81A-DD83-822E-36C4-2EE5BB9161DF}"/>
              </a:ext>
            </a:extLst>
          </p:cNvPr>
          <p:cNvSpPr txBox="1"/>
          <p:nvPr/>
        </p:nvSpPr>
        <p:spPr>
          <a:xfrm>
            <a:off x="711191" y="433904"/>
            <a:ext cx="9848089" cy="523220"/>
          </a:xfrm>
          <a:prstGeom prst="rect">
            <a:avLst/>
          </a:prstGeom>
          <a:noFill/>
        </p:spPr>
        <p:txBody>
          <a:bodyPr wrap="square" rtlCol="0">
            <a:spAutoFit/>
          </a:bodyPr>
          <a:lstStyle/>
          <a:p>
            <a:r>
              <a:rPr lang="es-ES" sz="2800" b="1" dirty="0"/>
              <a:t>Arquitecturas de aplicación(1)</a:t>
            </a:r>
          </a:p>
        </p:txBody>
      </p:sp>
      <p:pic>
        <p:nvPicPr>
          <p:cNvPr id="3" name="Picture 2">
            <a:extLst>
              <a:ext uri="{FF2B5EF4-FFF2-40B4-BE49-F238E27FC236}">
                <a16:creationId xmlns:a16="http://schemas.microsoft.com/office/drawing/2014/main" id="{2710BC1F-CF8E-1321-7857-057671C434C1}"/>
              </a:ext>
            </a:extLst>
          </p:cNvPr>
          <p:cNvPicPr>
            <a:picLocks noChangeAspect="1"/>
          </p:cNvPicPr>
          <p:nvPr/>
        </p:nvPicPr>
        <p:blipFill>
          <a:blip r:embed="rId2"/>
          <a:stretch>
            <a:fillRect/>
          </a:stretch>
        </p:blipFill>
        <p:spPr>
          <a:xfrm>
            <a:off x="908913" y="1148145"/>
            <a:ext cx="10374173" cy="5439534"/>
          </a:xfrm>
          <a:prstGeom prst="rect">
            <a:avLst/>
          </a:prstGeom>
        </p:spPr>
      </p:pic>
    </p:spTree>
    <p:extLst>
      <p:ext uri="{BB962C8B-B14F-4D97-AF65-F5344CB8AC3E}">
        <p14:creationId xmlns:p14="http://schemas.microsoft.com/office/powerpoint/2010/main" val="3744203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A0900-C748-A55A-56BA-F45ED978D20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CD824F-4AC9-B0B9-FF60-2EF74BF65D9A}"/>
              </a:ext>
            </a:extLst>
          </p:cNvPr>
          <p:cNvSpPr txBox="1"/>
          <p:nvPr/>
        </p:nvSpPr>
        <p:spPr>
          <a:xfrm>
            <a:off x="711191" y="433904"/>
            <a:ext cx="9848089" cy="523220"/>
          </a:xfrm>
          <a:prstGeom prst="rect">
            <a:avLst/>
          </a:prstGeom>
          <a:noFill/>
        </p:spPr>
        <p:txBody>
          <a:bodyPr wrap="square" rtlCol="0">
            <a:spAutoFit/>
          </a:bodyPr>
          <a:lstStyle/>
          <a:p>
            <a:r>
              <a:rPr lang="es-ES" sz="2800" b="1" dirty="0"/>
              <a:t>Arquitecturas de aplicación (2)</a:t>
            </a:r>
          </a:p>
        </p:txBody>
      </p:sp>
      <p:pic>
        <p:nvPicPr>
          <p:cNvPr id="4" name="Picture 3">
            <a:extLst>
              <a:ext uri="{FF2B5EF4-FFF2-40B4-BE49-F238E27FC236}">
                <a16:creationId xmlns:a16="http://schemas.microsoft.com/office/drawing/2014/main" id="{D3852F42-6D1E-431F-E54B-E78789CC16DD}"/>
              </a:ext>
            </a:extLst>
          </p:cNvPr>
          <p:cNvPicPr>
            <a:picLocks noChangeAspect="1"/>
          </p:cNvPicPr>
          <p:nvPr/>
        </p:nvPicPr>
        <p:blipFill>
          <a:blip r:embed="rId2"/>
          <a:stretch>
            <a:fillRect/>
          </a:stretch>
        </p:blipFill>
        <p:spPr>
          <a:xfrm>
            <a:off x="842819" y="1398888"/>
            <a:ext cx="10250330" cy="4791744"/>
          </a:xfrm>
          <a:prstGeom prst="rect">
            <a:avLst/>
          </a:prstGeom>
        </p:spPr>
      </p:pic>
    </p:spTree>
    <p:extLst>
      <p:ext uri="{BB962C8B-B14F-4D97-AF65-F5344CB8AC3E}">
        <p14:creationId xmlns:p14="http://schemas.microsoft.com/office/powerpoint/2010/main" val="25090599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25378-2993-8A5C-B96E-10176C7415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C9B5E67-966A-C0F2-65AB-C16AFE2F3DAE}"/>
              </a:ext>
            </a:extLst>
          </p:cNvPr>
          <p:cNvSpPr txBox="1"/>
          <p:nvPr/>
        </p:nvSpPr>
        <p:spPr>
          <a:xfrm>
            <a:off x="711191" y="433904"/>
            <a:ext cx="9848089" cy="523220"/>
          </a:xfrm>
          <a:prstGeom prst="rect">
            <a:avLst/>
          </a:prstGeom>
          <a:noFill/>
        </p:spPr>
        <p:txBody>
          <a:bodyPr wrap="square" rtlCol="0">
            <a:spAutoFit/>
          </a:bodyPr>
          <a:lstStyle/>
          <a:p>
            <a:r>
              <a:rPr lang="es-ES" sz="2800" b="1" dirty="0"/>
              <a:t>Arquitecturas de aplicación (3)</a:t>
            </a:r>
          </a:p>
        </p:txBody>
      </p:sp>
      <p:pic>
        <p:nvPicPr>
          <p:cNvPr id="3" name="Picture 2">
            <a:extLst>
              <a:ext uri="{FF2B5EF4-FFF2-40B4-BE49-F238E27FC236}">
                <a16:creationId xmlns:a16="http://schemas.microsoft.com/office/drawing/2014/main" id="{B49713C7-CC62-EB0F-CEB9-ACBAF5FA51B3}"/>
              </a:ext>
            </a:extLst>
          </p:cNvPr>
          <p:cNvPicPr>
            <a:picLocks noChangeAspect="1"/>
          </p:cNvPicPr>
          <p:nvPr/>
        </p:nvPicPr>
        <p:blipFill>
          <a:blip r:embed="rId2"/>
          <a:stretch>
            <a:fillRect/>
          </a:stretch>
        </p:blipFill>
        <p:spPr>
          <a:xfrm>
            <a:off x="999413" y="1369353"/>
            <a:ext cx="10193173" cy="2162477"/>
          </a:xfrm>
          <a:prstGeom prst="rect">
            <a:avLst/>
          </a:prstGeom>
        </p:spPr>
      </p:pic>
      <p:pic>
        <p:nvPicPr>
          <p:cNvPr id="7" name="Picture 6">
            <a:extLst>
              <a:ext uri="{FF2B5EF4-FFF2-40B4-BE49-F238E27FC236}">
                <a16:creationId xmlns:a16="http://schemas.microsoft.com/office/drawing/2014/main" id="{BD5138AD-3771-162B-FBF1-98B9188C8F5A}"/>
              </a:ext>
            </a:extLst>
          </p:cNvPr>
          <p:cNvPicPr>
            <a:picLocks noChangeAspect="1"/>
          </p:cNvPicPr>
          <p:nvPr/>
        </p:nvPicPr>
        <p:blipFill>
          <a:blip r:embed="rId3"/>
          <a:stretch>
            <a:fillRect/>
          </a:stretch>
        </p:blipFill>
        <p:spPr>
          <a:xfrm>
            <a:off x="1415481" y="4778935"/>
            <a:ext cx="9964541" cy="1419423"/>
          </a:xfrm>
          <a:prstGeom prst="rect">
            <a:avLst/>
          </a:prstGeom>
        </p:spPr>
      </p:pic>
      <p:pic>
        <p:nvPicPr>
          <p:cNvPr id="9" name="Picture 8">
            <a:extLst>
              <a:ext uri="{FF2B5EF4-FFF2-40B4-BE49-F238E27FC236}">
                <a16:creationId xmlns:a16="http://schemas.microsoft.com/office/drawing/2014/main" id="{C2457AE9-64DF-38B7-4E6F-4D5A5BC43008}"/>
              </a:ext>
            </a:extLst>
          </p:cNvPr>
          <p:cNvPicPr>
            <a:picLocks noChangeAspect="1"/>
          </p:cNvPicPr>
          <p:nvPr/>
        </p:nvPicPr>
        <p:blipFill>
          <a:blip r:embed="rId4"/>
          <a:stretch>
            <a:fillRect/>
          </a:stretch>
        </p:blipFill>
        <p:spPr>
          <a:xfrm>
            <a:off x="1628151" y="3429000"/>
            <a:ext cx="9564435" cy="800212"/>
          </a:xfrm>
          <a:prstGeom prst="rect">
            <a:avLst/>
          </a:prstGeom>
        </p:spPr>
      </p:pic>
    </p:spTree>
    <p:extLst>
      <p:ext uri="{BB962C8B-B14F-4D97-AF65-F5344CB8AC3E}">
        <p14:creationId xmlns:p14="http://schemas.microsoft.com/office/powerpoint/2010/main" val="2688357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6AE29-2B2A-3224-6009-DA132702BD0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10C36F7-8C35-F2CA-2E30-9516F1AC4027}"/>
              </a:ext>
            </a:extLst>
          </p:cNvPr>
          <p:cNvSpPr txBox="1"/>
          <p:nvPr/>
        </p:nvSpPr>
        <p:spPr>
          <a:xfrm>
            <a:off x="711191" y="433904"/>
            <a:ext cx="9848089" cy="523220"/>
          </a:xfrm>
          <a:prstGeom prst="rect">
            <a:avLst/>
          </a:prstGeom>
          <a:noFill/>
        </p:spPr>
        <p:txBody>
          <a:bodyPr wrap="square" rtlCol="0">
            <a:spAutoFit/>
          </a:bodyPr>
          <a:lstStyle/>
          <a:p>
            <a:r>
              <a:rPr lang="es-ES" sz="2800" b="1" dirty="0"/>
              <a:t>Arquitecturas de aplicación (4)</a:t>
            </a:r>
          </a:p>
        </p:txBody>
      </p:sp>
      <p:pic>
        <p:nvPicPr>
          <p:cNvPr id="9" name="Picture 8">
            <a:extLst>
              <a:ext uri="{FF2B5EF4-FFF2-40B4-BE49-F238E27FC236}">
                <a16:creationId xmlns:a16="http://schemas.microsoft.com/office/drawing/2014/main" id="{EEDAAE04-565C-8418-6067-EBA3F6E585B3}"/>
              </a:ext>
            </a:extLst>
          </p:cNvPr>
          <p:cNvPicPr>
            <a:picLocks noChangeAspect="1"/>
          </p:cNvPicPr>
          <p:nvPr/>
        </p:nvPicPr>
        <p:blipFill>
          <a:blip r:embed="rId2"/>
          <a:stretch>
            <a:fillRect/>
          </a:stretch>
        </p:blipFill>
        <p:spPr>
          <a:xfrm>
            <a:off x="1628151" y="3429000"/>
            <a:ext cx="9564435" cy="800212"/>
          </a:xfrm>
          <a:prstGeom prst="rect">
            <a:avLst/>
          </a:prstGeom>
        </p:spPr>
      </p:pic>
      <p:pic>
        <p:nvPicPr>
          <p:cNvPr id="4" name="Picture 3">
            <a:extLst>
              <a:ext uri="{FF2B5EF4-FFF2-40B4-BE49-F238E27FC236}">
                <a16:creationId xmlns:a16="http://schemas.microsoft.com/office/drawing/2014/main" id="{1E7C76EA-A7E0-B570-D42E-6A1DA1FB491F}"/>
              </a:ext>
            </a:extLst>
          </p:cNvPr>
          <p:cNvPicPr>
            <a:picLocks noChangeAspect="1"/>
          </p:cNvPicPr>
          <p:nvPr/>
        </p:nvPicPr>
        <p:blipFill>
          <a:blip r:embed="rId3"/>
          <a:stretch>
            <a:fillRect/>
          </a:stretch>
        </p:blipFill>
        <p:spPr>
          <a:xfrm>
            <a:off x="1051808" y="1269263"/>
            <a:ext cx="10088383" cy="3277057"/>
          </a:xfrm>
          <a:prstGeom prst="rect">
            <a:avLst/>
          </a:prstGeom>
        </p:spPr>
      </p:pic>
    </p:spTree>
    <p:extLst>
      <p:ext uri="{BB962C8B-B14F-4D97-AF65-F5344CB8AC3E}">
        <p14:creationId xmlns:p14="http://schemas.microsoft.com/office/powerpoint/2010/main" val="3354983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221</TotalTime>
  <Words>653</Words>
  <Application>Microsoft Office PowerPoint</Application>
  <PresentationFormat>Widescreen</PresentationFormat>
  <Paragraphs>56</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Jorge Mario Becerra Pareja</dc:creator>
  <cp:lastModifiedBy>Jorge Mario Becerra Pareja</cp:lastModifiedBy>
  <cp:revision>39</cp:revision>
  <dcterms:created xsi:type="dcterms:W3CDTF">2025-11-17T23:44:46Z</dcterms:created>
  <dcterms:modified xsi:type="dcterms:W3CDTF">2025-11-18T03:26:22Z</dcterms:modified>
</cp:coreProperties>
</file>