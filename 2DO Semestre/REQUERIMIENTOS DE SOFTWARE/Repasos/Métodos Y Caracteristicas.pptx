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0"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F3163-BA8A-7CC3-EF08-296F0F7FBB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5051364-CD6F-E6D1-9EB6-8FE286E58A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7A8997-9E6E-B4BC-F9BA-8E55BB680D10}"/>
              </a:ext>
            </a:extLst>
          </p:cNvPr>
          <p:cNvSpPr>
            <a:spLocks noGrp="1"/>
          </p:cNvSpPr>
          <p:nvPr>
            <p:ph type="dt" sz="half" idx="10"/>
          </p:nvPr>
        </p:nvSpPr>
        <p:spPr/>
        <p:txBody>
          <a:bodyPr/>
          <a:lstStyle/>
          <a:p>
            <a:fld id="{E86E3ADB-DFA8-4285-9D73-A1F6B878D84E}" type="datetimeFigureOut">
              <a:rPr lang="en-US" smtClean="0"/>
              <a:t>8/17/2025</a:t>
            </a:fld>
            <a:endParaRPr lang="en-US"/>
          </a:p>
        </p:txBody>
      </p:sp>
      <p:sp>
        <p:nvSpPr>
          <p:cNvPr id="5" name="Footer Placeholder 4">
            <a:extLst>
              <a:ext uri="{FF2B5EF4-FFF2-40B4-BE49-F238E27FC236}">
                <a16:creationId xmlns:a16="http://schemas.microsoft.com/office/drawing/2014/main" id="{C180D70B-D6A9-EEA4-3006-073656977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49C6FE-B028-9D5F-DF93-4470D4CA906D}"/>
              </a:ext>
            </a:extLst>
          </p:cNvPr>
          <p:cNvSpPr>
            <a:spLocks noGrp="1"/>
          </p:cNvSpPr>
          <p:nvPr>
            <p:ph type="sldNum" sz="quarter" idx="12"/>
          </p:nvPr>
        </p:nvSpPr>
        <p:spPr/>
        <p:txBody>
          <a:bodyPr/>
          <a:lstStyle/>
          <a:p>
            <a:fld id="{31561A14-9F3E-439A-9128-96C86417026C}" type="slidenum">
              <a:rPr lang="en-US" smtClean="0"/>
              <a:t>‹#›</a:t>
            </a:fld>
            <a:endParaRPr lang="en-US"/>
          </a:p>
        </p:txBody>
      </p:sp>
    </p:spTree>
    <p:extLst>
      <p:ext uri="{BB962C8B-B14F-4D97-AF65-F5344CB8AC3E}">
        <p14:creationId xmlns:p14="http://schemas.microsoft.com/office/powerpoint/2010/main" val="3808956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05882-392A-1419-CFA6-8700DBAB0A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911225-D011-5F0E-D11C-9717127556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A780C1-E64C-B958-BB86-E2574647B80C}"/>
              </a:ext>
            </a:extLst>
          </p:cNvPr>
          <p:cNvSpPr>
            <a:spLocks noGrp="1"/>
          </p:cNvSpPr>
          <p:nvPr>
            <p:ph type="dt" sz="half" idx="10"/>
          </p:nvPr>
        </p:nvSpPr>
        <p:spPr/>
        <p:txBody>
          <a:bodyPr/>
          <a:lstStyle/>
          <a:p>
            <a:fld id="{E86E3ADB-DFA8-4285-9D73-A1F6B878D84E}" type="datetimeFigureOut">
              <a:rPr lang="en-US" smtClean="0"/>
              <a:t>8/17/2025</a:t>
            </a:fld>
            <a:endParaRPr lang="en-US"/>
          </a:p>
        </p:txBody>
      </p:sp>
      <p:sp>
        <p:nvSpPr>
          <p:cNvPr id="5" name="Footer Placeholder 4">
            <a:extLst>
              <a:ext uri="{FF2B5EF4-FFF2-40B4-BE49-F238E27FC236}">
                <a16:creationId xmlns:a16="http://schemas.microsoft.com/office/drawing/2014/main" id="{C7444349-7605-0E0D-44A4-D339E3BC79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4A550D-77F0-121D-26FE-D94CCE04646C}"/>
              </a:ext>
            </a:extLst>
          </p:cNvPr>
          <p:cNvSpPr>
            <a:spLocks noGrp="1"/>
          </p:cNvSpPr>
          <p:nvPr>
            <p:ph type="sldNum" sz="quarter" idx="12"/>
          </p:nvPr>
        </p:nvSpPr>
        <p:spPr/>
        <p:txBody>
          <a:bodyPr/>
          <a:lstStyle/>
          <a:p>
            <a:fld id="{31561A14-9F3E-439A-9128-96C86417026C}" type="slidenum">
              <a:rPr lang="en-US" smtClean="0"/>
              <a:t>‹#›</a:t>
            </a:fld>
            <a:endParaRPr lang="en-US"/>
          </a:p>
        </p:txBody>
      </p:sp>
    </p:spTree>
    <p:extLst>
      <p:ext uri="{BB962C8B-B14F-4D97-AF65-F5344CB8AC3E}">
        <p14:creationId xmlns:p14="http://schemas.microsoft.com/office/powerpoint/2010/main" val="622695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F1320-4D37-AC84-47E2-3F43676F51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2428F6-84B9-A284-3373-2E3DA82E3A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9D6E06-D89A-D1BF-98B4-8B366986BAEC}"/>
              </a:ext>
            </a:extLst>
          </p:cNvPr>
          <p:cNvSpPr>
            <a:spLocks noGrp="1"/>
          </p:cNvSpPr>
          <p:nvPr>
            <p:ph type="dt" sz="half" idx="10"/>
          </p:nvPr>
        </p:nvSpPr>
        <p:spPr/>
        <p:txBody>
          <a:bodyPr/>
          <a:lstStyle/>
          <a:p>
            <a:fld id="{E86E3ADB-DFA8-4285-9D73-A1F6B878D84E}" type="datetimeFigureOut">
              <a:rPr lang="en-US" smtClean="0"/>
              <a:t>8/17/2025</a:t>
            </a:fld>
            <a:endParaRPr lang="en-US"/>
          </a:p>
        </p:txBody>
      </p:sp>
      <p:sp>
        <p:nvSpPr>
          <p:cNvPr id="5" name="Footer Placeholder 4">
            <a:extLst>
              <a:ext uri="{FF2B5EF4-FFF2-40B4-BE49-F238E27FC236}">
                <a16:creationId xmlns:a16="http://schemas.microsoft.com/office/drawing/2014/main" id="{93D070A3-6B3B-9E59-5038-08AB0E9330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A1913D-DBBF-9DF3-34B6-52F5F565787F}"/>
              </a:ext>
            </a:extLst>
          </p:cNvPr>
          <p:cNvSpPr>
            <a:spLocks noGrp="1"/>
          </p:cNvSpPr>
          <p:nvPr>
            <p:ph type="sldNum" sz="quarter" idx="12"/>
          </p:nvPr>
        </p:nvSpPr>
        <p:spPr/>
        <p:txBody>
          <a:bodyPr/>
          <a:lstStyle/>
          <a:p>
            <a:fld id="{31561A14-9F3E-439A-9128-96C86417026C}" type="slidenum">
              <a:rPr lang="en-US" smtClean="0"/>
              <a:t>‹#›</a:t>
            </a:fld>
            <a:endParaRPr lang="en-US"/>
          </a:p>
        </p:txBody>
      </p:sp>
    </p:spTree>
    <p:extLst>
      <p:ext uri="{BB962C8B-B14F-4D97-AF65-F5344CB8AC3E}">
        <p14:creationId xmlns:p14="http://schemas.microsoft.com/office/powerpoint/2010/main" val="2589706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89924-BBAD-0410-6C6B-C1132D6734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D6AD86-7486-845A-D899-5F30068D77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75675D-FC0C-A52B-4485-78B9EA78CB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B9E2EF-BB44-C58A-8B19-4A31BBF446D9}"/>
              </a:ext>
            </a:extLst>
          </p:cNvPr>
          <p:cNvSpPr>
            <a:spLocks noGrp="1"/>
          </p:cNvSpPr>
          <p:nvPr>
            <p:ph type="dt" sz="half" idx="10"/>
          </p:nvPr>
        </p:nvSpPr>
        <p:spPr/>
        <p:txBody>
          <a:bodyPr/>
          <a:lstStyle/>
          <a:p>
            <a:fld id="{E86E3ADB-DFA8-4285-9D73-A1F6B878D84E}" type="datetimeFigureOut">
              <a:rPr lang="en-US" smtClean="0"/>
              <a:t>8/17/2025</a:t>
            </a:fld>
            <a:endParaRPr lang="en-US"/>
          </a:p>
        </p:txBody>
      </p:sp>
      <p:sp>
        <p:nvSpPr>
          <p:cNvPr id="6" name="Footer Placeholder 5">
            <a:extLst>
              <a:ext uri="{FF2B5EF4-FFF2-40B4-BE49-F238E27FC236}">
                <a16:creationId xmlns:a16="http://schemas.microsoft.com/office/drawing/2014/main" id="{C9224451-8C6C-D01C-5EFE-D4E6550E7C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3A247B-6754-D0C5-7AAB-DEABD6A32E86}"/>
              </a:ext>
            </a:extLst>
          </p:cNvPr>
          <p:cNvSpPr>
            <a:spLocks noGrp="1"/>
          </p:cNvSpPr>
          <p:nvPr>
            <p:ph type="sldNum" sz="quarter" idx="12"/>
          </p:nvPr>
        </p:nvSpPr>
        <p:spPr/>
        <p:txBody>
          <a:bodyPr/>
          <a:lstStyle/>
          <a:p>
            <a:fld id="{31561A14-9F3E-439A-9128-96C86417026C}" type="slidenum">
              <a:rPr lang="en-US" smtClean="0"/>
              <a:t>‹#›</a:t>
            </a:fld>
            <a:endParaRPr lang="en-US"/>
          </a:p>
        </p:txBody>
      </p:sp>
    </p:spTree>
    <p:extLst>
      <p:ext uri="{BB962C8B-B14F-4D97-AF65-F5344CB8AC3E}">
        <p14:creationId xmlns:p14="http://schemas.microsoft.com/office/powerpoint/2010/main" val="119746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8E3E3-D83D-F86E-2422-4B2ECE585A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9B21B1-630F-C5ED-C97F-4AACCA6702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FBE492-A55E-EB9F-4E65-2F44C7CC5D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3652B7-2E61-320B-695D-D6B20259FC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29E815-62A8-12DF-05DA-AABF78E34C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AE4ED6-7B8D-9662-53F8-4D10EDC83D4C}"/>
              </a:ext>
            </a:extLst>
          </p:cNvPr>
          <p:cNvSpPr>
            <a:spLocks noGrp="1"/>
          </p:cNvSpPr>
          <p:nvPr>
            <p:ph type="dt" sz="half" idx="10"/>
          </p:nvPr>
        </p:nvSpPr>
        <p:spPr/>
        <p:txBody>
          <a:bodyPr/>
          <a:lstStyle/>
          <a:p>
            <a:fld id="{E86E3ADB-DFA8-4285-9D73-A1F6B878D84E}" type="datetimeFigureOut">
              <a:rPr lang="en-US" smtClean="0"/>
              <a:t>8/17/2025</a:t>
            </a:fld>
            <a:endParaRPr lang="en-US"/>
          </a:p>
        </p:txBody>
      </p:sp>
      <p:sp>
        <p:nvSpPr>
          <p:cNvPr id="8" name="Footer Placeholder 7">
            <a:extLst>
              <a:ext uri="{FF2B5EF4-FFF2-40B4-BE49-F238E27FC236}">
                <a16:creationId xmlns:a16="http://schemas.microsoft.com/office/drawing/2014/main" id="{3CD0BDD1-9CEF-D546-485D-CAF6D53572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417B1F-C256-F4B5-F80A-FD0288AA6D6E}"/>
              </a:ext>
            </a:extLst>
          </p:cNvPr>
          <p:cNvSpPr>
            <a:spLocks noGrp="1"/>
          </p:cNvSpPr>
          <p:nvPr>
            <p:ph type="sldNum" sz="quarter" idx="12"/>
          </p:nvPr>
        </p:nvSpPr>
        <p:spPr/>
        <p:txBody>
          <a:bodyPr/>
          <a:lstStyle/>
          <a:p>
            <a:fld id="{31561A14-9F3E-439A-9128-96C86417026C}" type="slidenum">
              <a:rPr lang="en-US" smtClean="0"/>
              <a:t>‹#›</a:t>
            </a:fld>
            <a:endParaRPr lang="en-US"/>
          </a:p>
        </p:txBody>
      </p:sp>
    </p:spTree>
    <p:extLst>
      <p:ext uri="{BB962C8B-B14F-4D97-AF65-F5344CB8AC3E}">
        <p14:creationId xmlns:p14="http://schemas.microsoft.com/office/powerpoint/2010/main" val="93253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F8D5D-F9B8-306C-C604-59C1BCDDE4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92FBFC-C73F-05A5-D616-9728E295FBEE}"/>
              </a:ext>
            </a:extLst>
          </p:cNvPr>
          <p:cNvSpPr>
            <a:spLocks noGrp="1"/>
          </p:cNvSpPr>
          <p:nvPr>
            <p:ph type="dt" sz="half" idx="10"/>
          </p:nvPr>
        </p:nvSpPr>
        <p:spPr/>
        <p:txBody>
          <a:bodyPr/>
          <a:lstStyle/>
          <a:p>
            <a:fld id="{E86E3ADB-DFA8-4285-9D73-A1F6B878D84E}" type="datetimeFigureOut">
              <a:rPr lang="en-US" smtClean="0"/>
              <a:t>8/17/2025</a:t>
            </a:fld>
            <a:endParaRPr lang="en-US"/>
          </a:p>
        </p:txBody>
      </p:sp>
      <p:sp>
        <p:nvSpPr>
          <p:cNvPr id="4" name="Footer Placeholder 3">
            <a:extLst>
              <a:ext uri="{FF2B5EF4-FFF2-40B4-BE49-F238E27FC236}">
                <a16:creationId xmlns:a16="http://schemas.microsoft.com/office/drawing/2014/main" id="{97C4FFC6-F78B-4D27-85BB-332BAE3F9E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495BFB-D238-B459-98CE-A088C458CC5F}"/>
              </a:ext>
            </a:extLst>
          </p:cNvPr>
          <p:cNvSpPr>
            <a:spLocks noGrp="1"/>
          </p:cNvSpPr>
          <p:nvPr>
            <p:ph type="sldNum" sz="quarter" idx="12"/>
          </p:nvPr>
        </p:nvSpPr>
        <p:spPr/>
        <p:txBody>
          <a:bodyPr/>
          <a:lstStyle/>
          <a:p>
            <a:fld id="{31561A14-9F3E-439A-9128-96C86417026C}" type="slidenum">
              <a:rPr lang="en-US" smtClean="0"/>
              <a:t>‹#›</a:t>
            </a:fld>
            <a:endParaRPr lang="en-US"/>
          </a:p>
        </p:txBody>
      </p:sp>
    </p:spTree>
    <p:extLst>
      <p:ext uri="{BB962C8B-B14F-4D97-AF65-F5344CB8AC3E}">
        <p14:creationId xmlns:p14="http://schemas.microsoft.com/office/powerpoint/2010/main" val="184163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4CC987-8728-D5E4-99DF-0B6310DCB8D2}"/>
              </a:ext>
            </a:extLst>
          </p:cNvPr>
          <p:cNvSpPr>
            <a:spLocks noGrp="1"/>
          </p:cNvSpPr>
          <p:nvPr>
            <p:ph type="dt" sz="half" idx="10"/>
          </p:nvPr>
        </p:nvSpPr>
        <p:spPr/>
        <p:txBody>
          <a:bodyPr/>
          <a:lstStyle/>
          <a:p>
            <a:fld id="{E86E3ADB-DFA8-4285-9D73-A1F6B878D84E}" type="datetimeFigureOut">
              <a:rPr lang="en-US" smtClean="0"/>
              <a:t>8/17/2025</a:t>
            </a:fld>
            <a:endParaRPr lang="en-US"/>
          </a:p>
        </p:txBody>
      </p:sp>
      <p:sp>
        <p:nvSpPr>
          <p:cNvPr id="3" name="Footer Placeholder 2">
            <a:extLst>
              <a:ext uri="{FF2B5EF4-FFF2-40B4-BE49-F238E27FC236}">
                <a16:creationId xmlns:a16="http://schemas.microsoft.com/office/drawing/2014/main" id="{13D06DA4-2366-0E4D-F781-6558AF0C38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AC2B4F-4469-E5D7-354C-3D3E76DF8DA0}"/>
              </a:ext>
            </a:extLst>
          </p:cNvPr>
          <p:cNvSpPr>
            <a:spLocks noGrp="1"/>
          </p:cNvSpPr>
          <p:nvPr>
            <p:ph type="sldNum" sz="quarter" idx="12"/>
          </p:nvPr>
        </p:nvSpPr>
        <p:spPr/>
        <p:txBody>
          <a:bodyPr/>
          <a:lstStyle/>
          <a:p>
            <a:fld id="{31561A14-9F3E-439A-9128-96C86417026C}" type="slidenum">
              <a:rPr lang="en-US" smtClean="0"/>
              <a:t>‹#›</a:t>
            </a:fld>
            <a:endParaRPr lang="en-US"/>
          </a:p>
        </p:txBody>
      </p:sp>
    </p:spTree>
    <p:extLst>
      <p:ext uri="{BB962C8B-B14F-4D97-AF65-F5344CB8AC3E}">
        <p14:creationId xmlns:p14="http://schemas.microsoft.com/office/powerpoint/2010/main" val="1939036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63096-23F1-A401-A07F-EBE93F9AB1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ACBABD-28FD-5D1C-AE0D-3B6E3A34F3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958E89-9CD8-7DFC-A590-722CB2DDBB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401EF1-A079-9345-88B5-5FB1A8C1DEC9}"/>
              </a:ext>
            </a:extLst>
          </p:cNvPr>
          <p:cNvSpPr>
            <a:spLocks noGrp="1"/>
          </p:cNvSpPr>
          <p:nvPr>
            <p:ph type="dt" sz="half" idx="10"/>
          </p:nvPr>
        </p:nvSpPr>
        <p:spPr/>
        <p:txBody>
          <a:bodyPr/>
          <a:lstStyle/>
          <a:p>
            <a:fld id="{E86E3ADB-DFA8-4285-9D73-A1F6B878D84E}" type="datetimeFigureOut">
              <a:rPr lang="en-US" smtClean="0"/>
              <a:t>8/17/2025</a:t>
            </a:fld>
            <a:endParaRPr lang="en-US"/>
          </a:p>
        </p:txBody>
      </p:sp>
      <p:sp>
        <p:nvSpPr>
          <p:cNvPr id="6" name="Footer Placeholder 5">
            <a:extLst>
              <a:ext uri="{FF2B5EF4-FFF2-40B4-BE49-F238E27FC236}">
                <a16:creationId xmlns:a16="http://schemas.microsoft.com/office/drawing/2014/main" id="{9C4BAB98-3F9A-1726-2B1D-03051D4393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174AE-B3E6-B6CB-3690-0AF81189757C}"/>
              </a:ext>
            </a:extLst>
          </p:cNvPr>
          <p:cNvSpPr>
            <a:spLocks noGrp="1"/>
          </p:cNvSpPr>
          <p:nvPr>
            <p:ph type="sldNum" sz="quarter" idx="12"/>
          </p:nvPr>
        </p:nvSpPr>
        <p:spPr/>
        <p:txBody>
          <a:bodyPr/>
          <a:lstStyle/>
          <a:p>
            <a:fld id="{31561A14-9F3E-439A-9128-96C86417026C}" type="slidenum">
              <a:rPr lang="en-US" smtClean="0"/>
              <a:t>‹#›</a:t>
            </a:fld>
            <a:endParaRPr lang="en-US"/>
          </a:p>
        </p:txBody>
      </p:sp>
    </p:spTree>
    <p:extLst>
      <p:ext uri="{BB962C8B-B14F-4D97-AF65-F5344CB8AC3E}">
        <p14:creationId xmlns:p14="http://schemas.microsoft.com/office/powerpoint/2010/main" val="390781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52598-AA48-0A30-2311-AC52887AB2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EF2838-E74F-040E-0D6C-C908F069D3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4A645A-D40E-27E3-3366-0F5DEA9B8A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FB2BB2-0C18-2F7F-CE34-0BC5B20DE708}"/>
              </a:ext>
            </a:extLst>
          </p:cNvPr>
          <p:cNvSpPr>
            <a:spLocks noGrp="1"/>
          </p:cNvSpPr>
          <p:nvPr>
            <p:ph type="dt" sz="half" idx="10"/>
          </p:nvPr>
        </p:nvSpPr>
        <p:spPr/>
        <p:txBody>
          <a:bodyPr/>
          <a:lstStyle/>
          <a:p>
            <a:fld id="{E86E3ADB-DFA8-4285-9D73-A1F6B878D84E}" type="datetimeFigureOut">
              <a:rPr lang="en-US" smtClean="0"/>
              <a:t>8/17/2025</a:t>
            </a:fld>
            <a:endParaRPr lang="en-US"/>
          </a:p>
        </p:txBody>
      </p:sp>
      <p:sp>
        <p:nvSpPr>
          <p:cNvPr id="6" name="Footer Placeholder 5">
            <a:extLst>
              <a:ext uri="{FF2B5EF4-FFF2-40B4-BE49-F238E27FC236}">
                <a16:creationId xmlns:a16="http://schemas.microsoft.com/office/drawing/2014/main" id="{C39539E6-87D1-A59F-B977-7D6F8BFFF8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F524B9-86D2-C632-F675-E9F41C641208}"/>
              </a:ext>
            </a:extLst>
          </p:cNvPr>
          <p:cNvSpPr>
            <a:spLocks noGrp="1"/>
          </p:cNvSpPr>
          <p:nvPr>
            <p:ph type="sldNum" sz="quarter" idx="12"/>
          </p:nvPr>
        </p:nvSpPr>
        <p:spPr/>
        <p:txBody>
          <a:bodyPr/>
          <a:lstStyle/>
          <a:p>
            <a:fld id="{31561A14-9F3E-439A-9128-96C86417026C}" type="slidenum">
              <a:rPr lang="en-US" smtClean="0"/>
              <a:t>‹#›</a:t>
            </a:fld>
            <a:endParaRPr lang="en-US"/>
          </a:p>
        </p:txBody>
      </p:sp>
    </p:spTree>
    <p:extLst>
      <p:ext uri="{BB962C8B-B14F-4D97-AF65-F5344CB8AC3E}">
        <p14:creationId xmlns:p14="http://schemas.microsoft.com/office/powerpoint/2010/main" val="2213147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9A9B0-1E9B-5E80-7803-CA56369F2A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A323D5-9B78-6991-7994-0403BBA27E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66E347-4DF8-F21C-00AD-9FCA4EC0ED7E}"/>
              </a:ext>
            </a:extLst>
          </p:cNvPr>
          <p:cNvSpPr>
            <a:spLocks noGrp="1"/>
          </p:cNvSpPr>
          <p:nvPr>
            <p:ph type="dt" sz="half" idx="10"/>
          </p:nvPr>
        </p:nvSpPr>
        <p:spPr/>
        <p:txBody>
          <a:bodyPr/>
          <a:lstStyle/>
          <a:p>
            <a:fld id="{E86E3ADB-DFA8-4285-9D73-A1F6B878D84E}" type="datetimeFigureOut">
              <a:rPr lang="en-US" smtClean="0"/>
              <a:t>8/17/2025</a:t>
            </a:fld>
            <a:endParaRPr lang="en-US"/>
          </a:p>
        </p:txBody>
      </p:sp>
      <p:sp>
        <p:nvSpPr>
          <p:cNvPr id="5" name="Footer Placeholder 4">
            <a:extLst>
              <a:ext uri="{FF2B5EF4-FFF2-40B4-BE49-F238E27FC236}">
                <a16:creationId xmlns:a16="http://schemas.microsoft.com/office/drawing/2014/main" id="{2C8CEE45-51D1-96C1-72CF-3436234C4D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E8DD88-A244-7520-D1C8-1C735EB5EE0C}"/>
              </a:ext>
            </a:extLst>
          </p:cNvPr>
          <p:cNvSpPr>
            <a:spLocks noGrp="1"/>
          </p:cNvSpPr>
          <p:nvPr>
            <p:ph type="sldNum" sz="quarter" idx="12"/>
          </p:nvPr>
        </p:nvSpPr>
        <p:spPr/>
        <p:txBody>
          <a:bodyPr/>
          <a:lstStyle/>
          <a:p>
            <a:fld id="{31561A14-9F3E-439A-9128-96C86417026C}" type="slidenum">
              <a:rPr lang="en-US" smtClean="0"/>
              <a:t>‹#›</a:t>
            </a:fld>
            <a:endParaRPr lang="en-US"/>
          </a:p>
        </p:txBody>
      </p:sp>
    </p:spTree>
    <p:extLst>
      <p:ext uri="{BB962C8B-B14F-4D97-AF65-F5344CB8AC3E}">
        <p14:creationId xmlns:p14="http://schemas.microsoft.com/office/powerpoint/2010/main" val="288063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FBAE16-E98B-D193-A7D3-AE7A89891E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AF4C992-C916-B2C7-6793-FE1FF87B8A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7E32E4-069C-D00B-2989-C8143692F073}"/>
              </a:ext>
            </a:extLst>
          </p:cNvPr>
          <p:cNvSpPr>
            <a:spLocks noGrp="1"/>
          </p:cNvSpPr>
          <p:nvPr>
            <p:ph type="dt" sz="half" idx="10"/>
          </p:nvPr>
        </p:nvSpPr>
        <p:spPr/>
        <p:txBody>
          <a:bodyPr/>
          <a:lstStyle/>
          <a:p>
            <a:fld id="{E86E3ADB-DFA8-4285-9D73-A1F6B878D84E}" type="datetimeFigureOut">
              <a:rPr lang="en-US" smtClean="0"/>
              <a:t>8/17/2025</a:t>
            </a:fld>
            <a:endParaRPr lang="en-US"/>
          </a:p>
        </p:txBody>
      </p:sp>
      <p:sp>
        <p:nvSpPr>
          <p:cNvPr id="5" name="Footer Placeholder 4">
            <a:extLst>
              <a:ext uri="{FF2B5EF4-FFF2-40B4-BE49-F238E27FC236}">
                <a16:creationId xmlns:a16="http://schemas.microsoft.com/office/drawing/2014/main" id="{E3D57C48-AE0E-EB86-F5BB-0CA154C6E8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0170CE-2053-B081-9939-C13E8B2C8454}"/>
              </a:ext>
            </a:extLst>
          </p:cNvPr>
          <p:cNvSpPr>
            <a:spLocks noGrp="1"/>
          </p:cNvSpPr>
          <p:nvPr>
            <p:ph type="sldNum" sz="quarter" idx="12"/>
          </p:nvPr>
        </p:nvSpPr>
        <p:spPr/>
        <p:txBody>
          <a:bodyPr/>
          <a:lstStyle/>
          <a:p>
            <a:fld id="{31561A14-9F3E-439A-9128-96C86417026C}" type="slidenum">
              <a:rPr lang="en-US" smtClean="0"/>
              <a:t>‹#›</a:t>
            </a:fld>
            <a:endParaRPr lang="en-US"/>
          </a:p>
        </p:txBody>
      </p:sp>
    </p:spTree>
    <p:extLst>
      <p:ext uri="{BB962C8B-B14F-4D97-AF65-F5344CB8AC3E}">
        <p14:creationId xmlns:p14="http://schemas.microsoft.com/office/powerpoint/2010/main" val="1844207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9369D1-C0DD-595E-62BA-FD90D155C5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71EB2F-CDBA-44D8-116B-D3F3296DCE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6E019C-871B-2468-2CAD-46B79A4F14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6E3ADB-DFA8-4285-9D73-A1F6B878D84E}" type="datetimeFigureOut">
              <a:rPr lang="en-US" smtClean="0"/>
              <a:t>8/17/2025</a:t>
            </a:fld>
            <a:endParaRPr lang="en-US"/>
          </a:p>
        </p:txBody>
      </p:sp>
      <p:sp>
        <p:nvSpPr>
          <p:cNvPr id="5" name="Footer Placeholder 4">
            <a:extLst>
              <a:ext uri="{FF2B5EF4-FFF2-40B4-BE49-F238E27FC236}">
                <a16:creationId xmlns:a16="http://schemas.microsoft.com/office/drawing/2014/main" id="{5BDF001B-9D97-2AB4-5BFB-6A5D4E0933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1BDAD0F-6F88-D5B9-5ABC-C6EF25029D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561A14-9F3E-439A-9128-96C86417026C}" type="slidenum">
              <a:rPr lang="en-US" smtClean="0"/>
              <a:t>‹#›</a:t>
            </a:fld>
            <a:endParaRPr lang="en-US"/>
          </a:p>
        </p:txBody>
      </p:sp>
    </p:spTree>
    <p:extLst>
      <p:ext uri="{BB962C8B-B14F-4D97-AF65-F5344CB8AC3E}">
        <p14:creationId xmlns:p14="http://schemas.microsoft.com/office/powerpoint/2010/main" val="17984004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DACC03-50B6-2959-9A1C-260182BCEA90}"/>
              </a:ext>
            </a:extLst>
          </p:cNvPr>
          <p:cNvSpPr txBox="1"/>
          <p:nvPr/>
        </p:nvSpPr>
        <p:spPr>
          <a:xfrm>
            <a:off x="1380744" y="731520"/>
            <a:ext cx="9134856" cy="3970318"/>
          </a:xfrm>
          <a:prstGeom prst="rect">
            <a:avLst/>
          </a:prstGeom>
          <a:noFill/>
        </p:spPr>
        <p:txBody>
          <a:bodyPr wrap="square" rtlCol="0">
            <a:spAutoFit/>
          </a:bodyPr>
          <a:lstStyle/>
          <a:p>
            <a:r>
              <a:rPr lang="es-CO" sz="2800" b="1" dirty="0"/>
              <a:t>Métodos de ingeniería de software</a:t>
            </a:r>
          </a:p>
          <a:p>
            <a:endParaRPr lang="es-CO" sz="2800" b="1" dirty="0">
              <a:solidFill>
                <a:srgbClr val="FF0000"/>
              </a:solidFill>
            </a:endParaRPr>
          </a:p>
          <a:p>
            <a:endParaRPr lang="es-CO" sz="2800" b="1" dirty="0">
              <a:solidFill>
                <a:srgbClr val="FF0000"/>
              </a:solidFill>
            </a:endParaRPr>
          </a:p>
          <a:p>
            <a:r>
              <a:rPr lang="es-CO" sz="2800" b="1" dirty="0"/>
              <a:t>Bibliografía</a:t>
            </a:r>
          </a:p>
          <a:p>
            <a:endParaRPr lang="es-CO" sz="2800" b="1" dirty="0"/>
          </a:p>
          <a:p>
            <a:r>
              <a:rPr lang="en-US" sz="2800" dirty="0"/>
              <a:t>Ingeniería de software. Ian Sommerville. 2009</a:t>
            </a:r>
          </a:p>
          <a:p>
            <a:endParaRPr lang="en-US" sz="2800" dirty="0"/>
          </a:p>
          <a:p>
            <a:r>
              <a:rPr lang="en-US" sz="2800" dirty="0" err="1"/>
              <a:t>Metodologías</a:t>
            </a:r>
            <a:r>
              <a:rPr lang="en-US" sz="2800" dirty="0"/>
              <a:t> </a:t>
            </a:r>
            <a:r>
              <a:rPr lang="en-US" sz="2800" dirty="0" err="1"/>
              <a:t>ágiles</a:t>
            </a:r>
            <a:r>
              <a:rPr lang="en-US" sz="2800" dirty="0"/>
              <a:t> para </a:t>
            </a:r>
            <a:r>
              <a:rPr lang="en-US" sz="2800" dirty="0" err="1"/>
              <a:t>el</a:t>
            </a:r>
            <a:r>
              <a:rPr lang="en-US" sz="2800" dirty="0"/>
              <a:t> Desarrollo del software. </a:t>
            </a:r>
          </a:p>
          <a:p>
            <a:r>
              <a:rPr lang="en-US" sz="2800" dirty="0"/>
              <a:t>Alexandra </a:t>
            </a:r>
            <a:r>
              <a:rPr lang="en-US" sz="2800" dirty="0" err="1"/>
              <a:t>Abuchar</a:t>
            </a:r>
            <a:r>
              <a:rPr lang="en-US" sz="2800" dirty="0"/>
              <a:t> Porras. 2023</a:t>
            </a:r>
          </a:p>
        </p:txBody>
      </p:sp>
    </p:spTree>
    <p:extLst>
      <p:ext uri="{BB962C8B-B14F-4D97-AF65-F5344CB8AC3E}">
        <p14:creationId xmlns:p14="http://schemas.microsoft.com/office/powerpoint/2010/main" val="2739646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29DBD7-D581-79AB-20BA-66C3DD4ABAF2}"/>
              </a:ext>
            </a:extLst>
          </p:cNvPr>
          <p:cNvSpPr txBox="1"/>
          <p:nvPr/>
        </p:nvSpPr>
        <p:spPr>
          <a:xfrm>
            <a:off x="283464" y="1746504"/>
            <a:ext cx="3447288" cy="1200329"/>
          </a:xfrm>
          <a:prstGeom prst="rect">
            <a:avLst/>
          </a:prstGeom>
          <a:noFill/>
        </p:spPr>
        <p:txBody>
          <a:bodyPr wrap="square" rtlCol="0">
            <a:spAutoFit/>
          </a:bodyPr>
          <a:lstStyle/>
          <a:p>
            <a:r>
              <a:rPr lang="es-CO" sz="2400" b="1" dirty="0">
                <a:solidFill>
                  <a:srgbClr val="FF0000"/>
                </a:solidFill>
              </a:rPr>
              <a:t>Preguntas planteadas con frecuencia sobre </a:t>
            </a:r>
          </a:p>
          <a:p>
            <a:r>
              <a:rPr lang="es-CO" sz="2400" b="1" dirty="0">
                <a:solidFill>
                  <a:srgbClr val="FF0000"/>
                </a:solidFill>
              </a:rPr>
              <a:t>ingeniería de software</a:t>
            </a:r>
            <a:endParaRPr lang="en-US" sz="2400" b="1" dirty="0">
              <a:solidFill>
                <a:srgbClr val="FF0000"/>
              </a:solidFill>
            </a:endParaRPr>
          </a:p>
        </p:txBody>
      </p:sp>
      <p:pic>
        <p:nvPicPr>
          <p:cNvPr id="6" name="Picture 5">
            <a:extLst>
              <a:ext uri="{FF2B5EF4-FFF2-40B4-BE49-F238E27FC236}">
                <a16:creationId xmlns:a16="http://schemas.microsoft.com/office/drawing/2014/main" id="{21AB848B-86B8-76F9-ED81-5839BE2E7B5A}"/>
              </a:ext>
            </a:extLst>
          </p:cNvPr>
          <p:cNvPicPr>
            <a:picLocks noChangeAspect="1"/>
          </p:cNvPicPr>
          <p:nvPr/>
        </p:nvPicPr>
        <p:blipFill>
          <a:blip r:embed="rId2"/>
          <a:stretch>
            <a:fillRect/>
          </a:stretch>
        </p:blipFill>
        <p:spPr>
          <a:xfrm>
            <a:off x="4172657" y="192024"/>
            <a:ext cx="6408149" cy="6236208"/>
          </a:xfrm>
          <a:prstGeom prst="rect">
            <a:avLst/>
          </a:prstGeom>
        </p:spPr>
      </p:pic>
    </p:spTree>
    <p:extLst>
      <p:ext uri="{BB962C8B-B14F-4D97-AF65-F5344CB8AC3E}">
        <p14:creationId xmlns:p14="http://schemas.microsoft.com/office/powerpoint/2010/main" val="3835677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A21A9-A5C0-7D59-E7AF-374B2EE006B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7679382-A299-12D9-2781-0C3FBE7B3645}"/>
              </a:ext>
            </a:extLst>
          </p:cNvPr>
          <p:cNvSpPr txBox="1"/>
          <p:nvPr/>
        </p:nvSpPr>
        <p:spPr>
          <a:xfrm>
            <a:off x="1115568" y="286318"/>
            <a:ext cx="3447288" cy="461665"/>
          </a:xfrm>
          <a:prstGeom prst="rect">
            <a:avLst/>
          </a:prstGeom>
          <a:noFill/>
        </p:spPr>
        <p:txBody>
          <a:bodyPr wrap="square" rtlCol="0">
            <a:spAutoFit/>
          </a:bodyPr>
          <a:lstStyle/>
          <a:p>
            <a:r>
              <a:rPr lang="es-CO" sz="2400" b="1" dirty="0">
                <a:solidFill>
                  <a:srgbClr val="FF0000"/>
                </a:solidFill>
              </a:rPr>
              <a:t>La crisis del software</a:t>
            </a:r>
            <a:endParaRPr lang="en-US" sz="2400" b="1" dirty="0">
              <a:solidFill>
                <a:srgbClr val="FF0000"/>
              </a:solidFill>
            </a:endParaRPr>
          </a:p>
        </p:txBody>
      </p:sp>
      <p:pic>
        <p:nvPicPr>
          <p:cNvPr id="3" name="Picture 2">
            <a:extLst>
              <a:ext uri="{FF2B5EF4-FFF2-40B4-BE49-F238E27FC236}">
                <a16:creationId xmlns:a16="http://schemas.microsoft.com/office/drawing/2014/main" id="{0FB8C15C-ED35-1552-AA85-40BA3CE02D4E}"/>
              </a:ext>
            </a:extLst>
          </p:cNvPr>
          <p:cNvPicPr>
            <a:picLocks noChangeAspect="1"/>
          </p:cNvPicPr>
          <p:nvPr/>
        </p:nvPicPr>
        <p:blipFill>
          <a:blip r:embed="rId2"/>
          <a:stretch>
            <a:fillRect/>
          </a:stretch>
        </p:blipFill>
        <p:spPr>
          <a:xfrm>
            <a:off x="1383600" y="747983"/>
            <a:ext cx="9836088" cy="5362034"/>
          </a:xfrm>
          <a:prstGeom prst="rect">
            <a:avLst/>
          </a:prstGeom>
        </p:spPr>
      </p:pic>
    </p:spTree>
    <p:extLst>
      <p:ext uri="{BB962C8B-B14F-4D97-AF65-F5344CB8AC3E}">
        <p14:creationId xmlns:p14="http://schemas.microsoft.com/office/powerpoint/2010/main" val="2602572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50A0E-854A-D83D-6461-00FE126458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CB5ED11-4FCB-ABA1-C778-D8851AE4FB5D}"/>
              </a:ext>
            </a:extLst>
          </p:cNvPr>
          <p:cNvSpPr txBox="1"/>
          <p:nvPr/>
        </p:nvSpPr>
        <p:spPr>
          <a:xfrm>
            <a:off x="1139952" y="886968"/>
            <a:ext cx="9912096" cy="4216539"/>
          </a:xfrm>
          <a:prstGeom prst="rect">
            <a:avLst/>
          </a:prstGeom>
          <a:noFill/>
        </p:spPr>
        <p:txBody>
          <a:bodyPr wrap="square" rtlCol="0">
            <a:spAutoFit/>
          </a:bodyPr>
          <a:lstStyle/>
          <a:p>
            <a:r>
              <a:rPr lang="es-CO" sz="2800" b="1" dirty="0">
                <a:solidFill>
                  <a:srgbClr val="FF0000"/>
                </a:solidFill>
              </a:rPr>
              <a:t>Estándares ISO</a:t>
            </a:r>
          </a:p>
          <a:p>
            <a:endParaRPr lang="es-CO" sz="2400" dirty="0"/>
          </a:p>
          <a:p>
            <a:r>
              <a:rPr lang="es-CO" sz="2400" dirty="0"/>
              <a:t>La norma ISO 33000: calidad de procesos de desarrollo de software, evalúa la madurez en los procesos del ciclo de vida del software.</a:t>
            </a:r>
          </a:p>
          <a:p>
            <a:endParaRPr lang="es-CO" sz="2400" dirty="0"/>
          </a:p>
          <a:p>
            <a:r>
              <a:rPr lang="es-CO" sz="2400" dirty="0"/>
              <a:t>La norma ISO 12207: </a:t>
            </a:r>
            <a:r>
              <a:rPr lang="es-ES" sz="2400" dirty="0"/>
              <a:t>define el software como “Un marco de referencia que contiene los procesos, las actividades y las tareas involucradas en el desarrollo, la explotación y el mantenimiento de un producto de software, abarcando la vida del sistema desde la definición de los requisitos hasta la finalización de su uso”.</a:t>
            </a:r>
          </a:p>
          <a:p>
            <a:endParaRPr lang="es-CO" sz="2400" dirty="0"/>
          </a:p>
        </p:txBody>
      </p:sp>
    </p:spTree>
    <p:extLst>
      <p:ext uri="{BB962C8B-B14F-4D97-AF65-F5344CB8AC3E}">
        <p14:creationId xmlns:p14="http://schemas.microsoft.com/office/powerpoint/2010/main" val="1774789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221FE-2A01-A1DF-9321-3A29D23C83E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F755CB1-5E24-75A0-011F-B6C8BB10EDA6}"/>
              </a:ext>
            </a:extLst>
          </p:cNvPr>
          <p:cNvPicPr>
            <a:picLocks noChangeAspect="1"/>
          </p:cNvPicPr>
          <p:nvPr/>
        </p:nvPicPr>
        <p:blipFill>
          <a:blip r:embed="rId2"/>
          <a:stretch>
            <a:fillRect/>
          </a:stretch>
        </p:blipFill>
        <p:spPr>
          <a:xfrm>
            <a:off x="1847894" y="747983"/>
            <a:ext cx="8256226" cy="5890311"/>
          </a:xfrm>
          <a:prstGeom prst="rect">
            <a:avLst/>
          </a:prstGeom>
        </p:spPr>
      </p:pic>
      <p:sp>
        <p:nvSpPr>
          <p:cNvPr id="5" name="TextBox 4">
            <a:extLst>
              <a:ext uri="{FF2B5EF4-FFF2-40B4-BE49-F238E27FC236}">
                <a16:creationId xmlns:a16="http://schemas.microsoft.com/office/drawing/2014/main" id="{5AB158FF-5662-70C3-E07A-E50DB957DF23}"/>
              </a:ext>
            </a:extLst>
          </p:cNvPr>
          <p:cNvSpPr txBox="1"/>
          <p:nvPr/>
        </p:nvSpPr>
        <p:spPr>
          <a:xfrm>
            <a:off x="1115568" y="286318"/>
            <a:ext cx="3447288" cy="461665"/>
          </a:xfrm>
          <a:prstGeom prst="rect">
            <a:avLst/>
          </a:prstGeom>
          <a:noFill/>
        </p:spPr>
        <p:txBody>
          <a:bodyPr wrap="square" rtlCol="0">
            <a:spAutoFit/>
          </a:bodyPr>
          <a:lstStyle/>
          <a:p>
            <a:r>
              <a:rPr lang="es-CO" sz="2400" b="1" dirty="0">
                <a:solidFill>
                  <a:srgbClr val="FF0000"/>
                </a:solidFill>
              </a:rPr>
              <a:t>Proceso de software</a:t>
            </a:r>
            <a:endParaRPr lang="en-US" sz="2400" b="1" dirty="0">
              <a:solidFill>
                <a:srgbClr val="FF0000"/>
              </a:solidFill>
            </a:endParaRPr>
          </a:p>
        </p:txBody>
      </p:sp>
    </p:spTree>
    <p:extLst>
      <p:ext uri="{BB962C8B-B14F-4D97-AF65-F5344CB8AC3E}">
        <p14:creationId xmlns:p14="http://schemas.microsoft.com/office/powerpoint/2010/main" val="1655025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DC5DE-4F18-3F9C-31CF-7D3E0A02D2B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9695984-41F4-B4DA-A691-588EF6D9EBD0}"/>
              </a:ext>
            </a:extLst>
          </p:cNvPr>
          <p:cNvSpPr txBox="1"/>
          <p:nvPr/>
        </p:nvSpPr>
        <p:spPr>
          <a:xfrm>
            <a:off x="1229541" y="341182"/>
            <a:ext cx="3788664" cy="830997"/>
          </a:xfrm>
          <a:prstGeom prst="rect">
            <a:avLst/>
          </a:prstGeom>
          <a:noFill/>
        </p:spPr>
        <p:txBody>
          <a:bodyPr wrap="square" rtlCol="0">
            <a:spAutoFit/>
          </a:bodyPr>
          <a:lstStyle/>
          <a:p>
            <a:r>
              <a:rPr lang="es-CO" sz="2400" b="1" dirty="0">
                <a:solidFill>
                  <a:srgbClr val="FF0000"/>
                </a:solidFill>
              </a:rPr>
              <a:t>Características básicas del proceso de software</a:t>
            </a:r>
            <a:endParaRPr lang="en-US" sz="2400" b="1" dirty="0">
              <a:solidFill>
                <a:srgbClr val="FF0000"/>
              </a:solidFill>
            </a:endParaRPr>
          </a:p>
        </p:txBody>
      </p:sp>
      <p:pic>
        <p:nvPicPr>
          <p:cNvPr id="4" name="Picture 3">
            <a:extLst>
              <a:ext uri="{FF2B5EF4-FFF2-40B4-BE49-F238E27FC236}">
                <a16:creationId xmlns:a16="http://schemas.microsoft.com/office/drawing/2014/main" id="{2665701C-0C96-1A8F-FBA0-69CEFFDB5E09}"/>
              </a:ext>
            </a:extLst>
          </p:cNvPr>
          <p:cNvPicPr>
            <a:picLocks noChangeAspect="1"/>
          </p:cNvPicPr>
          <p:nvPr/>
        </p:nvPicPr>
        <p:blipFill>
          <a:blip r:embed="rId2"/>
          <a:stretch>
            <a:fillRect/>
          </a:stretch>
        </p:blipFill>
        <p:spPr>
          <a:xfrm>
            <a:off x="418260" y="1449976"/>
            <a:ext cx="5155195" cy="4195791"/>
          </a:xfrm>
          <a:prstGeom prst="rect">
            <a:avLst/>
          </a:prstGeom>
        </p:spPr>
      </p:pic>
      <p:pic>
        <p:nvPicPr>
          <p:cNvPr id="7" name="Picture 6">
            <a:extLst>
              <a:ext uri="{FF2B5EF4-FFF2-40B4-BE49-F238E27FC236}">
                <a16:creationId xmlns:a16="http://schemas.microsoft.com/office/drawing/2014/main" id="{C87AEB3A-D0C8-3CCA-B1D0-4BF0364F596C}"/>
              </a:ext>
            </a:extLst>
          </p:cNvPr>
          <p:cNvPicPr>
            <a:picLocks noChangeAspect="1"/>
          </p:cNvPicPr>
          <p:nvPr/>
        </p:nvPicPr>
        <p:blipFill>
          <a:blip r:embed="rId3"/>
          <a:stretch>
            <a:fillRect/>
          </a:stretch>
        </p:blipFill>
        <p:spPr>
          <a:xfrm>
            <a:off x="6525512" y="1449976"/>
            <a:ext cx="5155195" cy="4054345"/>
          </a:xfrm>
          <a:prstGeom prst="rect">
            <a:avLst/>
          </a:prstGeom>
        </p:spPr>
      </p:pic>
      <p:sp>
        <p:nvSpPr>
          <p:cNvPr id="8" name="TextBox 7">
            <a:extLst>
              <a:ext uri="{FF2B5EF4-FFF2-40B4-BE49-F238E27FC236}">
                <a16:creationId xmlns:a16="http://schemas.microsoft.com/office/drawing/2014/main" id="{89BE1DE1-A0A2-2CC6-D15E-B405264422FB}"/>
              </a:ext>
            </a:extLst>
          </p:cNvPr>
          <p:cNvSpPr txBox="1"/>
          <p:nvPr/>
        </p:nvSpPr>
        <p:spPr>
          <a:xfrm>
            <a:off x="7778496" y="341182"/>
            <a:ext cx="3788664" cy="830997"/>
          </a:xfrm>
          <a:prstGeom prst="rect">
            <a:avLst/>
          </a:prstGeom>
          <a:noFill/>
        </p:spPr>
        <p:txBody>
          <a:bodyPr wrap="square" rtlCol="0">
            <a:spAutoFit/>
          </a:bodyPr>
          <a:lstStyle/>
          <a:p>
            <a:r>
              <a:rPr lang="es-CO" sz="2400" b="1" dirty="0">
                <a:solidFill>
                  <a:srgbClr val="FF0000"/>
                </a:solidFill>
              </a:rPr>
              <a:t>Actividades del proceso de software</a:t>
            </a:r>
            <a:endParaRPr lang="en-US" sz="2400" b="1" dirty="0">
              <a:solidFill>
                <a:srgbClr val="FF0000"/>
              </a:solidFill>
            </a:endParaRPr>
          </a:p>
        </p:txBody>
      </p:sp>
    </p:spTree>
    <p:extLst>
      <p:ext uri="{BB962C8B-B14F-4D97-AF65-F5344CB8AC3E}">
        <p14:creationId xmlns:p14="http://schemas.microsoft.com/office/powerpoint/2010/main" val="757371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F137C-2636-42CF-3FF4-546138B247F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AAE335C-917C-B575-49EE-CB6C63CDA707}"/>
              </a:ext>
            </a:extLst>
          </p:cNvPr>
          <p:cNvSpPr txBox="1"/>
          <p:nvPr/>
        </p:nvSpPr>
        <p:spPr>
          <a:xfrm>
            <a:off x="1229540" y="341182"/>
            <a:ext cx="5884491" cy="461665"/>
          </a:xfrm>
          <a:prstGeom prst="rect">
            <a:avLst/>
          </a:prstGeom>
          <a:noFill/>
        </p:spPr>
        <p:txBody>
          <a:bodyPr wrap="square" rtlCol="0">
            <a:spAutoFit/>
          </a:bodyPr>
          <a:lstStyle/>
          <a:p>
            <a:r>
              <a:rPr lang="es-CO" sz="2400" b="1" dirty="0">
                <a:solidFill>
                  <a:srgbClr val="FF0000"/>
                </a:solidFill>
              </a:rPr>
              <a:t>Elementos para el proceso de software</a:t>
            </a:r>
            <a:endParaRPr lang="en-US" sz="2400" b="1" dirty="0">
              <a:solidFill>
                <a:srgbClr val="FF0000"/>
              </a:solidFill>
            </a:endParaRPr>
          </a:p>
        </p:txBody>
      </p:sp>
      <p:pic>
        <p:nvPicPr>
          <p:cNvPr id="3" name="Picture 2">
            <a:extLst>
              <a:ext uri="{FF2B5EF4-FFF2-40B4-BE49-F238E27FC236}">
                <a16:creationId xmlns:a16="http://schemas.microsoft.com/office/drawing/2014/main" id="{C8E6F762-3F40-ECB4-5DB5-8218EF1E8050}"/>
              </a:ext>
            </a:extLst>
          </p:cNvPr>
          <p:cNvPicPr>
            <a:picLocks noChangeAspect="1"/>
          </p:cNvPicPr>
          <p:nvPr/>
        </p:nvPicPr>
        <p:blipFill>
          <a:blip r:embed="rId2"/>
          <a:stretch>
            <a:fillRect/>
          </a:stretch>
        </p:blipFill>
        <p:spPr>
          <a:xfrm>
            <a:off x="2138896" y="802847"/>
            <a:ext cx="6173000" cy="5323346"/>
          </a:xfrm>
          <a:prstGeom prst="rect">
            <a:avLst/>
          </a:prstGeom>
        </p:spPr>
      </p:pic>
    </p:spTree>
    <p:extLst>
      <p:ext uri="{BB962C8B-B14F-4D97-AF65-F5344CB8AC3E}">
        <p14:creationId xmlns:p14="http://schemas.microsoft.com/office/powerpoint/2010/main" val="792209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8DE14-1C99-1657-C887-AA53E4D2B44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1960084-039B-878C-4A83-D2AC5D7C54A2}"/>
              </a:ext>
            </a:extLst>
          </p:cNvPr>
          <p:cNvSpPr txBox="1"/>
          <p:nvPr/>
        </p:nvSpPr>
        <p:spPr>
          <a:xfrm>
            <a:off x="1229540" y="341182"/>
            <a:ext cx="8792284" cy="830997"/>
          </a:xfrm>
          <a:prstGeom prst="rect">
            <a:avLst/>
          </a:prstGeom>
          <a:noFill/>
        </p:spPr>
        <p:txBody>
          <a:bodyPr wrap="square" rtlCol="0">
            <a:spAutoFit/>
          </a:bodyPr>
          <a:lstStyle/>
          <a:p>
            <a:r>
              <a:rPr lang="es-CO" sz="2400" b="1" dirty="0">
                <a:solidFill>
                  <a:srgbClr val="FF0000"/>
                </a:solidFill>
              </a:rPr>
              <a:t>Principios o estándares en las diferentes fases del desarrollo de software</a:t>
            </a:r>
            <a:endParaRPr lang="en-US" sz="2400" b="1" dirty="0">
              <a:solidFill>
                <a:srgbClr val="FF0000"/>
              </a:solidFill>
            </a:endParaRPr>
          </a:p>
        </p:txBody>
      </p:sp>
      <p:pic>
        <p:nvPicPr>
          <p:cNvPr id="9" name="Picture 8">
            <a:extLst>
              <a:ext uri="{FF2B5EF4-FFF2-40B4-BE49-F238E27FC236}">
                <a16:creationId xmlns:a16="http://schemas.microsoft.com/office/drawing/2014/main" id="{3D579A3F-5CA1-BCC6-DBE0-D08002C6C64C}"/>
              </a:ext>
            </a:extLst>
          </p:cNvPr>
          <p:cNvPicPr>
            <a:picLocks noChangeAspect="1"/>
          </p:cNvPicPr>
          <p:nvPr/>
        </p:nvPicPr>
        <p:blipFill>
          <a:blip r:embed="rId2"/>
          <a:stretch>
            <a:fillRect/>
          </a:stretch>
        </p:blipFill>
        <p:spPr>
          <a:xfrm>
            <a:off x="1062173" y="1596806"/>
            <a:ext cx="10323685" cy="4521464"/>
          </a:xfrm>
          <a:prstGeom prst="rect">
            <a:avLst/>
          </a:prstGeom>
        </p:spPr>
      </p:pic>
    </p:spTree>
    <p:extLst>
      <p:ext uri="{BB962C8B-B14F-4D97-AF65-F5344CB8AC3E}">
        <p14:creationId xmlns:p14="http://schemas.microsoft.com/office/powerpoint/2010/main" val="3646023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18E29-64B9-9A60-49F6-D9EEBC56645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EBDF866-0CA7-2798-0CCF-663381CCA8F8}"/>
              </a:ext>
            </a:extLst>
          </p:cNvPr>
          <p:cNvSpPr txBox="1"/>
          <p:nvPr/>
        </p:nvSpPr>
        <p:spPr>
          <a:xfrm>
            <a:off x="1229540" y="341182"/>
            <a:ext cx="8792284" cy="461665"/>
          </a:xfrm>
          <a:prstGeom prst="rect">
            <a:avLst/>
          </a:prstGeom>
          <a:noFill/>
        </p:spPr>
        <p:txBody>
          <a:bodyPr wrap="square" rtlCol="0">
            <a:spAutoFit/>
          </a:bodyPr>
          <a:lstStyle/>
          <a:p>
            <a:r>
              <a:rPr lang="es-CO" sz="2400" b="1" dirty="0">
                <a:solidFill>
                  <a:srgbClr val="FF0000"/>
                </a:solidFill>
              </a:rPr>
              <a:t>Enfoques del desarrollo de software</a:t>
            </a:r>
            <a:endParaRPr lang="en-US" sz="2400" b="1" dirty="0">
              <a:solidFill>
                <a:srgbClr val="FF0000"/>
              </a:solidFill>
            </a:endParaRPr>
          </a:p>
        </p:txBody>
      </p:sp>
      <p:pic>
        <p:nvPicPr>
          <p:cNvPr id="3" name="Picture 2">
            <a:extLst>
              <a:ext uri="{FF2B5EF4-FFF2-40B4-BE49-F238E27FC236}">
                <a16:creationId xmlns:a16="http://schemas.microsoft.com/office/drawing/2014/main" id="{57271448-3403-88EE-2283-BD5EBCAFD9A1}"/>
              </a:ext>
            </a:extLst>
          </p:cNvPr>
          <p:cNvPicPr>
            <a:picLocks noChangeAspect="1"/>
          </p:cNvPicPr>
          <p:nvPr/>
        </p:nvPicPr>
        <p:blipFill>
          <a:blip r:embed="rId2"/>
          <a:stretch>
            <a:fillRect/>
          </a:stretch>
        </p:blipFill>
        <p:spPr>
          <a:xfrm>
            <a:off x="1712646" y="1585750"/>
            <a:ext cx="8073804" cy="3955513"/>
          </a:xfrm>
          <a:prstGeom prst="rect">
            <a:avLst/>
          </a:prstGeom>
        </p:spPr>
      </p:pic>
    </p:spTree>
    <p:extLst>
      <p:ext uri="{BB962C8B-B14F-4D97-AF65-F5344CB8AC3E}">
        <p14:creationId xmlns:p14="http://schemas.microsoft.com/office/powerpoint/2010/main" val="1310782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7C67C-C33B-B235-119F-A85C67DC59E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462CF80-09A8-DE79-F1C9-7B563230575A}"/>
              </a:ext>
            </a:extLst>
          </p:cNvPr>
          <p:cNvSpPr txBox="1"/>
          <p:nvPr/>
        </p:nvSpPr>
        <p:spPr>
          <a:xfrm>
            <a:off x="703162" y="240598"/>
            <a:ext cx="9583838" cy="1754326"/>
          </a:xfrm>
          <a:prstGeom prst="rect">
            <a:avLst/>
          </a:prstGeom>
          <a:noFill/>
        </p:spPr>
        <p:txBody>
          <a:bodyPr wrap="square" rtlCol="0">
            <a:spAutoFit/>
          </a:bodyPr>
          <a:lstStyle/>
          <a:p>
            <a:r>
              <a:rPr lang="es-CO" sz="2400" b="1" dirty="0">
                <a:solidFill>
                  <a:srgbClr val="FF0000"/>
                </a:solidFill>
              </a:rPr>
              <a:t>Características de los métodos del desarrollo de software</a:t>
            </a:r>
          </a:p>
          <a:p>
            <a:endParaRPr lang="es-CO" sz="2400" b="1" dirty="0">
              <a:solidFill>
                <a:srgbClr val="FF0000"/>
              </a:solidFill>
            </a:endParaRPr>
          </a:p>
          <a:p>
            <a:r>
              <a:rPr lang="es-ES" sz="2000" dirty="0"/>
              <a:t>Hacen referencia al proceso disciplinado y minucioso para generar modelos que describan varios aspectos de un sistema de software mediante el empleo de la notación definida.</a:t>
            </a:r>
            <a:endParaRPr lang="en-US" sz="2000" dirty="0"/>
          </a:p>
        </p:txBody>
      </p:sp>
      <p:pic>
        <p:nvPicPr>
          <p:cNvPr id="4" name="Picture 3">
            <a:extLst>
              <a:ext uri="{FF2B5EF4-FFF2-40B4-BE49-F238E27FC236}">
                <a16:creationId xmlns:a16="http://schemas.microsoft.com/office/drawing/2014/main" id="{520C1151-51DC-665E-98AB-F860E18FC411}"/>
              </a:ext>
            </a:extLst>
          </p:cNvPr>
          <p:cNvPicPr>
            <a:picLocks noChangeAspect="1"/>
          </p:cNvPicPr>
          <p:nvPr/>
        </p:nvPicPr>
        <p:blipFill>
          <a:blip r:embed="rId2"/>
          <a:stretch>
            <a:fillRect/>
          </a:stretch>
        </p:blipFill>
        <p:spPr>
          <a:xfrm>
            <a:off x="2181383" y="1994924"/>
            <a:ext cx="7829234" cy="4450643"/>
          </a:xfrm>
          <a:prstGeom prst="rect">
            <a:avLst/>
          </a:prstGeom>
        </p:spPr>
      </p:pic>
    </p:spTree>
    <p:extLst>
      <p:ext uri="{BB962C8B-B14F-4D97-AF65-F5344CB8AC3E}">
        <p14:creationId xmlns:p14="http://schemas.microsoft.com/office/powerpoint/2010/main" val="1022079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CE2CA-F9B2-6BCB-C534-A51A71C88CE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2E6174A-A050-62DC-1252-C3F08215978E}"/>
              </a:ext>
            </a:extLst>
          </p:cNvPr>
          <p:cNvSpPr txBox="1"/>
          <p:nvPr/>
        </p:nvSpPr>
        <p:spPr>
          <a:xfrm>
            <a:off x="876898" y="423478"/>
            <a:ext cx="9583838" cy="5693866"/>
          </a:xfrm>
          <a:prstGeom prst="rect">
            <a:avLst/>
          </a:prstGeom>
          <a:noFill/>
        </p:spPr>
        <p:txBody>
          <a:bodyPr wrap="square" rtlCol="0">
            <a:spAutoFit/>
          </a:bodyPr>
          <a:lstStyle/>
          <a:p>
            <a:r>
              <a:rPr lang="es-ES" sz="2400" b="1" dirty="0">
                <a:solidFill>
                  <a:srgbClr val="FF0000"/>
                </a:solidFill>
              </a:rPr>
              <a:t>Modelo de ciclo de vida del software (norma ISO 12207)</a:t>
            </a:r>
          </a:p>
          <a:p>
            <a:endParaRPr lang="es-ES" sz="2000" dirty="0">
              <a:solidFill>
                <a:srgbClr val="FF0000"/>
              </a:solidFill>
            </a:endParaRPr>
          </a:p>
          <a:p>
            <a:endParaRPr lang="es-ES" sz="2000" dirty="0">
              <a:solidFill>
                <a:srgbClr val="FF0000"/>
              </a:solidFill>
            </a:endParaRPr>
          </a:p>
          <a:p>
            <a:r>
              <a:rPr lang="es-ES" sz="2000" dirty="0"/>
              <a:t>El modelo de ciclo de vida del software es “un marco de referencia que contiene los procesos, las actividades y las tareas involucradas en el desarrollo, la explotación y el mantenimiento de un producto de software. Abarcando la vida del sistema desde la definición de requisitos hasta la finalización de su uso”.</a:t>
            </a:r>
          </a:p>
          <a:p>
            <a:endParaRPr lang="es-ES" sz="2000" dirty="0"/>
          </a:p>
          <a:p>
            <a:endParaRPr lang="es-ES" sz="2000" dirty="0"/>
          </a:p>
          <a:p>
            <a:r>
              <a:rPr lang="es-ES" sz="2000" dirty="0"/>
              <a:t>El conjunto de etapas que describe el proceso de desarrollo de software desde su inicio hasta su finalización. Tiene las siguientes fases:</a:t>
            </a:r>
          </a:p>
          <a:p>
            <a:endParaRPr lang="es-ES" sz="2000" dirty="0"/>
          </a:p>
          <a:p>
            <a:r>
              <a:rPr lang="es-ES" sz="2000" dirty="0"/>
              <a:t>- Fase de definición de requerimientos.</a:t>
            </a:r>
          </a:p>
          <a:p>
            <a:endParaRPr lang="es-ES" sz="2000" dirty="0"/>
          </a:p>
          <a:p>
            <a:r>
              <a:rPr lang="es-ES" sz="2000" dirty="0"/>
              <a:t>- Fase de desarrollo, implementación, pruebas y documentación.</a:t>
            </a:r>
          </a:p>
          <a:p>
            <a:endParaRPr lang="es-ES" sz="2000" dirty="0"/>
          </a:p>
          <a:p>
            <a:r>
              <a:rPr lang="es-ES" sz="2000" dirty="0"/>
              <a:t>- Fase de despliegue y mantenimiento.</a:t>
            </a:r>
          </a:p>
          <a:p>
            <a:endParaRPr lang="es-ES" sz="2000" dirty="0">
              <a:solidFill>
                <a:srgbClr val="FF0000"/>
              </a:solidFill>
            </a:endParaRPr>
          </a:p>
        </p:txBody>
      </p:sp>
    </p:spTree>
    <p:extLst>
      <p:ext uri="{BB962C8B-B14F-4D97-AF65-F5344CB8AC3E}">
        <p14:creationId xmlns:p14="http://schemas.microsoft.com/office/powerpoint/2010/main" val="3815911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DCD7E-FF5B-6327-ADFC-A34DB4DAB38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369FE15-BA13-3042-4B7A-038F696AD83E}"/>
              </a:ext>
            </a:extLst>
          </p:cNvPr>
          <p:cNvSpPr txBox="1"/>
          <p:nvPr/>
        </p:nvSpPr>
        <p:spPr>
          <a:xfrm>
            <a:off x="1407250" y="944686"/>
            <a:ext cx="9583838" cy="4031873"/>
          </a:xfrm>
          <a:prstGeom prst="rect">
            <a:avLst/>
          </a:prstGeom>
          <a:noFill/>
        </p:spPr>
        <p:txBody>
          <a:bodyPr wrap="square" rtlCol="0">
            <a:spAutoFit/>
          </a:bodyPr>
          <a:lstStyle/>
          <a:p>
            <a:r>
              <a:rPr lang="es-ES" sz="2800" b="1" dirty="0">
                <a:solidFill>
                  <a:srgbClr val="FF0000"/>
                </a:solidFill>
              </a:rPr>
              <a:t>Fase de definición de requerimientos</a:t>
            </a:r>
          </a:p>
          <a:p>
            <a:endParaRPr lang="es-ES" sz="2000" dirty="0">
              <a:solidFill>
                <a:srgbClr val="FF0000"/>
              </a:solidFill>
            </a:endParaRPr>
          </a:p>
          <a:p>
            <a:endParaRPr lang="es-ES" sz="2000" dirty="0">
              <a:solidFill>
                <a:srgbClr val="FF0000"/>
              </a:solidFill>
            </a:endParaRPr>
          </a:p>
          <a:p>
            <a:r>
              <a:rPr lang="es-ES" sz="2400" dirty="0"/>
              <a:t>A partir de las necesidades del cliente:</a:t>
            </a:r>
          </a:p>
          <a:p>
            <a:endParaRPr lang="es-ES" sz="2400" dirty="0"/>
          </a:p>
          <a:p>
            <a:r>
              <a:rPr lang="es-ES" sz="2400" dirty="0"/>
              <a:t>- Aplicación de las técnicas de levantamiento de requerimientos. </a:t>
            </a:r>
          </a:p>
          <a:p>
            <a:r>
              <a:rPr lang="es-ES" sz="2400" dirty="0"/>
              <a:t>– Análisis de requerimientos. </a:t>
            </a:r>
          </a:p>
          <a:p>
            <a:r>
              <a:rPr lang="es-ES" sz="2400" dirty="0"/>
              <a:t>– Especificación de requerimientos. </a:t>
            </a:r>
          </a:p>
          <a:p>
            <a:r>
              <a:rPr lang="es-ES" sz="2400" dirty="0"/>
              <a:t>– Validación de los requerimientos. </a:t>
            </a:r>
          </a:p>
          <a:p>
            <a:r>
              <a:rPr lang="es-ES" sz="2400" dirty="0"/>
              <a:t>– Planificación de desarrollo del proyecto de software.</a:t>
            </a:r>
          </a:p>
          <a:p>
            <a:endParaRPr lang="es-ES" sz="2000" dirty="0">
              <a:solidFill>
                <a:srgbClr val="FF0000"/>
              </a:solidFill>
            </a:endParaRPr>
          </a:p>
        </p:txBody>
      </p:sp>
    </p:spTree>
    <p:extLst>
      <p:ext uri="{BB962C8B-B14F-4D97-AF65-F5344CB8AC3E}">
        <p14:creationId xmlns:p14="http://schemas.microsoft.com/office/powerpoint/2010/main" val="3253853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D5725-4627-CA7F-C7A4-375998F5695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C301B40-24D7-D2E5-53F9-19E8CA706A1A}"/>
              </a:ext>
            </a:extLst>
          </p:cNvPr>
          <p:cNvSpPr txBox="1"/>
          <p:nvPr/>
        </p:nvSpPr>
        <p:spPr>
          <a:xfrm>
            <a:off x="1130345" y="679510"/>
            <a:ext cx="10534814" cy="5632311"/>
          </a:xfrm>
          <a:prstGeom prst="rect">
            <a:avLst/>
          </a:prstGeom>
          <a:noFill/>
        </p:spPr>
        <p:txBody>
          <a:bodyPr wrap="square" rtlCol="0">
            <a:spAutoFit/>
          </a:bodyPr>
          <a:lstStyle/>
          <a:p>
            <a:r>
              <a:rPr lang="es-ES" sz="2800" b="1" dirty="0">
                <a:solidFill>
                  <a:srgbClr val="FF0000"/>
                </a:solidFill>
              </a:rPr>
              <a:t>Fase de desarrollo, implementación, pruebas y documentación</a:t>
            </a:r>
          </a:p>
          <a:p>
            <a:endParaRPr lang="es-ES" sz="2400" b="1" dirty="0">
              <a:solidFill>
                <a:srgbClr val="FF0000"/>
              </a:solidFill>
            </a:endParaRPr>
          </a:p>
          <a:p>
            <a:endParaRPr lang="es-ES" sz="2400" b="1" dirty="0">
              <a:solidFill>
                <a:srgbClr val="FF0000"/>
              </a:solidFill>
            </a:endParaRPr>
          </a:p>
          <a:p>
            <a:r>
              <a:rPr lang="es-ES" sz="2400" dirty="0"/>
              <a:t>Se diseñan las actividades fundamentales como el diseño de: </a:t>
            </a:r>
          </a:p>
          <a:p>
            <a:endParaRPr lang="es-ES" sz="2400" dirty="0"/>
          </a:p>
          <a:p>
            <a:r>
              <a:rPr lang="es-ES" sz="2400" dirty="0"/>
              <a:t>– Estructuras de datos. </a:t>
            </a:r>
          </a:p>
          <a:p>
            <a:r>
              <a:rPr lang="es-ES" sz="2400" dirty="0"/>
              <a:t>– Arquitectura de software. </a:t>
            </a:r>
          </a:p>
          <a:p>
            <a:r>
              <a:rPr lang="es-ES" sz="2400" dirty="0"/>
              <a:t>– Procedimientos. </a:t>
            </a:r>
          </a:p>
          <a:p>
            <a:r>
              <a:rPr lang="es-ES" sz="2400" dirty="0"/>
              <a:t>– Interfaces. </a:t>
            </a:r>
          </a:p>
          <a:p>
            <a:r>
              <a:rPr lang="es-ES" sz="2400" dirty="0"/>
              <a:t>– Codificación. </a:t>
            </a:r>
          </a:p>
          <a:p>
            <a:r>
              <a:rPr lang="es-ES" sz="2400" dirty="0"/>
              <a:t>– Pruebas. </a:t>
            </a:r>
          </a:p>
          <a:p>
            <a:r>
              <a:rPr lang="es-ES" sz="2400" dirty="0"/>
              <a:t>– Generación de código. </a:t>
            </a:r>
          </a:p>
          <a:p>
            <a:r>
              <a:rPr lang="es-ES" sz="2400" dirty="0"/>
              <a:t>– Pruebas de software.</a:t>
            </a:r>
          </a:p>
          <a:p>
            <a:endParaRPr lang="es-ES" sz="2400" dirty="0"/>
          </a:p>
          <a:p>
            <a:endParaRPr lang="es-ES" sz="2000" dirty="0">
              <a:solidFill>
                <a:srgbClr val="FF0000"/>
              </a:solidFill>
            </a:endParaRPr>
          </a:p>
        </p:txBody>
      </p:sp>
    </p:spTree>
    <p:extLst>
      <p:ext uri="{BB962C8B-B14F-4D97-AF65-F5344CB8AC3E}">
        <p14:creationId xmlns:p14="http://schemas.microsoft.com/office/powerpoint/2010/main" val="2059725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8706B-A79C-AAA7-3D19-3328E1A9791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B401953-ACDF-0B95-6583-12FCAE80157B}"/>
              </a:ext>
            </a:extLst>
          </p:cNvPr>
          <p:cNvSpPr txBox="1"/>
          <p:nvPr/>
        </p:nvSpPr>
        <p:spPr>
          <a:xfrm>
            <a:off x="1151218" y="223665"/>
            <a:ext cx="10059326" cy="6063198"/>
          </a:xfrm>
          <a:prstGeom prst="rect">
            <a:avLst/>
          </a:prstGeom>
          <a:noFill/>
        </p:spPr>
        <p:txBody>
          <a:bodyPr wrap="square" rtlCol="0">
            <a:spAutoFit/>
          </a:bodyPr>
          <a:lstStyle/>
          <a:p>
            <a:r>
              <a:rPr lang="es-ES" sz="2800" b="1" dirty="0">
                <a:solidFill>
                  <a:srgbClr val="FF0000"/>
                </a:solidFill>
              </a:rPr>
              <a:t>Fase de despliegue y mantenimiento</a:t>
            </a:r>
          </a:p>
          <a:p>
            <a:endParaRPr lang="es-ES" sz="2400" dirty="0"/>
          </a:p>
          <a:p>
            <a:endParaRPr lang="es-ES" sz="2400" dirty="0"/>
          </a:p>
          <a:p>
            <a:r>
              <a:rPr lang="es-ES" sz="2400" dirty="0"/>
              <a:t>Está determinada por el momento en que el código es probado y aprobado para ser distribuido en el entorno de producción. </a:t>
            </a:r>
          </a:p>
          <a:p>
            <a:endParaRPr lang="es-ES" sz="2400" dirty="0"/>
          </a:p>
          <a:p>
            <a:r>
              <a:rPr lang="es-ES" sz="2400" dirty="0"/>
              <a:t>El mantenimiento hace referencia a los cambios que permiten refinar defectos que pueden ocurrir durante la adaptación, así como la posibilidad de mejorar alguna funcionalidad para la usabilidad y aplicabilidad del software.</a:t>
            </a:r>
          </a:p>
          <a:p>
            <a:endParaRPr lang="es-ES" sz="2400" dirty="0"/>
          </a:p>
          <a:p>
            <a:r>
              <a:rPr lang="es-ES" sz="2400" dirty="0"/>
              <a:t>La ingeniería de software incluye el levantamiento de requerimientos funcionales y no funcionales; desarrollar el diseño lógico y físico; desarrollar la arquitectura del sistema, la codificación, las pruebas unitarias y establecer los niveles de seguridad y puesta en ejecución de la aplicación.</a:t>
            </a:r>
          </a:p>
        </p:txBody>
      </p:sp>
    </p:spTree>
    <p:extLst>
      <p:ext uri="{BB962C8B-B14F-4D97-AF65-F5344CB8AC3E}">
        <p14:creationId xmlns:p14="http://schemas.microsoft.com/office/powerpoint/2010/main" val="2627074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FA133-D202-8A92-CC89-1BFFF1E248A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4A948B8-24EB-4BC7-EEE1-BC6F48EFDE3D}"/>
              </a:ext>
            </a:extLst>
          </p:cNvPr>
          <p:cNvSpPr txBox="1"/>
          <p:nvPr/>
        </p:nvSpPr>
        <p:spPr>
          <a:xfrm>
            <a:off x="666586" y="478342"/>
            <a:ext cx="4134014" cy="5386090"/>
          </a:xfrm>
          <a:prstGeom prst="rect">
            <a:avLst/>
          </a:prstGeom>
          <a:noFill/>
        </p:spPr>
        <p:txBody>
          <a:bodyPr wrap="square" rtlCol="0">
            <a:spAutoFit/>
          </a:bodyPr>
          <a:lstStyle/>
          <a:p>
            <a:r>
              <a:rPr lang="es-ES" sz="2800" b="1" dirty="0">
                <a:solidFill>
                  <a:srgbClr val="FF0000"/>
                </a:solidFill>
              </a:rPr>
              <a:t>Modelos del proceso de desarrollo de software </a:t>
            </a:r>
          </a:p>
          <a:p>
            <a:endParaRPr lang="es-ES" sz="2400" b="1" dirty="0">
              <a:solidFill>
                <a:srgbClr val="FF0000"/>
              </a:solidFill>
            </a:endParaRPr>
          </a:p>
          <a:p>
            <a:endParaRPr lang="es-ES" sz="2400" b="1" dirty="0">
              <a:solidFill>
                <a:srgbClr val="FF0000"/>
              </a:solidFill>
            </a:endParaRPr>
          </a:p>
          <a:p>
            <a:r>
              <a:rPr lang="es-ES" sz="2400" dirty="0"/>
              <a:t>Los modelos de procesos de desarrollo de software son una expresión abstracta de lo que se quiere representar desde una perspectiva específica. </a:t>
            </a:r>
          </a:p>
          <a:p>
            <a:endParaRPr lang="es-ES" sz="2400" dirty="0"/>
          </a:p>
          <a:p>
            <a:r>
              <a:rPr lang="es-ES" sz="2400" dirty="0"/>
              <a:t>En la ingeniería de software esto se puede abordar desde diferentes perspectivas.</a:t>
            </a:r>
          </a:p>
        </p:txBody>
      </p:sp>
      <p:pic>
        <p:nvPicPr>
          <p:cNvPr id="3" name="Picture 2">
            <a:extLst>
              <a:ext uri="{FF2B5EF4-FFF2-40B4-BE49-F238E27FC236}">
                <a16:creationId xmlns:a16="http://schemas.microsoft.com/office/drawing/2014/main" id="{2E08BC28-ACDF-4D74-135B-3B492016A82B}"/>
              </a:ext>
            </a:extLst>
          </p:cNvPr>
          <p:cNvPicPr>
            <a:picLocks noChangeAspect="1"/>
          </p:cNvPicPr>
          <p:nvPr/>
        </p:nvPicPr>
        <p:blipFill>
          <a:blip r:embed="rId2"/>
          <a:stretch>
            <a:fillRect/>
          </a:stretch>
        </p:blipFill>
        <p:spPr>
          <a:xfrm>
            <a:off x="5812320" y="633791"/>
            <a:ext cx="5367259" cy="5386090"/>
          </a:xfrm>
          <a:prstGeom prst="rect">
            <a:avLst/>
          </a:prstGeom>
        </p:spPr>
      </p:pic>
    </p:spTree>
    <p:extLst>
      <p:ext uri="{BB962C8B-B14F-4D97-AF65-F5344CB8AC3E}">
        <p14:creationId xmlns:p14="http://schemas.microsoft.com/office/powerpoint/2010/main" val="605988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716E1-3771-6053-8F02-8B0479309A6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92C5205-7EC7-B3E8-3E8D-B63668574F0B}"/>
              </a:ext>
            </a:extLst>
          </p:cNvPr>
          <p:cNvSpPr txBox="1"/>
          <p:nvPr/>
        </p:nvSpPr>
        <p:spPr>
          <a:xfrm>
            <a:off x="593434" y="478977"/>
            <a:ext cx="4618646" cy="4893647"/>
          </a:xfrm>
          <a:prstGeom prst="rect">
            <a:avLst/>
          </a:prstGeom>
          <a:noFill/>
        </p:spPr>
        <p:txBody>
          <a:bodyPr wrap="square" rtlCol="0">
            <a:spAutoFit/>
          </a:bodyPr>
          <a:lstStyle/>
          <a:p>
            <a:r>
              <a:rPr lang="es-ES" sz="2400" b="1" dirty="0">
                <a:solidFill>
                  <a:srgbClr val="FF0000"/>
                </a:solidFill>
              </a:rPr>
              <a:t>Modelo en cascada o lineal secuencial </a:t>
            </a:r>
          </a:p>
          <a:p>
            <a:endParaRPr lang="es-ES" sz="2400" b="1" dirty="0">
              <a:solidFill>
                <a:srgbClr val="FF0000"/>
              </a:solidFill>
            </a:endParaRPr>
          </a:p>
          <a:p>
            <a:r>
              <a:rPr lang="es-ES" sz="2000" dirty="0"/>
              <a:t>El modelo de cascada (</a:t>
            </a:r>
            <a:r>
              <a:rPr lang="es-ES" sz="2000" dirty="0" err="1"/>
              <a:t>waterfall</a:t>
            </a:r>
            <a:r>
              <a:rPr lang="es-ES" sz="2000" dirty="0"/>
              <a:t>) fue adaptado por el Departamento de Defensa de los Estados Unidos, que elaboró el estándar DOD-STD-2167.</a:t>
            </a:r>
          </a:p>
          <a:p>
            <a:endParaRPr lang="es-ES" sz="2000" dirty="0"/>
          </a:p>
          <a:p>
            <a:r>
              <a:rPr lang="es-CO" sz="2000" dirty="0"/>
              <a:t>Toma las actividades fundamentales del proceso de especificación, desarrollo, validación y evolución y los representa como fases separadas del proceso, tal como especificación de requerimientos, diseño de software, implementación, pruebas, etc.</a:t>
            </a:r>
          </a:p>
        </p:txBody>
      </p:sp>
      <p:pic>
        <p:nvPicPr>
          <p:cNvPr id="2" name="Picture 1">
            <a:extLst>
              <a:ext uri="{FF2B5EF4-FFF2-40B4-BE49-F238E27FC236}">
                <a16:creationId xmlns:a16="http://schemas.microsoft.com/office/drawing/2014/main" id="{96A0F0FA-95B1-546F-E4A1-3F92A160A19A}"/>
              </a:ext>
            </a:extLst>
          </p:cNvPr>
          <p:cNvPicPr>
            <a:picLocks noChangeAspect="1"/>
          </p:cNvPicPr>
          <p:nvPr/>
        </p:nvPicPr>
        <p:blipFill>
          <a:blip r:embed="rId2"/>
          <a:stretch>
            <a:fillRect/>
          </a:stretch>
        </p:blipFill>
        <p:spPr>
          <a:xfrm>
            <a:off x="6030178" y="135695"/>
            <a:ext cx="5785711" cy="3290870"/>
          </a:xfrm>
          <a:prstGeom prst="rect">
            <a:avLst/>
          </a:prstGeom>
        </p:spPr>
      </p:pic>
      <p:pic>
        <p:nvPicPr>
          <p:cNvPr id="8" name="Picture 7">
            <a:extLst>
              <a:ext uri="{FF2B5EF4-FFF2-40B4-BE49-F238E27FC236}">
                <a16:creationId xmlns:a16="http://schemas.microsoft.com/office/drawing/2014/main" id="{EE8B0192-02BE-61B6-753D-700FA67CDDFB}"/>
              </a:ext>
            </a:extLst>
          </p:cNvPr>
          <p:cNvPicPr>
            <a:picLocks noChangeAspect="1"/>
          </p:cNvPicPr>
          <p:nvPr/>
        </p:nvPicPr>
        <p:blipFill>
          <a:blip r:embed="rId3"/>
          <a:stretch>
            <a:fillRect/>
          </a:stretch>
        </p:blipFill>
        <p:spPr>
          <a:xfrm>
            <a:off x="6332689" y="4261628"/>
            <a:ext cx="5180687" cy="2221992"/>
          </a:xfrm>
          <a:prstGeom prst="rect">
            <a:avLst/>
          </a:prstGeom>
        </p:spPr>
      </p:pic>
    </p:spTree>
    <p:extLst>
      <p:ext uri="{BB962C8B-B14F-4D97-AF65-F5344CB8AC3E}">
        <p14:creationId xmlns:p14="http://schemas.microsoft.com/office/powerpoint/2010/main" val="1794190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D763-8DE1-01CC-3547-2C44B0B978B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5EC1A6E-6983-6993-CA57-2DB6EE8B8844}"/>
              </a:ext>
            </a:extLst>
          </p:cNvPr>
          <p:cNvSpPr txBox="1"/>
          <p:nvPr/>
        </p:nvSpPr>
        <p:spPr>
          <a:xfrm>
            <a:off x="639154" y="149197"/>
            <a:ext cx="10068470" cy="2369880"/>
          </a:xfrm>
          <a:prstGeom prst="rect">
            <a:avLst/>
          </a:prstGeom>
          <a:noFill/>
        </p:spPr>
        <p:txBody>
          <a:bodyPr wrap="square" rtlCol="0">
            <a:spAutoFit/>
          </a:bodyPr>
          <a:lstStyle/>
          <a:p>
            <a:r>
              <a:rPr lang="es-ES" sz="2400" b="1" dirty="0">
                <a:solidFill>
                  <a:srgbClr val="FF0000"/>
                </a:solidFill>
              </a:rPr>
              <a:t>Modelo V</a:t>
            </a:r>
          </a:p>
          <a:p>
            <a:endParaRPr lang="es-ES" sz="2400" b="1" dirty="0">
              <a:solidFill>
                <a:srgbClr val="FF0000"/>
              </a:solidFill>
            </a:endParaRPr>
          </a:p>
          <a:p>
            <a:r>
              <a:rPr lang="es-ES" sz="2000" dirty="0"/>
              <a:t>Es un modelo gráfico que abarca todo el ciclo de vida de desarrollo de software y que permite ejecutar e ir probando los procesos y actividades de manera secuencial.</a:t>
            </a:r>
          </a:p>
          <a:p>
            <a:endParaRPr lang="es-ES" sz="2000" dirty="0"/>
          </a:p>
          <a:p>
            <a:r>
              <a:rPr lang="es-ES" sz="2000" dirty="0"/>
              <a:t>Conocido como “</a:t>
            </a:r>
            <a:r>
              <a:rPr lang="es-ES" sz="2000" b="1" dirty="0"/>
              <a:t>modelo de verificación y validación</a:t>
            </a:r>
            <a:r>
              <a:rPr lang="es-ES" sz="2000" dirty="0"/>
              <a:t>”, lo que permite al equipo de desarrollo ir identificando las mejoras para optimizar y garantizar la calidad del proyecto.</a:t>
            </a:r>
          </a:p>
        </p:txBody>
      </p:sp>
      <p:pic>
        <p:nvPicPr>
          <p:cNvPr id="4" name="Picture 3">
            <a:extLst>
              <a:ext uri="{FF2B5EF4-FFF2-40B4-BE49-F238E27FC236}">
                <a16:creationId xmlns:a16="http://schemas.microsoft.com/office/drawing/2014/main" id="{9C45B07B-59BC-FE69-5BC6-7C90A9080114}"/>
              </a:ext>
            </a:extLst>
          </p:cNvPr>
          <p:cNvPicPr>
            <a:picLocks noChangeAspect="1"/>
          </p:cNvPicPr>
          <p:nvPr/>
        </p:nvPicPr>
        <p:blipFill>
          <a:blip r:embed="rId2"/>
          <a:stretch>
            <a:fillRect/>
          </a:stretch>
        </p:blipFill>
        <p:spPr>
          <a:xfrm>
            <a:off x="0" y="3849624"/>
            <a:ext cx="5279138" cy="1901952"/>
          </a:xfrm>
          <a:prstGeom prst="rect">
            <a:avLst/>
          </a:prstGeom>
        </p:spPr>
      </p:pic>
      <p:pic>
        <p:nvPicPr>
          <p:cNvPr id="7" name="Picture 6">
            <a:extLst>
              <a:ext uri="{FF2B5EF4-FFF2-40B4-BE49-F238E27FC236}">
                <a16:creationId xmlns:a16="http://schemas.microsoft.com/office/drawing/2014/main" id="{2377DE83-E843-FD8B-F393-2DEF1F361E91}"/>
              </a:ext>
            </a:extLst>
          </p:cNvPr>
          <p:cNvPicPr>
            <a:picLocks noChangeAspect="1"/>
          </p:cNvPicPr>
          <p:nvPr/>
        </p:nvPicPr>
        <p:blipFill>
          <a:blip r:embed="rId3"/>
          <a:stretch>
            <a:fillRect/>
          </a:stretch>
        </p:blipFill>
        <p:spPr>
          <a:xfrm>
            <a:off x="4940649" y="2746729"/>
            <a:ext cx="7166007" cy="3987001"/>
          </a:xfrm>
          <a:prstGeom prst="rect">
            <a:avLst/>
          </a:prstGeom>
        </p:spPr>
      </p:pic>
    </p:spTree>
    <p:extLst>
      <p:ext uri="{BB962C8B-B14F-4D97-AF65-F5344CB8AC3E}">
        <p14:creationId xmlns:p14="http://schemas.microsoft.com/office/powerpoint/2010/main" val="2009129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B7286-AC43-7F07-3CAF-64A382997CD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A66A821-9587-3213-F089-FD96100FD5BA}"/>
              </a:ext>
            </a:extLst>
          </p:cNvPr>
          <p:cNvSpPr txBox="1"/>
          <p:nvPr/>
        </p:nvSpPr>
        <p:spPr>
          <a:xfrm>
            <a:off x="330245" y="330678"/>
            <a:ext cx="4506931" cy="5816977"/>
          </a:xfrm>
          <a:prstGeom prst="rect">
            <a:avLst/>
          </a:prstGeom>
          <a:noFill/>
        </p:spPr>
        <p:txBody>
          <a:bodyPr wrap="square" rtlCol="0">
            <a:spAutoFit/>
          </a:bodyPr>
          <a:lstStyle/>
          <a:p>
            <a:r>
              <a:rPr lang="es-ES" sz="2800" b="1" dirty="0">
                <a:solidFill>
                  <a:srgbClr val="FF0000"/>
                </a:solidFill>
              </a:rPr>
              <a:t>Propuesta de </a:t>
            </a:r>
            <a:r>
              <a:rPr lang="es-ES" sz="2800" b="1" dirty="0" err="1">
                <a:solidFill>
                  <a:srgbClr val="FF0000"/>
                </a:solidFill>
              </a:rPr>
              <a:t>Yourdon</a:t>
            </a:r>
            <a:endParaRPr lang="es-ES" sz="2800" b="1" dirty="0">
              <a:solidFill>
                <a:srgbClr val="FF0000"/>
              </a:solidFill>
            </a:endParaRPr>
          </a:p>
          <a:p>
            <a:endParaRPr lang="es-ES" sz="2400" b="1" dirty="0">
              <a:solidFill>
                <a:srgbClr val="FF0000"/>
              </a:solidFill>
            </a:endParaRPr>
          </a:p>
          <a:p>
            <a:r>
              <a:rPr lang="es-ES" sz="2000" dirty="0"/>
              <a:t>El modelo de desarrollo de software presentado por </a:t>
            </a:r>
            <a:r>
              <a:rPr lang="es-ES" sz="2000" dirty="0" err="1"/>
              <a:t>Yourdon</a:t>
            </a:r>
            <a:r>
              <a:rPr lang="es-ES" sz="2000" dirty="0"/>
              <a:t> plantea diseñar el sistema mediante diagramas de estructura.</a:t>
            </a:r>
          </a:p>
          <a:p>
            <a:endParaRPr lang="es-ES" sz="2000" dirty="0"/>
          </a:p>
          <a:p>
            <a:r>
              <a:rPr lang="es-ES" sz="2000" dirty="0"/>
              <a:t>Este modelo inicia con la identificación de los requerimientos del usuario mediante el uso de las técnicas de levantamiento. Sigue una fase de análisis en la que se desarrolla el diseño preliminar del proyecto. Luego la etapa de la codificación en un lenguaje de programación. Posteriormente, sigue las pruebas de unidad y subsistema y finaliza con las pruebas del sistema.</a:t>
            </a:r>
          </a:p>
        </p:txBody>
      </p:sp>
      <p:pic>
        <p:nvPicPr>
          <p:cNvPr id="3" name="Picture 2">
            <a:extLst>
              <a:ext uri="{FF2B5EF4-FFF2-40B4-BE49-F238E27FC236}">
                <a16:creationId xmlns:a16="http://schemas.microsoft.com/office/drawing/2014/main" id="{B2C68566-112A-00C8-9840-23152D47B951}"/>
              </a:ext>
            </a:extLst>
          </p:cNvPr>
          <p:cNvPicPr>
            <a:picLocks noChangeAspect="1"/>
          </p:cNvPicPr>
          <p:nvPr/>
        </p:nvPicPr>
        <p:blipFill>
          <a:blip r:embed="rId2"/>
          <a:stretch>
            <a:fillRect/>
          </a:stretch>
        </p:blipFill>
        <p:spPr>
          <a:xfrm>
            <a:off x="4837176" y="862243"/>
            <a:ext cx="7108692" cy="4753845"/>
          </a:xfrm>
          <a:prstGeom prst="rect">
            <a:avLst/>
          </a:prstGeom>
        </p:spPr>
      </p:pic>
    </p:spTree>
    <p:extLst>
      <p:ext uri="{BB962C8B-B14F-4D97-AF65-F5344CB8AC3E}">
        <p14:creationId xmlns:p14="http://schemas.microsoft.com/office/powerpoint/2010/main" val="3195397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822F8-D182-872C-2D5E-84FFC595A54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8FBD476-FBC8-CBBB-3385-1C8BF7DADB29}"/>
              </a:ext>
            </a:extLst>
          </p:cNvPr>
          <p:cNvSpPr txBox="1"/>
          <p:nvPr/>
        </p:nvSpPr>
        <p:spPr>
          <a:xfrm>
            <a:off x="586277" y="83790"/>
            <a:ext cx="10322515" cy="3046988"/>
          </a:xfrm>
          <a:prstGeom prst="rect">
            <a:avLst/>
          </a:prstGeom>
          <a:noFill/>
        </p:spPr>
        <p:txBody>
          <a:bodyPr wrap="square" rtlCol="0">
            <a:spAutoFit/>
          </a:bodyPr>
          <a:lstStyle/>
          <a:p>
            <a:r>
              <a:rPr lang="es-ES" sz="2800" b="1" dirty="0">
                <a:solidFill>
                  <a:srgbClr val="FF0000"/>
                </a:solidFill>
              </a:rPr>
              <a:t>Modelo de desarrollo de software por prototipos</a:t>
            </a:r>
          </a:p>
          <a:p>
            <a:endParaRPr lang="es-ES" sz="2400" b="1" dirty="0">
              <a:solidFill>
                <a:srgbClr val="FF0000"/>
              </a:solidFill>
            </a:endParaRPr>
          </a:p>
          <a:p>
            <a:r>
              <a:rPr lang="es-ES" sz="2000" dirty="0"/>
              <a:t>El modelo de ciclo de vida de prototipos fue propuesto por </a:t>
            </a:r>
            <a:r>
              <a:rPr lang="es-ES" sz="2000" dirty="0" err="1"/>
              <a:t>Gomaa</a:t>
            </a:r>
            <a:r>
              <a:rPr lang="es-ES" sz="2000" dirty="0"/>
              <a:t> y Scott (1981), quienes afirman que un prototipo permite identificar los requisitos del software. </a:t>
            </a:r>
          </a:p>
          <a:p>
            <a:endParaRPr lang="es-ES" sz="2000" dirty="0"/>
          </a:p>
          <a:p>
            <a:r>
              <a:rPr lang="es-ES" sz="2000" dirty="0"/>
              <a:t>Este modelo surgió como modelo propio de desarrollo, en el que al cliente se le expone el diseño de cómo podría quedar el sistema, empleando aplicaciones que permiten ver las características fundamentales de lo que se va a construir. El modelo de prototipos se desarrolla por etapas.</a:t>
            </a:r>
          </a:p>
        </p:txBody>
      </p:sp>
      <p:pic>
        <p:nvPicPr>
          <p:cNvPr id="4" name="Picture 3">
            <a:extLst>
              <a:ext uri="{FF2B5EF4-FFF2-40B4-BE49-F238E27FC236}">
                <a16:creationId xmlns:a16="http://schemas.microsoft.com/office/drawing/2014/main" id="{7AA7ED8A-29D5-E62F-7A86-CC612AB2F753}"/>
              </a:ext>
            </a:extLst>
          </p:cNvPr>
          <p:cNvPicPr>
            <a:picLocks noChangeAspect="1"/>
          </p:cNvPicPr>
          <p:nvPr/>
        </p:nvPicPr>
        <p:blipFill>
          <a:blip r:embed="rId2"/>
          <a:stretch>
            <a:fillRect/>
          </a:stretch>
        </p:blipFill>
        <p:spPr>
          <a:xfrm>
            <a:off x="3833574" y="2913339"/>
            <a:ext cx="5713571" cy="3860871"/>
          </a:xfrm>
          <a:prstGeom prst="rect">
            <a:avLst/>
          </a:prstGeom>
        </p:spPr>
      </p:pic>
    </p:spTree>
    <p:extLst>
      <p:ext uri="{BB962C8B-B14F-4D97-AF65-F5344CB8AC3E}">
        <p14:creationId xmlns:p14="http://schemas.microsoft.com/office/powerpoint/2010/main" val="698673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05B22-DA4A-9CB3-C690-A9E40108CB2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B0230FF-68AD-4FBF-D105-27BFE6601104}"/>
              </a:ext>
            </a:extLst>
          </p:cNvPr>
          <p:cNvSpPr txBox="1"/>
          <p:nvPr/>
        </p:nvSpPr>
        <p:spPr>
          <a:xfrm>
            <a:off x="934742" y="275814"/>
            <a:ext cx="9233386" cy="3046988"/>
          </a:xfrm>
          <a:prstGeom prst="rect">
            <a:avLst/>
          </a:prstGeom>
          <a:noFill/>
        </p:spPr>
        <p:txBody>
          <a:bodyPr wrap="square" rtlCol="0">
            <a:spAutoFit/>
          </a:bodyPr>
          <a:lstStyle/>
          <a:p>
            <a:r>
              <a:rPr lang="es-ES" sz="2800" b="1" dirty="0">
                <a:solidFill>
                  <a:srgbClr val="FF0000"/>
                </a:solidFill>
              </a:rPr>
              <a:t>Modelo de reutilización de software</a:t>
            </a:r>
          </a:p>
          <a:p>
            <a:endParaRPr lang="es-ES" sz="2400" b="1" dirty="0">
              <a:solidFill>
                <a:srgbClr val="FF0000"/>
              </a:solidFill>
            </a:endParaRPr>
          </a:p>
          <a:p>
            <a:r>
              <a:rPr lang="es-ES" sz="2000" dirty="0"/>
              <a:t>El modelo de reutilización de componentes disminuye el proceso de desarrollo de software, costos y riesgos. Permite reutilizar componentes, tanto a nivel de código fuente como cualquier artefacto producido en el proceso de desarrollo.</a:t>
            </a:r>
          </a:p>
          <a:p>
            <a:endParaRPr lang="es-ES" sz="2000" dirty="0"/>
          </a:p>
          <a:p>
            <a:r>
              <a:rPr lang="es-ES" sz="2000" dirty="0"/>
              <a:t>Es indispensable identificar, valorar y conocer los componentes que se van a reutilizar con el fin de determinar cuáles serán reutilizados y qué componentes se van a diseñar.</a:t>
            </a:r>
          </a:p>
        </p:txBody>
      </p:sp>
      <p:pic>
        <p:nvPicPr>
          <p:cNvPr id="3" name="Picture 2">
            <a:extLst>
              <a:ext uri="{FF2B5EF4-FFF2-40B4-BE49-F238E27FC236}">
                <a16:creationId xmlns:a16="http://schemas.microsoft.com/office/drawing/2014/main" id="{D23CC459-5A0B-AAB5-ED83-E6ED49BB1198}"/>
              </a:ext>
            </a:extLst>
          </p:cNvPr>
          <p:cNvPicPr>
            <a:picLocks noChangeAspect="1"/>
          </p:cNvPicPr>
          <p:nvPr/>
        </p:nvPicPr>
        <p:blipFill>
          <a:blip r:embed="rId2"/>
          <a:stretch>
            <a:fillRect/>
          </a:stretch>
        </p:blipFill>
        <p:spPr>
          <a:xfrm>
            <a:off x="934742" y="3535199"/>
            <a:ext cx="8990132" cy="3192149"/>
          </a:xfrm>
          <a:prstGeom prst="rect">
            <a:avLst/>
          </a:prstGeom>
        </p:spPr>
      </p:pic>
    </p:spTree>
    <p:extLst>
      <p:ext uri="{BB962C8B-B14F-4D97-AF65-F5344CB8AC3E}">
        <p14:creationId xmlns:p14="http://schemas.microsoft.com/office/powerpoint/2010/main" val="4116503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6366B-8ABE-8303-BC0B-570AA01E6F2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4217EDE-7A99-1DAC-79FF-35AD9BE67D8F}"/>
              </a:ext>
            </a:extLst>
          </p:cNvPr>
          <p:cNvSpPr txBox="1"/>
          <p:nvPr/>
        </p:nvSpPr>
        <p:spPr>
          <a:xfrm>
            <a:off x="1044470" y="659862"/>
            <a:ext cx="10138642" cy="4154984"/>
          </a:xfrm>
          <a:prstGeom prst="rect">
            <a:avLst/>
          </a:prstGeom>
          <a:noFill/>
        </p:spPr>
        <p:txBody>
          <a:bodyPr wrap="square" rtlCol="0">
            <a:spAutoFit/>
          </a:bodyPr>
          <a:lstStyle/>
          <a:p>
            <a:r>
              <a:rPr lang="es-ES" sz="2800" b="1" dirty="0">
                <a:solidFill>
                  <a:srgbClr val="FF0000"/>
                </a:solidFill>
              </a:rPr>
              <a:t>Modelo de reutilización de software</a:t>
            </a:r>
          </a:p>
          <a:p>
            <a:endParaRPr lang="es-ES" sz="2400" b="1" dirty="0">
              <a:solidFill>
                <a:srgbClr val="FF0000"/>
              </a:solidFill>
            </a:endParaRPr>
          </a:p>
          <a:p>
            <a:endParaRPr lang="es-ES" sz="2400" b="1" dirty="0">
              <a:solidFill>
                <a:srgbClr val="FF0000"/>
              </a:solidFill>
            </a:endParaRPr>
          </a:p>
          <a:p>
            <a:r>
              <a:rPr lang="es-ES" sz="2400" dirty="0"/>
              <a:t>Los pasos para emplear el modelo de reutilización de software son:</a:t>
            </a:r>
          </a:p>
          <a:p>
            <a:endParaRPr lang="es-ES" sz="2400" dirty="0"/>
          </a:p>
          <a:p>
            <a:r>
              <a:rPr lang="es-ES" sz="2400" dirty="0"/>
              <a:t>• Efectuar un estudio sobre la viabilidad a nivel tecnológico y de costos.</a:t>
            </a:r>
          </a:p>
          <a:p>
            <a:r>
              <a:rPr lang="es-ES" sz="2400" dirty="0"/>
              <a:t>• Determinar el dominio de la aplicación, diseño y desarrollo de elementos reutilizables.</a:t>
            </a:r>
          </a:p>
          <a:p>
            <a:r>
              <a:rPr lang="es-ES" sz="2400" dirty="0"/>
              <a:t>• Desarrollar la planeación de los componentes por desarrollar.</a:t>
            </a:r>
          </a:p>
          <a:p>
            <a:r>
              <a:rPr lang="es-ES" sz="2400" dirty="0"/>
              <a:t>• Definir métricas para medir su utilidad.</a:t>
            </a:r>
          </a:p>
          <a:p>
            <a:endParaRPr lang="es-ES" sz="2000" dirty="0"/>
          </a:p>
        </p:txBody>
      </p:sp>
    </p:spTree>
    <p:extLst>
      <p:ext uri="{BB962C8B-B14F-4D97-AF65-F5344CB8AC3E}">
        <p14:creationId xmlns:p14="http://schemas.microsoft.com/office/powerpoint/2010/main" val="2206001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A906A-1283-9B98-D827-224DC0E9A11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ED255C-AF7C-5160-94CE-DBA5669F76FC}"/>
              </a:ext>
            </a:extLst>
          </p:cNvPr>
          <p:cNvSpPr txBox="1"/>
          <p:nvPr/>
        </p:nvSpPr>
        <p:spPr>
          <a:xfrm>
            <a:off x="934742" y="358167"/>
            <a:ext cx="9983194" cy="2431435"/>
          </a:xfrm>
          <a:prstGeom prst="rect">
            <a:avLst/>
          </a:prstGeom>
          <a:noFill/>
        </p:spPr>
        <p:txBody>
          <a:bodyPr wrap="square" rtlCol="0">
            <a:spAutoFit/>
          </a:bodyPr>
          <a:lstStyle/>
          <a:p>
            <a:r>
              <a:rPr lang="es-ES" sz="2800" b="1" dirty="0">
                <a:solidFill>
                  <a:srgbClr val="FF0000"/>
                </a:solidFill>
              </a:rPr>
              <a:t>Modelos de iteración de procesos </a:t>
            </a:r>
          </a:p>
          <a:p>
            <a:endParaRPr lang="es-ES" sz="2400" b="1" dirty="0">
              <a:solidFill>
                <a:srgbClr val="FF0000"/>
              </a:solidFill>
            </a:endParaRPr>
          </a:p>
          <a:p>
            <a:r>
              <a:rPr lang="es-ES" sz="2000" dirty="0"/>
              <a:t>El desarrollo de sistemas de información dinámicos exige enfoques diferentes. Los cambios en los requerimientos y en las reglas del negocio favorecieron el uso de </a:t>
            </a:r>
            <a:r>
              <a:rPr lang="es-ES" sz="2000" b="1" dirty="0"/>
              <a:t>modelos híbridos</a:t>
            </a:r>
            <a:r>
              <a:rPr lang="es-ES" sz="2000" dirty="0"/>
              <a:t>, conocidos como </a:t>
            </a:r>
            <a:r>
              <a:rPr lang="es-ES" sz="2000" b="1" dirty="0"/>
              <a:t>modelos evolutivos</a:t>
            </a:r>
            <a:r>
              <a:rPr lang="es-ES" sz="2000" dirty="0"/>
              <a:t>, cuya característica principal es que </a:t>
            </a:r>
            <a:r>
              <a:rPr lang="es-ES" sz="2000" b="1" dirty="0"/>
              <a:t>los requisitos cambian en cualquier momento del ciclo de vida</a:t>
            </a:r>
            <a:r>
              <a:rPr lang="es-ES" sz="2000" dirty="0"/>
              <a:t>. La descripción de los requerimientos es actualizada continuamente.</a:t>
            </a:r>
          </a:p>
        </p:txBody>
      </p:sp>
      <p:pic>
        <p:nvPicPr>
          <p:cNvPr id="6" name="Picture 5">
            <a:extLst>
              <a:ext uri="{FF2B5EF4-FFF2-40B4-BE49-F238E27FC236}">
                <a16:creationId xmlns:a16="http://schemas.microsoft.com/office/drawing/2014/main" id="{F59C3DC0-4782-494B-9C89-A10D74068260}"/>
              </a:ext>
            </a:extLst>
          </p:cNvPr>
          <p:cNvPicPr>
            <a:picLocks noChangeAspect="1"/>
          </p:cNvPicPr>
          <p:nvPr/>
        </p:nvPicPr>
        <p:blipFill>
          <a:blip r:embed="rId2"/>
          <a:stretch>
            <a:fillRect/>
          </a:stretch>
        </p:blipFill>
        <p:spPr>
          <a:xfrm>
            <a:off x="4254014" y="3050527"/>
            <a:ext cx="6433198" cy="3661169"/>
          </a:xfrm>
          <a:prstGeom prst="rect">
            <a:avLst/>
          </a:prstGeom>
        </p:spPr>
      </p:pic>
      <p:sp>
        <p:nvSpPr>
          <p:cNvPr id="7" name="TextBox 6">
            <a:extLst>
              <a:ext uri="{FF2B5EF4-FFF2-40B4-BE49-F238E27FC236}">
                <a16:creationId xmlns:a16="http://schemas.microsoft.com/office/drawing/2014/main" id="{FA4811F7-5618-B747-DB27-B365F56DE931}"/>
              </a:ext>
            </a:extLst>
          </p:cNvPr>
          <p:cNvSpPr txBox="1"/>
          <p:nvPr/>
        </p:nvSpPr>
        <p:spPr>
          <a:xfrm>
            <a:off x="934742" y="4557945"/>
            <a:ext cx="3319272" cy="646331"/>
          </a:xfrm>
          <a:prstGeom prst="rect">
            <a:avLst/>
          </a:prstGeom>
          <a:noFill/>
        </p:spPr>
        <p:txBody>
          <a:bodyPr wrap="square" rtlCol="0">
            <a:spAutoFit/>
          </a:bodyPr>
          <a:lstStyle/>
          <a:p>
            <a:r>
              <a:rPr lang="es-CO" dirty="0">
                <a:solidFill>
                  <a:srgbClr val="FF0000"/>
                </a:solidFill>
              </a:rPr>
              <a:t>Tipos de modelos de iteración para el desarrollo de software</a:t>
            </a:r>
            <a:endParaRPr lang="en-US" dirty="0">
              <a:solidFill>
                <a:srgbClr val="FF0000"/>
              </a:solidFill>
            </a:endParaRPr>
          </a:p>
        </p:txBody>
      </p:sp>
    </p:spTree>
    <p:extLst>
      <p:ext uri="{BB962C8B-B14F-4D97-AF65-F5344CB8AC3E}">
        <p14:creationId xmlns:p14="http://schemas.microsoft.com/office/powerpoint/2010/main" val="4114903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CB75C-EDE2-1AA2-5DA1-E44EB76C5EB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B11F809-FA92-6C30-4F82-38AE8D5D1893}"/>
              </a:ext>
            </a:extLst>
          </p:cNvPr>
          <p:cNvSpPr txBox="1"/>
          <p:nvPr/>
        </p:nvSpPr>
        <p:spPr>
          <a:xfrm>
            <a:off x="871231" y="537013"/>
            <a:ext cx="10449538" cy="5570756"/>
          </a:xfrm>
          <a:prstGeom prst="rect">
            <a:avLst/>
          </a:prstGeom>
          <a:noFill/>
        </p:spPr>
        <p:txBody>
          <a:bodyPr wrap="square" rtlCol="0">
            <a:spAutoFit/>
          </a:bodyPr>
          <a:lstStyle/>
          <a:p>
            <a:r>
              <a:rPr lang="es-ES" sz="2800" b="1" dirty="0">
                <a:solidFill>
                  <a:srgbClr val="FF0000"/>
                </a:solidFill>
              </a:rPr>
              <a:t>Modelos de iteración: Desarrollo incremental e iterativo </a:t>
            </a:r>
          </a:p>
          <a:p>
            <a:endParaRPr lang="es-ES" sz="2000" dirty="0"/>
          </a:p>
          <a:p>
            <a:endParaRPr lang="es-ES" sz="2000" dirty="0"/>
          </a:p>
          <a:p>
            <a:r>
              <a:rPr lang="es-ES" sz="2400" dirty="0"/>
              <a:t>Este modelo representa un cambio de paradigma a nivel conceptual en lo relacionado con el desarrollo estructurado y planteó una nueva visión en lo referente a la orientación a objetos. </a:t>
            </a:r>
          </a:p>
          <a:p>
            <a:endParaRPr lang="es-ES" sz="2400" dirty="0"/>
          </a:p>
          <a:p>
            <a:r>
              <a:rPr lang="es-ES" sz="2400" dirty="0"/>
              <a:t>Este paradigma orientado a objetos permite proyectar un desarrollo de software de manera incremental y desarrollarlo mediante entregas funcionales de componentes en corto tiempo. Cada incremento es funcional y el siguiente se desarrolla sobre el que se ha validado y entregado al cliente.</a:t>
            </a:r>
          </a:p>
          <a:p>
            <a:endParaRPr lang="es-ES" sz="2400" dirty="0"/>
          </a:p>
          <a:p>
            <a:r>
              <a:rPr lang="es-CO" sz="2400" dirty="0"/>
              <a:t>Este enfoque vincula las actividades de especificación, desarrollo y validación. El sistema se desarrolla como una serie de versiones y cada versión incluye nuevas funcionalidades. </a:t>
            </a:r>
          </a:p>
        </p:txBody>
      </p:sp>
    </p:spTree>
    <p:extLst>
      <p:ext uri="{BB962C8B-B14F-4D97-AF65-F5344CB8AC3E}">
        <p14:creationId xmlns:p14="http://schemas.microsoft.com/office/powerpoint/2010/main" val="3072018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B0F24-9AA8-FBD1-D9E6-B915F8CF83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2D219FE-7819-44B7-4B96-8B5C1B64D71E}"/>
              </a:ext>
            </a:extLst>
          </p:cNvPr>
          <p:cNvSpPr txBox="1"/>
          <p:nvPr/>
        </p:nvSpPr>
        <p:spPr>
          <a:xfrm>
            <a:off x="943886" y="104304"/>
            <a:ext cx="9983194" cy="523220"/>
          </a:xfrm>
          <a:prstGeom prst="rect">
            <a:avLst/>
          </a:prstGeom>
          <a:noFill/>
        </p:spPr>
        <p:txBody>
          <a:bodyPr wrap="square" rtlCol="0">
            <a:spAutoFit/>
          </a:bodyPr>
          <a:lstStyle/>
          <a:p>
            <a:r>
              <a:rPr lang="es-ES" sz="2800" b="1" dirty="0">
                <a:solidFill>
                  <a:srgbClr val="FF0000"/>
                </a:solidFill>
              </a:rPr>
              <a:t>Modelos de iteración: Desarrollo incremental e iterativo </a:t>
            </a:r>
          </a:p>
        </p:txBody>
      </p:sp>
      <p:pic>
        <p:nvPicPr>
          <p:cNvPr id="3" name="Picture 2">
            <a:extLst>
              <a:ext uri="{FF2B5EF4-FFF2-40B4-BE49-F238E27FC236}">
                <a16:creationId xmlns:a16="http://schemas.microsoft.com/office/drawing/2014/main" id="{DA2F81E0-1AE8-5224-E2C2-64FFB1BBF11F}"/>
              </a:ext>
            </a:extLst>
          </p:cNvPr>
          <p:cNvPicPr>
            <a:picLocks noChangeAspect="1"/>
          </p:cNvPicPr>
          <p:nvPr/>
        </p:nvPicPr>
        <p:blipFill>
          <a:blip r:embed="rId2"/>
          <a:stretch>
            <a:fillRect/>
          </a:stretch>
        </p:blipFill>
        <p:spPr>
          <a:xfrm>
            <a:off x="2926882" y="770991"/>
            <a:ext cx="6669375" cy="2854694"/>
          </a:xfrm>
          <a:prstGeom prst="rect">
            <a:avLst/>
          </a:prstGeom>
        </p:spPr>
      </p:pic>
      <p:pic>
        <p:nvPicPr>
          <p:cNvPr id="2" name="Picture 1">
            <a:extLst>
              <a:ext uri="{FF2B5EF4-FFF2-40B4-BE49-F238E27FC236}">
                <a16:creationId xmlns:a16="http://schemas.microsoft.com/office/drawing/2014/main" id="{4310CAF5-5756-956B-7855-4ACDD5F56063}"/>
              </a:ext>
            </a:extLst>
          </p:cNvPr>
          <p:cNvPicPr>
            <a:picLocks noChangeAspect="1"/>
          </p:cNvPicPr>
          <p:nvPr/>
        </p:nvPicPr>
        <p:blipFill>
          <a:blip r:embed="rId3"/>
          <a:stretch>
            <a:fillRect/>
          </a:stretch>
        </p:blipFill>
        <p:spPr>
          <a:xfrm>
            <a:off x="3614940" y="3625685"/>
            <a:ext cx="5293260" cy="3232315"/>
          </a:xfrm>
          <a:prstGeom prst="rect">
            <a:avLst/>
          </a:prstGeom>
        </p:spPr>
      </p:pic>
    </p:spTree>
    <p:extLst>
      <p:ext uri="{BB962C8B-B14F-4D97-AF65-F5344CB8AC3E}">
        <p14:creationId xmlns:p14="http://schemas.microsoft.com/office/powerpoint/2010/main" val="3536524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FA6CE-15B4-E4BF-082A-DB78E6571B3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C80419-2791-62FE-287C-3761951A8AEA}"/>
              </a:ext>
            </a:extLst>
          </p:cNvPr>
          <p:cNvSpPr txBox="1"/>
          <p:nvPr/>
        </p:nvSpPr>
        <p:spPr>
          <a:xfrm>
            <a:off x="998750" y="323760"/>
            <a:ext cx="9983194" cy="5447645"/>
          </a:xfrm>
          <a:prstGeom prst="rect">
            <a:avLst/>
          </a:prstGeom>
          <a:noFill/>
        </p:spPr>
        <p:txBody>
          <a:bodyPr wrap="square" rtlCol="0">
            <a:spAutoFit/>
          </a:bodyPr>
          <a:lstStyle/>
          <a:p>
            <a:r>
              <a:rPr lang="es-ES" sz="2400" b="1" dirty="0">
                <a:solidFill>
                  <a:srgbClr val="FF0000"/>
                </a:solidFill>
              </a:rPr>
              <a:t>Modelos de iteración: Modelo espiral</a:t>
            </a:r>
          </a:p>
          <a:p>
            <a:endParaRPr lang="es-ES" sz="2400" b="1" dirty="0">
              <a:solidFill>
                <a:srgbClr val="FF0000"/>
              </a:solidFill>
            </a:endParaRPr>
          </a:p>
          <a:p>
            <a:r>
              <a:rPr lang="es-ES" sz="2000" dirty="0"/>
              <a:t>Este modelo presenta aspectos similares al modelo de cascada mejorado. Sin embargo, tiene elementos propios: </a:t>
            </a:r>
          </a:p>
          <a:p>
            <a:endParaRPr lang="es-ES" sz="2000" dirty="0"/>
          </a:p>
          <a:p>
            <a:r>
              <a:rPr lang="es-ES" sz="2000" dirty="0"/>
              <a:t>• La retroalimentación entre las etapas. </a:t>
            </a:r>
          </a:p>
          <a:p>
            <a:r>
              <a:rPr lang="es-ES" sz="2000" dirty="0"/>
              <a:t>• La revisión y evaluación de cada una de ellas. </a:t>
            </a:r>
          </a:p>
          <a:p>
            <a:r>
              <a:rPr lang="es-ES" sz="2000" dirty="0"/>
              <a:t>• El análisis de riesgos. </a:t>
            </a:r>
          </a:p>
          <a:p>
            <a:endParaRPr lang="es-ES" sz="2000" dirty="0"/>
          </a:p>
          <a:p>
            <a:r>
              <a:rPr lang="es-ES" sz="2000" dirty="0"/>
              <a:t>La característica principal de este modelo es que se centra en las actividades desde el bosquejo inicial hasta la etapa final y la entrega. Fue uno de los primeros modelos en incorporar los </a:t>
            </a:r>
            <a:r>
              <a:rPr lang="es-ES" sz="2000" b="1" dirty="0"/>
              <a:t>riesgos en el desarrollo de software</a:t>
            </a:r>
            <a:r>
              <a:rPr lang="es-ES" sz="2000" dirty="0"/>
              <a:t>. Son tareas específicas del modelo espiral: </a:t>
            </a:r>
          </a:p>
          <a:p>
            <a:endParaRPr lang="es-ES" sz="2000" dirty="0"/>
          </a:p>
          <a:p>
            <a:r>
              <a:rPr lang="es-ES" sz="2000" dirty="0"/>
              <a:t>• Administración del riesgo. </a:t>
            </a:r>
          </a:p>
          <a:p>
            <a:r>
              <a:rPr lang="es-ES" sz="2000" dirty="0"/>
              <a:t>• Reutilización. </a:t>
            </a:r>
          </a:p>
          <a:p>
            <a:r>
              <a:rPr lang="es-ES" sz="2000" dirty="0"/>
              <a:t>• Elaboración de prototipos. </a:t>
            </a:r>
          </a:p>
        </p:txBody>
      </p:sp>
    </p:spTree>
    <p:extLst>
      <p:ext uri="{BB962C8B-B14F-4D97-AF65-F5344CB8AC3E}">
        <p14:creationId xmlns:p14="http://schemas.microsoft.com/office/powerpoint/2010/main" val="13680900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9FD42-EBF3-FAFD-6AC5-101F7350B6E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A153D98-6FAC-74B3-3ACE-CC2F9943B3A5}"/>
              </a:ext>
            </a:extLst>
          </p:cNvPr>
          <p:cNvSpPr txBox="1"/>
          <p:nvPr/>
        </p:nvSpPr>
        <p:spPr>
          <a:xfrm>
            <a:off x="1346222" y="303474"/>
            <a:ext cx="9983194" cy="523220"/>
          </a:xfrm>
          <a:prstGeom prst="rect">
            <a:avLst/>
          </a:prstGeom>
          <a:noFill/>
        </p:spPr>
        <p:txBody>
          <a:bodyPr wrap="square" rtlCol="0">
            <a:spAutoFit/>
          </a:bodyPr>
          <a:lstStyle/>
          <a:p>
            <a:r>
              <a:rPr lang="es-ES" sz="2800" b="1" dirty="0">
                <a:solidFill>
                  <a:srgbClr val="FF0000"/>
                </a:solidFill>
              </a:rPr>
              <a:t>Modelos de iteración: Modelo espiral</a:t>
            </a:r>
          </a:p>
        </p:txBody>
      </p:sp>
      <p:pic>
        <p:nvPicPr>
          <p:cNvPr id="3" name="Picture 2">
            <a:extLst>
              <a:ext uri="{FF2B5EF4-FFF2-40B4-BE49-F238E27FC236}">
                <a16:creationId xmlns:a16="http://schemas.microsoft.com/office/drawing/2014/main" id="{3B36552A-6F48-FAB4-749B-2DFD38BD9904}"/>
              </a:ext>
            </a:extLst>
          </p:cNvPr>
          <p:cNvPicPr>
            <a:picLocks noChangeAspect="1"/>
          </p:cNvPicPr>
          <p:nvPr/>
        </p:nvPicPr>
        <p:blipFill>
          <a:blip r:embed="rId2"/>
          <a:stretch>
            <a:fillRect/>
          </a:stretch>
        </p:blipFill>
        <p:spPr>
          <a:xfrm>
            <a:off x="2431209" y="1347977"/>
            <a:ext cx="6486885" cy="5371141"/>
          </a:xfrm>
          <a:prstGeom prst="rect">
            <a:avLst/>
          </a:prstGeom>
        </p:spPr>
      </p:pic>
    </p:spTree>
    <p:extLst>
      <p:ext uri="{BB962C8B-B14F-4D97-AF65-F5344CB8AC3E}">
        <p14:creationId xmlns:p14="http://schemas.microsoft.com/office/powerpoint/2010/main" val="1256445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E56EF-F09E-FA18-BA6F-1D76D08B8A3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B0B54C-CB89-89D0-E2E9-92E04D1EDE5E}"/>
              </a:ext>
            </a:extLst>
          </p:cNvPr>
          <p:cNvSpPr txBox="1"/>
          <p:nvPr/>
        </p:nvSpPr>
        <p:spPr>
          <a:xfrm>
            <a:off x="541550" y="313166"/>
            <a:ext cx="5685514" cy="5632311"/>
          </a:xfrm>
          <a:prstGeom prst="rect">
            <a:avLst/>
          </a:prstGeom>
          <a:noFill/>
        </p:spPr>
        <p:txBody>
          <a:bodyPr wrap="square" rtlCol="0">
            <a:spAutoFit/>
          </a:bodyPr>
          <a:lstStyle/>
          <a:p>
            <a:r>
              <a:rPr lang="es-ES" sz="2400" b="1" dirty="0">
                <a:solidFill>
                  <a:srgbClr val="FF0000"/>
                </a:solidFill>
              </a:rPr>
              <a:t>Modelo de desarrollo rápido de aplicaciones (RAD) </a:t>
            </a:r>
          </a:p>
          <a:p>
            <a:endParaRPr lang="es-ES" sz="2400" b="1" dirty="0">
              <a:solidFill>
                <a:srgbClr val="FF0000"/>
              </a:solidFill>
            </a:endParaRPr>
          </a:p>
          <a:p>
            <a:r>
              <a:rPr lang="es-ES" sz="2400" dirty="0"/>
              <a:t>El RAD (Rapid </a:t>
            </a:r>
            <a:r>
              <a:rPr lang="es-ES" sz="2400" dirty="0" err="1"/>
              <a:t>Application</a:t>
            </a:r>
            <a:r>
              <a:rPr lang="es-ES" sz="2400" dirty="0"/>
              <a:t> </a:t>
            </a:r>
            <a:r>
              <a:rPr lang="es-ES" sz="2400" dirty="0" err="1"/>
              <a:t>Development</a:t>
            </a:r>
            <a:r>
              <a:rPr lang="es-ES" sz="2400" dirty="0"/>
              <a:t>) Es un modelo que permite desarrollar software entre 60 y 90 días aproximadamente. </a:t>
            </a:r>
          </a:p>
          <a:p>
            <a:r>
              <a:rPr lang="es-ES" sz="2400" dirty="0"/>
              <a:t>El desarrollo se lleva a cabo con base en los siguientes elementos: </a:t>
            </a:r>
          </a:p>
          <a:p>
            <a:endParaRPr lang="es-ES" sz="2400" dirty="0"/>
          </a:p>
          <a:p>
            <a:r>
              <a:rPr lang="es-ES" sz="2400" dirty="0"/>
              <a:t>• Componentes. </a:t>
            </a:r>
          </a:p>
          <a:p>
            <a:r>
              <a:rPr lang="es-ES" sz="2400" dirty="0"/>
              <a:t>• Modelado de gestión, de datos y de proceso. </a:t>
            </a:r>
          </a:p>
          <a:p>
            <a:r>
              <a:rPr lang="es-ES" sz="2400" dirty="0"/>
              <a:t>• Uso de técnicas y herramientas de software para generar la aplicación.</a:t>
            </a:r>
          </a:p>
        </p:txBody>
      </p:sp>
      <p:pic>
        <p:nvPicPr>
          <p:cNvPr id="4" name="Picture 3">
            <a:extLst>
              <a:ext uri="{FF2B5EF4-FFF2-40B4-BE49-F238E27FC236}">
                <a16:creationId xmlns:a16="http://schemas.microsoft.com/office/drawing/2014/main" id="{3B74426D-1AC5-ED18-2A0A-A512BD1F4D1F}"/>
              </a:ext>
            </a:extLst>
          </p:cNvPr>
          <p:cNvPicPr>
            <a:picLocks noChangeAspect="1"/>
          </p:cNvPicPr>
          <p:nvPr/>
        </p:nvPicPr>
        <p:blipFill>
          <a:blip r:embed="rId2"/>
          <a:stretch>
            <a:fillRect/>
          </a:stretch>
        </p:blipFill>
        <p:spPr>
          <a:xfrm>
            <a:off x="6375422" y="469960"/>
            <a:ext cx="5611396" cy="5371152"/>
          </a:xfrm>
          <a:prstGeom prst="rect">
            <a:avLst/>
          </a:prstGeom>
        </p:spPr>
      </p:pic>
    </p:spTree>
    <p:extLst>
      <p:ext uri="{BB962C8B-B14F-4D97-AF65-F5344CB8AC3E}">
        <p14:creationId xmlns:p14="http://schemas.microsoft.com/office/powerpoint/2010/main" val="605082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DB1D4-B361-A8F7-CDFB-071AE54D1CA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4A080F2-12B9-5105-FF82-42095FE21BEC}"/>
              </a:ext>
            </a:extLst>
          </p:cNvPr>
          <p:cNvSpPr txBox="1"/>
          <p:nvPr/>
        </p:nvSpPr>
        <p:spPr>
          <a:xfrm>
            <a:off x="575078" y="2347217"/>
            <a:ext cx="2597890" cy="954107"/>
          </a:xfrm>
          <a:prstGeom prst="rect">
            <a:avLst/>
          </a:prstGeom>
          <a:noFill/>
        </p:spPr>
        <p:txBody>
          <a:bodyPr wrap="square" rtlCol="0">
            <a:spAutoFit/>
          </a:bodyPr>
          <a:lstStyle/>
          <a:p>
            <a:r>
              <a:rPr lang="es-ES" sz="2800" b="1" dirty="0">
                <a:solidFill>
                  <a:srgbClr val="FF0000"/>
                </a:solidFill>
              </a:rPr>
              <a:t>Herramientas </a:t>
            </a:r>
          </a:p>
          <a:p>
            <a:r>
              <a:rPr lang="es-ES" sz="2800" b="1" dirty="0">
                <a:solidFill>
                  <a:srgbClr val="FF0000"/>
                </a:solidFill>
              </a:rPr>
              <a:t>para el RAD</a:t>
            </a:r>
          </a:p>
        </p:txBody>
      </p:sp>
      <p:pic>
        <p:nvPicPr>
          <p:cNvPr id="3" name="Picture 2">
            <a:extLst>
              <a:ext uri="{FF2B5EF4-FFF2-40B4-BE49-F238E27FC236}">
                <a16:creationId xmlns:a16="http://schemas.microsoft.com/office/drawing/2014/main" id="{D28C7682-65E7-8DE1-0185-8E5A581CFC3D}"/>
              </a:ext>
            </a:extLst>
          </p:cNvPr>
          <p:cNvPicPr>
            <a:picLocks noChangeAspect="1"/>
          </p:cNvPicPr>
          <p:nvPr/>
        </p:nvPicPr>
        <p:blipFill>
          <a:blip r:embed="rId2"/>
          <a:stretch>
            <a:fillRect/>
          </a:stretch>
        </p:blipFill>
        <p:spPr>
          <a:xfrm>
            <a:off x="3853186" y="106936"/>
            <a:ext cx="7914358" cy="6641335"/>
          </a:xfrm>
          <a:prstGeom prst="rect">
            <a:avLst/>
          </a:prstGeom>
        </p:spPr>
      </p:pic>
    </p:spTree>
    <p:extLst>
      <p:ext uri="{BB962C8B-B14F-4D97-AF65-F5344CB8AC3E}">
        <p14:creationId xmlns:p14="http://schemas.microsoft.com/office/powerpoint/2010/main" val="16711255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C432E-39AF-9571-9503-6D1BC84CCC2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A5F8CA-DB5E-F760-76A8-7A780A2D1ED5}"/>
              </a:ext>
            </a:extLst>
          </p:cNvPr>
          <p:cNvSpPr txBox="1"/>
          <p:nvPr/>
        </p:nvSpPr>
        <p:spPr>
          <a:xfrm>
            <a:off x="750835" y="463553"/>
            <a:ext cx="9856205" cy="5386090"/>
          </a:xfrm>
          <a:prstGeom prst="rect">
            <a:avLst/>
          </a:prstGeom>
          <a:noFill/>
        </p:spPr>
        <p:txBody>
          <a:bodyPr wrap="square" rtlCol="0">
            <a:spAutoFit/>
          </a:bodyPr>
          <a:lstStyle/>
          <a:p>
            <a:r>
              <a:rPr lang="es-ES" sz="2800" b="1" dirty="0">
                <a:solidFill>
                  <a:srgbClr val="FF0000"/>
                </a:solidFill>
              </a:rPr>
              <a:t>Metodologías de desarrollo de software</a:t>
            </a:r>
          </a:p>
          <a:p>
            <a:endParaRPr lang="es-ES" sz="2800" b="1" dirty="0">
              <a:solidFill>
                <a:srgbClr val="FF0000"/>
              </a:solidFill>
            </a:endParaRPr>
          </a:p>
          <a:p>
            <a:r>
              <a:rPr lang="es-ES" sz="2800" b="1" dirty="0">
                <a:solidFill>
                  <a:srgbClr val="FF0000"/>
                </a:solidFill>
              </a:rPr>
              <a:t>Metodologías tradicionales para el desarrollo de software </a:t>
            </a:r>
          </a:p>
          <a:p>
            <a:endParaRPr lang="es-ES" sz="2000" dirty="0">
              <a:solidFill>
                <a:srgbClr val="FF0000"/>
              </a:solidFill>
            </a:endParaRPr>
          </a:p>
          <a:p>
            <a:r>
              <a:rPr lang="es-ES" sz="2000" dirty="0"/>
              <a:t>La ingeniería de software no tenía una base propia, por lo cual fue necesario tomar componentes de otras áreas del conocimiento como la ingeniería de sistemas, la ingeniería industrial, entre otras, y adaptarlos a los procesos inherentes al desarrollo de software. </a:t>
            </a:r>
          </a:p>
          <a:p>
            <a:endParaRPr lang="es-ES" sz="2000" dirty="0"/>
          </a:p>
          <a:p>
            <a:r>
              <a:rPr lang="es-ES" sz="2000" dirty="0"/>
              <a:t>Estos procesos son llevados a cabo hoy en día por profesionales de TI, pero para llegar a este punto pasaron por varias etapas que se clasifican de la siguiente manera: </a:t>
            </a:r>
          </a:p>
          <a:p>
            <a:endParaRPr lang="es-ES" sz="2000" dirty="0"/>
          </a:p>
          <a:p>
            <a:r>
              <a:rPr lang="es-ES" sz="2000" dirty="0"/>
              <a:t>• </a:t>
            </a:r>
            <a:r>
              <a:rPr lang="es-ES" sz="2000" b="1" dirty="0"/>
              <a:t>Desarrollo artesanal: </a:t>
            </a:r>
            <a:r>
              <a:rPr lang="es-ES" sz="2000" dirty="0"/>
              <a:t>el desarrollo de software es realizado por personas que les gusta la programación y se basaban en la percepción y la experiencia; no existían modelos, metodologías, técnicas, estándares, y </a:t>
            </a:r>
            <a:r>
              <a:rPr lang="es-ES" sz="2000" b="1" dirty="0"/>
              <a:t>el desarrollo se aplicaba más al uso que a la comercialización del producto.</a:t>
            </a:r>
          </a:p>
        </p:txBody>
      </p:sp>
    </p:spTree>
    <p:extLst>
      <p:ext uri="{BB962C8B-B14F-4D97-AF65-F5344CB8AC3E}">
        <p14:creationId xmlns:p14="http://schemas.microsoft.com/office/powerpoint/2010/main" val="3424048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D48B7-9833-51EC-5AE6-0B2D90BF2E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ABAAEF1-244A-B0F1-F1E8-A465CC8E8B27}"/>
              </a:ext>
            </a:extLst>
          </p:cNvPr>
          <p:cNvSpPr txBox="1"/>
          <p:nvPr/>
        </p:nvSpPr>
        <p:spPr>
          <a:xfrm>
            <a:off x="778267" y="612844"/>
            <a:ext cx="9856205" cy="5632311"/>
          </a:xfrm>
          <a:prstGeom prst="rect">
            <a:avLst/>
          </a:prstGeom>
          <a:noFill/>
        </p:spPr>
        <p:txBody>
          <a:bodyPr wrap="square" rtlCol="0">
            <a:spAutoFit/>
          </a:bodyPr>
          <a:lstStyle/>
          <a:p>
            <a:r>
              <a:rPr lang="es-ES" sz="2000" dirty="0"/>
              <a:t>• </a:t>
            </a:r>
            <a:r>
              <a:rPr lang="es-ES" sz="2000" b="1" dirty="0"/>
              <a:t>Desarrollo de comercialización: </a:t>
            </a:r>
            <a:r>
              <a:rPr lang="es-ES" sz="2000" dirty="0"/>
              <a:t>se establecen procedimientos, procesos, técnicas y herramientas. La experiencia permitía que el producto de software fuera de mejor calidad. </a:t>
            </a:r>
          </a:p>
          <a:p>
            <a:endParaRPr lang="es-ES" sz="2000" dirty="0"/>
          </a:p>
          <a:p>
            <a:r>
              <a:rPr lang="es-ES" sz="2000" dirty="0"/>
              <a:t>• </a:t>
            </a:r>
            <a:r>
              <a:rPr lang="es-ES" sz="2000" b="1" dirty="0"/>
              <a:t>Desarrollo de ingeniería profesional: </a:t>
            </a:r>
            <a:r>
              <a:rPr lang="es-ES" sz="2000" dirty="0"/>
              <a:t>las personas están capacitadas, existe un cuerpo de conocimiento, se desarrollan teorías y análisis para el desarrollo del software, hay variedad de productos y mejoramiento en la calidad desde el inicio. </a:t>
            </a:r>
          </a:p>
          <a:p>
            <a:endParaRPr lang="es-ES" sz="2000" dirty="0"/>
          </a:p>
          <a:p>
            <a:r>
              <a:rPr lang="es-ES" sz="2000" b="1" dirty="0">
                <a:solidFill>
                  <a:srgbClr val="FF0000"/>
                </a:solidFill>
              </a:rPr>
              <a:t>Las metodologías tradicionales</a:t>
            </a:r>
            <a:r>
              <a:rPr lang="es-ES" sz="2000" b="1" dirty="0"/>
              <a:t> </a:t>
            </a:r>
            <a:r>
              <a:rPr lang="es-ES" sz="2000" dirty="0"/>
              <a:t>de desarrollo se caracterizan por un proceso disciplinado y estructurado, cuyo propósito es establecer eficazmente los requerimientos del cliente y obtener software de calidad. </a:t>
            </a:r>
            <a:r>
              <a:rPr lang="es-ES" sz="2000" b="1" dirty="0"/>
              <a:t>La principal característica de las metodologías tradicionales es el énfasis en la planificación, la documentación, el control del cronograma y la ejecución, así como en la asignación de roles y la ejecución de actividades. </a:t>
            </a:r>
          </a:p>
          <a:p>
            <a:endParaRPr lang="es-ES" sz="2000" dirty="0"/>
          </a:p>
          <a:p>
            <a:r>
              <a:rPr lang="es-ES" sz="2000" b="1" dirty="0">
                <a:solidFill>
                  <a:srgbClr val="FF0000"/>
                </a:solidFill>
              </a:rPr>
              <a:t>Las metodologías tradicionales </a:t>
            </a:r>
            <a:r>
              <a:rPr lang="es-ES" sz="2000" dirty="0"/>
              <a:t>son más apropiadas para la ejecución de proyectos grandes, con requisitos estables que requieran procesos estructurados y documentación detallada.</a:t>
            </a:r>
          </a:p>
        </p:txBody>
      </p:sp>
    </p:spTree>
    <p:extLst>
      <p:ext uri="{BB962C8B-B14F-4D97-AF65-F5344CB8AC3E}">
        <p14:creationId xmlns:p14="http://schemas.microsoft.com/office/powerpoint/2010/main" val="32402935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8D035-5885-267B-1274-80AB000A404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78B1BEB-700C-E6DC-19FB-01F2A564829E}"/>
              </a:ext>
            </a:extLst>
          </p:cNvPr>
          <p:cNvSpPr txBox="1"/>
          <p:nvPr/>
        </p:nvSpPr>
        <p:spPr>
          <a:xfrm>
            <a:off x="586243" y="271529"/>
            <a:ext cx="9856205" cy="523220"/>
          </a:xfrm>
          <a:prstGeom prst="rect">
            <a:avLst/>
          </a:prstGeom>
          <a:noFill/>
        </p:spPr>
        <p:txBody>
          <a:bodyPr wrap="square" rtlCol="0">
            <a:spAutoFit/>
          </a:bodyPr>
          <a:lstStyle/>
          <a:p>
            <a:r>
              <a:rPr lang="es-ES" sz="2800" b="1" dirty="0">
                <a:solidFill>
                  <a:srgbClr val="FF0000"/>
                </a:solidFill>
              </a:rPr>
              <a:t>Evolución de las metodologías estructuradas de software </a:t>
            </a:r>
          </a:p>
        </p:txBody>
      </p:sp>
      <p:pic>
        <p:nvPicPr>
          <p:cNvPr id="3" name="Picture 2">
            <a:extLst>
              <a:ext uri="{FF2B5EF4-FFF2-40B4-BE49-F238E27FC236}">
                <a16:creationId xmlns:a16="http://schemas.microsoft.com/office/drawing/2014/main" id="{17A12DB1-6735-B64D-F176-11B4400EDED5}"/>
              </a:ext>
            </a:extLst>
          </p:cNvPr>
          <p:cNvPicPr>
            <a:picLocks noChangeAspect="1"/>
          </p:cNvPicPr>
          <p:nvPr/>
        </p:nvPicPr>
        <p:blipFill>
          <a:blip r:embed="rId2"/>
          <a:stretch>
            <a:fillRect/>
          </a:stretch>
        </p:blipFill>
        <p:spPr>
          <a:xfrm>
            <a:off x="0" y="794748"/>
            <a:ext cx="11899018" cy="5898659"/>
          </a:xfrm>
          <a:prstGeom prst="rect">
            <a:avLst/>
          </a:prstGeom>
        </p:spPr>
      </p:pic>
    </p:spTree>
    <p:extLst>
      <p:ext uri="{BB962C8B-B14F-4D97-AF65-F5344CB8AC3E}">
        <p14:creationId xmlns:p14="http://schemas.microsoft.com/office/powerpoint/2010/main" val="29354537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8AED3-70A4-D38D-BA7D-37E10B0F314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3FC9F0D-740C-EC9F-6C7C-10964E89604F}"/>
              </a:ext>
            </a:extLst>
          </p:cNvPr>
          <p:cNvSpPr txBox="1"/>
          <p:nvPr/>
        </p:nvSpPr>
        <p:spPr>
          <a:xfrm>
            <a:off x="851419" y="152657"/>
            <a:ext cx="9856205" cy="6124754"/>
          </a:xfrm>
          <a:prstGeom prst="rect">
            <a:avLst/>
          </a:prstGeom>
          <a:noFill/>
        </p:spPr>
        <p:txBody>
          <a:bodyPr wrap="square" rtlCol="0">
            <a:spAutoFit/>
          </a:bodyPr>
          <a:lstStyle/>
          <a:p>
            <a:r>
              <a:rPr lang="es-ES" sz="2800" b="1" dirty="0">
                <a:solidFill>
                  <a:srgbClr val="FF0000"/>
                </a:solidFill>
              </a:rPr>
              <a:t>Ciclos de vida propuestos para el desarrollo de software</a:t>
            </a:r>
          </a:p>
          <a:p>
            <a:endParaRPr lang="es-ES" sz="2000" dirty="0">
              <a:solidFill>
                <a:srgbClr val="FF0000"/>
              </a:solidFill>
            </a:endParaRPr>
          </a:p>
          <a:p>
            <a:r>
              <a:rPr lang="es-ES" sz="2000" dirty="0"/>
              <a:t>Las metodologías tradicionales para el desarrollo de software surgen en los años sesenta, junto con el modelo del ciclo de vida básico que estaba vigente: </a:t>
            </a:r>
            <a:r>
              <a:rPr lang="es-ES" sz="2000" b="1" dirty="0"/>
              <a:t>análisis, diseño, codificación, implantación y mantenimiento. </a:t>
            </a:r>
            <a:r>
              <a:rPr lang="es-ES" sz="2000" dirty="0"/>
              <a:t>Se empleaban las herramientas, técnicas y métodos para el desarrollo de software que existían, según el enfoque estructurado. </a:t>
            </a:r>
          </a:p>
          <a:p>
            <a:endParaRPr lang="es-ES" sz="2000" dirty="0"/>
          </a:p>
          <a:p>
            <a:r>
              <a:rPr lang="es-ES" sz="2000" dirty="0"/>
              <a:t>En los años ochenta predomina el </a:t>
            </a:r>
            <a:r>
              <a:rPr lang="es-ES" sz="2000" b="1" dirty="0"/>
              <a:t>paradigma del diseño orientado a objetos </a:t>
            </a:r>
            <a:r>
              <a:rPr lang="es-ES" sz="2000" dirty="0"/>
              <a:t>y la connotación gráfica para representar los procesos en el desarrollo de software mediante el </a:t>
            </a:r>
            <a:r>
              <a:rPr lang="es-ES" sz="2000" b="1" dirty="0"/>
              <a:t>lenguaje de modelado basado en diagramas </a:t>
            </a:r>
            <a:r>
              <a:rPr lang="es-ES" sz="2000" dirty="0"/>
              <a:t>(UML).</a:t>
            </a:r>
          </a:p>
          <a:p>
            <a:endParaRPr lang="es-ES" sz="2000" dirty="0">
              <a:solidFill>
                <a:srgbClr val="FF0000"/>
              </a:solidFill>
            </a:endParaRPr>
          </a:p>
          <a:p>
            <a:r>
              <a:rPr lang="es-ES" sz="2400" b="1" dirty="0">
                <a:solidFill>
                  <a:srgbClr val="FF0000"/>
                </a:solidFill>
              </a:rPr>
              <a:t>Ciclo de vida de Kendall y Kendall (2005) </a:t>
            </a:r>
          </a:p>
          <a:p>
            <a:endParaRPr lang="es-ES" sz="2000" dirty="0">
              <a:solidFill>
                <a:srgbClr val="FF0000"/>
              </a:solidFill>
            </a:endParaRPr>
          </a:p>
          <a:p>
            <a:r>
              <a:rPr lang="es-ES" sz="2000" dirty="0"/>
              <a:t>Según la propuesta realizada por Kendall y Kendall, conocida como el ciclo de vida de un sistema, un sistema se desarrolla de forma óptima empleando un trabajo organizado en un ciclo específico de actividades. En esta propuesta se establecen siete fases, en las que las actividades pueden ocurrir de forma simultánea, e incluso algunas pueden repetirse.</a:t>
            </a:r>
          </a:p>
        </p:txBody>
      </p:sp>
    </p:spTree>
    <p:extLst>
      <p:ext uri="{BB962C8B-B14F-4D97-AF65-F5344CB8AC3E}">
        <p14:creationId xmlns:p14="http://schemas.microsoft.com/office/powerpoint/2010/main" val="12474349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EF1A4-ECC3-0694-8463-F8F0614E833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E13B7E9-7239-11DF-1CAB-5C8EB2A11445}"/>
              </a:ext>
            </a:extLst>
          </p:cNvPr>
          <p:cNvSpPr txBox="1"/>
          <p:nvPr/>
        </p:nvSpPr>
        <p:spPr>
          <a:xfrm>
            <a:off x="876562" y="2044005"/>
            <a:ext cx="3539990" cy="1384995"/>
          </a:xfrm>
          <a:prstGeom prst="rect">
            <a:avLst/>
          </a:prstGeom>
          <a:noFill/>
        </p:spPr>
        <p:txBody>
          <a:bodyPr wrap="square" rtlCol="0">
            <a:spAutoFit/>
          </a:bodyPr>
          <a:lstStyle/>
          <a:p>
            <a:r>
              <a:rPr lang="es-ES" sz="2800" b="1" dirty="0">
                <a:solidFill>
                  <a:srgbClr val="FF0000"/>
                </a:solidFill>
              </a:rPr>
              <a:t>Metodología de Kendall y Kendall (2005)</a:t>
            </a:r>
            <a:r>
              <a:rPr lang="es-ES" sz="2400" b="1" dirty="0">
                <a:solidFill>
                  <a:srgbClr val="FF0000"/>
                </a:solidFill>
              </a:rPr>
              <a:t> </a:t>
            </a:r>
          </a:p>
        </p:txBody>
      </p:sp>
      <p:pic>
        <p:nvPicPr>
          <p:cNvPr id="3" name="Picture 2">
            <a:extLst>
              <a:ext uri="{FF2B5EF4-FFF2-40B4-BE49-F238E27FC236}">
                <a16:creationId xmlns:a16="http://schemas.microsoft.com/office/drawing/2014/main" id="{E98F97AC-073B-AD53-C708-D07FE5D915E1}"/>
              </a:ext>
            </a:extLst>
          </p:cNvPr>
          <p:cNvPicPr>
            <a:picLocks noChangeAspect="1"/>
          </p:cNvPicPr>
          <p:nvPr/>
        </p:nvPicPr>
        <p:blipFill>
          <a:blip r:embed="rId2"/>
          <a:stretch>
            <a:fillRect/>
          </a:stretch>
        </p:blipFill>
        <p:spPr>
          <a:xfrm>
            <a:off x="4249670" y="78440"/>
            <a:ext cx="5634994" cy="6701119"/>
          </a:xfrm>
          <a:prstGeom prst="rect">
            <a:avLst/>
          </a:prstGeom>
        </p:spPr>
      </p:pic>
    </p:spTree>
    <p:extLst>
      <p:ext uri="{BB962C8B-B14F-4D97-AF65-F5344CB8AC3E}">
        <p14:creationId xmlns:p14="http://schemas.microsoft.com/office/powerpoint/2010/main" val="41805806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C80C3-EA0A-582E-9E02-B6FD5421367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7D1B20E-2048-A03D-7B21-E8557F9C1434}"/>
              </a:ext>
            </a:extLst>
          </p:cNvPr>
          <p:cNvSpPr txBox="1"/>
          <p:nvPr/>
        </p:nvSpPr>
        <p:spPr>
          <a:xfrm>
            <a:off x="1034300" y="176189"/>
            <a:ext cx="10331692" cy="1508105"/>
          </a:xfrm>
          <a:prstGeom prst="rect">
            <a:avLst/>
          </a:prstGeom>
          <a:noFill/>
        </p:spPr>
        <p:txBody>
          <a:bodyPr wrap="square" rtlCol="0">
            <a:spAutoFit/>
          </a:bodyPr>
          <a:lstStyle/>
          <a:p>
            <a:r>
              <a:rPr lang="es-ES" sz="2800" b="1" dirty="0">
                <a:solidFill>
                  <a:srgbClr val="FF0000"/>
                </a:solidFill>
              </a:rPr>
              <a:t>Ciclo de vida de Roger S. Pressman </a:t>
            </a:r>
          </a:p>
          <a:p>
            <a:endParaRPr lang="es-ES" sz="2400" dirty="0">
              <a:solidFill>
                <a:srgbClr val="FF0000"/>
              </a:solidFill>
            </a:endParaRPr>
          </a:p>
          <a:p>
            <a:r>
              <a:rPr lang="es-ES" sz="2000" dirty="0"/>
              <a:t>El ciclo de vida del desarrollo del software está determinado por el flujo de trabajo que la ingeniería de software establece a través de las fases de desarrollo. </a:t>
            </a:r>
          </a:p>
        </p:txBody>
      </p:sp>
      <p:pic>
        <p:nvPicPr>
          <p:cNvPr id="4" name="Picture 3">
            <a:extLst>
              <a:ext uri="{FF2B5EF4-FFF2-40B4-BE49-F238E27FC236}">
                <a16:creationId xmlns:a16="http://schemas.microsoft.com/office/drawing/2014/main" id="{18BC42C2-0FD2-022E-C0B1-793D812845A0}"/>
              </a:ext>
            </a:extLst>
          </p:cNvPr>
          <p:cNvPicPr>
            <a:picLocks noChangeAspect="1"/>
          </p:cNvPicPr>
          <p:nvPr/>
        </p:nvPicPr>
        <p:blipFill>
          <a:blip r:embed="rId2"/>
          <a:stretch>
            <a:fillRect/>
          </a:stretch>
        </p:blipFill>
        <p:spPr>
          <a:xfrm>
            <a:off x="3174220" y="1620286"/>
            <a:ext cx="5192539" cy="5141633"/>
          </a:xfrm>
          <a:prstGeom prst="rect">
            <a:avLst/>
          </a:prstGeom>
        </p:spPr>
      </p:pic>
    </p:spTree>
    <p:extLst>
      <p:ext uri="{BB962C8B-B14F-4D97-AF65-F5344CB8AC3E}">
        <p14:creationId xmlns:p14="http://schemas.microsoft.com/office/powerpoint/2010/main" val="19348637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BB0A7-2468-189C-66FE-B0E621EFD1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729EB58-E758-327D-FAA5-BF0984CCD5C8}"/>
              </a:ext>
            </a:extLst>
          </p:cNvPr>
          <p:cNvSpPr txBox="1"/>
          <p:nvPr/>
        </p:nvSpPr>
        <p:spPr>
          <a:xfrm>
            <a:off x="930154" y="723483"/>
            <a:ext cx="10331692" cy="4216539"/>
          </a:xfrm>
          <a:prstGeom prst="rect">
            <a:avLst/>
          </a:prstGeom>
          <a:noFill/>
        </p:spPr>
        <p:txBody>
          <a:bodyPr wrap="square" rtlCol="0">
            <a:spAutoFit/>
          </a:bodyPr>
          <a:lstStyle/>
          <a:p>
            <a:r>
              <a:rPr lang="es-ES" sz="2800" b="1" dirty="0">
                <a:solidFill>
                  <a:srgbClr val="FF0000"/>
                </a:solidFill>
              </a:rPr>
              <a:t>Metodologías estructuradas de desarrollo de software </a:t>
            </a:r>
          </a:p>
          <a:p>
            <a:endParaRPr lang="es-ES" sz="2400" dirty="0"/>
          </a:p>
          <a:p>
            <a:r>
              <a:rPr lang="es-ES" sz="2400" dirty="0"/>
              <a:t>Metodologías estructuradas o tradicionales empleadas para el desarrollo de software. Cada una presenta una estructura interna que brinda la posibilidad de realizar el proceso mediante etapas o fases. Las metodologías tradicionales más representativas son: </a:t>
            </a:r>
          </a:p>
          <a:p>
            <a:endParaRPr lang="es-ES" sz="2400" dirty="0"/>
          </a:p>
          <a:p>
            <a:endParaRPr lang="es-ES" sz="2400" dirty="0"/>
          </a:p>
          <a:p>
            <a:r>
              <a:rPr lang="es-ES" sz="2400" dirty="0"/>
              <a:t>• </a:t>
            </a:r>
            <a:r>
              <a:rPr lang="es-ES" sz="2400" dirty="0" err="1"/>
              <a:t>Rational</a:t>
            </a:r>
            <a:r>
              <a:rPr lang="es-ES" sz="2400" dirty="0"/>
              <a:t> </a:t>
            </a:r>
            <a:r>
              <a:rPr lang="es-ES" sz="2400" dirty="0" err="1"/>
              <a:t>Unified</a:t>
            </a:r>
            <a:r>
              <a:rPr lang="es-ES" sz="2400" dirty="0"/>
              <a:t> </a:t>
            </a:r>
            <a:r>
              <a:rPr lang="es-ES" sz="2400" dirty="0" err="1"/>
              <a:t>Process</a:t>
            </a:r>
            <a:r>
              <a:rPr lang="es-ES" sz="2400" dirty="0"/>
              <a:t> (RUP). </a:t>
            </a:r>
          </a:p>
          <a:p>
            <a:endParaRPr lang="es-ES" sz="2400" dirty="0"/>
          </a:p>
          <a:p>
            <a:r>
              <a:rPr lang="es-ES" sz="2400" dirty="0"/>
              <a:t>• Microsoft Solutions Framework (MSF).</a:t>
            </a:r>
          </a:p>
        </p:txBody>
      </p:sp>
    </p:spTree>
    <p:extLst>
      <p:ext uri="{BB962C8B-B14F-4D97-AF65-F5344CB8AC3E}">
        <p14:creationId xmlns:p14="http://schemas.microsoft.com/office/powerpoint/2010/main" val="2061851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3FDA4-BCAC-E919-338F-28EEA767625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F410EA3-F6DD-854B-C777-1D5328B90B03}"/>
              </a:ext>
            </a:extLst>
          </p:cNvPr>
          <p:cNvSpPr txBox="1"/>
          <p:nvPr/>
        </p:nvSpPr>
        <p:spPr>
          <a:xfrm>
            <a:off x="564394" y="220563"/>
            <a:ext cx="10331692" cy="3477875"/>
          </a:xfrm>
          <a:prstGeom prst="rect">
            <a:avLst/>
          </a:prstGeom>
          <a:noFill/>
        </p:spPr>
        <p:txBody>
          <a:bodyPr wrap="square" rtlCol="0">
            <a:spAutoFit/>
          </a:bodyPr>
          <a:lstStyle/>
          <a:p>
            <a:r>
              <a:rPr lang="es-ES" sz="2800" b="1" dirty="0">
                <a:solidFill>
                  <a:srgbClr val="FF0000"/>
                </a:solidFill>
              </a:rPr>
              <a:t>Metodologías estructuradas de desarrollo de software </a:t>
            </a:r>
          </a:p>
          <a:p>
            <a:endParaRPr lang="es-ES" sz="2400" dirty="0"/>
          </a:p>
          <a:p>
            <a:r>
              <a:rPr lang="es-ES" sz="2400" b="1" dirty="0">
                <a:solidFill>
                  <a:srgbClr val="FF0000"/>
                </a:solidFill>
              </a:rPr>
              <a:t>Metodología Microsoft Solutions Framework (MSF) </a:t>
            </a:r>
          </a:p>
          <a:p>
            <a:endParaRPr lang="es-ES" sz="2400" dirty="0"/>
          </a:p>
          <a:p>
            <a:r>
              <a:rPr lang="es-ES" sz="2400" dirty="0"/>
              <a:t>Es una metodología que desarrolló sus propios conceptos y nociones. </a:t>
            </a:r>
          </a:p>
          <a:p>
            <a:r>
              <a:rPr lang="es-ES" sz="2400" dirty="0"/>
              <a:t>Expuso un modelo de trabajo fundamentado en el equipo de desarrollo, estableció principios, disciplinas de apoyo y prácticas de uso que permiten controlar la planificación, ejecución, control, desarrollo y gestión de proyectos tecnológicos.</a:t>
            </a:r>
          </a:p>
        </p:txBody>
      </p:sp>
      <p:pic>
        <p:nvPicPr>
          <p:cNvPr id="3" name="Picture 2">
            <a:extLst>
              <a:ext uri="{FF2B5EF4-FFF2-40B4-BE49-F238E27FC236}">
                <a16:creationId xmlns:a16="http://schemas.microsoft.com/office/drawing/2014/main" id="{0F90824C-A9BE-94D2-83E7-B0F3C4233DB8}"/>
              </a:ext>
            </a:extLst>
          </p:cNvPr>
          <p:cNvPicPr>
            <a:picLocks noChangeAspect="1"/>
          </p:cNvPicPr>
          <p:nvPr/>
        </p:nvPicPr>
        <p:blipFill>
          <a:blip r:embed="rId2"/>
          <a:stretch>
            <a:fillRect/>
          </a:stretch>
        </p:blipFill>
        <p:spPr>
          <a:xfrm>
            <a:off x="2758263" y="3597854"/>
            <a:ext cx="7711375" cy="2938999"/>
          </a:xfrm>
          <a:prstGeom prst="rect">
            <a:avLst/>
          </a:prstGeom>
        </p:spPr>
      </p:pic>
    </p:spTree>
    <p:extLst>
      <p:ext uri="{BB962C8B-B14F-4D97-AF65-F5344CB8AC3E}">
        <p14:creationId xmlns:p14="http://schemas.microsoft.com/office/powerpoint/2010/main" val="1810061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AE220-EE87-2322-4BD7-FEFB09D8E2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A0D77A3-63F0-744A-4E75-2D8A650FFCAB}"/>
              </a:ext>
            </a:extLst>
          </p:cNvPr>
          <p:cNvSpPr txBox="1"/>
          <p:nvPr/>
        </p:nvSpPr>
        <p:spPr>
          <a:xfrm>
            <a:off x="930154" y="67423"/>
            <a:ext cx="10331692" cy="1200329"/>
          </a:xfrm>
          <a:prstGeom prst="rect">
            <a:avLst/>
          </a:prstGeom>
          <a:noFill/>
        </p:spPr>
        <p:txBody>
          <a:bodyPr wrap="square" rtlCol="0">
            <a:spAutoFit/>
          </a:bodyPr>
          <a:lstStyle/>
          <a:p>
            <a:r>
              <a:rPr lang="es-ES" sz="2400" b="1" dirty="0">
                <a:solidFill>
                  <a:srgbClr val="FF0000"/>
                </a:solidFill>
              </a:rPr>
              <a:t>Metodología Microsoft Solutions Framework (MSF) </a:t>
            </a:r>
          </a:p>
          <a:p>
            <a:endParaRPr lang="es-ES" sz="2400" dirty="0"/>
          </a:p>
          <a:p>
            <a:r>
              <a:rPr lang="es-ES" sz="2400" dirty="0"/>
              <a:t>Generalidades de la metodología MSF</a:t>
            </a:r>
          </a:p>
        </p:txBody>
      </p:sp>
      <p:pic>
        <p:nvPicPr>
          <p:cNvPr id="4" name="Picture 3">
            <a:extLst>
              <a:ext uri="{FF2B5EF4-FFF2-40B4-BE49-F238E27FC236}">
                <a16:creationId xmlns:a16="http://schemas.microsoft.com/office/drawing/2014/main" id="{CA8B8C05-26EB-F61A-5A08-2913D064D7F0}"/>
              </a:ext>
            </a:extLst>
          </p:cNvPr>
          <p:cNvPicPr>
            <a:picLocks noChangeAspect="1"/>
          </p:cNvPicPr>
          <p:nvPr/>
        </p:nvPicPr>
        <p:blipFill>
          <a:blip r:embed="rId2"/>
          <a:stretch>
            <a:fillRect/>
          </a:stretch>
        </p:blipFill>
        <p:spPr>
          <a:xfrm>
            <a:off x="3033508" y="1505674"/>
            <a:ext cx="5708156" cy="5131763"/>
          </a:xfrm>
          <a:prstGeom prst="rect">
            <a:avLst/>
          </a:prstGeom>
        </p:spPr>
      </p:pic>
      <p:sp>
        <p:nvSpPr>
          <p:cNvPr id="6" name="Arrow: Down 5">
            <a:extLst>
              <a:ext uri="{FF2B5EF4-FFF2-40B4-BE49-F238E27FC236}">
                <a16:creationId xmlns:a16="http://schemas.microsoft.com/office/drawing/2014/main" id="{46BABD2B-114D-E86A-DA80-8E418C9E91C0}"/>
              </a:ext>
            </a:extLst>
          </p:cNvPr>
          <p:cNvSpPr/>
          <p:nvPr/>
        </p:nvSpPr>
        <p:spPr>
          <a:xfrm rot="2510227">
            <a:off x="7341490" y="1314393"/>
            <a:ext cx="401447" cy="684390"/>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98802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48A88-F088-20CE-9CCE-CE7F5F25E04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02D6FEC-0DB6-78C5-8762-84D903DC4491}"/>
              </a:ext>
            </a:extLst>
          </p:cNvPr>
          <p:cNvSpPr txBox="1"/>
          <p:nvPr/>
        </p:nvSpPr>
        <p:spPr>
          <a:xfrm>
            <a:off x="747274" y="579487"/>
            <a:ext cx="10331692" cy="5509200"/>
          </a:xfrm>
          <a:prstGeom prst="rect">
            <a:avLst/>
          </a:prstGeom>
          <a:noFill/>
        </p:spPr>
        <p:txBody>
          <a:bodyPr wrap="square" rtlCol="0">
            <a:spAutoFit/>
          </a:bodyPr>
          <a:lstStyle/>
          <a:p>
            <a:r>
              <a:rPr lang="es-ES" sz="2800" b="1" dirty="0">
                <a:solidFill>
                  <a:srgbClr val="FF0000"/>
                </a:solidFill>
              </a:rPr>
              <a:t>Características de la metodología MSF </a:t>
            </a:r>
            <a:r>
              <a:rPr lang="es-ES" sz="2800" dirty="0"/>
              <a:t> </a:t>
            </a:r>
          </a:p>
          <a:p>
            <a:endParaRPr lang="es-ES" sz="2400" dirty="0"/>
          </a:p>
          <a:p>
            <a:r>
              <a:rPr lang="es-ES" sz="2000" dirty="0"/>
              <a:t>El modelo de desarrollo de software MSF tiene unas características propias que permiten procesos adaptables y escalables, ya que puede trabajar con equipos pequeños de 3 o 4 personas, o con equipos grandes de 50 personas o más.</a:t>
            </a:r>
          </a:p>
          <a:p>
            <a:endParaRPr lang="es-ES" sz="2000" dirty="0"/>
          </a:p>
          <a:p>
            <a:endParaRPr lang="es-ES" sz="2000" dirty="0"/>
          </a:p>
          <a:p>
            <a:r>
              <a:rPr lang="es-ES" sz="2000" b="1" dirty="0"/>
              <a:t>Adaptable: </a:t>
            </a:r>
            <a:r>
              <a:rPr lang="es-ES" sz="2000" dirty="0"/>
              <a:t>hace referencia a la posibilidad de ser usada en diferentes tipos de proyecto. </a:t>
            </a:r>
          </a:p>
          <a:p>
            <a:endParaRPr lang="es-ES" sz="2000" dirty="0"/>
          </a:p>
          <a:p>
            <a:r>
              <a:rPr lang="es-ES" sz="2000" b="1" dirty="0"/>
              <a:t>Escalable: </a:t>
            </a:r>
            <a:r>
              <a:rPr lang="es-ES" sz="2000" dirty="0"/>
              <a:t>la cualidad de ser flexible ya sea para trabajar en proyectos con equipos de tres o cuatro personas, o en proyectos grandes que demandan de diez a cincuenta personas. </a:t>
            </a:r>
          </a:p>
          <a:p>
            <a:endParaRPr lang="es-ES" sz="2000" dirty="0"/>
          </a:p>
          <a:p>
            <a:r>
              <a:rPr lang="es-ES" sz="2000" b="1" dirty="0"/>
              <a:t>Flexible:</a:t>
            </a:r>
            <a:r>
              <a:rPr lang="es-ES" sz="2000" dirty="0"/>
              <a:t> se puede adaptar a cualquier ambiente de desarrollo y cliente. </a:t>
            </a:r>
          </a:p>
          <a:p>
            <a:endParaRPr lang="es-ES" sz="2000" dirty="0"/>
          </a:p>
          <a:p>
            <a:r>
              <a:rPr lang="es-ES" sz="2000" b="1" dirty="0"/>
              <a:t>Tecnología agnóstica: </a:t>
            </a:r>
            <a:r>
              <a:rPr lang="es-ES" sz="2000" dirty="0"/>
              <a:t>los desarrolladores de software son libres de emplear la tecnología más adecuada, de acuerdo con la lógica del negocio y la experiencia.</a:t>
            </a:r>
          </a:p>
          <a:p>
            <a:endParaRPr lang="es-ES" sz="2000" dirty="0"/>
          </a:p>
        </p:txBody>
      </p:sp>
    </p:spTree>
    <p:extLst>
      <p:ext uri="{BB962C8B-B14F-4D97-AF65-F5344CB8AC3E}">
        <p14:creationId xmlns:p14="http://schemas.microsoft.com/office/powerpoint/2010/main" val="15197123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04B75-C60A-5456-E951-E8587D8E952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92D48DE-3D82-E786-4423-43FA211A9535}"/>
              </a:ext>
            </a:extLst>
          </p:cNvPr>
          <p:cNvSpPr txBox="1"/>
          <p:nvPr/>
        </p:nvSpPr>
        <p:spPr>
          <a:xfrm>
            <a:off x="838714" y="213727"/>
            <a:ext cx="10331692" cy="1692771"/>
          </a:xfrm>
          <a:prstGeom prst="rect">
            <a:avLst/>
          </a:prstGeom>
          <a:noFill/>
        </p:spPr>
        <p:txBody>
          <a:bodyPr wrap="square" rtlCol="0">
            <a:spAutoFit/>
          </a:bodyPr>
          <a:lstStyle/>
          <a:p>
            <a:r>
              <a:rPr lang="es-ES" sz="2800" b="1" dirty="0">
                <a:solidFill>
                  <a:srgbClr val="FF0000"/>
                </a:solidFill>
              </a:rPr>
              <a:t>Fases de la metodología MSF </a:t>
            </a:r>
          </a:p>
          <a:p>
            <a:endParaRPr lang="es-ES" sz="2800" b="1" dirty="0">
              <a:solidFill>
                <a:srgbClr val="FF0000"/>
              </a:solidFill>
            </a:endParaRPr>
          </a:p>
          <a:p>
            <a:r>
              <a:rPr lang="es-ES" sz="2400" dirty="0"/>
              <a:t>Esta metodología tiene distintas fases que permiten generar los entregables de manera concreta.</a:t>
            </a:r>
          </a:p>
        </p:txBody>
      </p:sp>
      <p:pic>
        <p:nvPicPr>
          <p:cNvPr id="3" name="Picture 2">
            <a:extLst>
              <a:ext uri="{FF2B5EF4-FFF2-40B4-BE49-F238E27FC236}">
                <a16:creationId xmlns:a16="http://schemas.microsoft.com/office/drawing/2014/main" id="{7876731E-DE8C-4E99-FF4F-55BCB1078160}"/>
              </a:ext>
            </a:extLst>
          </p:cNvPr>
          <p:cNvPicPr>
            <a:picLocks noChangeAspect="1"/>
          </p:cNvPicPr>
          <p:nvPr/>
        </p:nvPicPr>
        <p:blipFill>
          <a:blip r:embed="rId2"/>
          <a:stretch>
            <a:fillRect/>
          </a:stretch>
        </p:blipFill>
        <p:spPr>
          <a:xfrm>
            <a:off x="2167444" y="1906497"/>
            <a:ext cx="7918150" cy="4737775"/>
          </a:xfrm>
          <a:prstGeom prst="rect">
            <a:avLst/>
          </a:prstGeom>
        </p:spPr>
      </p:pic>
    </p:spTree>
    <p:extLst>
      <p:ext uri="{BB962C8B-B14F-4D97-AF65-F5344CB8AC3E}">
        <p14:creationId xmlns:p14="http://schemas.microsoft.com/office/powerpoint/2010/main" val="11589855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730BD-81C6-6BAD-08BE-3F823DF7532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A645F5C-F3F3-0F3D-FA81-43D6D9DE6972}"/>
              </a:ext>
            </a:extLst>
          </p:cNvPr>
          <p:cNvSpPr txBox="1"/>
          <p:nvPr/>
        </p:nvSpPr>
        <p:spPr>
          <a:xfrm>
            <a:off x="1049026" y="378319"/>
            <a:ext cx="10331692" cy="4955203"/>
          </a:xfrm>
          <a:prstGeom prst="rect">
            <a:avLst/>
          </a:prstGeom>
          <a:noFill/>
        </p:spPr>
        <p:txBody>
          <a:bodyPr wrap="square" rtlCol="0">
            <a:spAutoFit/>
          </a:bodyPr>
          <a:lstStyle/>
          <a:p>
            <a:r>
              <a:rPr lang="es-ES" sz="2400" b="1" dirty="0">
                <a:solidFill>
                  <a:srgbClr val="FF0000"/>
                </a:solidFill>
              </a:rPr>
              <a:t>Disciplinas de apoyo de la metodología MSF</a:t>
            </a:r>
          </a:p>
          <a:p>
            <a:endParaRPr lang="es-ES" sz="2400" dirty="0"/>
          </a:p>
          <a:p>
            <a:r>
              <a:rPr lang="es-ES" sz="2400" dirty="0"/>
              <a:t>• Disciplina de gestión de riesgo de Microsoft Solutions Framework: hace referencia a la planificación, desarrollo y gestión de proyectos tecnológicos que permiten al equipo de desarrollo identificar las prioridades para la toma de decisiones, valorando los riesgos, con el objeto de controlar los posibles incidentes. </a:t>
            </a:r>
          </a:p>
          <a:p>
            <a:endParaRPr lang="es-ES" sz="2400" dirty="0"/>
          </a:p>
          <a:p>
            <a:r>
              <a:rPr lang="es-ES" sz="2400" dirty="0"/>
              <a:t>• Disciplina de administración de proyectos: permite establecer la importancia del rol de la gestión de proyectos basada en entregas cortas y funcionales, para ir incorporando nuevas características y ajustando el cronograma.</a:t>
            </a:r>
          </a:p>
          <a:p>
            <a:endParaRPr lang="es-ES" sz="2400" dirty="0"/>
          </a:p>
        </p:txBody>
      </p:sp>
    </p:spTree>
    <p:extLst>
      <p:ext uri="{BB962C8B-B14F-4D97-AF65-F5344CB8AC3E}">
        <p14:creationId xmlns:p14="http://schemas.microsoft.com/office/powerpoint/2010/main" val="13894879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705F5-F9E1-5651-B4EE-8F291237F4F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73FA7FE-71E8-747E-4BE8-95635EFB7A81}"/>
              </a:ext>
            </a:extLst>
          </p:cNvPr>
          <p:cNvSpPr txBox="1"/>
          <p:nvPr/>
        </p:nvSpPr>
        <p:spPr>
          <a:xfrm>
            <a:off x="1049026" y="378319"/>
            <a:ext cx="10331692" cy="4585871"/>
          </a:xfrm>
          <a:prstGeom prst="rect">
            <a:avLst/>
          </a:prstGeom>
          <a:noFill/>
        </p:spPr>
        <p:txBody>
          <a:bodyPr wrap="square" rtlCol="0">
            <a:spAutoFit/>
          </a:bodyPr>
          <a:lstStyle/>
          <a:p>
            <a:r>
              <a:rPr lang="es-ES" sz="2800" b="1" dirty="0">
                <a:solidFill>
                  <a:srgbClr val="FF0000"/>
                </a:solidFill>
              </a:rPr>
              <a:t>Artefactos por etapas de la metodología MSF </a:t>
            </a:r>
          </a:p>
          <a:p>
            <a:endParaRPr lang="es-ES" sz="2400" dirty="0"/>
          </a:p>
          <a:p>
            <a:r>
              <a:rPr lang="es-ES" sz="2400" dirty="0"/>
              <a:t>Los artefactos son todos aquellos entregables que permiten el desarrollo del proyecto. En esta metodología, cada fase concluye con la entrega de un artefacto para dar paso a la siguiente fase.</a:t>
            </a:r>
          </a:p>
          <a:p>
            <a:endParaRPr lang="es-ES" sz="2400" dirty="0"/>
          </a:p>
          <a:p>
            <a:r>
              <a:rPr lang="es-ES" sz="2400" dirty="0"/>
              <a:t>El modelo de trabajo en equipo expuesto por la metodología permite organizar y gestionar el equipo del proyecto mediante la asignación de roles y responsabilidades. Por consiguiente, cada miembro del equipo conoce su participación en el desarrollo del proyecto, lo cual optimiza el control de las actividades, minimiza el riesgo y garantiza la calidad.</a:t>
            </a:r>
          </a:p>
          <a:p>
            <a:endParaRPr lang="es-ES" sz="2400" dirty="0"/>
          </a:p>
        </p:txBody>
      </p:sp>
    </p:spTree>
    <p:extLst>
      <p:ext uri="{BB962C8B-B14F-4D97-AF65-F5344CB8AC3E}">
        <p14:creationId xmlns:p14="http://schemas.microsoft.com/office/powerpoint/2010/main" val="35366738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FE0D0-5DAA-9A80-06D3-8F2363FCF4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2958041-5BB0-88FF-B704-B302EA2CF1B1}"/>
              </a:ext>
            </a:extLst>
          </p:cNvPr>
          <p:cNvSpPr txBox="1"/>
          <p:nvPr/>
        </p:nvSpPr>
        <p:spPr>
          <a:xfrm>
            <a:off x="1049026" y="232015"/>
            <a:ext cx="10331692" cy="523220"/>
          </a:xfrm>
          <a:prstGeom prst="rect">
            <a:avLst/>
          </a:prstGeom>
          <a:noFill/>
        </p:spPr>
        <p:txBody>
          <a:bodyPr wrap="square" rtlCol="0">
            <a:spAutoFit/>
          </a:bodyPr>
          <a:lstStyle/>
          <a:p>
            <a:r>
              <a:rPr lang="es-ES" sz="2800" b="1" dirty="0">
                <a:solidFill>
                  <a:srgbClr val="FF0000"/>
                </a:solidFill>
              </a:rPr>
              <a:t>Artefactos por etapas de la metodología MSF </a:t>
            </a:r>
          </a:p>
        </p:txBody>
      </p:sp>
      <p:pic>
        <p:nvPicPr>
          <p:cNvPr id="3" name="Picture 2">
            <a:extLst>
              <a:ext uri="{FF2B5EF4-FFF2-40B4-BE49-F238E27FC236}">
                <a16:creationId xmlns:a16="http://schemas.microsoft.com/office/drawing/2014/main" id="{56F13EB4-27B0-1BEA-370A-14E67028A6A9}"/>
              </a:ext>
            </a:extLst>
          </p:cNvPr>
          <p:cNvPicPr>
            <a:picLocks noChangeAspect="1"/>
          </p:cNvPicPr>
          <p:nvPr/>
        </p:nvPicPr>
        <p:blipFill>
          <a:blip r:embed="rId2"/>
          <a:stretch>
            <a:fillRect/>
          </a:stretch>
        </p:blipFill>
        <p:spPr>
          <a:xfrm>
            <a:off x="1230897" y="949450"/>
            <a:ext cx="8686570" cy="5835398"/>
          </a:xfrm>
          <a:prstGeom prst="rect">
            <a:avLst/>
          </a:prstGeom>
        </p:spPr>
      </p:pic>
      <p:sp>
        <p:nvSpPr>
          <p:cNvPr id="4" name="Arrow: Down 3">
            <a:extLst>
              <a:ext uri="{FF2B5EF4-FFF2-40B4-BE49-F238E27FC236}">
                <a16:creationId xmlns:a16="http://schemas.microsoft.com/office/drawing/2014/main" id="{3A47305C-045E-A654-39A7-129273DEA12C}"/>
              </a:ext>
            </a:extLst>
          </p:cNvPr>
          <p:cNvSpPr/>
          <p:nvPr/>
        </p:nvSpPr>
        <p:spPr>
          <a:xfrm>
            <a:off x="2916936" y="2679192"/>
            <a:ext cx="484632" cy="457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5">
            <a:extLst>
              <a:ext uri="{FF2B5EF4-FFF2-40B4-BE49-F238E27FC236}">
                <a16:creationId xmlns:a16="http://schemas.microsoft.com/office/drawing/2014/main" id="{58B08591-874D-6055-81DB-46890C7A1B3E}"/>
              </a:ext>
            </a:extLst>
          </p:cNvPr>
          <p:cNvSpPr/>
          <p:nvPr/>
        </p:nvSpPr>
        <p:spPr>
          <a:xfrm>
            <a:off x="2916936" y="4637533"/>
            <a:ext cx="484632" cy="53492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D9A7BE7A-94F9-D61F-3F3C-E45FE64B0528}"/>
              </a:ext>
            </a:extLst>
          </p:cNvPr>
          <p:cNvSpPr/>
          <p:nvPr/>
        </p:nvSpPr>
        <p:spPr>
          <a:xfrm rot="16200000">
            <a:off x="5366918" y="4928008"/>
            <a:ext cx="484632" cy="9735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B1ACF39E-069A-DCB2-C29D-E519C36457A0}"/>
              </a:ext>
            </a:extLst>
          </p:cNvPr>
          <p:cNvSpPr/>
          <p:nvPr/>
        </p:nvSpPr>
        <p:spPr>
          <a:xfrm rot="10800000">
            <a:off x="7522101" y="4527805"/>
            <a:ext cx="484632" cy="53492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8">
            <a:extLst>
              <a:ext uri="{FF2B5EF4-FFF2-40B4-BE49-F238E27FC236}">
                <a16:creationId xmlns:a16="http://schemas.microsoft.com/office/drawing/2014/main" id="{0065E541-3772-239E-2686-EE60A5D36190}"/>
              </a:ext>
            </a:extLst>
          </p:cNvPr>
          <p:cNvSpPr/>
          <p:nvPr/>
        </p:nvSpPr>
        <p:spPr>
          <a:xfrm rot="10800000">
            <a:off x="7522101" y="2569464"/>
            <a:ext cx="484632" cy="5669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99403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97911-D206-0BCB-539F-5103BBC9738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C99DE12-2BCA-8486-9A06-AAC55CB85356}"/>
              </a:ext>
            </a:extLst>
          </p:cNvPr>
          <p:cNvSpPr txBox="1"/>
          <p:nvPr/>
        </p:nvSpPr>
        <p:spPr>
          <a:xfrm>
            <a:off x="792994" y="515479"/>
            <a:ext cx="10331692" cy="5693866"/>
          </a:xfrm>
          <a:prstGeom prst="rect">
            <a:avLst/>
          </a:prstGeom>
          <a:noFill/>
        </p:spPr>
        <p:txBody>
          <a:bodyPr wrap="square" rtlCol="0">
            <a:spAutoFit/>
          </a:bodyPr>
          <a:lstStyle/>
          <a:p>
            <a:r>
              <a:rPr lang="es-ES" sz="2800" b="1" dirty="0">
                <a:solidFill>
                  <a:srgbClr val="FF0000"/>
                </a:solidFill>
              </a:rPr>
              <a:t>Metodología </a:t>
            </a:r>
            <a:r>
              <a:rPr lang="es-ES" sz="2800" b="1" dirty="0" err="1">
                <a:solidFill>
                  <a:srgbClr val="FF0000"/>
                </a:solidFill>
              </a:rPr>
              <a:t>Rational</a:t>
            </a:r>
            <a:r>
              <a:rPr lang="es-ES" sz="2800" b="1" dirty="0">
                <a:solidFill>
                  <a:srgbClr val="FF0000"/>
                </a:solidFill>
              </a:rPr>
              <a:t> </a:t>
            </a:r>
            <a:r>
              <a:rPr lang="es-ES" sz="2800" b="1" dirty="0" err="1">
                <a:solidFill>
                  <a:srgbClr val="FF0000"/>
                </a:solidFill>
              </a:rPr>
              <a:t>Unified</a:t>
            </a:r>
            <a:r>
              <a:rPr lang="es-ES" sz="2800" b="1" dirty="0">
                <a:solidFill>
                  <a:srgbClr val="FF0000"/>
                </a:solidFill>
              </a:rPr>
              <a:t> </a:t>
            </a:r>
            <a:r>
              <a:rPr lang="es-ES" sz="2800" b="1" dirty="0" err="1">
                <a:solidFill>
                  <a:srgbClr val="FF0000"/>
                </a:solidFill>
              </a:rPr>
              <a:t>Process</a:t>
            </a:r>
            <a:r>
              <a:rPr lang="es-ES" sz="2800" b="1" dirty="0">
                <a:solidFill>
                  <a:srgbClr val="FF0000"/>
                </a:solidFill>
              </a:rPr>
              <a:t> (RUP) </a:t>
            </a:r>
          </a:p>
          <a:p>
            <a:endParaRPr lang="es-ES" sz="2400" dirty="0"/>
          </a:p>
          <a:p>
            <a:r>
              <a:rPr lang="es-ES" sz="2400" dirty="0"/>
              <a:t>El principal propósito de esta metodología es estructurar el desarrollo de software. Presenta un conjunto de actividades que son necesarias para el desarrollo de un proyecto.</a:t>
            </a:r>
          </a:p>
          <a:p>
            <a:endParaRPr lang="es-ES" sz="2400" dirty="0"/>
          </a:p>
          <a:p>
            <a:r>
              <a:rPr lang="es-ES" sz="2400" dirty="0"/>
              <a:t>La metodología RUP es un proceso formal, estructurado y disciplinado que asigna roles, responsabilidades y tareas a los miembros del equipo con el propósito de asegurar la calidad del producto, siguiendo el cronograma y el presupuesto acordados, con el objeto de satisfacer los requerimientos del cliente. </a:t>
            </a:r>
          </a:p>
          <a:p>
            <a:endParaRPr lang="es-ES" sz="2400" dirty="0"/>
          </a:p>
          <a:p>
            <a:r>
              <a:rPr lang="es-ES" sz="2400" dirty="0"/>
              <a:t>RUP es una metodología que cuenta con más de 30 perfiles, más de 20 actividades y más de 70 artefactos.</a:t>
            </a:r>
          </a:p>
          <a:p>
            <a:endParaRPr lang="es-ES" sz="2400" dirty="0"/>
          </a:p>
        </p:txBody>
      </p:sp>
    </p:spTree>
    <p:extLst>
      <p:ext uri="{BB962C8B-B14F-4D97-AF65-F5344CB8AC3E}">
        <p14:creationId xmlns:p14="http://schemas.microsoft.com/office/powerpoint/2010/main" val="8848264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FDC63-DF3A-DDDA-3063-B90BCFA2809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6C5EA96-CB79-11C2-B8A0-9AEF229428A1}"/>
              </a:ext>
            </a:extLst>
          </p:cNvPr>
          <p:cNvSpPr txBox="1"/>
          <p:nvPr/>
        </p:nvSpPr>
        <p:spPr>
          <a:xfrm>
            <a:off x="792994" y="515479"/>
            <a:ext cx="10331692" cy="523220"/>
          </a:xfrm>
          <a:prstGeom prst="rect">
            <a:avLst/>
          </a:prstGeom>
          <a:noFill/>
        </p:spPr>
        <p:txBody>
          <a:bodyPr wrap="square" rtlCol="0">
            <a:spAutoFit/>
          </a:bodyPr>
          <a:lstStyle/>
          <a:p>
            <a:r>
              <a:rPr lang="es-ES" sz="2800" b="1" dirty="0">
                <a:solidFill>
                  <a:srgbClr val="FF0000"/>
                </a:solidFill>
              </a:rPr>
              <a:t>Evolución del Proceso Unificado (RUP) </a:t>
            </a:r>
          </a:p>
        </p:txBody>
      </p:sp>
      <p:pic>
        <p:nvPicPr>
          <p:cNvPr id="3" name="Picture 2">
            <a:extLst>
              <a:ext uri="{FF2B5EF4-FFF2-40B4-BE49-F238E27FC236}">
                <a16:creationId xmlns:a16="http://schemas.microsoft.com/office/drawing/2014/main" id="{4834160B-A3EB-3D54-B73F-96C8B70C50DD}"/>
              </a:ext>
            </a:extLst>
          </p:cNvPr>
          <p:cNvPicPr>
            <a:picLocks noChangeAspect="1"/>
          </p:cNvPicPr>
          <p:nvPr/>
        </p:nvPicPr>
        <p:blipFill>
          <a:blip r:embed="rId2"/>
          <a:stretch>
            <a:fillRect/>
          </a:stretch>
        </p:blipFill>
        <p:spPr>
          <a:xfrm>
            <a:off x="144991" y="1786506"/>
            <a:ext cx="11402983" cy="4257677"/>
          </a:xfrm>
          <a:prstGeom prst="rect">
            <a:avLst/>
          </a:prstGeom>
        </p:spPr>
      </p:pic>
    </p:spTree>
    <p:extLst>
      <p:ext uri="{BB962C8B-B14F-4D97-AF65-F5344CB8AC3E}">
        <p14:creationId xmlns:p14="http://schemas.microsoft.com/office/powerpoint/2010/main" val="23497298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DD029-9218-C069-0241-D7578FF9CC7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7C5FB4B-297E-332C-219A-BF7645EB064A}"/>
              </a:ext>
            </a:extLst>
          </p:cNvPr>
          <p:cNvSpPr txBox="1"/>
          <p:nvPr/>
        </p:nvSpPr>
        <p:spPr>
          <a:xfrm>
            <a:off x="1085602" y="478903"/>
            <a:ext cx="10331692" cy="4585871"/>
          </a:xfrm>
          <a:prstGeom prst="rect">
            <a:avLst/>
          </a:prstGeom>
          <a:noFill/>
        </p:spPr>
        <p:txBody>
          <a:bodyPr wrap="square" rtlCol="0">
            <a:spAutoFit/>
          </a:bodyPr>
          <a:lstStyle/>
          <a:p>
            <a:r>
              <a:rPr lang="es-ES" sz="2800" b="1" dirty="0">
                <a:solidFill>
                  <a:srgbClr val="FF0000"/>
                </a:solidFill>
              </a:rPr>
              <a:t>Características de la metodología RUP </a:t>
            </a:r>
          </a:p>
          <a:p>
            <a:endParaRPr lang="es-ES" sz="2400" dirty="0"/>
          </a:p>
          <a:p>
            <a:endParaRPr lang="es-ES" sz="2400" dirty="0"/>
          </a:p>
          <a:p>
            <a:r>
              <a:rPr lang="es-ES" sz="2400" dirty="0"/>
              <a:t>• Dirigida por casos de uso: estos permiten orientar el proyecto a los requerimientos del usuario. </a:t>
            </a:r>
          </a:p>
          <a:p>
            <a:endParaRPr lang="es-ES" sz="2400" dirty="0"/>
          </a:p>
          <a:p>
            <a:r>
              <a:rPr lang="es-ES" sz="2400" dirty="0"/>
              <a:t>• Centrada en la arquitectura: el sistema tiene aspectos estáticos y dinámicos. </a:t>
            </a:r>
          </a:p>
          <a:p>
            <a:endParaRPr lang="es-ES" sz="2400" dirty="0"/>
          </a:p>
          <a:p>
            <a:r>
              <a:rPr lang="es-ES" sz="2400" dirty="0"/>
              <a:t>• Iterativo e incremental: el proyecto se divide en partes con el propósito de cumplir los objetivos del sistema de forma depurada.</a:t>
            </a:r>
          </a:p>
          <a:p>
            <a:r>
              <a:rPr lang="es-ES" sz="2400" dirty="0"/>
              <a:t> </a:t>
            </a:r>
          </a:p>
        </p:txBody>
      </p:sp>
    </p:spTree>
    <p:extLst>
      <p:ext uri="{BB962C8B-B14F-4D97-AF65-F5344CB8AC3E}">
        <p14:creationId xmlns:p14="http://schemas.microsoft.com/office/powerpoint/2010/main" val="33627027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A08BD-F7FB-BE8E-C850-9A985BE5A65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3E0C982-0BFC-CB58-901E-1115044FAB9D}"/>
              </a:ext>
            </a:extLst>
          </p:cNvPr>
          <p:cNvSpPr txBox="1"/>
          <p:nvPr/>
        </p:nvSpPr>
        <p:spPr>
          <a:xfrm>
            <a:off x="1085602" y="478903"/>
            <a:ext cx="10331692" cy="5693866"/>
          </a:xfrm>
          <a:prstGeom prst="rect">
            <a:avLst/>
          </a:prstGeom>
          <a:noFill/>
        </p:spPr>
        <p:txBody>
          <a:bodyPr wrap="square" rtlCol="0">
            <a:spAutoFit/>
          </a:bodyPr>
          <a:lstStyle/>
          <a:p>
            <a:r>
              <a:rPr lang="es-ES" sz="2800" b="1" dirty="0">
                <a:solidFill>
                  <a:srgbClr val="FF0000"/>
                </a:solidFill>
              </a:rPr>
              <a:t>Disciplinas de apoyo en la metodología RUP </a:t>
            </a:r>
          </a:p>
          <a:p>
            <a:endParaRPr lang="es-ES" sz="2400" dirty="0"/>
          </a:p>
          <a:p>
            <a:r>
              <a:rPr lang="es-ES" sz="2400" dirty="0"/>
              <a:t>La metodología RUP se apoya en varias disciplinas que la hacen robusta, por lo cual es una de las metodologías estructuradas que más se utilizan en el desarrollo de software: </a:t>
            </a:r>
          </a:p>
          <a:p>
            <a:endParaRPr lang="es-ES" sz="2400" dirty="0"/>
          </a:p>
          <a:p>
            <a:r>
              <a:rPr lang="es-ES" sz="2400" dirty="0"/>
              <a:t>• Modelado de negocio. </a:t>
            </a:r>
          </a:p>
          <a:p>
            <a:r>
              <a:rPr lang="es-ES" sz="2400" dirty="0"/>
              <a:t>• Requerimientos. </a:t>
            </a:r>
          </a:p>
          <a:p>
            <a:r>
              <a:rPr lang="es-ES" sz="2400" dirty="0"/>
              <a:t>• Análisis y diseño. </a:t>
            </a:r>
          </a:p>
          <a:p>
            <a:r>
              <a:rPr lang="es-ES" sz="2400" dirty="0"/>
              <a:t>• Implementación. </a:t>
            </a:r>
          </a:p>
          <a:p>
            <a:r>
              <a:rPr lang="es-ES" sz="2400" dirty="0"/>
              <a:t>• Administración de cambio. </a:t>
            </a:r>
          </a:p>
          <a:p>
            <a:r>
              <a:rPr lang="es-ES" sz="2400" dirty="0"/>
              <a:t>• Administración de proyectos. </a:t>
            </a:r>
          </a:p>
          <a:p>
            <a:r>
              <a:rPr lang="es-ES" sz="2400" dirty="0"/>
              <a:t>• Proceso dirigido por casos de uso. </a:t>
            </a:r>
          </a:p>
          <a:p>
            <a:r>
              <a:rPr lang="es-ES" sz="2400" dirty="0"/>
              <a:t>• Proceso iterativo e incremental. </a:t>
            </a:r>
          </a:p>
          <a:p>
            <a:r>
              <a:rPr lang="es-ES" sz="2400" dirty="0"/>
              <a:t>• Proceso centrado en la arquitectura. </a:t>
            </a:r>
          </a:p>
        </p:txBody>
      </p:sp>
    </p:spTree>
    <p:extLst>
      <p:ext uri="{BB962C8B-B14F-4D97-AF65-F5344CB8AC3E}">
        <p14:creationId xmlns:p14="http://schemas.microsoft.com/office/powerpoint/2010/main" val="10622515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BAA9A-0135-8210-16DF-B873FAFFCB1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2106E0D-37A5-2558-89FD-E45E7A422C98}"/>
              </a:ext>
            </a:extLst>
          </p:cNvPr>
          <p:cNvSpPr txBox="1"/>
          <p:nvPr/>
        </p:nvSpPr>
        <p:spPr>
          <a:xfrm>
            <a:off x="756418" y="213727"/>
            <a:ext cx="10331692" cy="2062103"/>
          </a:xfrm>
          <a:prstGeom prst="rect">
            <a:avLst/>
          </a:prstGeom>
          <a:noFill/>
        </p:spPr>
        <p:txBody>
          <a:bodyPr wrap="square" rtlCol="0">
            <a:spAutoFit/>
          </a:bodyPr>
          <a:lstStyle/>
          <a:p>
            <a:r>
              <a:rPr lang="es-ES" sz="2800" b="1" dirty="0">
                <a:solidFill>
                  <a:srgbClr val="FF0000"/>
                </a:solidFill>
              </a:rPr>
              <a:t>Fases y entregables de la metodología RUP </a:t>
            </a:r>
          </a:p>
          <a:p>
            <a:endParaRPr lang="es-ES" sz="2800" b="1" dirty="0">
              <a:solidFill>
                <a:srgbClr val="FF0000"/>
              </a:solidFill>
            </a:endParaRPr>
          </a:p>
          <a:p>
            <a:r>
              <a:rPr lang="es-ES" sz="2400" dirty="0"/>
              <a:t>La metodología RUP está compuesta de cuatro fases. Cada una tiene varios entregables que son necesarios para el desarrollo y documentación del desarrollo de software.</a:t>
            </a:r>
          </a:p>
        </p:txBody>
      </p:sp>
      <p:pic>
        <p:nvPicPr>
          <p:cNvPr id="3" name="Picture 2">
            <a:extLst>
              <a:ext uri="{FF2B5EF4-FFF2-40B4-BE49-F238E27FC236}">
                <a16:creationId xmlns:a16="http://schemas.microsoft.com/office/drawing/2014/main" id="{82B1AECB-989E-5573-96B7-6B0A3F11C2DC}"/>
              </a:ext>
            </a:extLst>
          </p:cNvPr>
          <p:cNvPicPr>
            <a:picLocks noChangeAspect="1"/>
          </p:cNvPicPr>
          <p:nvPr/>
        </p:nvPicPr>
        <p:blipFill>
          <a:blip r:embed="rId2"/>
          <a:stretch>
            <a:fillRect/>
          </a:stretch>
        </p:blipFill>
        <p:spPr>
          <a:xfrm>
            <a:off x="1028606" y="2406448"/>
            <a:ext cx="10381457" cy="3994352"/>
          </a:xfrm>
          <a:prstGeom prst="rect">
            <a:avLst/>
          </a:prstGeom>
        </p:spPr>
      </p:pic>
    </p:spTree>
    <p:extLst>
      <p:ext uri="{BB962C8B-B14F-4D97-AF65-F5344CB8AC3E}">
        <p14:creationId xmlns:p14="http://schemas.microsoft.com/office/powerpoint/2010/main" val="9426154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5229</TotalTime>
  <Words>2700</Words>
  <Application>Microsoft Office PowerPoint</Application>
  <PresentationFormat>Widescreen</PresentationFormat>
  <Paragraphs>253</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Jorge Mario Becerra Pareja</dc:creator>
  <cp:lastModifiedBy>Jorge Mario Becerra Pareja</cp:lastModifiedBy>
  <cp:revision>76</cp:revision>
  <dcterms:created xsi:type="dcterms:W3CDTF">2025-08-10T18:13:26Z</dcterms:created>
  <dcterms:modified xsi:type="dcterms:W3CDTF">2025-08-19T03:37:14Z</dcterms:modified>
</cp:coreProperties>
</file>