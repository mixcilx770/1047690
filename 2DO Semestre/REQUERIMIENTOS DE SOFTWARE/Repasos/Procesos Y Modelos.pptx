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9F25-0D8D-E683-9E55-282F722346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CC6BEF-8659-7CE9-3DD5-3E2988E140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D3C4CC-A7C2-61FA-2A9A-18FD3C30A317}"/>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D0ACDD36-8E21-7DA2-A46C-E8E3BE45F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452B3-6CE5-40AF-62FE-02D79FF5D4D0}"/>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1376426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80492-F2AC-A99A-40DF-EBA323BDD5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BED567-738F-92AA-D23C-82EC085E1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5D1F35-D3B1-A4F8-039E-593A4A82276C}"/>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C2DD7482-A868-8496-1113-245472DAC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09F0E-F518-2D71-4FD4-FD91579CCAE4}"/>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157737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8E3BA-74DE-9C87-E8B4-312359AE2C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D97FBA-4D83-8E86-2256-6293DB3DEB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8BC9B8-06B5-7263-895F-BC3496921C31}"/>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3C35574D-04AC-0677-AE71-DD9C531034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245C7-8E54-2485-C943-5CAEC9692B32}"/>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4075134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DDCB-40B7-4B74-CA5E-918F929EE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745549-F5CB-6DF0-807B-B951CCD21D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CD0E63-430D-470F-7B26-9FE65C7CB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4E0EE5-6377-A7B9-CD76-87DA59E5CA0F}"/>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6" name="Footer Placeholder 5">
            <a:extLst>
              <a:ext uri="{FF2B5EF4-FFF2-40B4-BE49-F238E27FC236}">
                <a16:creationId xmlns:a16="http://schemas.microsoft.com/office/drawing/2014/main" id="{057ADB9D-12F0-98D5-47D0-041EEF3EA6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1D225-839E-DFF1-49AC-A8D171F49DFE}"/>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358638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3ED7-355A-9E55-95F0-40351551A2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608865-CA95-8699-1360-33A15E78F7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10355E-B750-DBBD-265D-95A548E429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7D4653-3FBC-6744-94DE-1930A139EA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24CD61-A538-CDF3-743D-5FDB2E48D2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382D16-1D4C-064D-0B9B-977C1A4559D4}"/>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8" name="Footer Placeholder 7">
            <a:extLst>
              <a:ext uri="{FF2B5EF4-FFF2-40B4-BE49-F238E27FC236}">
                <a16:creationId xmlns:a16="http://schemas.microsoft.com/office/drawing/2014/main" id="{51EF609B-E90B-6B0C-281E-DCBEBE69C5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87D503-7239-C8A3-42A6-F18AD74FDFD7}"/>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1878278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314AD-B5A4-CAEB-32C0-42A4790CAD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D9E05-3619-A7AD-0946-C0F9D0A72E44}"/>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4" name="Footer Placeholder 3">
            <a:extLst>
              <a:ext uri="{FF2B5EF4-FFF2-40B4-BE49-F238E27FC236}">
                <a16:creationId xmlns:a16="http://schemas.microsoft.com/office/drawing/2014/main" id="{245F5F1C-E693-BA85-E057-1F6A135510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51C909-3E14-4999-5FC0-B9B2695E4BD4}"/>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354652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607EB2-853F-5D97-2605-F8F63DC7C2CB}"/>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3" name="Footer Placeholder 2">
            <a:extLst>
              <a:ext uri="{FF2B5EF4-FFF2-40B4-BE49-F238E27FC236}">
                <a16:creationId xmlns:a16="http://schemas.microsoft.com/office/drawing/2014/main" id="{A9540BCF-223D-66B9-3C83-E54AA31AC0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33839C-6B1F-A5EC-5B6D-16B073DB2EFE}"/>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361075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AE83-45E1-A162-D97F-03C8D8436D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86B745-079A-3F9B-A2F8-B51FD88C4C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3228B8-B045-92F7-CB5F-63EA3BA62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7C6440-9B04-9A75-8F9B-04FE0B6FCFD3}"/>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6" name="Footer Placeholder 5">
            <a:extLst>
              <a:ext uri="{FF2B5EF4-FFF2-40B4-BE49-F238E27FC236}">
                <a16:creationId xmlns:a16="http://schemas.microsoft.com/office/drawing/2014/main" id="{7B353536-9EE8-89BE-3B50-DB2B4FE0AE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B7F9A-3E3A-E9CA-D67F-97744DB57CC0}"/>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2321621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FDA26-08AE-B178-1C8D-CE83C04ED7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6230AC-D433-5FDD-006D-1C940C9CD5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A45E24-DF05-A457-DA8A-B189CE6D8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59B215-3916-9012-2C9D-D3BBFC37D0EF}"/>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6" name="Footer Placeholder 5">
            <a:extLst>
              <a:ext uri="{FF2B5EF4-FFF2-40B4-BE49-F238E27FC236}">
                <a16:creationId xmlns:a16="http://schemas.microsoft.com/office/drawing/2014/main" id="{09F49413-00DB-D156-11DF-5A07CE4EC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8BB0F-4C38-F3C2-41E1-9826C68085D3}"/>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67525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9393-D6C6-56C1-1666-3ADB62E2FE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D215D3-26F4-8B77-D423-CA78AA1B36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09AD9-CF5F-C746-688A-0468CB88AEE4}"/>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A0FE7D41-6753-87BF-9777-6935391FD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28FA29-D9A9-30EC-0DFF-DFD95F33EEEB}"/>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267075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13B1E3-7BB0-60A7-69BA-547B54CFE6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4AA7C-824F-D650-C069-BD2C075BA9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AB9A8-8E5B-4EF5-34A2-9917FE3840DB}"/>
              </a:ext>
            </a:extLst>
          </p:cNvPr>
          <p:cNvSpPr>
            <a:spLocks noGrp="1"/>
          </p:cNvSpPr>
          <p:nvPr>
            <p:ph type="dt" sz="half" idx="10"/>
          </p:nvPr>
        </p:nvSpPr>
        <p:spPr/>
        <p:txBody>
          <a:body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3665DD7D-1618-D9E7-E4CC-4490488D4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6504E-02DD-B51A-D582-C42928BA6D1A}"/>
              </a:ext>
            </a:extLst>
          </p:cNvPr>
          <p:cNvSpPr>
            <a:spLocks noGrp="1"/>
          </p:cNvSpPr>
          <p:nvPr>
            <p:ph type="sldNum" sz="quarter" idx="12"/>
          </p:nvPr>
        </p:nvSpPr>
        <p:spPr/>
        <p:txBody>
          <a:bodyPr/>
          <a:lstStyle/>
          <a:p>
            <a:fld id="{DC69ABE2-C44C-4510-928D-40A35E79FD92}" type="slidenum">
              <a:rPr lang="en-US" smtClean="0"/>
              <a:t>‹#›</a:t>
            </a:fld>
            <a:endParaRPr lang="en-US"/>
          </a:p>
        </p:txBody>
      </p:sp>
    </p:spTree>
    <p:extLst>
      <p:ext uri="{BB962C8B-B14F-4D97-AF65-F5344CB8AC3E}">
        <p14:creationId xmlns:p14="http://schemas.microsoft.com/office/powerpoint/2010/main" val="1289711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169A47-42B1-31C8-FE35-31F79CF6DF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54A7C2-2DEA-F366-040E-F5141618F0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EE7495-0129-0ED4-97D1-AD154DA345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C19CFC-EAF5-4F79-BE72-F76F15C7D9F7}" type="datetimeFigureOut">
              <a:rPr lang="en-US" smtClean="0"/>
              <a:t>8/10/2025</a:t>
            </a:fld>
            <a:endParaRPr lang="en-US"/>
          </a:p>
        </p:txBody>
      </p:sp>
      <p:sp>
        <p:nvSpPr>
          <p:cNvPr id="5" name="Footer Placeholder 4">
            <a:extLst>
              <a:ext uri="{FF2B5EF4-FFF2-40B4-BE49-F238E27FC236}">
                <a16:creationId xmlns:a16="http://schemas.microsoft.com/office/drawing/2014/main" id="{8A7B8A47-1D4E-5E12-48CF-68F584123C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C49039-D7B2-AD54-12F8-9FE1CCEBCC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69ABE2-C44C-4510-928D-40A35E79FD92}" type="slidenum">
              <a:rPr lang="en-US" smtClean="0"/>
              <a:t>‹#›</a:t>
            </a:fld>
            <a:endParaRPr lang="en-US"/>
          </a:p>
        </p:txBody>
      </p:sp>
    </p:spTree>
    <p:extLst>
      <p:ext uri="{BB962C8B-B14F-4D97-AF65-F5344CB8AC3E}">
        <p14:creationId xmlns:p14="http://schemas.microsoft.com/office/powerpoint/2010/main" val="3915241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3A68A3-193F-5662-F7F7-6EBB75C1155A}"/>
              </a:ext>
            </a:extLst>
          </p:cNvPr>
          <p:cNvSpPr txBox="1"/>
          <p:nvPr/>
        </p:nvSpPr>
        <p:spPr>
          <a:xfrm>
            <a:off x="1014222" y="819113"/>
            <a:ext cx="8531439" cy="2616101"/>
          </a:xfrm>
          <a:prstGeom prst="rect">
            <a:avLst/>
          </a:prstGeom>
          <a:noFill/>
        </p:spPr>
        <p:txBody>
          <a:bodyPr wrap="square" rtlCol="0">
            <a:spAutoFit/>
          </a:bodyPr>
          <a:lstStyle/>
          <a:p>
            <a:r>
              <a:rPr lang="es-CO" sz="2800" b="1" dirty="0"/>
              <a:t>Ingeniería de requerimientos de Software</a:t>
            </a:r>
          </a:p>
          <a:p>
            <a:endParaRPr lang="es-CO" sz="2000" b="1" dirty="0"/>
          </a:p>
          <a:p>
            <a:r>
              <a:rPr lang="es-CO" sz="2400" dirty="0"/>
              <a:t>Bibliografía</a:t>
            </a:r>
          </a:p>
          <a:p>
            <a:endParaRPr lang="es-CO" sz="2400" dirty="0"/>
          </a:p>
          <a:p>
            <a:r>
              <a:rPr lang="es-CO" sz="2400" dirty="0"/>
              <a:t>Ingeniería de Software.</a:t>
            </a:r>
          </a:p>
          <a:p>
            <a:r>
              <a:rPr lang="es-CO" sz="2400" dirty="0"/>
              <a:t>Ian Sommerville. 9na y 10ma edición. 2011 y 2016.</a:t>
            </a:r>
          </a:p>
          <a:p>
            <a:endParaRPr lang="es-CO" sz="2000" dirty="0"/>
          </a:p>
        </p:txBody>
      </p:sp>
    </p:spTree>
    <p:extLst>
      <p:ext uri="{BB962C8B-B14F-4D97-AF65-F5344CB8AC3E}">
        <p14:creationId xmlns:p14="http://schemas.microsoft.com/office/powerpoint/2010/main" val="227668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7B24-D2B3-D59F-BF60-82721E6CEB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717521-FACF-D013-97F9-AD720D864C7D}"/>
              </a:ext>
            </a:extLst>
          </p:cNvPr>
          <p:cNvSpPr txBox="1"/>
          <p:nvPr/>
        </p:nvSpPr>
        <p:spPr>
          <a:xfrm>
            <a:off x="474726" y="243041"/>
            <a:ext cx="8531439" cy="1508105"/>
          </a:xfrm>
          <a:prstGeom prst="rect">
            <a:avLst/>
          </a:prstGeom>
          <a:noFill/>
        </p:spPr>
        <p:txBody>
          <a:bodyPr wrap="square" rtlCol="0">
            <a:spAutoFit/>
          </a:bodyPr>
          <a:lstStyle/>
          <a:p>
            <a:r>
              <a:rPr lang="es-CO" sz="2800" b="1" dirty="0"/>
              <a:t>Desarrollo de Software Profesional</a:t>
            </a:r>
          </a:p>
          <a:p>
            <a:endParaRPr lang="es-CO" sz="2000" b="1" dirty="0"/>
          </a:p>
          <a:p>
            <a:r>
              <a:rPr lang="es-CO" sz="2400" dirty="0"/>
              <a:t>Atributos esenciales de software de buena calidad</a:t>
            </a:r>
          </a:p>
          <a:p>
            <a:endParaRPr lang="es-CO" sz="2000" dirty="0"/>
          </a:p>
        </p:txBody>
      </p:sp>
      <p:pic>
        <p:nvPicPr>
          <p:cNvPr id="9" name="Picture 8">
            <a:extLst>
              <a:ext uri="{FF2B5EF4-FFF2-40B4-BE49-F238E27FC236}">
                <a16:creationId xmlns:a16="http://schemas.microsoft.com/office/drawing/2014/main" id="{92D6A8A4-79F3-01E4-BAB3-E710AE786815}"/>
              </a:ext>
            </a:extLst>
          </p:cNvPr>
          <p:cNvPicPr>
            <a:picLocks noChangeAspect="1"/>
          </p:cNvPicPr>
          <p:nvPr/>
        </p:nvPicPr>
        <p:blipFill>
          <a:blip r:embed="rId2"/>
          <a:stretch>
            <a:fillRect/>
          </a:stretch>
        </p:blipFill>
        <p:spPr>
          <a:xfrm>
            <a:off x="1099947" y="1751146"/>
            <a:ext cx="9713802" cy="4960555"/>
          </a:xfrm>
          <a:prstGeom prst="rect">
            <a:avLst/>
          </a:prstGeom>
        </p:spPr>
      </p:pic>
    </p:spTree>
    <p:extLst>
      <p:ext uri="{BB962C8B-B14F-4D97-AF65-F5344CB8AC3E}">
        <p14:creationId xmlns:p14="http://schemas.microsoft.com/office/powerpoint/2010/main" val="2510539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0144C-6083-B88A-0AED-A0AC248E8C9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94854A-3210-368D-B983-58DD48B66283}"/>
              </a:ext>
            </a:extLst>
          </p:cNvPr>
          <p:cNvSpPr txBox="1"/>
          <p:nvPr/>
        </p:nvSpPr>
        <p:spPr>
          <a:xfrm>
            <a:off x="1169670" y="249596"/>
            <a:ext cx="8952738" cy="1661993"/>
          </a:xfrm>
          <a:prstGeom prst="rect">
            <a:avLst/>
          </a:prstGeom>
          <a:noFill/>
        </p:spPr>
        <p:txBody>
          <a:bodyPr wrap="square" rtlCol="0">
            <a:spAutoFit/>
          </a:bodyPr>
          <a:lstStyle/>
          <a:p>
            <a:r>
              <a:rPr lang="es-CO" sz="2800" b="1" dirty="0"/>
              <a:t>Procesos de gestión de la calidad</a:t>
            </a:r>
          </a:p>
          <a:p>
            <a:endParaRPr lang="es-CO" sz="2000" b="1" dirty="0"/>
          </a:p>
          <a:p>
            <a:r>
              <a:rPr lang="es-CO" dirty="0"/>
              <a:t>Un proceso de software es una serie de actividades relacionadas que conducen a la elaboración de un producto de software. Existen diferentes procesos de software, pero todos deben incluir 4 actividades que son fundamentales para la ingeniería de software:</a:t>
            </a:r>
          </a:p>
        </p:txBody>
      </p:sp>
      <p:pic>
        <p:nvPicPr>
          <p:cNvPr id="3" name="Picture 2">
            <a:extLst>
              <a:ext uri="{FF2B5EF4-FFF2-40B4-BE49-F238E27FC236}">
                <a16:creationId xmlns:a16="http://schemas.microsoft.com/office/drawing/2014/main" id="{365013AD-17FB-0EDF-9A38-22B0CEFBAC06}"/>
              </a:ext>
            </a:extLst>
          </p:cNvPr>
          <p:cNvPicPr>
            <a:picLocks noChangeAspect="1"/>
          </p:cNvPicPr>
          <p:nvPr/>
        </p:nvPicPr>
        <p:blipFill>
          <a:blip r:embed="rId2"/>
          <a:stretch>
            <a:fillRect/>
          </a:stretch>
        </p:blipFill>
        <p:spPr>
          <a:xfrm>
            <a:off x="1379982" y="2349157"/>
            <a:ext cx="8952739" cy="3173331"/>
          </a:xfrm>
          <a:prstGeom prst="rect">
            <a:avLst/>
          </a:prstGeom>
        </p:spPr>
      </p:pic>
      <p:sp>
        <p:nvSpPr>
          <p:cNvPr id="2" name="TextBox 1">
            <a:extLst>
              <a:ext uri="{FF2B5EF4-FFF2-40B4-BE49-F238E27FC236}">
                <a16:creationId xmlns:a16="http://schemas.microsoft.com/office/drawing/2014/main" id="{0E5BD428-0779-3DDF-0B64-22ED5253519F}"/>
              </a:ext>
            </a:extLst>
          </p:cNvPr>
          <p:cNvSpPr txBox="1"/>
          <p:nvPr/>
        </p:nvSpPr>
        <p:spPr>
          <a:xfrm>
            <a:off x="1169670" y="5715000"/>
            <a:ext cx="8751242" cy="646331"/>
          </a:xfrm>
          <a:prstGeom prst="rect">
            <a:avLst/>
          </a:prstGeom>
          <a:noFill/>
        </p:spPr>
        <p:txBody>
          <a:bodyPr wrap="none" rtlCol="0">
            <a:spAutoFit/>
          </a:bodyPr>
          <a:lstStyle/>
          <a:p>
            <a:r>
              <a:rPr lang="es-CO" dirty="0"/>
              <a:t>También se incluyen subactividades tales como: validación de requerimientos, diseño </a:t>
            </a:r>
          </a:p>
          <a:p>
            <a:r>
              <a:rPr lang="es-CO" dirty="0"/>
              <a:t>arquitectónico, prueba de unidad, etc.</a:t>
            </a:r>
            <a:endParaRPr lang="en-US" dirty="0"/>
          </a:p>
        </p:txBody>
      </p:sp>
    </p:spTree>
    <p:extLst>
      <p:ext uri="{BB962C8B-B14F-4D97-AF65-F5344CB8AC3E}">
        <p14:creationId xmlns:p14="http://schemas.microsoft.com/office/powerpoint/2010/main" val="3591204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921F0-AE77-582B-FD95-323A423DF79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006F1D-5ED6-2328-95B4-5236A8DB5819}"/>
              </a:ext>
            </a:extLst>
          </p:cNvPr>
          <p:cNvSpPr txBox="1"/>
          <p:nvPr/>
        </p:nvSpPr>
        <p:spPr>
          <a:xfrm>
            <a:off x="886206" y="251543"/>
            <a:ext cx="8952738" cy="1138773"/>
          </a:xfrm>
          <a:prstGeom prst="rect">
            <a:avLst/>
          </a:prstGeom>
          <a:noFill/>
        </p:spPr>
        <p:txBody>
          <a:bodyPr wrap="square" rtlCol="0">
            <a:spAutoFit/>
          </a:bodyPr>
          <a:lstStyle/>
          <a:p>
            <a:r>
              <a:rPr lang="es-CO" sz="2800" b="1" dirty="0"/>
              <a:t>Procesos de gestión de la calidad</a:t>
            </a:r>
          </a:p>
          <a:p>
            <a:endParaRPr lang="es-CO" sz="2000" b="1" dirty="0"/>
          </a:p>
          <a:p>
            <a:r>
              <a:rPr lang="es-CO" sz="2000" dirty="0"/>
              <a:t>Las descripciones de los procesos deben incluir:</a:t>
            </a:r>
          </a:p>
        </p:txBody>
      </p:sp>
      <p:pic>
        <p:nvPicPr>
          <p:cNvPr id="6" name="Picture 5">
            <a:extLst>
              <a:ext uri="{FF2B5EF4-FFF2-40B4-BE49-F238E27FC236}">
                <a16:creationId xmlns:a16="http://schemas.microsoft.com/office/drawing/2014/main" id="{ADE46683-2AF1-4A3E-41E4-342D939DD89E}"/>
              </a:ext>
            </a:extLst>
          </p:cNvPr>
          <p:cNvPicPr>
            <a:picLocks noChangeAspect="1"/>
          </p:cNvPicPr>
          <p:nvPr/>
        </p:nvPicPr>
        <p:blipFill>
          <a:blip r:embed="rId2"/>
          <a:stretch>
            <a:fillRect/>
          </a:stretch>
        </p:blipFill>
        <p:spPr>
          <a:xfrm>
            <a:off x="886206" y="1902605"/>
            <a:ext cx="9361503" cy="3931134"/>
          </a:xfrm>
          <a:prstGeom prst="rect">
            <a:avLst/>
          </a:prstGeom>
        </p:spPr>
      </p:pic>
    </p:spTree>
    <p:extLst>
      <p:ext uri="{BB962C8B-B14F-4D97-AF65-F5344CB8AC3E}">
        <p14:creationId xmlns:p14="http://schemas.microsoft.com/office/powerpoint/2010/main" val="3940114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8DD74-5C37-1D83-91AF-B3B348FD9A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AAFBA3-A0B6-7250-C1E7-B8FC9D3AC1E8}"/>
              </a:ext>
            </a:extLst>
          </p:cNvPr>
          <p:cNvSpPr txBox="1"/>
          <p:nvPr/>
        </p:nvSpPr>
        <p:spPr>
          <a:xfrm>
            <a:off x="886206" y="251543"/>
            <a:ext cx="9803130" cy="5755422"/>
          </a:xfrm>
          <a:prstGeom prst="rect">
            <a:avLst/>
          </a:prstGeom>
          <a:noFill/>
        </p:spPr>
        <p:txBody>
          <a:bodyPr wrap="square" rtlCol="0">
            <a:spAutoFit/>
          </a:bodyPr>
          <a:lstStyle/>
          <a:p>
            <a:r>
              <a:rPr lang="es-CO" sz="2800" b="1" dirty="0"/>
              <a:t>Procesos de gestión de la calidad</a:t>
            </a:r>
            <a:endParaRPr lang="es-CO" sz="2000" dirty="0"/>
          </a:p>
          <a:p>
            <a:endParaRPr lang="es-CO" sz="2000" dirty="0"/>
          </a:p>
          <a:p>
            <a:r>
              <a:rPr lang="es-CO" sz="2000" dirty="0"/>
              <a:t>Los procesos de software se clasifican como:</a:t>
            </a:r>
          </a:p>
          <a:p>
            <a:endParaRPr lang="es-CO" sz="2000" dirty="0"/>
          </a:p>
          <a:p>
            <a:pPr marL="342900" indent="-342900">
              <a:buFontTx/>
              <a:buChar char="-"/>
            </a:pPr>
            <a:r>
              <a:rPr lang="es-CO" sz="2000" dirty="0"/>
              <a:t>Dirigidos por un plan (plan-</a:t>
            </a:r>
            <a:r>
              <a:rPr lang="es-CO" sz="2000" dirty="0" err="1"/>
              <a:t>driven</a:t>
            </a:r>
            <a:r>
              <a:rPr lang="es-CO" sz="2000" dirty="0"/>
              <a:t>):</a:t>
            </a:r>
          </a:p>
          <a:p>
            <a:pPr marL="342900" indent="-342900">
              <a:buFontTx/>
              <a:buChar char="-"/>
            </a:pPr>
            <a:endParaRPr lang="es-CO" sz="2000" dirty="0"/>
          </a:p>
          <a:p>
            <a:r>
              <a:rPr lang="es-CO" sz="2000" dirty="0"/>
              <a:t>Son aquellos donde todas las actividades del proceso se planean por anticipado y el avance se mide contra dicho plan.</a:t>
            </a:r>
          </a:p>
          <a:p>
            <a:endParaRPr lang="es-CO" sz="2000" dirty="0"/>
          </a:p>
          <a:p>
            <a:pPr marL="342900" indent="-342900">
              <a:buFontTx/>
              <a:buChar char="-"/>
            </a:pPr>
            <a:r>
              <a:rPr lang="es-CO" sz="2000" dirty="0"/>
              <a:t>Procesos ágiles: </a:t>
            </a:r>
          </a:p>
          <a:p>
            <a:pPr marL="342900" indent="-342900">
              <a:buFontTx/>
              <a:buChar char="-"/>
            </a:pPr>
            <a:endParaRPr lang="es-CO" sz="2000" dirty="0"/>
          </a:p>
          <a:p>
            <a:r>
              <a:rPr lang="es-CO" sz="2000" dirty="0"/>
              <a:t>La planeación es incremental y es más fácil modificar el proceso para reflejar los requerimientos cambiantes del cliente.</a:t>
            </a:r>
          </a:p>
          <a:p>
            <a:endParaRPr lang="es-CO" sz="2000" dirty="0"/>
          </a:p>
          <a:p>
            <a:endParaRPr lang="es-CO" sz="2000" dirty="0"/>
          </a:p>
          <a:p>
            <a:r>
              <a:rPr lang="es-CO" sz="2000" dirty="0"/>
              <a:t>En general es necesario encontrar un equilibrio entre procesos dirigidos por un plan y procesos ágiles.</a:t>
            </a:r>
          </a:p>
          <a:p>
            <a:pPr marL="342900" indent="-342900">
              <a:buFontTx/>
              <a:buChar char="-"/>
            </a:pPr>
            <a:endParaRPr lang="es-CO" sz="2000" dirty="0"/>
          </a:p>
        </p:txBody>
      </p:sp>
    </p:spTree>
    <p:extLst>
      <p:ext uri="{BB962C8B-B14F-4D97-AF65-F5344CB8AC3E}">
        <p14:creationId xmlns:p14="http://schemas.microsoft.com/office/powerpoint/2010/main" val="749083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F959D-A216-4A3E-449B-97380A2778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2B74F7-A4B3-2606-0309-5D9B9ECCF3B2}"/>
              </a:ext>
            </a:extLst>
          </p:cNvPr>
          <p:cNvSpPr txBox="1"/>
          <p:nvPr/>
        </p:nvSpPr>
        <p:spPr>
          <a:xfrm>
            <a:off x="630174" y="254419"/>
            <a:ext cx="9803130" cy="1384995"/>
          </a:xfrm>
          <a:prstGeom prst="rect">
            <a:avLst/>
          </a:prstGeom>
          <a:noFill/>
        </p:spPr>
        <p:txBody>
          <a:bodyPr wrap="square" rtlCol="0">
            <a:spAutoFit/>
          </a:bodyPr>
          <a:lstStyle/>
          <a:p>
            <a:r>
              <a:rPr lang="es-CO" sz="2800" b="1" dirty="0"/>
              <a:t>Modelos de proceso de software</a:t>
            </a:r>
            <a:endParaRPr lang="es-CO" sz="2000" dirty="0"/>
          </a:p>
          <a:p>
            <a:endParaRPr lang="es-CO" sz="2000" dirty="0"/>
          </a:p>
          <a:p>
            <a:r>
              <a:rPr lang="es-CO" dirty="0"/>
              <a:t>El modelo del proceso de software es una representación simplificada del proceso. Por ejemplo un modelo de actividad del proceso muestra las actividades y su secuencia.</a:t>
            </a:r>
          </a:p>
        </p:txBody>
      </p:sp>
      <p:pic>
        <p:nvPicPr>
          <p:cNvPr id="3" name="Picture 2">
            <a:extLst>
              <a:ext uri="{FF2B5EF4-FFF2-40B4-BE49-F238E27FC236}">
                <a16:creationId xmlns:a16="http://schemas.microsoft.com/office/drawing/2014/main" id="{F006B051-D6B4-6E9B-1BD8-0967DE9A6A92}"/>
              </a:ext>
            </a:extLst>
          </p:cNvPr>
          <p:cNvPicPr>
            <a:picLocks noChangeAspect="1"/>
          </p:cNvPicPr>
          <p:nvPr/>
        </p:nvPicPr>
        <p:blipFill>
          <a:blip r:embed="rId2"/>
          <a:stretch>
            <a:fillRect/>
          </a:stretch>
        </p:blipFill>
        <p:spPr>
          <a:xfrm>
            <a:off x="4390372" y="1871851"/>
            <a:ext cx="6756678" cy="3843149"/>
          </a:xfrm>
          <a:prstGeom prst="rect">
            <a:avLst/>
          </a:prstGeom>
        </p:spPr>
      </p:pic>
      <p:sp>
        <p:nvSpPr>
          <p:cNvPr id="4" name="TextBox 3">
            <a:extLst>
              <a:ext uri="{FF2B5EF4-FFF2-40B4-BE49-F238E27FC236}">
                <a16:creationId xmlns:a16="http://schemas.microsoft.com/office/drawing/2014/main" id="{4CEB2A3D-597F-E067-F5CC-E4631CA23189}"/>
              </a:ext>
            </a:extLst>
          </p:cNvPr>
          <p:cNvSpPr txBox="1"/>
          <p:nvPr/>
        </p:nvSpPr>
        <p:spPr>
          <a:xfrm>
            <a:off x="173219" y="2510017"/>
            <a:ext cx="4306824" cy="2893100"/>
          </a:xfrm>
          <a:prstGeom prst="rect">
            <a:avLst/>
          </a:prstGeom>
          <a:noFill/>
        </p:spPr>
        <p:txBody>
          <a:bodyPr wrap="square" rtlCol="0">
            <a:spAutoFit/>
          </a:bodyPr>
          <a:lstStyle/>
          <a:p>
            <a:r>
              <a:rPr lang="es-CO" sz="2000" b="1" dirty="0"/>
              <a:t>1.  Modelo en cascada (</a:t>
            </a:r>
            <a:r>
              <a:rPr lang="es-CO" sz="2000" b="1" dirty="0" err="1"/>
              <a:t>waterfall</a:t>
            </a:r>
            <a:r>
              <a:rPr lang="es-CO" sz="2000" b="1" dirty="0"/>
              <a:t>)</a:t>
            </a:r>
          </a:p>
          <a:p>
            <a:pPr marL="457200" indent="-457200">
              <a:buAutoNum type="arabicPeriod"/>
            </a:pPr>
            <a:endParaRPr lang="es-CO" dirty="0"/>
          </a:p>
          <a:p>
            <a:r>
              <a:rPr lang="es-CO" dirty="0"/>
              <a:t>Toma las actividades fundamentales del proceso de especificación, desarrollo, validación y evolución y los representa como fases separadas del proceso, tal como especificación de requerimientos, diseño de software, implementación, pruebas, etc.</a:t>
            </a:r>
          </a:p>
          <a:p>
            <a:endParaRPr lang="en-US" dirty="0"/>
          </a:p>
        </p:txBody>
      </p:sp>
      <p:sp>
        <p:nvSpPr>
          <p:cNvPr id="6" name="TextBox 5">
            <a:extLst>
              <a:ext uri="{FF2B5EF4-FFF2-40B4-BE49-F238E27FC236}">
                <a16:creationId xmlns:a16="http://schemas.microsoft.com/office/drawing/2014/main" id="{D8EA42DA-24F9-0023-29E3-87279156DE17}"/>
              </a:ext>
            </a:extLst>
          </p:cNvPr>
          <p:cNvSpPr txBox="1"/>
          <p:nvPr/>
        </p:nvSpPr>
        <p:spPr>
          <a:xfrm>
            <a:off x="8805733" y="2514578"/>
            <a:ext cx="1866217" cy="646331"/>
          </a:xfrm>
          <a:prstGeom prst="rect">
            <a:avLst/>
          </a:prstGeom>
          <a:noFill/>
        </p:spPr>
        <p:txBody>
          <a:bodyPr wrap="none" rtlCol="0">
            <a:spAutoFit/>
          </a:bodyPr>
          <a:lstStyle/>
          <a:p>
            <a:r>
              <a:rPr lang="es-CO" dirty="0">
                <a:solidFill>
                  <a:srgbClr val="FF0000"/>
                </a:solidFill>
              </a:rPr>
              <a:t>Iteraciones en el </a:t>
            </a:r>
          </a:p>
          <a:p>
            <a:r>
              <a:rPr lang="es-CO" dirty="0">
                <a:solidFill>
                  <a:srgbClr val="FF0000"/>
                </a:solidFill>
              </a:rPr>
              <a:t>Ciclo de vida</a:t>
            </a:r>
            <a:endParaRPr lang="en-US" dirty="0">
              <a:solidFill>
                <a:srgbClr val="FF0000"/>
              </a:solidFill>
            </a:endParaRPr>
          </a:p>
        </p:txBody>
      </p:sp>
      <p:sp>
        <p:nvSpPr>
          <p:cNvPr id="7" name="TextBox 6">
            <a:extLst>
              <a:ext uri="{FF2B5EF4-FFF2-40B4-BE49-F238E27FC236}">
                <a16:creationId xmlns:a16="http://schemas.microsoft.com/office/drawing/2014/main" id="{384BD4FF-A219-1EDB-1CA3-65D687B73E3D}"/>
              </a:ext>
            </a:extLst>
          </p:cNvPr>
          <p:cNvSpPr txBox="1"/>
          <p:nvPr/>
        </p:nvSpPr>
        <p:spPr>
          <a:xfrm>
            <a:off x="9095293" y="5715000"/>
            <a:ext cx="2596545" cy="584775"/>
          </a:xfrm>
          <a:prstGeom prst="rect">
            <a:avLst/>
          </a:prstGeom>
          <a:noFill/>
        </p:spPr>
        <p:txBody>
          <a:bodyPr wrap="none" rtlCol="0">
            <a:spAutoFit/>
          </a:bodyPr>
          <a:lstStyle/>
          <a:p>
            <a:r>
              <a:rPr lang="es-CO" sz="1600" dirty="0">
                <a:solidFill>
                  <a:srgbClr val="FF0000"/>
                </a:solidFill>
              </a:rPr>
              <a:t>Descubrimiento de errores</a:t>
            </a:r>
          </a:p>
          <a:p>
            <a:r>
              <a:rPr lang="es-CO" sz="1600" dirty="0">
                <a:solidFill>
                  <a:srgbClr val="FF0000"/>
                </a:solidFill>
              </a:rPr>
              <a:t>Omisión de requerimientos</a:t>
            </a:r>
          </a:p>
        </p:txBody>
      </p:sp>
    </p:spTree>
    <p:extLst>
      <p:ext uri="{BB962C8B-B14F-4D97-AF65-F5344CB8AC3E}">
        <p14:creationId xmlns:p14="http://schemas.microsoft.com/office/powerpoint/2010/main" val="3137785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374CA-F8F1-B0DF-4D17-B78A005B2F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B2D564-1A2A-CC61-8367-FDEA4559B55F}"/>
              </a:ext>
            </a:extLst>
          </p:cNvPr>
          <p:cNvSpPr txBox="1"/>
          <p:nvPr/>
        </p:nvSpPr>
        <p:spPr>
          <a:xfrm>
            <a:off x="1270254" y="123527"/>
            <a:ext cx="9803130" cy="2185214"/>
          </a:xfrm>
          <a:prstGeom prst="rect">
            <a:avLst/>
          </a:prstGeom>
          <a:noFill/>
        </p:spPr>
        <p:txBody>
          <a:bodyPr wrap="square" rtlCol="0">
            <a:spAutoFit/>
          </a:bodyPr>
          <a:lstStyle/>
          <a:p>
            <a:r>
              <a:rPr lang="es-CO" sz="2800" b="1" dirty="0"/>
              <a:t>Modelos de proceso de software</a:t>
            </a:r>
            <a:endParaRPr lang="es-CO" dirty="0"/>
          </a:p>
          <a:p>
            <a:endParaRPr lang="es-CO" dirty="0"/>
          </a:p>
          <a:p>
            <a:r>
              <a:rPr lang="es-CO" b="1" dirty="0"/>
              <a:t>2. Desarrollo de software incremental (de enfoques ágiles)</a:t>
            </a:r>
          </a:p>
          <a:p>
            <a:pPr marL="457200" indent="-457200">
              <a:buAutoNum type="arabicPeriod"/>
            </a:pPr>
            <a:endParaRPr lang="es-CO" dirty="0"/>
          </a:p>
          <a:p>
            <a:r>
              <a:rPr lang="es-CO" dirty="0"/>
              <a:t>Este enfoque vincula las actividades de especificación, desarrollo y validación. El sistema se desarrolla como una serie de versiones (incrementos), y cada versión incluye nuevas funcionalidades a la versión anterior. </a:t>
            </a:r>
          </a:p>
        </p:txBody>
      </p:sp>
      <p:pic>
        <p:nvPicPr>
          <p:cNvPr id="4" name="Picture 3">
            <a:extLst>
              <a:ext uri="{FF2B5EF4-FFF2-40B4-BE49-F238E27FC236}">
                <a16:creationId xmlns:a16="http://schemas.microsoft.com/office/drawing/2014/main" id="{590DE243-0D86-46B8-53B9-650C48E2E18E}"/>
              </a:ext>
            </a:extLst>
          </p:cNvPr>
          <p:cNvPicPr>
            <a:picLocks noChangeAspect="1"/>
          </p:cNvPicPr>
          <p:nvPr/>
        </p:nvPicPr>
        <p:blipFill>
          <a:blip r:embed="rId2"/>
          <a:stretch>
            <a:fillRect/>
          </a:stretch>
        </p:blipFill>
        <p:spPr>
          <a:xfrm>
            <a:off x="5337852" y="2336334"/>
            <a:ext cx="6707944" cy="4096187"/>
          </a:xfrm>
          <a:prstGeom prst="rect">
            <a:avLst/>
          </a:prstGeom>
        </p:spPr>
      </p:pic>
      <p:sp>
        <p:nvSpPr>
          <p:cNvPr id="6" name="TextBox 5">
            <a:extLst>
              <a:ext uri="{FF2B5EF4-FFF2-40B4-BE49-F238E27FC236}">
                <a16:creationId xmlns:a16="http://schemas.microsoft.com/office/drawing/2014/main" id="{A17BE302-F74A-A168-E8E0-BFE33B118D8D}"/>
              </a:ext>
            </a:extLst>
          </p:cNvPr>
          <p:cNvSpPr txBox="1"/>
          <p:nvPr/>
        </p:nvSpPr>
        <p:spPr>
          <a:xfrm>
            <a:off x="256032" y="2679192"/>
            <a:ext cx="4718304" cy="3662541"/>
          </a:xfrm>
          <a:prstGeom prst="rect">
            <a:avLst/>
          </a:prstGeom>
          <a:noFill/>
        </p:spPr>
        <p:txBody>
          <a:bodyPr wrap="square" rtlCol="0">
            <a:spAutoFit/>
          </a:bodyPr>
          <a:lstStyle/>
          <a:p>
            <a:r>
              <a:rPr lang="es-CO" dirty="0">
                <a:solidFill>
                  <a:srgbClr val="FF0000"/>
                </a:solidFill>
              </a:rPr>
              <a:t>Beneficios:</a:t>
            </a:r>
          </a:p>
          <a:p>
            <a:r>
              <a:rPr lang="es-CO" dirty="0"/>
              <a:t>- </a:t>
            </a:r>
            <a:r>
              <a:rPr lang="es-CO" sz="1600" dirty="0"/>
              <a:t>Reducción del costo de adaptar los requerimientos cambiantes.</a:t>
            </a:r>
          </a:p>
          <a:p>
            <a:r>
              <a:rPr lang="es-CO" sz="1600" dirty="0"/>
              <a:t>- Es más sencillo obtener retroalimentación del cliente.</a:t>
            </a:r>
          </a:p>
          <a:p>
            <a:r>
              <a:rPr lang="es-CO" sz="1600" dirty="0"/>
              <a:t>- Es más rápida la entrega e implementación del software.</a:t>
            </a:r>
          </a:p>
          <a:p>
            <a:pPr marL="285750" indent="-285750">
              <a:buFontTx/>
              <a:buChar char="-"/>
            </a:pPr>
            <a:endParaRPr lang="es-CO" dirty="0"/>
          </a:p>
          <a:p>
            <a:r>
              <a:rPr lang="es-CO" dirty="0">
                <a:solidFill>
                  <a:srgbClr val="FF0000"/>
                </a:solidFill>
              </a:rPr>
              <a:t>Problemas:</a:t>
            </a:r>
          </a:p>
          <a:p>
            <a:pPr marL="285750" indent="-285750">
              <a:buFontTx/>
              <a:buChar char="-"/>
            </a:pPr>
            <a:r>
              <a:rPr lang="en-US" sz="1600" dirty="0" err="1"/>
              <a:t>Proceso</a:t>
            </a:r>
            <a:r>
              <a:rPr lang="en-US" sz="1600" dirty="0"/>
              <a:t> </a:t>
            </a:r>
            <a:r>
              <a:rPr lang="en-US" sz="1600" dirty="0" err="1"/>
              <a:t>iterativo</a:t>
            </a:r>
            <a:r>
              <a:rPr lang="en-US" sz="1600" dirty="0"/>
              <a:t> </a:t>
            </a:r>
            <a:r>
              <a:rPr lang="en-US" sz="1600" dirty="0" err="1"/>
              <a:t>más</a:t>
            </a:r>
            <a:r>
              <a:rPr lang="en-US" sz="1600" dirty="0"/>
              <a:t> lento </a:t>
            </a:r>
            <a:r>
              <a:rPr lang="en-US" sz="1600" dirty="0" err="1"/>
              <a:t>por</a:t>
            </a:r>
            <a:r>
              <a:rPr lang="en-US" sz="1600" dirty="0"/>
              <a:t> </a:t>
            </a:r>
            <a:r>
              <a:rPr lang="en-US" sz="1600" dirty="0" err="1"/>
              <a:t>burocracia</a:t>
            </a:r>
            <a:r>
              <a:rPr lang="en-US" sz="1600" dirty="0"/>
              <a:t>.</a:t>
            </a:r>
          </a:p>
          <a:p>
            <a:pPr marL="285750" indent="-285750">
              <a:buFontTx/>
              <a:buChar char="-"/>
            </a:pPr>
            <a:r>
              <a:rPr lang="en-US" sz="1600" dirty="0"/>
              <a:t>Se </a:t>
            </a:r>
            <a:r>
              <a:rPr lang="en-US" sz="1600" dirty="0" err="1"/>
              <a:t>necesitan</a:t>
            </a:r>
            <a:r>
              <a:rPr lang="en-US" sz="1600" dirty="0"/>
              <a:t> </a:t>
            </a:r>
            <a:r>
              <a:rPr lang="en-US" sz="1600" dirty="0" err="1"/>
              <a:t>entregas</a:t>
            </a:r>
            <a:r>
              <a:rPr lang="en-US" sz="1600" dirty="0"/>
              <a:t> </a:t>
            </a:r>
            <a:r>
              <a:rPr lang="en-US" sz="1600" dirty="0" err="1"/>
              <a:t>regulares</a:t>
            </a:r>
            <a:r>
              <a:rPr lang="en-US" sz="1600" dirty="0"/>
              <a:t> para </a:t>
            </a:r>
            <a:r>
              <a:rPr lang="en-US" sz="1600" dirty="0" err="1"/>
              <a:t>medir</a:t>
            </a:r>
            <a:r>
              <a:rPr lang="en-US" sz="1600" dirty="0"/>
              <a:t> </a:t>
            </a:r>
            <a:r>
              <a:rPr lang="en-US" sz="1600" dirty="0" err="1"/>
              <a:t>el</a:t>
            </a:r>
            <a:r>
              <a:rPr lang="en-US" sz="1600" dirty="0"/>
              <a:t> </a:t>
            </a:r>
            <a:r>
              <a:rPr lang="en-US" sz="1600" dirty="0" err="1"/>
              <a:t>avance</a:t>
            </a:r>
            <a:r>
              <a:rPr lang="en-US" sz="1600" dirty="0"/>
              <a:t>.</a:t>
            </a:r>
          </a:p>
          <a:p>
            <a:pPr marL="285750" indent="-285750">
              <a:buFontTx/>
              <a:buChar char="-"/>
            </a:pPr>
            <a:r>
              <a:rPr lang="en-US" sz="1600" dirty="0"/>
              <a:t>La </a:t>
            </a:r>
            <a:r>
              <a:rPr lang="en-US" sz="1600" dirty="0" err="1"/>
              <a:t>estructura</a:t>
            </a:r>
            <a:r>
              <a:rPr lang="en-US" sz="1600" dirty="0"/>
              <a:t> del Sistema </a:t>
            </a:r>
            <a:r>
              <a:rPr lang="en-US" sz="1600" dirty="0" err="1"/>
              <a:t>tiende</a:t>
            </a:r>
            <a:r>
              <a:rPr lang="en-US" sz="1600" dirty="0"/>
              <a:t> a </a:t>
            </a:r>
            <a:r>
              <a:rPr lang="en-US" sz="1600" dirty="0" err="1"/>
              <a:t>degradarse</a:t>
            </a:r>
            <a:r>
              <a:rPr lang="en-US" sz="1600" dirty="0"/>
              <a:t> </a:t>
            </a:r>
            <a:r>
              <a:rPr lang="en-US" sz="1600" dirty="0" err="1"/>
              <a:t>debido</a:t>
            </a:r>
            <a:r>
              <a:rPr lang="en-US" sz="1600" dirty="0"/>
              <a:t> a </a:t>
            </a:r>
            <a:r>
              <a:rPr lang="en-US" sz="1600" dirty="0" err="1"/>
              <a:t>los</a:t>
            </a:r>
            <a:r>
              <a:rPr lang="en-US" sz="1600" dirty="0"/>
              <a:t> </a:t>
            </a:r>
            <a:r>
              <a:rPr lang="en-US" sz="1600" dirty="0" err="1"/>
              <a:t>nuevos</a:t>
            </a:r>
            <a:r>
              <a:rPr lang="en-US" sz="1600" dirty="0"/>
              <a:t> </a:t>
            </a:r>
            <a:r>
              <a:rPr lang="en-US" sz="1600" dirty="0" err="1"/>
              <a:t>incrementos</a:t>
            </a:r>
            <a:r>
              <a:rPr lang="en-US" sz="1600" dirty="0"/>
              <a:t>.</a:t>
            </a:r>
          </a:p>
        </p:txBody>
      </p:sp>
    </p:spTree>
    <p:extLst>
      <p:ext uri="{BB962C8B-B14F-4D97-AF65-F5344CB8AC3E}">
        <p14:creationId xmlns:p14="http://schemas.microsoft.com/office/powerpoint/2010/main" val="554037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10D0-583E-1CD7-C6C6-7B4A41A20B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9187E0-6854-DD6E-C5AA-5457DC68F51F}"/>
              </a:ext>
            </a:extLst>
          </p:cNvPr>
          <p:cNvSpPr txBox="1"/>
          <p:nvPr/>
        </p:nvSpPr>
        <p:spPr>
          <a:xfrm>
            <a:off x="1270254" y="123527"/>
            <a:ext cx="9803130" cy="2185214"/>
          </a:xfrm>
          <a:prstGeom prst="rect">
            <a:avLst/>
          </a:prstGeom>
          <a:noFill/>
        </p:spPr>
        <p:txBody>
          <a:bodyPr wrap="square" rtlCol="0">
            <a:spAutoFit/>
          </a:bodyPr>
          <a:lstStyle/>
          <a:p>
            <a:r>
              <a:rPr lang="es-CO" sz="2800" b="1" dirty="0"/>
              <a:t>Modelos de proceso de software</a:t>
            </a:r>
            <a:endParaRPr lang="es-CO" dirty="0"/>
          </a:p>
          <a:p>
            <a:endParaRPr lang="es-CO" dirty="0"/>
          </a:p>
          <a:p>
            <a:r>
              <a:rPr lang="es-CO" b="1" dirty="0"/>
              <a:t>3. Ingeniería de software orientada a la reutilización</a:t>
            </a:r>
          </a:p>
          <a:p>
            <a:pPr marL="457200" indent="-457200">
              <a:buAutoNum type="arabicPeriod"/>
            </a:pPr>
            <a:endParaRPr lang="es-CO" dirty="0"/>
          </a:p>
          <a:p>
            <a:r>
              <a:rPr lang="es-CO" dirty="0"/>
              <a:t>Este enfoque se basa en la existencia de un número significativo de componentes reutilizables. El proceso de desarrollo del sistema se enfoca en la integración de estos componentes en un sistema, en vez de desarrollarlo desde cero.</a:t>
            </a:r>
          </a:p>
        </p:txBody>
      </p:sp>
      <p:pic>
        <p:nvPicPr>
          <p:cNvPr id="3" name="Picture 2">
            <a:extLst>
              <a:ext uri="{FF2B5EF4-FFF2-40B4-BE49-F238E27FC236}">
                <a16:creationId xmlns:a16="http://schemas.microsoft.com/office/drawing/2014/main" id="{444DB0F0-1E50-A704-2917-78891F8FBC9D}"/>
              </a:ext>
            </a:extLst>
          </p:cNvPr>
          <p:cNvPicPr>
            <a:picLocks noChangeAspect="1"/>
          </p:cNvPicPr>
          <p:nvPr/>
        </p:nvPicPr>
        <p:blipFill>
          <a:blip r:embed="rId2"/>
          <a:stretch>
            <a:fillRect/>
          </a:stretch>
        </p:blipFill>
        <p:spPr>
          <a:xfrm>
            <a:off x="278891" y="2734982"/>
            <a:ext cx="11634218" cy="2650834"/>
          </a:xfrm>
          <a:prstGeom prst="rect">
            <a:avLst/>
          </a:prstGeom>
        </p:spPr>
      </p:pic>
    </p:spTree>
    <p:extLst>
      <p:ext uri="{BB962C8B-B14F-4D97-AF65-F5344CB8AC3E}">
        <p14:creationId xmlns:p14="http://schemas.microsoft.com/office/powerpoint/2010/main" val="913983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5EE38-E763-E166-CD93-CB46265C78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9EEAF95-72D2-7EDC-1D21-01BFEB67FFCD}"/>
              </a:ext>
            </a:extLst>
          </p:cNvPr>
          <p:cNvSpPr txBox="1"/>
          <p:nvPr/>
        </p:nvSpPr>
        <p:spPr>
          <a:xfrm>
            <a:off x="1261110" y="342983"/>
            <a:ext cx="9803130" cy="3477875"/>
          </a:xfrm>
          <a:prstGeom prst="rect">
            <a:avLst/>
          </a:prstGeom>
          <a:noFill/>
        </p:spPr>
        <p:txBody>
          <a:bodyPr wrap="square" rtlCol="0">
            <a:spAutoFit/>
          </a:bodyPr>
          <a:lstStyle/>
          <a:p>
            <a:r>
              <a:rPr lang="es-CO" sz="2800" b="1" dirty="0"/>
              <a:t>Actividades del proceso</a:t>
            </a:r>
            <a:endParaRPr lang="es-CO" dirty="0"/>
          </a:p>
          <a:p>
            <a:endParaRPr lang="es-CO" sz="2400" dirty="0"/>
          </a:p>
          <a:p>
            <a:r>
              <a:rPr lang="es-CO" sz="2400" dirty="0"/>
              <a:t>Los procesos de software real son secuencias entrelazadas de actividades técnicas, colaborativas y administrativas con la meta general de especificar, diseñar, implementar y probar un sistema de software.</a:t>
            </a:r>
          </a:p>
          <a:p>
            <a:endParaRPr lang="es-CO" sz="2400" dirty="0"/>
          </a:p>
          <a:p>
            <a:r>
              <a:rPr lang="es-CO" sz="2400" dirty="0"/>
              <a:t>Las 4 actividades básicas son: </a:t>
            </a:r>
            <a:r>
              <a:rPr lang="es-CO" sz="2400" b="1" dirty="0"/>
              <a:t>especificación del software o ingeniería de requerimientos (servicios, restricciones), desarrollo, validación y evolución (reestructuración o refactorización del sistema).</a:t>
            </a:r>
          </a:p>
        </p:txBody>
      </p:sp>
    </p:spTree>
    <p:extLst>
      <p:ext uri="{BB962C8B-B14F-4D97-AF65-F5344CB8AC3E}">
        <p14:creationId xmlns:p14="http://schemas.microsoft.com/office/powerpoint/2010/main" val="141419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07BC-E7A4-2F27-64C4-3DA30386B4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9A7F95-CB6B-FEB9-5267-77722BD92107}"/>
              </a:ext>
            </a:extLst>
          </p:cNvPr>
          <p:cNvSpPr txBox="1"/>
          <p:nvPr/>
        </p:nvSpPr>
        <p:spPr>
          <a:xfrm>
            <a:off x="1261110" y="342983"/>
            <a:ext cx="9803130" cy="892552"/>
          </a:xfrm>
          <a:prstGeom prst="rect">
            <a:avLst/>
          </a:prstGeom>
          <a:noFill/>
        </p:spPr>
        <p:txBody>
          <a:bodyPr wrap="square" rtlCol="0">
            <a:spAutoFit/>
          </a:bodyPr>
          <a:lstStyle/>
          <a:p>
            <a:r>
              <a:rPr lang="es-CO" sz="2800" b="1" dirty="0"/>
              <a:t>Proceso de ingeniería de requerimientos</a:t>
            </a:r>
            <a:endParaRPr lang="es-CO" dirty="0"/>
          </a:p>
          <a:p>
            <a:endParaRPr lang="es-CO" sz="2400" dirty="0"/>
          </a:p>
        </p:txBody>
      </p:sp>
      <p:pic>
        <p:nvPicPr>
          <p:cNvPr id="3" name="Picture 2">
            <a:extLst>
              <a:ext uri="{FF2B5EF4-FFF2-40B4-BE49-F238E27FC236}">
                <a16:creationId xmlns:a16="http://schemas.microsoft.com/office/drawing/2014/main" id="{3E012355-B330-E65F-BCB4-ECAEF259ABE7}"/>
              </a:ext>
            </a:extLst>
          </p:cNvPr>
          <p:cNvPicPr>
            <a:picLocks noChangeAspect="1"/>
          </p:cNvPicPr>
          <p:nvPr/>
        </p:nvPicPr>
        <p:blipFill>
          <a:blip r:embed="rId2"/>
          <a:stretch>
            <a:fillRect/>
          </a:stretch>
        </p:blipFill>
        <p:spPr>
          <a:xfrm>
            <a:off x="1348176" y="1355605"/>
            <a:ext cx="9803130" cy="4905883"/>
          </a:xfrm>
          <a:prstGeom prst="rect">
            <a:avLst/>
          </a:prstGeom>
        </p:spPr>
      </p:pic>
    </p:spTree>
    <p:extLst>
      <p:ext uri="{BB962C8B-B14F-4D97-AF65-F5344CB8AC3E}">
        <p14:creationId xmlns:p14="http://schemas.microsoft.com/office/powerpoint/2010/main" val="1099797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58248-EA2B-8603-99AD-C625F9C821E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436542-96BA-3587-0B28-89676DC38012}"/>
              </a:ext>
            </a:extLst>
          </p:cNvPr>
          <p:cNvSpPr txBox="1"/>
          <p:nvPr/>
        </p:nvSpPr>
        <p:spPr>
          <a:xfrm>
            <a:off x="1261110" y="342983"/>
            <a:ext cx="9803130" cy="892552"/>
          </a:xfrm>
          <a:prstGeom prst="rect">
            <a:avLst/>
          </a:prstGeom>
          <a:noFill/>
        </p:spPr>
        <p:txBody>
          <a:bodyPr wrap="square" rtlCol="0">
            <a:spAutoFit/>
          </a:bodyPr>
          <a:lstStyle/>
          <a:p>
            <a:r>
              <a:rPr lang="es-CO" sz="2800" b="1" dirty="0"/>
              <a:t>Proceso de diseño e implementación de software</a:t>
            </a:r>
            <a:endParaRPr lang="es-CO" dirty="0"/>
          </a:p>
          <a:p>
            <a:endParaRPr lang="es-CO" sz="2400" dirty="0"/>
          </a:p>
        </p:txBody>
      </p:sp>
      <p:pic>
        <p:nvPicPr>
          <p:cNvPr id="4" name="Picture 3">
            <a:extLst>
              <a:ext uri="{FF2B5EF4-FFF2-40B4-BE49-F238E27FC236}">
                <a16:creationId xmlns:a16="http://schemas.microsoft.com/office/drawing/2014/main" id="{86C39FBD-532C-5D7D-BDE3-C43874268DF4}"/>
              </a:ext>
            </a:extLst>
          </p:cNvPr>
          <p:cNvPicPr>
            <a:picLocks noChangeAspect="1"/>
          </p:cNvPicPr>
          <p:nvPr/>
        </p:nvPicPr>
        <p:blipFill>
          <a:blip r:embed="rId2"/>
          <a:stretch>
            <a:fillRect/>
          </a:stretch>
        </p:blipFill>
        <p:spPr>
          <a:xfrm>
            <a:off x="1963105" y="1235535"/>
            <a:ext cx="7883964" cy="5495544"/>
          </a:xfrm>
          <a:prstGeom prst="rect">
            <a:avLst/>
          </a:prstGeom>
        </p:spPr>
      </p:pic>
    </p:spTree>
    <p:extLst>
      <p:ext uri="{BB962C8B-B14F-4D97-AF65-F5344CB8AC3E}">
        <p14:creationId xmlns:p14="http://schemas.microsoft.com/office/powerpoint/2010/main" val="122356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41B81-3274-EC61-763E-2D43BBF4E8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2D49E1-0AF0-DAFF-8F4F-D384254E29E2}"/>
              </a:ext>
            </a:extLst>
          </p:cNvPr>
          <p:cNvSpPr txBox="1"/>
          <p:nvPr/>
        </p:nvSpPr>
        <p:spPr>
          <a:xfrm>
            <a:off x="1261110" y="342983"/>
            <a:ext cx="9803130" cy="892552"/>
          </a:xfrm>
          <a:prstGeom prst="rect">
            <a:avLst/>
          </a:prstGeom>
          <a:noFill/>
        </p:spPr>
        <p:txBody>
          <a:bodyPr wrap="square" rtlCol="0">
            <a:spAutoFit/>
          </a:bodyPr>
          <a:lstStyle/>
          <a:p>
            <a:r>
              <a:rPr lang="es-CO" sz="2800" b="1" dirty="0"/>
              <a:t>Proceso de validación del software</a:t>
            </a:r>
            <a:endParaRPr lang="es-CO" dirty="0"/>
          </a:p>
          <a:p>
            <a:endParaRPr lang="es-CO" sz="2400" dirty="0"/>
          </a:p>
        </p:txBody>
      </p:sp>
      <p:pic>
        <p:nvPicPr>
          <p:cNvPr id="3" name="Picture 2">
            <a:extLst>
              <a:ext uri="{FF2B5EF4-FFF2-40B4-BE49-F238E27FC236}">
                <a16:creationId xmlns:a16="http://schemas.microsoft.com/office/drawing/2014/main" id="{581F4A16-8FFF-9B2B-B9CB-1FD3656854BB}"/>
              </a:ext>
            </a:extLst>
          </p:cNvPr>
          <p:cNvPicPr>
            <a:picLocks noChangeAspect="1"/>
          </p:cNvPicPr>
          <p:nvPr/>
        </p:nvPicPr>
        <p:blipFill>
          <a:blip r:embed="rId2"/>
          <a:stretch>
            <a:fillRect/>
          </a:stretch>
        </p:blipFill>
        <p:spPr>
          <a:xfrm>
            <a:off x="914400" y="1576029"/>
            <a:ext cx="10930890" cy="4093236"/>
          </a:xfrm>
          <a:prstGeom prst="rect">
            <a:avLst/>
          </a:prstGeom>
        </p:spPr>
      </p:pic>
    </p:spTree>
    <p:extLst>
      <p:ext uri="{BB962C8B-B14F-4D97-AF65-F5344CB8AC3E}">
        <p14:creationId xmlns:p14="http://schemas.microsoft.com/office/powerpoint/2010/main" val="275601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AFD8-7C01-DABD-3954-3AD9548A97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00FE6A-A9D3-5D41-17C8-C596F82BE29F}"/>
              </a:ext>
            </a:extLst>
          </p:cNvPr>
          <p:cNvSpPr txBox="1"/>
          <p:nvPr/>
        </p:nvSpPr>
        <p:spPr>
          <a:xfrm>
            <a:off x="1261110" y="342983"/>
            <a:ext cx="9803130" cy="892552"/>
          </a:xfrm>
          <a:prstGeom prst="rect">
            <a:avLst/>
          </a:prstGeom>
          <a:noFill/>
        </p:spPr>
        <p:txBody>
          <a:bodyPr wrap="square" rtlCol="0">
            <a:spAutoFit/>
          </a:bodyPr>
          <a:lstStyle/>
          <a:p>
            <a:r>
              <a:rPr lang="es-CO" sz="2800" b="1" dirty="0"/>
              <a:t>Proceso de evolución del software</a:t>
            </a:r>
            <a:endParaRPr lang="es-CO" dirty="0"/>
          </a:p>
          <a:p>
            <a:endParaRPr lang="es-CO" sz="2400" dirty="0"/>
          </a:p>
        </p:txBody>
      </p:sp>
      <p:pic>
        <p:nvPicPr>
          <p:cNvPr id="4" name="Picture 3">
            <a:extLst>
              <a:ext uri="{FF2B5EF4-FFF2-40B4-BE49-F238E27FC236}">
                <a16:creationId xmlns:a16="http://schemas.microsoft.com/office/drawing/2014/main" id="{457A858C-1C22-FABD-89DA-6BCFE56C62EF}"/>
              </a:ext>
            </a:extLst>
          </p:cNvPr>
          <p:cNvPicPr>
            <a:picLocks noChangeAspect="1"/>
          </p:cNvPicPr>
          <p:nvPr/>
        </p:nvPicPr>
        <p:blipFill>
          <a:blip r:embed="rId2"/>
          <a:stretch>
            <a:fillRect/>
          </a:stretch>
        </p:blipFill>
        <p:spPr>
          <a:xfrm>
            <a:off x="539496" y="1631770"/>
            <a:ext cx="10872216" cy="2683494"/>
          </a:xfrm>
          <a:prstGeom prst="rect">
            <a:avLst/>
          </a:prstGeom>
        </p:spPr>
      </p:pic>
    </p:spTree>
    <p:extLst>
      <p:ext uri="{BB962C8B-B14F-4D97-AF65-F5344CB8AC3E}">
        <p14:creationId xmlns:p14="http://schemas.microsoft.com/office/powerpoint/2010/main" val="3043407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12210</TotalTime>
  <Words>543</Words>
  <Application>Microsoft Office PowerPoint</Application>
  <PresentationFormat>Widescreen</PresentationFormat>
  <Paragraphs>69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19</cp:revision>
  <dcterms:created xsi:type="dcterms:W3CDTF">2025-03-24T16:34:34Z</dcterms:created>
  <dcterms:modified xsi:type="dcterms:W3CDTF">2025-08-12T03:41:44Z</dcterms:modified>
</cp:coreProperties>
</file>