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57" r:id="rId4"/>
    <p:sldId id="258" r:id="rId5"/>
    <p:sldId id="259" r:id="rId6"/>
    <p:sldId id="260" r:id="rId7"/>
    <p:sldId id="261" r:id="rId8"/>
    <p:sldId id="262" r:id="rId9"/>
    <p:sldId id="263" r:id="rId10"/>
    <p:sldId id="264" r:id="rId11"/>
    <p:sldId id="265" r:id="rId12"/>
    <p:sldId id="267" r:id="rId13"/>
    <p:sldId id="266" r:id="rId14"/>
    <p:sldId id="268" r:id="rId15"/>
    <p:sldId id="269" r:id="rId16"/>
    <p:sldId id="270" r:id="rId17"/>
    <p:sldId id="274" r:id="rId18"/>
    <p:sldId id="271" r:id="rId19"/>
    <p:sldId id="278" r:id="rId20"/>
    <p:sldId id="290" r:id="rId21"/>
    <p:sldId id="272" r:id="rId22"/>
    <p:sldId id="273" r:id="rId23"/>
    <p:sldId id="279" r:id="rId24"/>
    <p:sldId id="280" r:id="rId25"/>
    <p:sldId id="281" r:id="rId26"/>
    <p:sldId id="282" r:id="rId27"/>
    <p:sldId id="283" r:id="rId28"/>
    <p:sldId id="284" r:id="rId29"/>
    <p:sldId id="285" r:id="rId30"/>
    <p:sldId id="286" r:id="rId31"/>
    <p:sldId id="276" r:id="rId32"/>
    <p:sldId id="287" r:id="rId33"/>
    <p:sldId id="277" r:id="rId34"/>
    <p:sldId id="288" r:id="rId35"/>
    <p:sldId id="28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60"/>
  </p:normalViewPr>
  <p:slideViewPr>
    <p:cSldViewPr snapToGrid="0">
      <p:cViewPr varScale="1">
        <p:scale>
          <a:sx n="105" d="100"/>
          <a:sy n="105" d="100"/>
        </p:scale>
        <p:origin x="108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7D76-7BEC-B1FE-C639-A8805A9E65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1A6651-8DD4-EC1A-AD24-8559C7A0F1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E40E53-3738-28F1-8D32-CCA097000CA5}"/>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5" name="Footer Placeholder 4">
            <a:extLst>
              <a:ext uri="{FF2B5EF4-FFF2-40B4-BE49-F238E27FC236}">
                <a16:creationId xmlns:a16="http://schemas.microsoft.com/office/drawing/2014/main" id="{999734E3-12B4-16E0-8C19-0D408763B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2486AA-13D3-2222-3D96-00EAA4240446}"/>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4127410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B17A4-D620-3FB7-43FF-296036C1A3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23DD10-2130-1C97-2B2F-52B7947151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4F4B4C-6CFA-4B71-D946-85990527E000}"/>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5" name="Footer Placeholder 4">
            <a:extLst>
              <a:ext uri="{FF2B5EF4-FFF2-40B4-BE49-F238E27FC236}">
                <a16:creationId xmlns:a16="http://schemas.microsoft.com/office/drawing/2014/main" id="{2EB42655-9D1F-32A6-3A29-D606580133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D9BAE-6FC5-C14C-372E-F260F4C89856}"/>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1738539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C4571-25C4-7CC9-D9EB-ED0D5CE8E6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CA7CE9-0B94-7F94-C5E4-B30AD22490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ED4851-1C8B-C85E-E79A-3E71EAA6A436}"/>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5" name="Footer Placeholder 4">
            <a:extLst>
              <a:ext uri="{FF2B5EF4-FFF2-40B4-BE49-F238E27FC236}">
                <a16:creationId xmlns:a16="http://schemas.microsoft.com/office/drawing/2014/main" id="{59C5C9C1-9E35-5221-D50C-197C3F3FB4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2290F-C1B0-C8C9-7640-7DC4671D610F}"/>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1893778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FAA43-4BA9-11FC-43A6-26EB8D8C79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E62C8-0588-C3D7-7F14-9A7D482425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C9391D-2008-4FF2-9636-3BD1E9F24B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C321B6-7982-9BB1-C2C8-549130D64562}"/>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6" name="Footer Placeholder 5">
            <a:extLst>
              <a:ext uri="{FF2B5EF4-FFF2-40B4-BE49-F238E27FC236}">
                <a16:creationId xmlns:a16="http://schemas.microsoft.com/office/drawing/2014/main" id="{F985012C-C4E0-071E-8615-3070985317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6D49E4-8933-A3A8-EC58-FCE4A61D3A16}"/>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22366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98B9-3298-5362-4AC5-2F7A27E997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B781E6-E177-677E-2280-0F72F8DE7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F80C44-0899-6459-9D06-81DD5462F5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1B2212-8E25-344D-2F5B-7E8D16FD7F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4B36AE-526A-34B8-7F7C-7484090D33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9DD814-22CC-04C7-DFD6-4CFDEDECBA44}"/>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8" name="Footer Placeholder 7">
            <a:extLst>
              <a:ext uri="{FF2B5EF4-FFF2-40B4-BE49-F238E27FC236}">
                <a16:creationId xmlns:a16="http://schemas.microsoft.com/office/drawing/2014/main" id="{33BE9932-B4BC-A0BF-068F-A847AB7F27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180BF8-A698-DF8F-96A2-55FEA12DCABC}"/>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1811827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690DE-8930-7CDA-87BD-68A095D19A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B41DBA-9BF7-09C6-53C0-7E3379A33846}"/>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4" name="Footer Placeholder 3">
            <a:extLst>
              <a:ext uri="{FF2B5EF4-FFF2-40B4-BE49-F238E27FC236}">
                <a16:creationId xmlns:a16="http://schemas.microsoft.com/office/drawing/2014/main" id="{EF72A05C-49E2-4A48-6356-5206B1A8B1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3FDCCD-794C-C650-1427-8E7399623865}"/>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1648452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3ADD3D-E401-AF05-0E98-437E10581561}"/>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3" name="Footer Placeholder 2">
            <a:extLst>
              <a:ext uri="{FF2B5EF4-FFF2-40B4-BE49-F238E27FC236}">
                <a16:creationId xmlns:a16="http://schemas.microsoft.com/office/drawing/2014/main" id="{9034B81A-F97D-9EBF-2118-77F14C3DF4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476FE4-FBE2-A622-20E4-B7EB44A092D2}"/>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4081712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545CB-01EA-2DDE-8311-3D2AA09251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B50CCE-4505-AA85-3B21-09F1BBC474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DDD117-47AA-B4BB-721C-7D62926CE0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78AF7D-EAC2-565B-5ED5-C57EAB717C03}"/>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6" name="Footer Placeholder 5">
            <a:extLst>
              <a:ext uri="{FF2B5EF4-FFF2-40B4-BE49-F238E27FC236}">
                <a16:creationId xmlns:a16="http://schemas.microsoft.com/office/drawing/2014/main" id="{6FA8CE69-A29E-3E06-220B-571139B63E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8393AD-FCFE-FAE5-6E2D-1441152CF686}"/>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1363418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449DB-C846-F848-437A-7D786FA2AA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1AA21B-C926-1910-209D-AF0549BA17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01809C-DBC7-94E3-F231-83DF175B9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220CB-D474-F3B4-C8C1-BA8E5DCFD957}"/>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6" name="Footer Placeholder 5">
            <a:extLst>
              <a:ext uri="{FF2B5EF4-FFF2-40B4-BE49-F238E27FC236}">
                <a16:creationId xmlns:a16="http://schemas.microsoft.com/office/drawing/2014/main" id="{8B290F3C-DC3B-F3C3-7A1D-B44AA50A6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5AE129-6610-664A-546A-AA46EF31959F}"/>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653415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76EBD-7F85-F849-4DD8-19DEAAF6EA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B470DF-F4A1-3A22-54EA-9BCDC1531D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F43749-819F-9343-9014-BEBC60AC7D8C}"/>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5" name="Footer Placeholder 4">
            <a:extLst>
              <a:ext uri="{FF2B5EF4-FFF2-40B4-BE49-F238E27FC236}">
                <a16:creationId xmlns:a16="http://schemas.microsoft.com/office/drawing/2014/main" id="{A564D5E3-B958-BA4D-DF04-F7572FB4DA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9F6A1C-F5C8-E106-E11B-33F3E0BB1186}"/>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3279214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7F2DD6-3BB0-0483-B55B-644BFEF0CA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25A1B7-4DA0-063A-59EF-73B0B558E6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8E361C-1191-48D7-0862-8FE794F050A0}"/>
              </a:ext>
            </a:extLst>
          </p:cNvPr>
          <p:cNvSpPr>
            <a:spLocks noGrp="1"/>
          </p:cNvSpPr>
          <p:nvPr>
            <p:ph type="dt" sz="half" idx="10"/>
          </p:nvPr>
        </p:nvSpPr>
        <p:spPr/>
        <p:txBody>
          <a:bodyPr/>
          <a:lstStyle/>
          <a:p>
            <a:fld id="{BA8711DD-3A44-4360-AB01-4C7EE05FCDAC}" type="datetimeFigureOut">
              <a:rPr lang="en-US" smtClean="0"/>
              <a:t>9/27/2025</a:t>
            </a:fld>
            <a:endParaRPr lang="en-US"/>
          </a:p>
        </p:txBody>
      </p:sp>
      <p:sp>
        <p:nvSpPr>
          <p:cNvPr id="5" name="Footer Placeholder 4">
            <a:extLst>
              <a:ext uri="{FF2B5EF4-FFF2-40B4-BE49-F238E27FC236}">
                <a16:creationId xmlns:a16="http://schemas.microsoft.com/office/drawing/2014/main" id="{52D0DAA2-D528-02E9-39EF-757092D4B2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DC1992-0F50-798E-2DFF-994E7D20D61A}"/>
              </a:ext>
            </a:extLst>
          </p:cNvPr>
          <p:cNvSpPr>
            <a:spLocks noGrp="1"/>
          </p:cNvSpPr>
          <p:nvPr>
            <p:ph type="sldNum" sz="quarter" idx="12"/>
          </p:nvPr>
        </p:nvSpPr>
        <p:spPr/>
        <p:txBody>
          <a:bodyPr/>
          <a:lstStyle/>
          <a:p>
            <a:fld id="{73EA1D0D-817F-4674-8D29-CE81D05FE5FD}" type="slidenum">
              <a:rPr lang="en-US" smtClean="0"/>
              <a:t>‹#›</a:t>
            </a:fld>
            <a:endParaRPr lang="en-US"/>
          </a:p>
        </p:txBody>
      </p:sp>
    </p:spTree>
    <p:extLst>
      <p:ext uri="{BB962C8B-B14F-4D97-AF65-F5344CB8AC3E}">
        <p14:creationId xmlns:p14="http://schemas.microsoft.com/office/powerpoint/2010/main" val="427757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3E17C1-C0CA-0748-73B7-4CD7A874AC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ED8DD1-98C8-84DA-5F0A-B23882149A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7D4743-F1C8-E0FC-11E0-07A67AFB7B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8711DD-3A44-4360-AB01-4C7EE05FCDAC}" type="datetimeFigureOut">
              <a:rPr lang="en-US" smtClean="0"/>
              <a:t>9/27/2025</a:t>
            </a:fld>
            <a:endParaRPr lang="en-US"/>
          </a:p>
        </p:txBody>
      </p:sp>
      <p:sp>
        <p:nvSpPr>
          <p:cNvPr id="5" name="Footer Placeholder 4">
            <a:extLst>
              <a:ext uri="{FF2B5EF4-FFF2-40B4-BE49-F238E27FC236}">
                <a16:creationId xmlns:a16="http://schemas.microsoft.com/office/drawing/2014/main" id="{B6CCD038-8256-48F5-B4E2-0D43AD2FFD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770F57-54EA-A611-1D02-0A8DA32718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EA1D0D-817F-4674-8D29-CE81D05FE5FD}" type="slidenum">
              <a:rPr lang="en-US" smtClean="0"/>
              <a:t>‹#›</a:t>
            </a:fld>
            <a:endParaRPr lang="en-US"/>
          </a:p>
        </p:txBody>
      </p:sp>
    </p:spTree>
    <p:extLst>
      <p:ext uri="{BB962C8B-B14F-4D97-AF65-F5344CB8AC3E}">
        <p14:creationId xmlns:p14="http://schemas.microsoft.com/office/powerpoint/2010/main" val="4042339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hyperlink" Target="https://www.fdi.ucm.es/profesor/gmendez/docs/is0809/ieee830.pdf"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D4B16C-EF9C-0395-67CF-969D0C56FC6A}"/>
              </a:ext>
            </a:extLst>
          </p:cNvPr>
          <p:cNvSpPr txBox="1"/>
          <p:nvPr/>
        </p:nvSpPr>
        <p:spPr>
          <a:xfrm>
            <a:off x="1088136" y="822960"/>
            <a:ext cx="9573768" cy="2646878"/>
          </a:xfrm>
          <a:prstGeom prst="rect">
            <a:avLst/>
          </a:prstGeom>
          <a:noFill/>
        </p:spPr>
        <p:txBody>
          <a:bodyPr wrap="square" rtlCol="0">
            <a:spAutoFit/>
          </a:bodyPr>
          <a:lstStyle/>
          <a:p>
            <a:r>
              <a:rPr lang="es-CO" sz="2800" b="1" dirty="0">
                <a:solidFill>
                  <a:srgbClr val="FF0000"/>
                </a:solidFill>
              </a:rPr>
              <a:t>Ingeniería de requerimientos</a:t>
            </a:r>
          </a:p>
          <a:p>
            <a:endParaRPr lang="es-CO" dirty="0"/>
          </a:p>
          <a:p>
            <a:endParaRPr lang="es-ES" sz="2400" dirty="0"/>
          </a:p>
          <a:p>
            <a:r>
              <a:rPr lang="es-ES" sz="2400" dirty="0"/>
              <a:t>Bibliografía</a:t>
            </a:r>
          </a:p>
          <a:p>
            <a:endParaRPr lang="es-ES" sz="2400" dirty="0"/>
          </a:p>
          <a:p>
            <a:r>
              <a:rPr lang="es-ES" sz="2400" dirty="0"/>
              <a:t>Ingeniería de software de Ian Sommerville. 9ed. 2011.</a:t>
            </a:r>
          </a:p>
          <a:p>
            <a:r>
              <a:rPr lang="es-ES" sz="2400" dirty="0"/>
              <a:t>Capítulo 4.</a:t>
            </a:r>
            <a:endParaRPr lang="en-US" sz="2400" dirty="0"/>
          </a:p>
        </p:txBody>
      </p:sp>
    </p:spTree>
    <p:extLst>
      <p:ext uri="{BB962C8B-B14F-4D97-AF65-F5344CB8AC3E}">
        <p14:creationId xmlns:p14="http://schemas.microsoft.com/office/powerpoint/2010/main" val="998697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2ECBF-2DF3-FB7D-8C86-644C1A02952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DFDF07-BCA1-D2F7-1491-73E7A61162BC}"/>
              </a:ext>
            </a:extLst>
          </p:cNvPr>
          <p:cNvSpPr txBox="1"/>
          <p:nvPr/>
        </p:nvSpPr>
        <p:spPr>
          <a:xfrm>
            <a:off x="1088136" y="822960"/>
            <a:ext cx="9573768" cy="3385542"/>
          </a:xfrm>
          <a:prstGeom prst="rect">
            <a:avLst/>
          </a:prstGeom>
          <a:noFill/>
        </p:spPr>
        <p:txBody>
          <a:bodyPr wrap="square" rtlCol="0">
            <a:spAutoFit/>
          </a:bodyPr>
          <a:lstStyle/>
          <a:p>
            <a:r>
              <a:rPr lang="es-CO" sz="2800" b="1" dirty="0">
                <a:solidFill>
                  <a:srgbClr val="FF0000"/>
                </a:solidFill>
              </a:rPr>
              <a:t>Ingeniería de requerimientos</a:t>
            </a:r>
          </a:p>
          <a:p>
            <a:endParaRPr lang="es-CO" dirty="0"/>
          </a:p>
          <a:p>
            <a:r>
              <a:rPr lang="es-ES" sz="2400" dirty="0"/>
              <a:t>Los requerimientos para un sistema son descripciones de lo que el sistema debe hacer: el servicio que ofrece y las restricciones en su operación. Tales requerimientos reflejan las necesidades de los clientes por un sistema que atienda cierto propósito, como sería controlar un dispositivo, colocar un pedido o buscar información. Al proceso de descubrir, analizar, documentar y verificar estos servicios y restricciones se le llama ingeniería de </a:t>
            </a:r>
            <a:r>
              <a:rPr lang="en-US" sz="2400" dirty="0"/>
              <a:t>requerimientos.</a:t>
            </a:r>
          </a:p>
        </p:txBody>
      </p:sp>
    </p:spTree>
    <p:extLst>
      <p:ext uri="{BB962C8B-B14F-4D97-AF65-F5344CB8AC3E}">
        <p14:creationId xmlns:p14="http://schemas.microsoft.com/office/powerpoint/2010/main" val="2713681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B0D40-3ABF-1AB0-835A-16209F0221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492CC7-8E50-9A5E-7B1F-BFDA12D5957B}"/>
              </a:ext>
            </a:extLst>
          </p:cNvPr>
          <p:cNvSpPr txBox="1"/>
          <p:nvPr/>
        </p:nvSpPr>
        <p:spPr>
          <a:xfrm>
            <a:off x="1042416" y="438912"/>
            <a:ext cx="9573768" cy="5509200"/>
          </a:xfrm>
          <a:prstGeom prst="rect">
            <a:avLst/>
          </a:prstGeom>
          <a:noFill/>
        </p:spPr>
        <p:txBody>
          <a:bodyPr wrap="square" rtlCol="0">
            <a:spAutoFit/>
          </a:bodyPr>
          <a:lstStyle/>
          <a:p>
            <a:r>
              <a:rPr lang="es-CO" sz="2800" b="1" dirty="0">
                <a:solidFill>
                  <a:srgbClr val="FF0000"/>
                </a:solidFill>
              </a:rPr>
              <a:t>Ingeniería de requerimientos</a:t>
            </a:r>
          </a:p>
          <a:p>
            <a:endParaRPr lang="es-CO" dirty="0"/>
          </a:p>
          <a:p>
            <a:r>
              <a:rPr lang="es-ES" dirty="0"/>
              <a:t>Algunos de los problemas que surgen durante el proceso de ingeniería de requerimientos</a:t>
            </a:r>
          </a:p>
          <a:p>
            <a:r>
              <a:rPr lang="es-ES" dirty="0"/>
              <a:t>son resultado del fracaso de hacer una separación clara entre los diferentes niveles</a:t>
            </a:r>
          </a:p>
          <a:p>
            <a:r>
              <a:rPr lang="es-ES" dirty="0"/>
              <a:t>de descripción. Se debe diferenciar el uso del término “requerimientos del usuario” para representar los requerimientos abstractos de alto nivel, y “requerimientos del sistema” para caracterizar la descripción detallada de lo que el sistema debe hacer.</a:t>
            </a:r>
          </a:p>
          <a:p>
            <a:endParaRPr lang="es-ES" dirty="0"/>
          </a:p>
          <a:p>
            <a:r>
              <a:rPr lang="es-ES" dirty="0"/>
              <a:t>Los requerimientos del usuario y los requerimientos del sistema se definen del siguiente</a:t>
            </a:r>
          </a:p>
          <a:p>
            <a:r>
              <a:rPr lang="en-US" dirty="0"/>
              <a:t>modo:</a:t>
            </a:r>
          </a:p>
          <a:p>
            <a:endParaRPr lang="en-US" dirty="0"/>
          </a:p>
          <a:p>
            <a:r>
              <a:rPr lang="es-ES" b="1" dirty="0"/>
              <a:t>1. Los requerimientos del usuario </a:t>
            </a:r>
            <a:r>
              <a:rPr lang="es-ES" dirty="0"/>
              <a:t>son enunciados, en un lenguaje natural junto con</a:t>
            </a:r>
          </a:p>
          <a:p>
            <a:r>
              <a:rPr lang="es-ES" dirty="0"/>
              <a:t>diagramas, acerca de qué servicios esperan los usuarios del sistema, y de las restricciones</a:t>
            </a:r>
          </a:p>
          <a:p>
            <a:r>
              <a:rPr lang="es-ES" dirty="0"/>
              <a:t>con las cuales éste debe operar.</a:t>
            </a:r>
          </a:p>
          <a:p>
            <a:endParaRPr lang="es-ES" dirty="0"/>
          </a:p>
          <a:p>
            <a:r>
              <a:rPr lang="es-ES" b="1" dirty="0"/>
              <a:t>2. Los requerimientos del sistema </a:t>
            </a:r>
            <a:r>
              <a:rPr lang="es-ES" dirty="0"/>
              <a:t>son descripciones más detalladas de las funciones,</a:t>
            </a:r>
          </a:p>
          <a:p>
            <a:r>
              <a:rPr lang="es-ES" dirty="0"/>
              <a:t>los servicios y las restricciones operacionales del sistema de software. El documento</a:t>
            </a:r>
          </a:p>
          <a:p>
            <a:r>
              <a:rPr lang="es-ES" dirty="0"/>
              <a:t>de requerimientos del sistema tiene que definir con exactitud lo que se implementará. Puede formar parte del contrato entre el comprador del sistema y los desarrolladores del software.</a:t>
            </a:r>
            <a:endParaRPr lang="en-US" dirty="0"/>
          </a:p>
        </p:txBody>
      </p:sp>
    </p:spTree>
    <p:extLst>
      <p:ext uri="{BB962C8B-B14F-4D97-AF65-F5344CB8AC3E}">
        <p14:creationId xmlns:p14="http://schemas.microsoft.com/office/powerpoint/2010/main" val="677341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2D502-B7FF-7412-7CFB-66F43A05BB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B078361-B65A-9210-1BAB-D414E5F7995D}"/>
              </a:ext>
            </a:extLst>
          </p:cNvPr>
          <p:cNvSpPr txBox="1"/>
          <p:nvPr/>
        </p:nvSpPr>
        <p:spPr>
          <a:xfrm>
            <a:off x="704088" y="246888"/>
            <a:ext cx="10259568" cy="523220"/>
          </a:xfrm>
          <a:prstGeom prst="rect">
            <a:avLst/>
          </a:prstGeom>
          <a:noFill/>
        </p:spPr>
        <p:txBody>
          <a:bodyPr wrap="square" rtlCol="0">
            <a:spAutoFit/>
          </a:bodyPr>
          <a:lstStyle/>
          <a:p>
            <a:r>
              <a:rPr lang="es-CO" sz="2800" b="1" dirty="0">
                <a:solidFill>
                  <a:srgbClr val="FF0000"/>
                </a:solidFill>
              </a:rPr>
              <a:t>Requerimientos de usuario vs. requerimientos del sistema</a:t>
            </a:r>
          </a:p>
        </p:txBody>
      </p:sp>
      <p:pic>
        <p:nvPicPr>
          <p:cNvPr id="3" name="Picture 2">
            <a:extLst>
              <a:ext uri="{FF2B5EF4-FFF2-40B4-BE49-F238E27FC236}">
                <a16:creationId xmlns:a16="http://schemas.microsoft.com/office/drawing/2014/main" id="{46C3AEC9-1E6C-6B07-1C62-C0ADA6C69F9A}"/>
              </a:ext>
            </a:extLst>
          </p:cNvPr>
          <p:cNvPicPr>
            <a:picLocks noChangeAspect="1"/>
          </p:cNvPicPr>
          <p:nvPr/>
        </p:nvPicPr>
        <p:blipFill>
          <a:blip r:embed="rId2"/>
          <a:stretch>
            <a:fillRect/>
          </a:stretch>
        </p:blipFill>
        <p:spPr>
          <a:xfrm>
            <a:off x="2092721" y="913874"/>
            <a:ext cx="8031519" cy="5761246"/>
          </a:xfrm>
          <a:prstGeom prst="rect">
            <a:avLst/>
          </a:prstGeom>
        </p:spPr>
      </p:pic>
    </p:spTree>
    <p:extLst>
      <p:ext uri="{BB962C8B-B14F-4D97-AF65-F5344CB8AC3E}">
        <p14:creationId xmlns:p14="http://schemas.microsoft.com/office/powerpoint/2010/main" val="2119449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1664C-6CCD-61CC-B2CF-2452F78BC1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E150BD-7D42-A586-3768-59232FC52E14}"/>
              </a:ext>
            </a:extLst>
          </p:cNvPr>
          <p:cNvSpPr txBox="1"/>
          <p:nvPr/>
        </p:nvSpPr>
        <p:spPr>
          <a:xfrm>
            <a:off x="704088" y="246888"/>
            <a:ext cx="9683496" cy="5386090"/>
          </a:xfrm>
          <a:prstGeom prst="rect">
            <a:avLst/>
          </a:prstGeom>
          <a:noFill/>
        </p:spPr>
        <p:txBody>
          <a:bodyPr wrap="square" rtlCol="0">
            <a:spAutoFit/>
          </a:bodyPr>
          <a:lstStyle/>
          <a:p>
            <a:r>
              <a:rPr lang="es-ES" sz="2800" b="1" dirty="0">
                <a:solidFill>
                  <a:srgbClr val="FF0000"/>
                </a:solidFill>
              </a:rPr>
              <a:t>Requerimientos funcionales y no funcionales</a:t>
            </a:r>
          </a:p>
          <a:p>
            <a:endParaRPr lang="es-ES" b="1" dirty="0"/>
          </a:p>
          <a:p>
            <a:endParaRPr lang="es-ES" b="1" dirty="0"/>
          </a:p>
          <a:p>
            <a:r>
              <a:rPr lang="es-ES" sz="2000" dirty="0"/>
              <a:t>Los requerimientos del sistema de software se clasifican como requerimientos </a:t>
            </a:r>
            <a:r>
              <a:rPr lang="en-US" sz="2000" dirty="0" err="1"/>
              <a:t>funcionales</a:t>
            </a:r>
            <a:r>
              <a:rPr lang="en-US" sz="2000" dirty="0"/>
              <a:t> o requerimientos no </a:t>
            </a:r>
            <a:r>
              <a:rPr lang="en-US" sz="2000" dirty="0" err="1"/>
              <a:t>funcionales</a:t>
            </a:r>
            <a:r>
              <a:rPr lang="en-US" sz="2000" dirty="0"/>
              <a:t>:</a:t>
            </a:r>
          </a:p>
          <a:p>
            <a:endParaRPr lang="en-US" sz="2000" dirty="0"/>
          </a:p>
          <a:p>
            <a:pPr marL="342900" indent="-342900">
              <a:buAutoNum type="arabicPeriod"/>
            </a:pPr>
            <a:r>
              <a:rPr lang="es-ES" sz="2000" i="1" dirty="0"/>
              <a:t>Requerimientos funcionales: </a:t>
            </a:r>
            <a:r>
              <a:rPr lang="es-ES" sz="2000" dirty="0"/>
              <a:t>Son enunciados acerca de servicios que el sistema debe proveer, de cómo debería reaccionar el sistema a entradas particulares y de cómo debería comportarse el sistema en situaciones específicas. En algunos casos, los requerimientos funcionales también explican lo que no debe hacer el sistema.</a:t>
            </a:r>
          </a:p>
          <a:p>
            <a:pPr marL="342900" indent="-342900">
              <a:buAutoNum type="arabicPeriod"/>
            </a:pPr>
            <a:endParaRPr lang="es-ES" sz="2000" i="1" dirty="0"/>
          </a:p>
          <a:p>
            <a:pPr marL="342900" indent="-342900">
              <a:buAutoNum type="arabicPeriod"/>
            </a:pPr>
            <a:r>
              <a:rPr lang="es-ES" sz="2000" i="1" dirty="0"/>
              <a:t>Requerimientos no funcionales: </a:t>
            </a:r>
            <a:r>
              <a:rPr lang="es-ES" sz="2000" dirty="0"/>
              <a:t>Son limitaciones sobre servicios o funciones que ofrece el sistema. Incluyen restricciones tanto de temporización y del proceso de desarrollo, como impuestas por los estándares. Los requerimientos no funcionales se suelen aplicar al sistema como un todo, más que a características o a servicios </a:t>
            </a:r>
            <a:r>
              <a:rPr lang="en-US" sz="2000" dirty="0" err="1"/>
              <a:t>individuales</a:t>
            </a:r>
            <a:r>
              <a:rPr lang="en-US" sz="2000" dirty="0"/>
              <a:t> del </a:t>
            </a:r>
            <a:r>
              <a:rPr lang="en-US" sz="2000" dirty="0" err="1"/>
              <a:t>sistema</a:t>
            </a:r>
            <a:r>
              <a:rPr lang="en-US" sz="2000" dirty="0"/>
              <a:t>.</a:t>
            </a:r>
            <a:endParaRPr lang="es-CO" sz="2000" dirty="0">
              <a:solidFill>
                <a:srgbClr val="FF0000"/>
              </a:solidFill>
            </a:endParaRPr>
          </a:p>
        </p:txBody>
      </p:sp>
    </p:spTree>
    <p:extLst>
      <p:ext uri="{BB962C8B-B14F-4D97-AF65-F5344CB8AC3E}">
        <p14:creationId xmlns:p14="http://schemas.microsoft.com/office/powerpoint/2010/main" val="1419066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1910F-11EF-CF08-F877-CB3F1EE7F4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4B04C2-EFEC-310F-022F-B8BDA4EBD006}"/>
              </a:ext>
            </a:extLst>
          </p:cNvPr>
          <p:cNvSpPr txBox="1"/>
          <p:nvPr/>
        </p:nvSpPr>
        <p:spPr>
          <a:xfrm>
            <a:off x="704088" y="246888"/>
            <a:ext cx="9683496" cy="800219"/>
          </a:xfrm>
          <a:prstGeom prst="rect">
            <a:avLst/>
          </a:prstGeom>
          <a:noFill/>
        </p:spPr>
        <p:txBody>
          <a:bodyPr wrap="square" rtlCol="0">
            <a:spAutoFit/>
          </a:bodyPr>
          <a:lstStyle/>
          <a:p>
            <a:r>
              <a:rPr lang="es-ES" sz="2800" b="1" dirty="0">
                <a:solidFill>
                  <a:srgbClr val="FF0000"/>
                </a:solidFill>
              </a:rPr>
              <a:t>Requerimientos funcionales y no funcionales</a:t>
            </a:r>
          </a:p>
          <a:p>
            <a:endParaRPr lang="es-ES" b="1" dirty="0"/>
          </a:p>
        </p:txBody>
      </p:sp>
      <p:pic>
        <p:nvPicPr>
          <p:cNvPr id="3" name="Picture 2">
            <a:extLst>
              <a:ext uri="{FF2B5EF4-FFF2-40B4-BE49-F238E27FC236}">
                <a16:creationId xmlns:a16="http://schemas.microsoft.com/office/drawing/2014/main" id="{A202AA0E-851B-4ED4-7D07-B8482B5C0814}"/>
              </a:ext>
            </a:extLst>
          </p:cNvPr>
          <p:cNvPicPr>
            <a:picLocks noChangeAspect="1"/>
          </p:cNvPicPr>
          <p:nvPr/>
        </p:nvPicPr>
        <p:blipFill>
          <a:blip r:embed="rId2"/>
          <a:stretch>
            <a:fillRect/>
          </a:stretch>
        </p:blipFill>
        <p:spPr>
          <a:xfrm>
            <a:off x="770338" y="1235506"/>
            <a:ext cx="8983887" cy="4589221"/>
          </a:xfrm>
          <a:prstGeom prst="rect">
            <a:avLst/>
          </a:prstGeom>
        </p:spPr>
      </p:pic>
    </p:spTree>
    <p:extLst>
      <p:ext uri="{BB962C8B-B14F-4D97-AF65-F5344CB8AC3E}">
        <p14:creationId xmlns:p14="http://schemas.microsoft.com/office/powerpoint/2010/main" val="3456005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85895-2972-1F0A-DA08-7A0E3B3CFD3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51A944-01B5-0A90-C9E1-3A90C1C37F14}"/>
              </a:ext>
            </a:extLst>
          </p:cNvPr>
          <p:cNvSpPr txBox="1"/>
          <p:nvPr/>
        </p:nvSpPr>
        <p:spPr>
          <a:xfrm>
            <a:off x="704088" y="246888"/>
            <a:ext cx="10826496" cy="6309420"/>
          </a:xfrm>
          <a:prstGeom prst="rect">
            <a:avLst/>
          </a:prstGeom>
          <a:noFill/>
        </p:spPr>
        <p:txBody>
          <a:bodyPr wrap="square" rtlCol="0">
            <a:spAutoFit/>
          </a:bodyPr>
          <a:lstStyle/>
          <a:p>
            <a:r>
              <a:rPr lang="es-ES" sz="2800" b="1" dirty="0">
                <a:solidFill>
                  <a:srgbClr val="FF0000"/>
                </a:solidFill>
              </a:rPr>
              <a:t>Requerimientos funcionales vs requerimientos no funcionales</a:t>
            </a:r>
          </a:p>
          <a:p>
            <a:endParaRPr lang="es-ES" b="1" dirty="0"/>
          </a:p>
          <a:p>
            <a:endParaRPr lang="en-US" dirty="0"/>
          </a:p>
          <a:p>
            <a:r>
              <a:rPr lang="es-ES" sz="2000" b="1" dirty="0"/>
              <a:t>Los requerimientos funcionales </a:t>
            </a:r>
            <a:r>
              <a:rPr lang="es-ES" sz="2000" dirty="0"/>
              <a:t>para un sistema refieren lo que el sistema debe hacer. Tales requerimientos dependen del tipo de software que se esté desarrollando, de los usuarios esperados del software y del enfoque general que adopta la organización cuando se escriben los requerimientos. Al expresarse como requerimientos del usuario, los requerimientos funcionales se describen por lo general de forma abstracta que entiendan los usuarios del sistema. Sin embargo, requerimientos funcionales más específicos del sistema detallan las funciones del sistema, entradas y salidas, excepciones.</a:t>
            </a:r>
          </a:p>
          <a:p>
            <a:endParaRPr lang="es-ES" sz="2000" dirty="0"/>
          </a:p>
          <a:p>
            <a:endParaRPr lang="es-ES" sz="2000" dirty="0"/>
          </a:p>
          <a:p>
            <a:r>
              <a:rPr lang="es-ES" sz="2000" b="1" dirty="0"/>
              <a:t>Los requerimientos no funcionales</a:t>
            </a:r>
            <a:r>
              <a:rPr lang="es-ES" sz="2000" dirty="0"/>
              <a:t>, como indica su nombre, son requerimientos que no se relacionan directamente con los servicios específicos que el sistema entrega a sus usuarios. Pueden relacionarse con propiedades emergentes del sistema, como fiabilidad, tiempo de respuesta y uso de almacenamiento. De forma alternativa, pueden definir restricciones sobre la implementación del sistema, como las capacidades de los dispositivos I/O </a:t>
            </a:r>
            <a:r>
              <a:rPr lang="es-ES" sz="2000" dirty="0" err="1"/>
              <a:t>o</a:t>
            </a:r>
            <a:r>
              <a:rPr lang="es-ES" sz="2000" dirty="0"/>
              <a:t> las representaciones de datos usados en las interfaces con otros sistemas. Los requerimientos no funcionales, como el rendimiento, la seguridad o la disponibilidad, </a:t>
            </a:r>
            <a:r>
              <a:rPr lang="en-US" sz="2000" dirty="0" err="1"/>
              <a:t>especifican</a:t>
            </a:r>
            <a:r>
              <a:rPr lang="en-US" sz="2000" dirty="0"/>
              <a:t> </a:t>
            </a:r>
            <a:r>
              <a:rPr lang="en-US" sz="2000" dirty="0" err="1"/>
              <a:t>por</a:t>
            </a:r>
            <a:r>
              <a:rPr lang="en-US" sz="2000" dirty="0"/>
              <a:t> lo general </a:t>
            </a:r>
            <a:r>
              <a:rPr lang="en-US" sz="2000" dirty="0" err="1"/>
              <a:t>características</a:t>
            </a:r>
            <a:r>
              <a:rPr lang="en-US" sz="2000" dirty="0"/>
              <a:t> del Sistema.</a:t>
            </a:r>
            <a:endParaRPr lang="es-ES" sz="2000" dirty="0"/>
          </a:p>
        </p:txBody>
      </p:sp>
    </p:spTree>
    <p:extLst>
      <p:ext uri="{BB962C8B-B14F-4D97-AF65-F5344CB8AC3E}">
        <p14:creationId xmlns:p14="http://schemas.microsoft.com/office/powerpoint/2010/main" val="133512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CCF03-1C3F-12DD-874C-9F7F263AB3D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A87B6B-0264-E01B-90C9-D0B35A870526}"/>
              </a:ext>
            </a:extLst>
          </p:cNvPr>
          <p:cNvSpPr txBox="1"/>
          <p:nvPr/>
        </p:nvSpPr>
        <p:spPr>
          <a:xfrm>
            <a:off x="704088" y="246888"/>
            <a:ext cx="10204704" cy="800219"/>
          </a:xfrm>
          <a:prstGeom prst="rect">
            <a:avLst/>
          </a:prstGeom>
          <a:noFill/>
        </p:spPr>
        <p:txBody>
          <a:bodyPr wrap="square" rtlCol="0">
            <a:spAutoFit/>
          </a:bodyPr>
          <a:lstStyle/>
          <a:p>
            <a:r>
              <a:rPr lang="es-ES" sz="2800" b="1" dirty="0">
                <a:solidFill>
                  <a:srgbClr val="FF0000"/>
                </a:solidFill>
              </a:rPr>
              <a:t>Tipos de requerimientos no funcionales</a:t>
            </a:r>
          </a:p>
          <a:p>
            <a:endParaRPr lang="es-ES" b="1" dirty="0"/>
          </a:p>
        </p:txBody>
      </p:sp>
      <p:pic>
        <p:nvPicPr>
          <p:cNvPr id="3" name="Picture 2">
            <a:extLst>
              <a:ext uri="{FF2B5EF4-FFF2-40B4-BE49-F238E27FC236}">
                <a16:creationId xmlns:a16="http://schemas.microsoft.com/office/drawing/2014/main" id="{C0897431-C5FA-EB38-7749-CCF89554E08A}"/>
              </a:ext>
            </a:extLst>
          </p:cNvPr>
          <p:cNvPicPr>
            <a:picLocks noChangeAspect="1"/>
          </p:cNvPicPr>
          <p:nvPr/>
        </p:nvPicPr>
        <p:blipFill>
          <a:blip r:embed="rId2"/>
          <a:stretch>
            <a:fillRect/>
          </a:stretch>
        </p:blipFill>
        <p:spPr>
          <a:xfrm>
            <a:off x="813816" y="954879"/>
            <a:ext cx="9768624" cy="5423729"/>
          </a:xfrm>
          <a:prstGeom prst="rect">
            <a:avLst/>
          </a:prstGeom>
        </p:spPr>
      </p:pic>
    </p:spTree>
    <p:extLst>
      <p:ext uri="{BB962C8B-B14F-4D97-AF65-F5344CB8AC3E}">
        <p14:creationId xmlns:p14="http://schemas.microsoft.com/office/powerpoint/2010/main" val="3474722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0595C-F06F-AE7D-B30B-9061C0D68A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C4DF23-64AC-164C-5376-056E01302554}"/>
              </a:ext>
            </a:extLst>
          </p:cNvPr>
          <p:cNvSpPr txBox="1"/>
          <p:nvPr/>
        </p:nvSpPr>
        <p:spPr>
          <a:xfrm>
            <a:off x="704088" y="246888"/>
            <a:ext cx="10204704" cy="800219"/>
          </a:xfrm>
          <a:prstGeom prst="rect">
            <a:avLst/>
          </a:prstGeom>
          <a:noFill/>
        </p:spPr>
        <p:txBody>
          <a:bodyPr wrap="square" rtlCol="0">
            <a:spAutoFit/>
          </a:bodyPr>
          <a:lstStyle/>
          <a:p>
            <a:r>
              <a:rPr lang="es-ES" sz="2800" b="1" dirty="0">
                <a:solidFill>
                  <a:srgbClr val="FF0000"/>
                </a:solidFill>
              </a:rPr>
              <a:t>Tipos de requerimientos no funcionales</a:t>
            </a:r>
          </a:p>
          <a:p>
            <a:endParaRPr lang="es-ES" b="1" dirty="0"/>
          </a:p>
        </p:txBody>
      </p:sp>
      <p:pic>
        <p:nvPicPr>
          <p:cNvPr id="5" name="Picture 4">
            <a:extLst>
              <a:ext uri="{FF2B5EF4-FFF2-40B4-BE49-F238E27FC236}">
                <a16:creationId xmlns:a16="http://schemas.microsoft.com/office/drawing/2014/main" id="{503AB562-567F-00FF-579C-1E5BD2529E85}"/>
              </a:ext>
            </a:extLst>
          </p:cNvPr>
          <p:cNvPicPr>
            <a:picLocks noChangeAspect="1"/>
          </p:cNvPicPr>
          <p:nvPr/>
        </p:nvPicPr>
        <p:blipFill>
          <a:blip r:embed="rId2"/>
          <a:stretch>
            <a:fillRect/>
          </a:stretch>
        </p:blipFill>
        <p:spPr>
          <a:xfrm>
            <a:off x="1391841" y="968992"/>
            <a:ext cx="8718901" cy="5642119"/>
          </a:xfrm>
          <a:prstGeom prst="rect">
            <a:avLst/>
          </a:prstGeom>
        </p:spPr>
      </p:pic>
    </p:spTree>
    <p:extLst>
      <p:ext uri="{BB962C8B-B14F-4D97-AF65-F5344CB8AC3E}">
        <p14:creationId xmlns:p14="http://schemas.microsoft.com/office/powerpoint/2010/main" val="2832555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CE6CC-5911-2D04-6319-F5ED2E04B8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285C19-FAE0-739B-FC61-811D65F33E40}"/>
              </a:ext>
            </a:extLst>
          </p:cNvPr>
          <p:cNvSpPr txBox="1"/>
          <p:nvPr/>
        </p:nvSpPr>
        <p:spPr>
          <a:xfrm>
            <a:off x="704088" y="246888"/>
            <a:ext cx="10204704" cy="800219"/>
          </a:xfrm>
          <a:prstGeom prst="rect">
            <a:avLst/>
          </a:prstGeom>
          <a:noFill/>
        </p:spPr>
        <p:txBody>
          <a:bodyPr wrap="square" rtlCol="0">
            <a:spAutoFit/>
          </a:bodyPr>
          <a:lstStyle/>
          <a:p>
            <a:r>
              <a:rPr lang="es-ES" sz="2800" b="1" dirty="0">
                <a:solidFill>
                  <a:srgbClr val="FF0000"/>
                </a:solidFill>
              </a:rPr>
              <a:t>Ejemplos de requerimientos no funcionales</a:t>
            </a:r>
          </a:p>
          <a:p>
            <a:endParaRPr lang="es-ES" b="1" dirty="0"/>
          </a:p>
        </p:txBody>
      </p:sp>
      <p:pic>
        <p:nvPicPr>
          <p:cNvPr id="3" name="Picture 2">
            <a:extLst>
              <a:ext uri="{FF2B5EF4-FFF2-40B4-BE49-F238E27FC236}">
                <a16:creationId xmlns:a16="http://schemas.microsoft.com/office/drawing/2014/main" id="{D93EF3C2-23A2-8938-05B5-2F55E3F4BE1B}"/>
              </a:ext>
            </a:extLst>
          </p:cNvPr>
          <p:cNvPicPr>
            <a:picLocks noChangeAspect="1"/>
          </p:cNvPicPr>
          <p:nvPr/>
        </p:nvPicPr>
        <p:blipFill>
          <a:blip r:embed="rId2"/>
          <a:stretch>
            <a:fillRect/>
          </a:stretch>
        </p:blipFill>
        <p:spPr>
          <a:xfrm>
            <a:off x="227781" y="1418801"/>
            <a:ext cx="11736438" cy="3343742"/>
          </a:xfrm>
          <a:prstGeom prst="rect">
            <a:avLst/>
          </a:prstGeom>
        </p:spPr>
      </p:pic>
    </p:spTree>
    <p:extLst>
      <p:ext uri="{BB962C8B-B14F-4D97-AF65-F5344CB8AC3E}">
        <p14:creationId xmlns:p14="http://schemas.microsoft.com/office/powerpoint/2010/main" val="1267611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98159-CB75-659A-70C7-B6870AFF65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F64F6D-7324-0A48-5362-24A54D54F616}"/>
              </a:ext>
            </a:extLst>
          </p:cNvPr>
          <p:cNvSpPr txBox="1"/>
          <p:nvPr/>
        </p:nvSpPr>
        <p:spPr>
          <a:xfrm>
            <a:off x="704088" y="246888"/>
            <a:ext cx="10204704" cy="800219"/>
          </a:xfrm>
          <a:prstGeom prst="rect">
            <a:avLst/>
          </a:prstGeom>
          <a:noFill/>
        </p:spPr>
        <p:txBody>
          <a:bodyPr wrap="square" rtlCol="0">
            <a:spAutoFit/>
          </a:bodyPr>
          <a:lstStyle/>
          <a:p>
            <a:r>
              <a:rPr lang="es-ES" sz="2800" b="1" dirty="0">
                <a:solidFill>
                  <a:srgbClr val="FF0000"/>
                </a:solidFill>
              </a:rPr>
              <a:t>Métricas para especificar requerimientos no funcionales</a:t>
            </a:r>
          </a:p>
          <a:p>
            <a:endParaRPr lang="es-ES" b="1" dirty="0"/>
          </a:p>
        </p:txBody>
      </p:sp>
      <p:pic>
        <p:nvPicPr>
          <p:cNvPr id="5" name="Picture 4">
            <a:extLst>
              <a:ext uri="{FF2B5EF4-FFF2-40B4-BE49-F238E27FC236}">
                <a16:creationId xmlns:a16="http://schemas.microsoft.com/office/drawing/2014/main" id="{F7D7FC48-BC0A-619B-9059-B336E62C644A}"/>
              </a:ext>
            </a:extLst>
          </p:cNvPr>
          <p:cNvPicPr>
            <a:picLocks noChangeAspect="1"/>
          </p:cNvPicPr>
          <p:nvPr/>
        </p:nvPicPr>
        <p:blipFill>
          <a:blip r:embed="rId2"/>
          <a:stretch>
            <a:fillRect/>
          </a:stretch>
        </p:blipFill>
        <p:spPr>
          <a:xfrm>
            <a:off x="1844640" y="1047107"/>
            <a:ext cx="8360064" cy="5575998"/>
          </a:xfrm>
          <a:prstGeom prst="rect">
            <a:avLst/>
          </a:prstGeom>
        </p:spPr>
      </p:pic>
    </p:spTree>
    <p:extLst>
      <p:ext uri="{BB962C8B-B14F-4D97-AF65-F5344CB8AC3E}">
        <p14:creationId xmlns:p14="http://schemas.microsoft.com/office/powerpoint/2010/main" val="1071690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2187-30AB-3E45-EC1C-F9B9FCD4F4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E9EA18-5EAD-5BCC-BEE1-8E5BA3B1AFEC}"/>
              </a:ext>
            </a:extLst>
          </p:cNvPr>
          <p:cNvSpPr txBox="1"/>
          <p:nvPr/>
        </p:nvSpPr>
        <p:spPr>
          <a:xfrm>
            <a:off x="905256" y="457200"/>
            <a:ext cx="10597896" cy="5693866"/>
          </a:xfrm>
          <a:prstGeom prst="rect">
            <a:avLst/>
          </a:prstGeom>
          <a:noFill/>
        </p:spPr>
        <p:txBody>
          <a:bodyPr wrap="square" rtlCol="0">
            <a:spAutoFit/>
          </a:bodyPr>
          <a:lstStyle/>
          <a:p>
            <a:r>
              <a:rPr lang="es-ES" sz="2800" b="1" dirty="0">
                <a:solidFill>
                  <a:srgbClr val="FF0000"/>
                </a:solidFill>
              </a:rPr>
              <a:t>D</a:t>
            </a:r>
            <a:r>
              <a:rPr lang="en-US" sz="2800" b="1" dirty="0">
                <a:solidFill>
                  <a:srgbClr val="FF0000"/>
                </a:solidFill>
              </a:rPr>
              <a:t>ocumento de requerimientos de software</a:t>
            </a:r>
          </a:p>
          <a:p>
            <a:endParaRPr lang="en-US" sz="2400" b="1" dirty="0"/>
          </a:p>
          <a:p>
            <a:r>
              <a:rPr lang="es-ES" sz="2400" dirty="0"/>
              <a:t>El documento de requerimientos de software (especificación de requerimientos de software) es un comunicado oficial de lo que deben implementar los desarrolladores del sistema. Incluye los requerimientos del usuario para un sistema y una especificación detallada de los requerimientos del sistema. </a:t>
            </a:r>
          </a:p>
          <a:p>
            <a:endParaRPr lang="es-ES" sz="2400" dirty="0"/>
          </a:p>
          <a:p>
            <a:r>
              <a:rPr lang="es-ES" sz="2400" dirty="0"/>
              <a:t>En ocasiones, los requerimientos del usuario y del sistema se integran en una sola descripción. En otros casos, los requerimientos del usuario se definen en una introducción a la especificación de requerimientos del sistema. Si hay un gran número de requerimientos, los requerimientos del sistema detallados podrían presentarse en un documento aparte. Son esenciales los documentos de requerimientos cuando un contratista externo diseña el sistema de software.</a:t>
            </a:r>
          </a:p>
        </p:txBody>
      </p:sp>
    </p:spTree>
    <p:extLst>
      <p:ext uri="{BB962C8B-B14F-4D97-AF65-F5344CB8AC3E}">
        <p14:creationId xmlns:p14="http://schemas.microsoft.com/office/powerpoint/2010/main" val="811085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1933E-49C3-C414-48C9-62F8FE57B7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B5CB557-A676-34E7-873C-168E61E478B7}"/>
              </a:ext>
            </a:extLst>
          </p:cNvPr>
          <p:cNvSpPr txBox="1"/>
          <p:nvPr/>
        </p:nvSpPr>
        <p:spPr>
          <a:xfrm>
            <a:off x="993648" y="557784"/>
            <a:ext cx="10204704" cy="5047536"/>
          </a:xfrm>
          <a:prstGeom prst="rect">
            <a:avLst/>
          </a:prstGeom>
          <a:noFill/>
        </p:spPr>
        <p:txBody>
          <a:bodyPr wrap="square" rtlCol="0">
            <a:spAutoFit/>
          </a:bodyPr>
          <a:lstStyle/>
          <a:p>
            <a:r>
              <a:rPr lang="es-ES" sz="2800" b="1" dirty="0">
                <a:solidFill>
                  <a:srgbClr val="FF0000"/>
                </a:solidFill>
              </a:rPr>
              <a:t>Estándares de requerimientos</a:t>
            </a:r>
          </a:p>
          <a:p>
            <a:endParaRPr lang="es-ES" b="1" dirty="0"/>
          </a:p>
          <a:p>
            <a:endParaRPr lang="es-ES" b="1" dirty="0"/>
          </a:p>
          <a:p>
            <a:r>
              <a:rPr lang="es-ES" sz="2400" dirty="0"/>
              <a:t>El principal estándar de IEEE para requerimientos de software es el IEEE 830-1998, que proporciona pautas para la creación de un documento de especificación de requerimientos de software (SRS) claro, completo, consistente y verificable. Este estándar detalla la estructura del documento, que incluye una introducción, descripción general del sistema y requisitos específicos. El estándar IEEE 830 define características de una buena especificación como ser completa, consistente, clara, correcta, trazable, </a:t>
            </a:r>
            <a:r>
              <a:rPr lang="es-ES" sz="2400" dirty="0" err="1"/>
              <a:t>priorizable</a:t>
            </a:r>
            <a:r>
              <a:rPr lang="es-ES" sz="2400" dirty="0"/>
              <a:t>, modificable y verificable.</a:t>
            </a:r>
          </a:p>
          <a:p>
            <a:endParaRPr lang="es-ES" sz="2400" dirty="0"/>
          </a:p>
          <a:p>
            <a:r>
              <a:rPr lang="es-ES" sz="2400" dirty="0">
                <a:hlinkClick r:id="rId2"/>
              </a:rPr>
              <a:t>https://www.fdi.ucm.es/profesor/gmendez/docs/is0809/ieee830.pdf</a:t>
            </a:r>
            <a:endParaRPr lang="es-ES" sz="2400" dirty="0"/>
          </a:p>
          <a:p>
            <a:endParaRPr lang="es-ES" dirty="0"/>
          </a:p>
        </p:txBody>
      </p:sp>
    </p:spTree>
    <p:extLst>
      <p:ext uri="{BB962C8B-B14F-4D97-AF65-F5344CB8AC3E}">
        <p14:creationId xmlns:p14="http://schemas.microsoft.com/office/powerpoint/2010/main" val="1963792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5E7BA-1C56-9469-3EA0-9742A52B1D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71419B-5617-3782-7839-13821477A351}"/>
              </a:ext>
            </a:extLst>
          </p:cNvPr>
          <p:cNvSpPr txBox="1"/>
          <p:nvPr/>
        </p:nvSpPr>
        <p:spPr>
          <a:xfrm>
            <a:off x="329184" y="1682496"/>
            <a:ext cx="4325112" cy="1661993"/>
          </a:xfrm>
          <a:prstGeom prst="rect">
            <a:avLst/>
          </a:prstGeom>
          <a:noFill/>
        </p:spPr>
        <p:txBody>
          <a:bodyPr wrap="square" rtlCol="0">
            <a:spAutoFit/>
          </a:bodyPr>
          <a:lstStyle/>
          <a:p>
            <a:r>
              <a:rPr lang="es-ES" sz="2800" b="1" dirty="0">
                <a:solidFill>
                  <a:srgbClr val="FF0000"/>
                </a:solidFill>
              </a:rPr>
              <a:t>Usuarios del d</a:t>
            </a:r>
            <a:r>
              <a:rPr lang="en-US" sz="2800" b="1" dirty="0" err="1">
                <a:solidFill>
                  <a:srgbClr val="FF0000"/>
                </a:solidFill>
              </a:rPr>
              <a:t>ocumento</a:t>
            </a:r>
            <a:r>
              <a:rPr lang="en-US" sz="2800" b="1" dirty="0">
                <a:solidFill>
                  <a:srgbClr val="FF0000"/>
                </a:solidFill>
              </a:rPr>
              <a:t> de requerimientos de software</a:t>
            </a:r>
          </a:p>
          <a:p>
            <a:endParaRPr lang="en-US" b="1" dirty="0"/>
          </a:p>
        </p:txBody>
      </p:sp>
      <p:pic>
        <p:nvPicPr>
          <p:cNvPr id="3" name="Picture 2">
            <a:extLst>
              <a:ext uri="{FF2B5EF4-FFF2-40B4-BE49-F238E27FC236}">
                <a16:creationId xmlns:a16="http://schemas.microsoft.com/office/drawing/2014/main" id="{D7CBFB13-026E-1344-5724-E705608C7AC4}"/>
              </a:ext>
            </a:extLst>
          </p:cNvPr>
          <p:cNvPicPr>
            <a:picLocks noChangeAspect="1"/>
          </p:cNvPicPr>
          <p:nvPr/>
        </p:nvPicPr>
        <p:blipFill>
          <a:blip r:embed="rId2"/>
          <a:stretch>
            <a:fillRect/>
          </a:stretch>
        </p:blipFill>
        <p:spPr>
          <a:xfrm>
            <a:off x="5260848" y="0"/>
            <a:ext cx="6858000" cy="6858000"/>
          </a:xfrm>
          <a:prstGeom prst="rect">
            <a:avLst/>
          </a:prstGeom>
        </p:spPr>
      </p:pic>
    </p:spTree>
    <p:extLst>
      <p:ext uri="{BB962C8B-B14F-4D97-AF65-F5344CB8AC3E}">
        <p14:creationId xmlns:p14="http://schemas.microsoft.com/office/powerpoint/2010/main" val="327680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924AA-B26F-A176-0AAE-8082C519D7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3B1A28-53FB-6AAD-F9B3-1897D75A0DBD}"/>
              </a:ext>
            </a:extLst>
          </p:cNvPr>
          <p:cNvSpPr txBox="1"/>
          <p:nvPr/>
        </p:nvSpPr>
        <p:spPr>
          <a:xfrm>
            <a:off x="239376" y="1408176"/>
            <a:ext cx="4616088" cy="2092881"/>
          </a:xfrm>
          <a:prstGeom prst="rect">
            <a:avLst/>
          </a:prstGeom>
          <a:noFill/>
        </p:spPr>
        <p:txBody>
          <a:bodyPr wrap="square" rtlCol="0">
            <a:spAutoFit/>
          </a:bodyPr>
          <a:lstStyle/>
          <a:p>
            <a:r>
              <a:rPr lang="es-ES" sz="2800" b="1" dirty="0">
                <a:solidFill>
                  <a:srgbClr val="FF0000"/>
                </a:solidFill>
              </a:rPr>
              <a:t>Estructura del d</a:t>
            </a:r>
            <a:r>
              <a:rPr lang="en-US" sz="2800" b="1" dirty="0">
                <a:solidFill>
                  <a:srgbClr val="FF0000"/>
                </a:solidFill>
              </a:rPr>
              <a:t>ocumento de requerimientos de software </a:t>
            </a:r>
            <a:r>
              <a:rPr lang="en-US" sz="2800" b="1" dirty="0" err="1">
                <a:solidFill>
                  <a:srgbClr val="FF0000"/>
                </a:solidFill>
              </a:rPr>
              <a:t>utilizando</a:t>
            </a:r>
            <a:r>
              <a:rPr lang="en-US" sz="2800" b="1" dirty="0">
                <a:solidFill>
                  <a:srgbClr val="FF0000"/>
                </a:solidFill>
              </a:rPr>
              <a:t> </a:t>
            </a:r>
            <a:r>
              <a:rPr lang="en-US" sz="2800" b="1" dirty="0" err="1">
                <a:solidFill>
                  <a:srgbClr val="FF0000"/>
                </a:solidFill>
              </a:rPr>
              <a:t>el</a:t>
            </a:r>
            <a:r>
              <a:rPr lang="en-US" sz="2800" b="1" dirty="0">
                <a:solidFill>
                  <a:srgbClr val="FF0000"/>
                </a:solidFill>
              </a:rPr>
              <a:t> </a:t>
            </a:r>
            <a:r>
              <a:rPr lang="en-US" sz="2800" b="1" dirty="0" err="1">
                <a:solidFill>
                  <a:srgbClr val="FF0000"/>
                </a:solidFill>
              </a:rPr>
              <a:t>estándar</a:t>
            </a:r>
            <a:r>
              <a:rPr lang="en-US" sz="2800" b="1" dirty="0">
                <a:solidFill>
                  <a:srgbClr val="FF0000"/>
                </a:solidFill>
              </a:rPr>
              <a:t> IEEE 830-1998</a:t>
            </a:r>
          </a:p>
          <a:p>
            <a:endParaRPr lang="en-US" b="1" dirty="0"/>
          </a:p>
        </p:txBody>
      </p:sp>
      <p:pic>
        <p:nvPicPr>
          <p:cNvPr id="5" name="Picture 4">
            <a:extLst>
              <a:ext uri="{FF2B5EF4-FFF2-40B4-BE49-F238E27FC236}">
                <a16:creationId xmlns:a16="http://schemas.microsoft.com/office/drawing/2014/main" id="{7F47EE17-64E8-5F97-B608-92A608DE1DE5}"/>
              </a:ext>
            </a:extLst>
          </p:cNvPr>
          <p:cNvPicPr>
            <a:picLocks noChangeAspect="1"/>
          </p:cNvPicPr>
          <p:nvPr/>
        </p:nvPicPr>
        <p:blipFill>
          <a:blip r:embed="rId2"/>
          <a:stretch>
            <a:fillRect/>
          </a:stretch>
        </p:blipFill>
        <p:spPr>
          <a:xfrm>
            <a:off x="5725775" y="0"/>
            <a:ext cx="6226849" cy="6858000"/>
          </a:xfrm>
          <a:prstGeom prst="rect">
            <a:avLst/>
          </a:prstGeom>
        </p:spPr>
      </p:pic>
    </p:spTree>
    <p:extLst>
      <p:ext uri="{BB962C8B-B14F-4D97-AF65-F5344CB8AC3E}">
        <p14:creationId xmlns:p14="http://schemas.microsoft.com/office/powerpoint/2010/main" val="2634313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C0BA5-267D-A3DE-81C8-E0AC422E0F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FCADF0-DD1B-BA77-3FE6-9DCC9C50D42B}"/>
              </a:ext>
            </a:extLst>
          </p:cNvPr>
          <p:cNvSpPr txBox="1"/>
          <p:nvPr/>
        </p:nvSpPr>
        <p:spPr>
          <a:xfrm>
            <a:off x="557784" y="94263"/>
            <a:ext cx="10003536" cy="1169551"/>
          </a:xfrm>
          <a:prstGeom prst="rect">
            <a:avLst/>
          </a:prstGeom>
          <a:noFill/>
        </p:spPr>
        <p:txBody>
          <a:bodyPr wrap="square" rtlCol="0">
            <a:spAutoFit/>
          </a:bodyPr>
          <a:lstStyle/>
          <a:p>
            <a:r>
              <a:rPr lang="en-US" sz="2800" b="1" dirty="0">
                <a:solidFill>
                  <a:srgbClr val="FF0000"/>
                </a:solidFill>
              </a:rPr>
              <a:t>Especificación de requerimientos </a:t>
            </a:r>
          </a:p>
          <a:p>
            <a:endParaRPr lang="en-US" dirty="0"/>
          </a:p>
          <a:p>
            <a:r>
              <a:rPr lang="en-US" sz="2400" b="1" dirty="0"/>
              <a:t>Formas de escribir una especificación de requerimientos del </a:t>
            </a:r>
            <a:r>
              <a:rPr lang="en-US" sz="2400" b="1" dirty="0" err="1"/>
              <a:t>sistema</a:t>
            </a:r>
            <a:r>
              <a:rPr lang="en-US" sz="2400" b="1" dirty="0"/>
              <a:t>.</a:t>
            </a:r>
            <a:endParaRPr lang="en-US" sz="2400" b="1" dirty="0">
              <a:solidFill>
                <a:srgbClr val="FF0000"/>
              </a:solidFill>
            </a:endParaRPr>
          </a:p>
        </p:txBody>
      </p:sp>
      <p:pic>
        <p:nvPicPr>
          <p:cNvPr id="3" name="Picture 2">
            <a:extLst>
              <a:ext uri="{FF2B5EF4-FFF2-40B4-BE49-F238E27FC236}">
                <a16:creationId xmlns:a16="http://schemas.microsoft.com/office/drawing/2014/main" id="{D67B878D-3A33-C3C1-717D-D445FD5F438D}"/>
              </a:ext>
            </a:extLst>
          </p:cNvPr>
          <p:cNvPicPr>
            <a:picLocks noChangeAspect="1"/>
          </p:cNvPicPr>
          <p:nvPr/>
        </p:nvPicPr>
        <p:blipFill>
          <a:blip r:embed="rId2"/>
          <a:stretch>
            <a:fillRect/>
          </a:stretch>
        </p:blipFill>
        <p:spPr>
          <a:xfrm>
            <a:off x="1301728" y="1489591"/>
            <a:ext cx="9259592" cy="5191850"/>
          </a:xfrm>
          <a:prstGeom prst="rect">
            <a:avLst/>
          </a:prstGeom>
        </p:spPr>
      </p:pic>
    </p:spTree>
    <p:extLst>
      <p:ext uri="{BB962C8B-B14F-4D97-AF65-F5344CB8AC3E}">
        <p14:creationId xmlns:p14="http://schemas.microsoft.com/office/powerpoint/2010/main" val="592560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16A4B-BC5A-6588-4E72-EA174D3AA0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4C9BAB8-EC1C-CBED-E5BB-B1C01E3AE11A}"/>
              </a:ext>
            </a:extLst>
          </p:cNvPr>
          <p:cNvSpPr txBox="1"/>
          <p:nvPr/>
        </p:nvSpPr>
        <p:spPr>
          <a:xfrm>
            <a:off x="557784" y="94263"/>
            <a:ext cx="9427464" cy="1415772"/>
          </a:xfrm>
          <a:prstGeom prst="rect">
            <a:avLst/>
          </a:prstGeom>
          <a:noFill/>
        </p:spPr>
        <p:txBody>
          <a:bodyPr wrap="square" rtlCol="0">
            <a:spAutoFit/>
          </a:bodyPr>
          <a:lstStyle/>
          <a:p>
            <a:r>
              <a:rPr lang="en-US" sz="2800" b="1" dirty="0">
                <a:solidFill>
                  <a:srgbClr val="FF0000"/>
                </a:solidFill>
              </a:rPr>
              <a:t>Especificación de requerimientos </a:t>
            </a:r>
          </a:p>
          <a:p>
            <a:endParaRPr lang="en-US" dirty="0"/>
          </a:p>
          <a:p>
            <a:r>
              <a:rPr lang="en-US" sz="2000" b="1" dirty="0" err="1"/>
              <a:t>Ejemplo</a:t>
            </a:r>
            <a:r>
              <a:rPr lang="en-US" sz="2000" b="1" dirty="0"/>
              <a:t> de la especificación </a:t>
            </a:r>
            <a:r>
              <a:rPr lang="en-US" sz="2000" b="1" dirty="0" err="1"/>
              <a:t>estructurada</a:t>
            </a:r>
            <a:r>
              <a:rPr lang="en-US" sz="2000" b="1" dirty="0"/>
              <a:t> de un </a:t>
            </a:r>
            <a:r>
              <a:rPr lang="en-US" sz="2000" b="1" dirty="0" err="1"/>
              <a:t>requerimiento</a:t>
            </a:r>
            <a:r>
              <a:rPr lang="en-US" sz="2000" b="1" dirty="0"/>
              <a:t> para una </a:t>
            </a:r>
            <a:r>
              <a:rPr lang="en-US" sz="2000" b="1" dirty="0" err="1"/>
              <a:t>bomba</a:t>
            </a:r>
            <a:r>
              <a:rPr lang="en-US" sz="2000" b="1" dirty="0"/>
              <a:t> de </a:t>
            </a:r>
            <a:r>
              <a:rPr lang="en-US" sz="2000" b="1" dirty="0" err="1"/>
              <a:t>insulina</a:t>
            </a:r>
            <a:r>
              <a:rPr lang="en-US" sz="2000" b="1" dirty="0"/>
              <a:t>:</a:t>
            </a:r>
            <a:endParaRPr lang="en-US" sz="2000" b="1" dirty="0">
              <a:solidFill>
                <a:srgbClr val="FF0000"/>
              </a:solidFill>
            </a:endParaRPr>
          </a:p>
        </p:txBody>
      </p:sp>
      <p:pic>
        <p:nvPicPr>
          <p:cNvPr id="5" name="Picture 4">
            <a:extLst>
              <a:ext uri="{FF2B5EF4-FFF2-40B4-BE49-F238E27FC236}">
                <a16:creationId xmlns:a16="http://schemas.microsoft.com/office/drawing/2014/main" id="{DD182757-D6C9-8585-F83F-8BEECACBD907}"/>
              </a:ext>
            </a:extLst>
          </p:cNvPr>
          <p:cNvPicPr>
            <a:picLocks noChangeAspect="1"/>
          </p:cNvPicPr>
          <p:nvPr/>
        </p:nvPicPr>
        <p:blipFill>
          <a:blip r:embed="rId2"/>
          <a:stretch>
            <a:fillRect/>
          </a:stretch>
        </p:blipFill>
        <p:spPr>
          <a:xfrm>
            <a:off x="1963363" y="1787110"/>
            <a:ext cx="8265274" cy="4671293"/>
          </a:xfrm>
          <a:prstGeom prst="rect">
            <a:avLst/>
          </a:prstGeom>
        </p:spPr>
      </p:pic>
    </p:spTree>
    <p:extLst>
      <p:ext uri="{BB962C8B-B14F-4D97-AF65-F5344CB8AC3E}">
        <p14:creationId xmlns:p14="http://schemas.microsoft.com/office/powerpoint/2010/main" val="1566698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BC120-924D-A551-24B7-991366D633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AAC2F1-56C1-0033-B1C5-173A97BB6991}"/>
              </a:ext>
            </a:extLst>
          </p:cNvPr>
          <p:cNvSpPr txBox="1"/>
          <p:nvPr/>
        </p:nvSpPr>
        <p:spPr>
          <a:xfrm>
            <a:off x="175031" y="1902025"/>
            <a:ext cx="3308833" cy="1200329"/>
          </a:xfrm>
          <a:prstGeom prst="rect">
            <a:avLst/>
          </a:prstGeom>
          <a:noFill/>
        </p:spPr>
        <p:txBody>
          <a:bodyPr wrap="square" rtlCol="0">
            <a:spAutoFit/>
          </a:bodyPr>
          <a:lstStyle/>
          <a:p>
            <a:r>
              <a:rPr lang="en-US" sz="2400" b="1" dirty="0">
                <a:solidFill>
                  <a:srgbClr val="FF0000"/>
                </a:solidFill>
              </a:rPr>
              <a:t>Vista </a:t>
            </a:r>
            <a:r>
              <a:rPr lang="en-US" sz="2400" b="1" dirty="0" err="1">
                <a:solidFill>
                  <a:srgbClr val="FF0000"/>
                </a:solidFill>
              </a:rPr>
              <a:t>en</a:t>
            </a:r>
            <a:r>
              <a:rPr lang="en-US" sz="2400" b="1" dirty="0">
                <a:solidFill>
                  <a:srgbClr val="FF0000"/>
                </a:solidFill>
              </a:rPr>
              <a:t> </a:t>
            </a:r>
            <a:r>
              <a:rPr lang="en-US" sz="2400" b="1" dirty="0" err="1">
                <a:solidFill>
                  <a:srgbClr val="FF0000"/>
                </a:solidFill>
              </a:rPr>
              <a:t>espiral</a:t>
            </a:r>
            <a:r>
              <a:rPr lang="en-US" sz="2400" b="1" dirty="0">
                <a:solidFill>
                  <a:srgbClr val="FF0000"/>
                </a:solidFill>
              </a:rPr>
              <a:t> del </a:t>
            </a:r>
            <a:r>
              <a:rPr lang="en-US" sz="2400" b="1" dirty="0" err="1">
                <a:solidFill>
                  <a:srgbClr val="FF0000"/>
                </a:solidFill>
              </a:rPr>
              <a:t>proceso</a:t>
            </a:r>
            <a:r>
              <a:rPr lang="en-US" sz="2400" b="1" dirty="0">
                <a:solidFill>
                  <a:srgbClr val="FF0000"/>
                </a:solidFill>
              </a:rPr>
              <a:t> de </a:t>
            </a:r>
            <a:r>
              <a:rPr lang="en-US" sz="2400" b="1" dirty="0" err="1">
                <a:solidFill>
                  <a:srgbClr val="FF0000"/>
                </a:solidFill>
              </a:rPr>
              <a:t>ingeniería</a:t>
            </a:r>
            <a:r>
              <a:rPr lang="en-US" sz="2400" b="1" dirty="0">
                <a:solidFill>
                  <a:srgbClr val="FF0000"/>
                </a:solidFill>
              </a:rPr>
              <a:t> </a:t>
            </a:r>
          </a:p>
          <a:p>
            <a:r>
              <a:rPr lang="en-US" sz="2400" b="1" dirty="0">
                <a:solidFill>
                  <a:srgbClr val="FF0000"/>
                </a:solidFill>
              </a:rPr>
              <a:t>de requerimientos </a:t>
            </a:r>
          </a:p>
        </p:txBody>
      </p:sp>
      <p:pic>
        <p:nvPicPr>
          <p:cNvPr id="5" name="Picture 4">
            <a:extLst>
              <a:ext uri="{FF2B5EF4-FFF2-40B4-BE49-F238E27FC236}">
                <a16:creationId xmlns:a16="http://schemas.microsoft.com/office/drawing/2014/main" id="{F48BA07F-A0C3-234A-7993-CF2577117F05}"/>
              </a:ext>
            </a:extLst>
          </p:cNvPr>
          <p:cNvPicPr>
            <a:picLocks noChangeAspect="1"/>
          </p:cNvPicPr>
          <p:nvPr/>
        </p:nvPicPr>
        <p:blipFill>
          <a:blip r:embed="rId2"/>
          <a:stretch>
            <a:fillRect/>
          </a:stretch>
        </p:blipFill>
        <p:spPr>
          <a:xfrm>
            <a:off x="3553741" y="0"/>
            <a:ext cx="8347982" cy="6739128"/>
          </a:xfrm>
          <a:prstGeom prst="rect">
            <a:avLst/>
          </a:prstGeom>
        </p:spPr>
      </p:pic>
      <p:sp>
        <p:nvSpPr>
          <p:cNvPr id="2" name="Arrow: Down 1">
            <a:extLst>
              <a:ext uri="{FF2B5EF4-FFF2-40B4-BE49-F238E27FC236}">
                <a16:creationId xmlns:a16="http://schemas.microsoft.com/office/drawing/2014/main" id="{B4440B5A-4FB7-9D5C-BE1B-CA368E591387}"/>
              </a:ext>
            </a:extLst>
          </p:cNvPr>
          <p:cNvSpPr/>
          <p:nvPr/>
        </p:nvSpPr>
        <p:spPr>
          <a:xfrm rot="2771805">
            <a:off x="11138610" y="378109"/>
            <a:ext cx="484632" cy="97840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28333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E6AB3-A760-58E6-3143-2EA9A20F745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F1A6633-167C-3303-438A-D94CCD3176DE}"/>
              </a:ext>
            </a:extLst>
          </p:cNvPr>
          <p:cNvSpPr txBox="1"/>
          <p:nvPr/>
        </p:nvSpPr>
        <p:spPr>
          <a:xfrm>
            <a:off x="944003" y="201241"/>
            <a:ext cx="10066249" cy="6309420"/>
          </a:xfrm>
          <a:prstGeom prst="rect">
            <a:avLst/>
          </a:prstGeom>
          <a:noFill/>
        </p:spPr>
        <p:txBody>
          <a:bodyPr wrap="square" rtlCol="0">
            <a:spAutoFit/>
          </a:bodyPr>
          <a:lstStyle/>
          <a:p>
            <a:r>
              <a:rPr lang="en-US" sz="2400" b="1" dirty="0" err="1">
                <a:solidFill>
                  <a:srgbClr val="FF0000"/>
                </a:solidFill>
              </a:rPr>
              <a:t>Proceso</a:t>
            </a:r>
            <a:r>
              <a:rPr lang="en-US" sz="2400" b="1" dirty="0">
                <a:solidFill>
                  <a:srgbClr val="FF0000"/>
                </a:solidFill>
              </a:rPr>
              <a:t> de </a:t>
            </a:r>
            <a:r>
              <a:rPr lang="en-US" sz="2400" b="1" dirty="0" err="1">
                <a:solidFill>
                  <a:srgbClr val="FF0000"/>
                </a:solidFill>
              </a:rPr>
              <a:t>ingeniería</a:t>
            </a:r>
            <a:r>
              <a:rPr lang="en-US" sz="2400" b="1" dirty="0">
                <a:solidFill>
                  <a:srgbClr val="FF0000"/>
                </a:solidFill>
              </a:rPr>
              <a:t> de </a:t>
            </a:r>
            <a:r>
              <a:rPr lang="en-US" sz="2400" b="1" dirty="0" err="1">
                <a:solidFill>
                  <a:srgbClr val="FF0000"/>
                </a:solidFill>
              </a:rPr>
              <a:t>requerimientos</a:t>
            </a:r>
            <a:endParaRPr lang="en-US" sz="2400" b="1" dirty="0">
              <a:solidFill>
                <a:srgbClr val="FF0000"/>
              </a:solidFill>
            </a:endParaRPr>
          </a:p>
          <a:p>
            <a:endParaRPr lang="en-US" sz="2000" b="1" dirty="0">
              <a:solidFill>
                <a:srgbClr val="FF0000"/>
              </a:solidFill>
            </a:endParaRPr>
          </a:p>
          <a:p>
            <a:r>
              <a:rPr lang="es-ES" sz="2000" dirty="0"/>
              <a:t>Los procesos de ingeniería de requerimientos incluyen cuatro actividades de alto nivel. Éstas se enfocan en </a:t>
            </a:r>
            <a:r>
              <a:rPr lang="es-ES" sz="2000" b="1" dirty="0"/>
              <a:t>valorar si el sistema es útil para la empresa (estudio de factibilidad</a:t>
            </a:r>
            <a:r>
              <a:rPr lang="es-ES" sz="2000" dirty="0"/>
              <a:t>), </a:t>
            </a:r>
            <a:r>
              <a:rPr lang="es-ES" sz="2000" b="1" dirty="0"/>
              <a:t>descubrir requerimientos (adquisición y análisis</a:t>
            </a:r>
            <a:r>
              <a:rPr lang="es-ES" sz="2000" dirty="0"/>
              <a:t>), </a:t>
            </a:r>
            <a:r>
              <a:rPr lang="es-ES" sz="2000" b="1" dirty="0"/>
              <a:t>convertir dichos requerimientos en alguna forma estándar (especificación) </a:t>
            </a:r>
            <a:r>
              <a:rPr lang="es-ES" sz="2000" dirty="0"/>
              <a:t>y </a:t>
            </a:r>
            <a:r>
              <a:rPr lang="es-ES" sz="2000" b="1" dirty="0"/>
              <a:t>comprobar que los requerimientos definan realmente el sistema que quiere el cliente (validación</a:t>
            </a:r>
            <a:r>
              <a:rPr lang="es-ES" sz="2000" dirty="0"/>
              <a:t>).</a:t>
            </a:r>
          </a:p>
          <a:p>
            <a:endParaRPr lang="es-ES" sz="2000" dirty="0"/>
          </a:p>
          <a:p>
            <a:endParaRPr lang="es-ES" sz="2000" dirty="0">
              <a:solidFill>
                <a:srgbClr val="FF0000"/>
              </a:solidFill>
            </a:endParaRPr>
          </a:p>
          <a:p>
            <a:r>
              <a:rPr lang="es-ES" sz="2000" dirty="0">
                <a:solidFill>
                  <a:srgbClr val="FF0000"/>
                </a:solidFill>
              </a:rPr>
              <a:t>1.  Estudio de factibilidad  </a:t>
            </a:r>
            <a:r>
              <a:rPr lang="es-ES" sz="2000" dirty="0">
                <a:solidFill>
                  <a:srgbClr val="FF0000"/>
                </a:solidFill>
                <a:sym typeface="Wingdings" panose="05000000000000000000" pitchFamily="2" charset="2"/>
              </a:rPr>
              <a:t> que tan útil es el producto de software. </a:t>
            </a:r>
          </a:p>
          <a:p>
            <a:endParaRPr lang="es-ES" sz="2000" dirty="0">
              <a:solidFill>
                <a:srgbClr val="FF0000"/>
              </a:solidFill>
              <a:sym typeface="Wingdings" panose="05000000000000000000" pitchFamily="2" charset="2"/>
            </a:endParaRPr>
          </a:p>
          <a:p>
            <a:r>
              <a:rPr lang="es-ES" sz="2000" dirty="0">
                <a:solidFill>
                  <a:srgbClr val="FF0000"/>
                </a:solidFill>
                <a:sym typeface="Wingdings" panose="05000000000000000000" pitchFamily="2" charset="2"/>
              </a:rPr>
              <a:t>La herramienta de software mejora la eficiencia de los procedimientos de manufactura en la empresa?</a:t>
            </a:r>
          </a:p>
          <a:p>
            <a:r>
              <a:rPr lang="es-ES" sz="2000" dirty="0">
                <a:solidFill>
                  <a:srgbClr val="FF0000"/>
                </a:solidFill>
                <a:sym typeface="Wingdings" panose="05000000000000000000" pitchFamily="2" charset="2"/>
              </a:rPr>
              <a:t>Que tan factible es su fabricación</a:t>
            </a:r>
          </a:p>
          <a:p>
            <a:endParaRPr lang="es-ES" sz="2000" dirty="0">
              <a:solidFill>
                <a:srgbClr val="FF0000"/>
              </a:solidFill>
              <a:sym typeface="Wingdings" panose="05000000000000000000" pitchFamily="2" charset="2"/>
            </a:endParaRPr>
          </a:p>
          <a:p>
            <a:r>
              <a:rPr lang="es-ES" sz="2000" dirty="0">
                <a:solidFill>
                  <a:srgbClr val="FF0000"/>
                </a:solidFill>
              </a:rPr>
              <a:t>2.  Descubrir las necesidades que  tiene el usuario final.</a:t>
            </a:r>
          </a:p>
          <a:p>
            <a:endParaRPr lang="es-ES" sz="2000" dirty="0">
              <a:solidFill>
                <a:srgbClr val="FF0000"/>
              </a:solidFill>
            </a:endParaRPr>
          </a:p>
          <a:p>
            <a:pPr marL="457200" indent="-457200">
              <a:buAutoNum type="arabicPeriod" startAt="3"/>
            </a:pPr>
            <a:r>
              <a:rPr lang="es-ES" sz="2000" dirty="0">
                <a:solidFill>
                  <a:srgbClr val="FF0000"/>
                </a:solidFill>
              </a:rPr>
              <a:t>Escribir las necesidades que tiene el cliente en un lenguaje estandarizado</a:t>
            </a:r>
          </a:p>
          <a:p>
            <a:pPr marL="457200" indent="-457200">
              <a:buAutoNum type="arabicPeriod" startAt="3"/>
            </a:pPr>
            <a:endParaRPr lang="es-ES" sz="2000" dirty="0">
              <a:solidFill>
                <a:srgbClr val="FF0000"/>
              </a:solidFill>
            </a:endParaRPr>
          </a:p>
          <a:p>
            <a:pPr marL="457200" indent="-457200">
              <a:buAutoNum type="arabicPeriod" startAt="3"/>
            </a:pPr>
            <a:r>
              <a:rPr lang="es-ES" sz="2000" dirty="0">
                <a:solidFill>
                  <a:srgbClr val="FF0000"/>
                </a:solidFill>
              </a:rPr>
              <a:t>Validar o verificar que los requerimientos cumplen las necesidades del cliente.</a:t>
            </a:r>
          </a:p>
        </p:txBody>
      </p:sp>
    </p:spTree>
    <p:extLst>
      <p:ext uri="{BB962C8B-B14F-4D97-AF65-F5344CB8AC3E}">
        <p14:creationId xmlns:p14="http://schemas.microsoft.com/office/powerpoint/2010/main" val="4067747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39188-AC49-D4AB-3CAD-D0E83F771A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16EB811-727A-8012-CCAB-9B7594F6E071}"/>
              </a:ext>
            </a:extLst>
          </p:cNvPr>
          <p:cNvSpPr txBox="1"/>
          <p:nvPr/>
        </p:nvSpPr>
        <p:spPr>
          <a:xfrm>
            <a:off x="869975" y="356689"/>
            <a:ext cx="10066249" cy="3539430"/>
          </a:xfrm>
          <a:prstGeom prst="rect">
            <a:avLst/>
          </a:prstGeom>
          <a:noFill/>
        </p:spPr>
        <p:txBody>
          <a:bodyPr wrap="square" rtlCol="0">
            <a:spAutoFit/>
          </a:bodyPr>
          <a:lstStyle/>
          <a:p>
            <a:r>
              <a:rPr lang="en-US" sz="2400" b="1" dirty="0" err="1">
                <a:solidFill>
                  <a:srgbClr val="FF0000"/>
                </a:solidFill>
              </a:rPr>
              <a:t>Proceso</a:t>
            </a:r>
            <a:r>
              <a:rPr lang="en-US" sz="2400" b="1" dirty="0">
                <a:solidFill>
                  <a:srgbClr val="FF0000"/>
                </a:solidFill>
              </a:rPr>
              <a:t> de </a:t>
            </a:r>
            <a:r>
              <a:rPr lang="en-US" sz="2400" b="1" dirty="0" err="1">
                <a:solidFill>
                  <a:srgbClr val="FF0000"/>
                </a:solidFill>
              </a:rPr>
              <a:t>ingeniería</a:t>
            </a:r>
            <a:r>
              <a:rPr lang="en-US" sz="2400" b="1" dirty="0">
                <a:solidFill>
                  <a:srgbClr val="FF0000"/>
                </a:solidFill>
              </a:rPr>
              <a:t> de </a:t>
            </a:r>
            <a:r>
              <a:rPr lang="en-US" sz="2400" b="1" dirty="0" err="1">
                <a:solidFill>
                  <a:srgbClr val="FF0000"/>
                </a:solidFill>
              </a:rPr>
              <a:t>requerimientos</a:t>
            </a:r>
            <a:endParaRPr lang="en-US" sz="2400" b="1" dirty="0">
              <a:solidFill>
                <a:srgbClr val="FF0000"/>
              </a:solidFill>
            </a:endParaRPr>
          </a:p>
          <a:p>
            <a:endParaRPr lang="en-US" sz="2000" b="1" dirty="0">
              <a:solidFill>
                <a:srgbClr val="FF0000"/>
              </a:solidFill>
            </a:endParaRPr>
          </a:p>
          <a:p>
            <a:endParaRPr lang="es-ES" sz="2000" dirty="0"/>
          </a:p>
          <a:p>
            <a:r>
              <a:rPr lang="es-ES" sz="2000" dirty="0"/>
              <a:t>Las actividades están organizadas como un proceso iterativo alrededor de una espiral, y la salida es un documento de requerimientos del sistema. La cantidad de tiempo y esfuerzo dedicados a cada actividad en cada iteración depende de la etapa del proceso global y el tipo de sistema que está siendo desarrollado. </a:t>
            </a:r>
            <a:r>
              <a:rPr lang="es-ES" sz="2000" b="1" dirty="0"/>
              <a:t>En el inicio del proceso, se empleará más esfuerzo para comprender los requerimientos empresariales de alto nivel y los no funcionales, </a:t>
            </a:r>
            <a:r>
              <a:rPr lang="es-ES" sz="2000" dirty="0"/>
              <a:t>así como los requerimientos del usuario para el sistema. Más adelante en el proceso, en los anillos exteriores de la espiral, se dedicará más esfuerzo a la adquisición y comprensión de los requerimientos detallados </a:t>
            </a:r>
            <a:r>
              <a:rPr lang="en-US" sz="2000" dirty="0"/>
              <a:t>del </a:t>
            </a:r>
            <a:r>
              <a:rPr lang="en-US" sz="2000" dirty="0" err="1"/>
              <a:t>sistema</a:t>
            </a:r>
            <a:r>
              <a:rPr lang="en-US" sz="2000" dirty="0"/>
              <a:t>.</a:t>
            </a:r>
            <a:r>
              <a:rPr lang="en-US" sz="2000" b="1" dirty="0">
                <a:solidFill>
                  <a:srgbClr val="FF0000"/>
                </a:solidFill>
              </a:rPr>
              <a:t> </a:t>
            </a:r>
          </a:p>
        </p:txBody>
      </p:sp>
    </p:spTree>
    <p:extLst>
      <p:ext uri="{BB962C8B-B14F-4D97-AF65-F5344CB8AC3E}">
        <p14:creationId xmlns:p14="http://schemas.microsoft.com/office/powerpoint/2010/main" val="4053342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21DE8-100A-9075-567B-1FD90DC18B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8F835F-B3E0-774C-E6FF-98ACD795EA20}"/>
              </a:ext>
            </a:extLst>
          </p:cNvPr>
          <p:cNvSpPr txBox="1"/>
          <p:nvPr/>
        </p:nvSpPr>
        <p:spPr>
          <a:xfrm>
            <a:off x="877824" y="185703"/>
            <a:ext cx="9902952" cy="3600986"/>
          </a:xfrm>
          <a:prstGeom prst="rect">
            <a:avLst/>
          </a:prstGeom>
          <a:noFill/>
        </p:spPr>
        <p:txBody>
          <a:bodyPr wrap="square" rtlCol="0">
            <a:spAutoFit/>
          </a:bodyPr>
          <a:lstStyle/>
          <a:p>
            <a:r>
              <a:rPr lang="en-US" sz="2400" b="1" dirty="0" err="1">
                <a:solidFill>
                  <a:srgbClr val="FF0000"/>
                </a:solidFill>
              </a:rPr>
              <a:t>Proceso</a:t>
            </a:r>
            <a:r>
              <a:rPr lang="en-US" sz="2400" b="1" dirty="0">
                <a:solidFill>
                  <a:srgbClr val="FF0000"/>
                </a:solidFill>
              </a:rPr>
              <a:t> de </a:t>
            </a:r>
            <a:r>
              <a:rPr lang="en-US" sz="2400" b="1" dirty="0" err="1">
                <a:solidFill>
                  <a:srgbClr val="FF0000"/>
                </a:solidFill>
              </a:rPr>
              <a:t>adquisición</a:t>
            </a:r>
            <a:r>
              <a:rPr lang="en-US" sz="2400" b="1" dirty="0">
                <a:solidFill>
                  <a:srgbClr val="FF0000"/>
                </a:solidFill>
              </a:rPr>
              <a:t> y </a:t>
            </a:r>
            <a:r>
              <a:rPr lang="en-US" sz="2400" b="1" dirty="0" err="1">
                <a:solidFill>
                  <a:srgbClr val="FF0000"/>
                </a:solidFill>
              </a:rPr>
              <a:t>análisis</a:t>
            </a:r>
            <a:r>
              <a:rPr lang="en-US" sz="2400" b="1" dirty="0">
                <a:solidFill>
                  <a:srgbClr val="FF0000"/>
                </a:solidFill>
              </a:rPr>
              <a:t> de </a:t>
            </a:r>
            <a:r>
              <a:rPr lang="en-US" sz="2400" b="1" dirty="0" err="1">
                <a:solidFill>
                  <a:srgbClr val="FF0000"/>
                </a:solidFill>
              </a:rPr>
              <a:t>requerimientos</a:t>
            </a:r>
            <a:endParaRPr lang="en-US" sz="2400" b="1" dirty="0">
              <a:solidFill>
                <a:srgbClr val="FF0000"/>
              </a:solidFill>
            </a:endParaRPr>
          </a:p>
          <a:p>
            <a:r>
              <a:rPr lang="en-US" sz="2400" b="1" dirty="0"/>
              <a:t> </a:t>
            </a:r>
            <a:endParaRPr lang="en-US" sz="2000" dirty="0"/>
          </a:p>
          <a:p>
            <a:r>
              <a:rPr lang="es-ES" sz="2000" dirty="0"/>
              <a:t>Después de un estudio de factibilidad inicial, la siguiente etapa del proceso de ingeniería de requerimientos es la adquisición y el análisis de requerimientos. </a:t>
            </a:r>
          </a:p>
          <a:p>
            <a:endParaRPr lang="es-ES" sz="2000" dirty="0"/>
          </a:p>
          <a:p>
            <a:r>
              <a:rPr lang="es-ES" sz="2000" dirty="0"/>
              <a:t>En esta actividad, los ingenieros de software trabajan con clientes y usuarios finales del sistema para </a:t>
            </a:r>
            <a:r>
              <a:rPr lang="es-ES" sz="2000" b="1" dirty="0"/>
              <a:t>descubrir el dominio de aplicación, qué servicios debe proporcionar el sistema, el desempeño requerido de éste, las restricciones de hardware</a:t>
            </a:r>
            <a:r>
              <a:rPr lang="es-ES" sz="2000" dirty="0"/>
              <a:t>, etcétera.</a:t>
            </a:r>
          </a:p>
          <a:p>
            <a:endParaRPr lang="es-ES" sz="2000" dirty="0"/>
          </a:p>
          <a:p>
            <a:r>
              <a:rPr lang="es-ES" sz="2000" dirty="0"/>
              <a:t>Al proceso de administrar tales requerimientos cambiantes se le llama administración de requerimientos.</a:t>
            </a:r>
            <a:endParaRPr lang="en-US" sz="2000" dirty="0"/>
          </a:p>
        </p:txBody>
      </p:sp>
      <p:pic>
        <p:nvPicPr>
          <p:cNvPr id="3" name="Picture 2">
            <a:extLst>
              <a:ext uri="{FF2B5EF4-FFF2-40B4-BE49-F238E27FC236}">
                <a16:creationId xmlns:a16="http://schemas.microsoft.com/office/drawing/2014/main" id="{0FC77959-B593-B74B-4726-C02C4C001F13}"/>
              </a:ext>
            </a:extLst>
          </p:cNvPr>
          <p:cNvPicPr>
            <a:picLocks noChangeAspect="1"/>
          </p:cNvPicPr>
          <p:nvPr/>
        </p:nvPicPr>
        <p:blipFill>
          <a:blip r:embed="rId2"/>
          <a:stretch>
            <a:fillRect/>
          </a:stretch>
        </p:blipFill>
        <p:spPr>
          <a:xfrm>
            <a:off x="3196611" y="3337560"/>
            <a:ext cx="5798778" cy="3429000"/>
          </a:xfrm>
          <a:prstGeom prst="rect">
            <a:avLst/>
          </a:prstGeom>
        </p:spPr>
      </p:pic>
    </p:spTree>
    <p:extLst>
      <p:ext uri="{BB962C8B-B14F-4D97-AF65-F5344CB8AC3E}">
        <p14:creationId xmlns:p14="http://schemas.microsoft.com/office/powerpoint/2010/main" val="1371730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CF814-338C-DCCE-A53D-7300A10D44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E9F47B3-B04E-0A7D-FAD8-D39A36361D75}"/>
              </a:ext>
            </a:extLst>
          </p:cNvPr>
          <p:cNvSpPr txBox="1"/>
          <p:nvPr/>
        </p:nvSpPr>
        <p:spPr>
          <a:xfrm>
            <a:off x="733043" y="130839"/>
            <a:ext cx="9902952" cy="523220"/>
          </a:xfrm>
          <a:prstGeom prst="rect">
            <a:avLst/>
          </a:prstGeom>
          <a:noFill/>
        </p:spPr>
        <p:txBody>
          <a:bodyPr wrap="square" rtlCol="0">
            <a:spAutoFit/>
          </a:bodyPr>
          <a:lstStyle/>
          <a:p>
            <a:r>
              <a:rPr lang="en-US" sz="2800" b="1" dirty="0" err="1">
                <a:solidFill>
                  <a:srgbClr val="FF0000"/>
                </a:solidFill>
              </a:rPr>
              <a:t>Proceso</a:t>
            </a:r>
            <a:r>
              <a:rPr lang="en-US" sz="2800" b="1" dirty="0">
                <a:solidFill>
                  <a:srgbClr val="FF0000"/>
                </a:solidFill>
              </a:rPr>
              <a:t> de </a:t>
            </a:r>
            <a:r>
              <a:rPr lang="en-US" sz="2800" b="1" dirty="0" err="1">
                <a:solidFill>
                  <a:srgbClr val="FF0000"/>
                </a:solidFill>
              </a:rPr>
              <a:t>adquisición</a:t>
            </a:r>
            <a:r>
              <a:rPr lang="en-US" sz="2800" b="1" dirty="0">
                <a:solidFill>
                  <a:srgbClr val="FF0000"/>
                </a:solidFill>
              </a:rPr>
              <a:t> y </a:t>
            </a:r>
            <a:r>
              <a:rPr lang="en-US" sz="2800" b="1" dirty="0" err="1">
                <a:solidFill>
                  <a:srgbClr val="FF0000"/>
                </a:solidFill>
              </a:rPr>
              <a:t>análisis</a:t>
            </a:r>
            <a:r>
              <a:rPr lang="en-US" sz="2800" b="1" dirty="0">
                <a:solidFill>
                  <a:srgbClr val="FF0000"/>
                </a:solidFill>
              </a:rPr>
              <a:t> de </a:t>
            </a:r>
            <a:r>
              <a:rPr lang="en-US" sz="2800" b="1" dirty="0" err="1">
                <a:solidFill>
                  <a:srgbClr val="FF0000"/>
                </a:solidFill>
              </a:rPr>
              <a:t>requerimientos</a:t>
            </a:r>
            <a:endParaRPr lang="en-US" sz="2800" b="1" dirty="0">
              <a:solidFill>
                <a:srgbClr val="FF0000"/>
              </a:solidFill>
            </a:endParaRPr>
          </a:p>
        </p:txBody>
      </p:sp>
      <p:pic>
        <p:nvPicPr>
          <p:cNvPr id="3" name="Picture 2">
            <a:extLst>
              <a:ext uri="{FF2B5EF4-FFF2-40B4-BE49-F238E27FC236}">
                <a16:creationId xmlns:a16="http://schemas.microsoft.com/office/drawing/2014/main" id="{3532FECF-2A4C-3735-9CAF-832F3C7FBFAB}"/>
              </a:ext>
            </a:extLst>
          </p:cNvPr>
          <p:cNvPicPr>
            <a:picLocks noChangeAspect="1"/>
          </p:cNvPicPr>
          <p:nvPr/>
        </p:nvPicPr>
        <p:blipFill>
          <a:blip r:embed="rId2"/>
          <a:stretch>
            <a:fillRect/>
          </a:stretch>
        </p:blipFill>
        <p:spPr>
          <a:xfrm>
            <a:off x="785415" y="1250322"/>
            <a:ext cx="9850580" cy="3888606"/>
          </a:xfrm>
          <a:prstGeom prst="rect">
            <a:avLst/>
          </a:prstGeom>
        </p:spPr>
      </p:pic>
    </p:spTree>
    <p:extLst>
      <p:ext uri="{BB962C8B-B14F-4D97-AF65-F5344CB8AC3E}">
        <p14:creationId xmlns:p14="http://schemas.microsoft.com/office/powerpoint/2010/main" val="3865061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A5282-EA7A-41FB-AC77-29277E541C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956CB7-A497-47CE-3046-5C782CE9F175}"/>
              </a:ext>
            </a:extLst>
          </p:cNvPr>
          <p:cNvSpPr txBox="1"/>
          <p:nvPr/>
        </p:nvSpPr>
        <p:spPr>
          <a:xfrm>
            <a:off x="733043" y="130839"/>
            <a:ext cx="9902952" cy="523220"/>
          </a:xfrm>
          <a:prstGeom prst="rect">
            <a:avLst/>
          </a:prstGeom>
          <a:noFill/>
        </p:spPr>
        <p:txBody>
          <a:bodyPr wrap="square" rtlCol="0">
            <a:spAutoFit/>
          </a:bodyPr>
          <a:lstStyle/>
          <a:p>
            <a:r>
              <a:rPr lang="en-US" sz="2800" b="1" dirty="0" err="1">
                <a:solidFill>
                  <a:srgbClr val="FF0000"/>
                </a:solidFill>
              </a:rPr>
              <a:t>Proceso</a:t>
            </a:r>
            <a:r>
              <a:rPr lang="en-US" sz="2800" b="1" dirty="0">
                <a:solidFill>
                  <a:srgbClr val="FF0000"/>
                </a:solidFill>
              </a:rPr>
              <a:t> de </a:t>
            </a:r>
            <a:r>
              <a:rPr lang="en-US" sz="2800" b="1" dirty="0" err="1">
                <a:solidFill>
                  <a:srgbClr val="FF0000"/>
                </a:solidFill>
              </a:rPr>
              <a:t>adquisición</a:t>
            </a:r>
            <a:r>
              <a:rPr lang="en-US" sz="2800" b="1" dirty="0">
                <a:solidFill>
                  <a:srgbClr val="FF0000"/>
                </a:solidFill>
              </a:rPr>
              <a:t> y </a:t>
            </a:r>
            <a:r>
              <a:rPr lang="en-US" sz="2800" b="1" dirty="0" err="1">
                <a:solidFill>
                  <a:srgbClr val="FF0000"/>
                </a:solidFill>
              </a:rPr>
              <a:t>análisis</a:t>
            </a:r>
            <a:r>
              <a:rPr lang="en-US" sz="2800" b="1" dirty="0">
                <a:solidFill>
                  <a:srgbClr val="FF0000"/>
                </a:solidFill>
              </a:rPr>
              <a:t> de </a:t>
            </a:r>
            <a:r>
              <a:rPr lang="en-US" sz="2800" b="1" dirty="0" err="1">
                <a:solidFill>
                  <a:srgbClr val="FF0000"/>
                </a:solidFill>
              </a:rPr>
              <a:t>requerimientos</a:t>
            </a:r>
            <a:endParaRPr lang="en-US" sz="2800" b="1" dirty="0">
              <a:solidFill>
                <a:srgbClr val="FF0000"/>
              </a:solidFill>
            </a:endParaRPr>
          </a:p>
        </p:txBody>
      </p:sp>
      <p:pic>
        <p:nvPicPr>
          <p:cNvPr id="5" name="Picture 4">
            <a:extLst>
              <a:ext uri="{FF2B5EF4-FFF2-40B4-BE49-F238E27FC236}">
                <a16:creationId xmlns:a16="http://schemas.microsoft.com/office/drawing/2014/main" id="{E86038EC-78C7-2117-2CA0-2065FA6ADBF6}"/>
              </a:ext>
            </a:extLst>
          </p:cNvPr>
          <p:cNvPicPr>
            <a:picLocks noChangeAspect="1"/>
          </p:cNvPicPr>
          <p:nvPr/>
        </p:nvPicPr>
        <p:blipFill>
          <a:blip r:embed="rId2"/>
          <a:stretch>
            <a:fillRect/>
          </a:stretch>
        </p:blipFill>
        <p:spPr>
          <a:xfrm>
            <a:off x="733043" y="1252161"/>
            <a:ext cx="10170056" cy="2176839"/>
          </a:xfrm>
          <a:prstGeom prst="rect">
            <a:avLst/>
          </a:prstGeom>
        </p:spPr>
      </p:pic>
      <p:pic>
        <p:nvPicPr>
          <p:cNvPr id="7" name="Picture 6">
            <a:extLst>
              <a:ext uri="{FF2B5EF4-FFF2-40B4-BE49-F238E27FC236}">
                <a16:creationId xmlns:a16="http://schemas.microsoft.com/office/drawing/2014/main" id="{0DF02D0D-B884-C3B9-44D5-FB99B79E242A}"/>
              </a:ext>
            </a:extLst>
          </p:cNvPr>
          <p:cNvPicPr>
            <a:picLocks noChangeAspect="1"/>
          </p:cNvPicPr>
          <p:nvPr/>
        </p:nvPicPr>
        <p:blipFill>
          <a:blip r:embed="rId3"/>
          <a:stretch>
            <a:fillRect/>
          </a:stretch>
        </p:blipFill>
        <p:spPr>
          <a:xfrm>
            <a:off x="733043" y="3610462"/>
            <a:ext cx="10322053" cy="1121387"/>
          </a:xfrm>
          <a:prstGeom prst="rect">
            <a:avLst/>
          </a:prstGeom>
        </p:spPr>
      </p:pic>
    </p:spTree>
    <p:extLst>
      <p:ext uri="{BB962C8B-B14F-4D97-AF65-F5344CB8AC3E}">
        <p14:creationId xmlns:p14="http://schemas.microsoft.com/office/powerpoint/2010/main" val="860699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CAEDA-3444-2042-F101-68DD4E2DA9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B4628B-AA9C-106E-283D-0A70ECDD0E36}"/>
              </a:ext>
            </a:extLst>
          </p:cNvPr>
          <p:cNvSpPr txBox="1"/>
          <p:nvPr/>
        </p:nvSpPr>
        <p:spPr>
          <a:xfrm>
            <a:off x="759694" y="267999"/>
            <a:ext cx="9902952" cy="523220"/>
          </a:xfrm>
          <a:prstGeom prst="rect">
            <a:avLst/>
          </a:prstGeom>
          <a:noFill/>
        </p:spPr>
        <p:txBody>
          <a:bodyPr wrap="square" rtlCol="0">
            <a:spAutoFit/>
          </a:bodyPr>
          <a:lstStyle/>
          <a:p>
            <a:r>
              <a:rPr lang="en-US" sz="2800" b="1" dirty="0" err="1">
                <a:solidFill>
                  <a:srgbClr val="FF0000"/>
                </a:solidFill>
              </a:rPr>
              <a:t>Descubrimiento</a:t>
            </a:r>
            <a:r>
              <a:rPr lang="en-US" sz="2800" b="1" dirty="0">
                <a:solidFill>
                  <a:srgbClr val="FF0000"/>
                </a:solidFill>
              </a:rPr>
              <a:t> de </a:t>
            </a:r>
            <a:r>
              <a:rPr lang="en-US" sz="2800" b="1" dirty="0" err="1">
                <a:solidFill>
                  <a:srgbClr val="FF0000"/>
                </a:solidFill>
              </a:rPr>
              <a:t>requerimientos</a:t>
            </a:r>
            <a:endParaRPr lang="en-US" sz="2800" b="1" dirty="0">
              <a:solidFill>
                <a:srgbClr val="FF0000"/>
              </a:solidFill>
            </a:endParaRPr>
          </a:p>
        </p:txBody>
      </p:sp>
      <p:pic>
        <p:nvPicPr>
          <p:cNvPr id="3" name="Picture 2">
            <a:extLst>
              <a:ext uri="{FF2B5EF4-FFF2-40B4-BE49-F238E27FC236}">
                <a16:creationId xmlns:a16="http://schemas.microsoft.com/office/drawing/2014/main" id="{B8B211DC-1565-D89F-3009-70877C399388}"/>
              </a:ext>
            </a:extLst>
          </p:cNvPr>
          <p:cNvPicPr>
            <a:picLocks noChangeAspect="1"/>
          </p:cNvPicPr>
          <p:nvPr/>
        </p:nvPicPr>
        <p:blipFill>
          <a:blip r:embed="rId2"/>
          <a:stretch>
            <a:fillRect/>
          </a:stretch>
        </p:blipFill>
        <p:spPr>
          <a:xfrm>
            <a:off x="896854" y="980510"/>
            <a:ext cx="10004123" cy="2347906"/>
          </a:xfrm>
          <a:prstGeom prst="rect">
            <a:avLst/>
          </a:prstGeom>
        </p:spPr>
      </p:pic>
      <p:pic>
        <p:nvPicPr>
          <p:cNvPr id="9" name="Picture 8">
            <a:extLst>
              <a:ext uri="{FF2B5EF4-FFF2-40B4-BE49-F238E27FC236}">
                <a16:creationId xmlns:a16="http://schemas.microsoft.com/office/drawing/2014/main" id="{3CD6C5A6-AB9A-7C43-6795-B5A38E1B954B}"/>
              </a:ext>
            </a:extLst>
          </p:cNvPr>
          <p:cNvPicPr>
            <a:picLocks noChangeAspect="1"/>
          </p:cNvPicPr>
          <p:nvPr/>
        </p:nvPicPr>
        <p:blipFill>
          <a:blip r:embed="rId3"/>
          <a:stretch>
            <a:fillRect/>
          </a:stretch>
        </p:blipFill>
        <p:spPr>
          <a:xfrm>
            <a:off x="3154631" y="3590201"/>
            <a:ext cx="5212129" cy="3082096"/>
          </a:xfrm>
          <a:prstGeom prst="rect">
            <a:avLst/>
          </a:prstGeom>
        </p:spPr>
      </p:pic>
    </p:spTree>
    <p:extLst>
      <p:ext uri="{BB962C8B-B14F-4D97-AF65-F5344CB8AC3E}">
        <p14:creationId xmlns:p14="http://schemas.microsoft.com/office/powerpoint/2010/main" val="440710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A1B80-B55E-94E6-27A2-927EA4437A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25667A-F254-F0BB-61C0-60A74F5CDD1F}"/>
              </a:ext>
            </a:extLst>
          </p:cNvPr>
          <p:cNvSpPr txBox="1"/>
          <p:nvPr/>
        </p:nvSpPr>
        <p:spPr>
          <a:xfrm>
            <a:off x="759694" y="267999"/>
            <a:ext cx="9902952" cy="523220"/>
          </a:xfrm>
          <a:prstGeom prst="rect">
            <a:avLst/>
          </a:prstGeom>
          <a:noFill/>
        </p:spPr>
        <p:txBody>
          <a:bodyPr wrap="square" rtlCol="0">
            <a:spAutoFit/>
          </a:bodyPr>
          <a:lstStyle/>
          <a:p>
            <a:r>
              <a:rPr lang="es-CO" sz="2800" b="1" dirty="0">
                <a:solidFill>
                  <a:srgbClr val="FF0000"/>
                </a:solidFill>
              </a:rPr>
              <a:t>E</a:t>
            </a:r>
            <a:r>
              <a:rPr lang="en-US" sz="2800" b="1" dirty="0" err="1">
                <a:solidFill>
                  <a:srgbClr val="FF0000"/>
                </a:solidFill>
              </a:rPr>
              <a:t>ntrevistas</a:t>
            </a:r>
            <a:endParaRPr lang="en-US" sz="2800" b="1" dirty="0">
              <a:solidFill>
                <a:srgbClr val="FF0000"/>
              </a:solidFill>
            </a:endParaRPr>
          </a:p>
        </p:txBody>
      </p:sp>
      <p:pic>
        <p:nvPicPr>
          <p:cNvPr id="5" name="Picture 4">
            <a:extLst>
              <a:ext uri="{FF2B5EF4-FFF2-40B4-BE49-F238E27FC236}">
                <a16:creationId xmlns:a16="http://schemas.microsoft.com/office/drawing/2014/main" id="{7B9C1B44-8EAF-2DA3-5AF0-477662C87770}"/>
              </a:ext>
            </a:extLst>
          </p:cNvPr>
          <p:cNvPicPr>
            <a:picLocks noChangeAspect="1"/>
          </p:cNvPicPr>
          <p:nvPr/>
        </p:nvPicPr>
        <p:blipFill>
          <a:blip r:embed="rId2"/>
          <a:stretch>
            <a:fillRect/>
          </a:stretch>
        </p:blipFill>
        <p:spPr>
          <a:xfrm>
            <a:off x="878567" y="996584"/>
            <a:ext cx="10002794" cy="3870129"/>
          </a:xfrm>
          <a:prstGeom prst="rect">
            <a:avLst/>
          </a:prstGeom>
        </p:spPr>
      </p:pic>
    </p:spTree>
    <p:extLst>
      <p:ext uri="{BB962C8B-B14F-4D97-AF65-F5344CB8AC3E}">
        <p14:creationId xmlns:p14="http://schemas.microsoft.com/office/powerpoint/2010/main" val="819023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EE562-CEE9-889A-F84F-E77921E9A3A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E02F0E-7BA1-2B36-F144-791DF559BF49}"/>
              </a:ext>
            </a:extLst>
          </p:cNvPr>
          <p:cNvSpPr txBox="1"/>
          <p:nvPr/>
        </p:nvSpPr>
        <p:spPr>
          <a:xfrm>
            <a:off x="759694" y="267999"/>
            <a:ext cx="9902952" cy="523220"/>
          </a:xfrm>
          <a:prstGeom prst="rect">
            <a:avLst/>
          </a:prstGeom>
          <a:noFill/>
        </p:spPr>
        <p:txBody>
          <a:bodyPr wrap="square" rtlCol="0">
            <a:spAutoFit/>
          </a:bodyPr>
          <a:lstStyle/>
          <a:p>
            <a:r>
              <a:rPr lang="es-CO" sz="2800" b="1" dirty="0">
                <a:solidFill>
                  <a:srgbClr val="FF0000"/>
                </a:solidFill>
              </a:rPr>
              <a:t>E</a:t>
            </a:r>
            <a:r>
              <a:rPr lang="en-US" sz="2800" b="1" dirty="0">
                <a:solidFill>
                  <a:srgbClr val="FF0000"/>
                </a:solidFill>
              </a:rPr>
              <a:t>scenarios</a:t>
            </a:r>
          </a:p>
        </p:txBody>
      </p:sp>
      <p:pic>
        <p:nvPicPr>
          <p:cNvPr id="3" name="Picture 2">
            <a:extLst>
              <a:ext uri="{FF2B5EF4-FFF2-40B4-BE49-F238E27FC236}">
                <a16:creationId xmlns:a16="http://schemas.microsoft.com/office/drawing/2014/main" id="{182029AF-D9B2-034B-74BE-F17199FCD4A4}"/>
              </a:ext>
            </a:extLst>
          </p:cNvPr>
          <p:cNvPicPr>
            <a:picLocks noChangeAspect="1"/>
          </p:cNvPicPr>
          <p:nvPr/>
        </p:nvPicPr>
        <p:blipFill>
          <a:blip r:embed="rId2"/>
          <a:stretch>
            <a:fillRect/>
          </a:stretch>
        </p:blipFill>
        <p:spPr>
          <a:xfrm>
            <a:off x="951480" y="1302780"/>
            <a:ext cx="10289039" cy="2802876"/>
          </a:xfrm>
          <a:prstGeom prst="rect">
            <a:avLst/>
          </a:prstGeom>
        </p:spPr>
      </p:pic>
    </p:spTree>
    <p:extLst>
      <p:ext uri="{BB962C8B-B14F-4D97-AF65-F5344CB8AC3E}">
        <p14:creationId xmlns:p14="http://schemas.microsoft.com/office/powerpoint/2010/main" val="2313934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29E18-8095-27E6-D236-F0EA2CB8B01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ECB71A-EE74-7699-9B88-F044FDC4E4CB}"/>
              </a:ext>
            </a:extLst>
          </p:cNvPr>
          <p:cNvSpPr txBox="1"/>
          <p:nvPr/>
        </p:nvSpPr>
        <p:spPr>
          <a:xfrm>
            <a:off x="759694" y="267999"/>
            <a:ext cx="9902952" cy="523220"/>
          </a:xfrm>
          <a:prstGeom prst="rect">
            <a:avLst/>
          </a:prstGeom>
          <a:noFill/>
        </p:spPr>
        <p:txBody>
          <a:bodyPr wrap="square" rtlCol="0">
            <a:spAutoFit/>
          </a:bodyPr>
          <a:lstStyle/>
          <a:p>
            <a:r>
              <a:rPr lang="es-CO" sz="2800" b="1" dirty="0">
                <a:solidFill>
                  <a:srgbClr val="FF0000"/>
                </a:solidFill>
              </a:rPr>
              <a:t>E</a:t>
            </a:r>
            <a:r>
              <a:rPr lang="en-US" sz="2800" b="1" dirty="0">
                <a:solidFill>
                  <a:srgbClr val="FF0000"/>
                </a:solidFill>
              </a:rPr>
              <a:t>scenarios</a:t>
            </a:r>
          </a:p>
        </p:txBody>
      </p:sp>
      <p:pic>
        <p:nvPicPr>
          <p:cNvPr id="5" name="Picture 4">
            <a:extLst>
              <a:ext uri="{FF2B5EF4-FFF2-40B4-BE49-F238E27FC236}">
                <a16:creationId xmlns:a16="http://schemas.microsoft.com/office/drawing/2014/main" id="{1C3250AD-A0BA-D95E-5E22-209F51F677AC}"/>
              </a:ext>
            </a:extLst>
          </p:cNvPr>
          <p:cNvPicPr>
            <a:picLocks noChangeAspect="1"/>
          </p:cNvPicPr>
          <p:nvPr/>
        </p:nvPicPr>
        <p:blipFill>
          <a:blip r:embed="rId2"/>
          <a:stretch>
            <a:fillRect/>
          </a:stretch>
        </p:blipFill>
        <p:spPr>
          <a:xfrm>
            <a:off x="859513" y="1072030"/>
            <a:ext cx="10223015" cy="3837962"/>
          </a:xfrm>
          <a:prstGeom prst="rect">
            <a:avLst/>
          </a:prstGeom>
        </p:spPr>
      </p:pic>
    </p:spTree>
    <p:extLst>
      <p:ext uri="{BB962C8B-B14F-4D97-AF65-F5344CB8AC3E}">
        <p14:creationId xmlns:p14="http://schemas.microsoft.com/office/powerpoint/2010/main" val="3138026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5A812-EBAE-7741-7A3A-111DD56577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29E6F0-50AC-1733-A489-8FBDF70E375C}"/>
              </a:ext>
            </a:extLst>
          </p:cNvPr>
          <p:cNvSpPr txBox="1"/>
          <p:nvPr/>
        </p:nvSpPr>
        <p:spPr>
          <a:xfrm>
            <a:off x="83038" y="1456719"/>
            <a:ext cx="2751602" cy="1631216"/>
          </a:xfrm>
          <a:prstGeom prst="rect">
            <a:avLst/>
          </a:prstGeom>
          <a:noFill/>
        </p:spPr>
        <p:txBody>
          <a:bodyPr wrap="square" rtlCol="0">
            <a:spAutoFit/>
          </a:bodyPr>
          <a:lstStyle/>
          <a:p>
            <a:r>
              <a:rPr lang="es-CO" sz="2000" b="1" dirty="0">
                <a:solidFill>
                  <a:srgbClr val="FF0000"/>
                </a:solidFill>
              </a:rPr>
              <a:t>E</a:t>
            </a:r>
            <a:r>
              <a:rPr lang="en-US" sz="2000" b="1" dirty="0" err="1">
                <a:solidFill>
                  <a:srgbClr val="FF0000"/>
                </a:solidFill>
              </a:rPr>
              <a:t>jemplo</a:t>
            </a:r>
            <a:r>
              <a:rPr lang="en-US" sz="2000" b="1" dirty="0">
                <a:solidFill>
                  <a:srgbClr val="FF0000"/>
                </a:solidFill>
              </a:rPr>
              <a:t> de scenario para </a:t>
            </a:r>
            <a:r>
              <a:rPr lang="en-US" sz="2000" b="1" dirty="0" err="1">
                <a:solidFill>
                  <a:srgbClr val="FF0000"/>
                </a:solidFill>
              </a:rPr>
              <a:t>obtener</a:t>
            </a:r>
            <a:r>
              <a:rPr lang="en-US" sz="2000" b="1" dirty="0">
                <a:solidFill>
                  <a:srgbClr val="FF0000"/>
                </a:solidFill>
              </a:rPr>
              <a:t> </a:t>
            </a:r>
            <a:r>
              <a:rPr lang="en-US" sz="2000" b="1" dirty="0" err="1">
                <a:solidFill>
                  <a:srgbClr val="FF0000"/>
                </a:solidFill>
              </a:rPr>
              <a:t>información</a:t>
            </a:r>
            <a:r>
              <a:rPr lang="en-US" sz="2000" b="1" dirty="0">
                <a:solidFill>
                  <a:srgbClr val="FF0000"/>
                </a:solidFill>
              </a:rPr>
              <a:t> general </a:t>
            </a:r>
            <a:r>
              <a:rPr lang="en-US" sz="2000" b="1" dirty="0" err="1">
                <a:solidFill>
                  <a:srgbClr val="FF0000"/>
                </a:solidFill>
              </a:rPr>
              <a:t>acerca</a:t>
            </a:r>
            <a:r>
              <a:rPr lang="en-US" sz="2000" b="1" dirty="0">
                <a:solidFill>
                  <a:srgbClr val="FF0000"/>
                </a:solidFill>
              </a:rPr>
              <a:t> de </a:t>
            </a:r>
            <a:r>
              <a:rPr lang="en-US" sz="2000" b="1" dirty="0" err="1">
                <a:solidFill>
                  <a:srgbClr val="FF0000"/>
                </a:solidFill>
              </a:rPr>
              <a:t>una</a:t>
            </a:r>
            <a:r>
              <a:rPr lang="en-US" sz="2000" b="1" dirty="0">
                <a:solidFill>
                  <a:srgbClr val="FF0000"/>
                </a:solidFill>
              </a:rPr>
              <a:t> </a:t>
            </a:r>
            <a:r>
              <a:rPr lang="en-US" sz="2000" b="1" dirty="0" err="1">
                <a:solidFill>
                  <a:srgbClr val="FF0000"/>
                </a:solidFill>
              </a:rPr>
              <a:t>historia</a:t>
            </a:r>
            <a:r>
              <a:rPr lang="en-US" sz="2000" b="1" dirty="0">
                <a:solidFill>
                  <a:srgbClr val="FF0000"/>
                </a:solidFill>
              </a:rPr>
              <a:t> </a:t>
            </a:r>
            <a:r>
              <a:rPr lang="en-US" sz="2000" b="1" dirty="0" err="1">
                <a:solidFill>
                  <a:srgbClr val="FF0000"/>
                </a:solidFill>
              </a:rPr>
              <a:t>médica</a:t>
            </a:r>
            <a:endParaRPr lang="en-US" sz="2000" b="1" dirty="0">
              <a:solidFill>
                <a:srgbClr val="FF0000"/>
              </a:solidFill>
            </a:endParaRPr>
          </a:p>
        </p:txBody>
      </p:sp>
      <p:pic>
        <p:nvPicPr>
          <p:cNvPr id="3" name="Picture 2">
            <a:extLst>
              <a:ext uri="{FF2B5EF4-FFF2-40B4-BE49-F238E27FC236}">
                <a16:creationId xmlns:a16="http://schemas.microsoft.com/office/drawing/2014/main" id="{7BDB533A-A067-56AB-C71D-D65E212C0A3E}"/>
              </a:ext>
            </a:extLst>
          </p:cNvPr>
          <p:cNvPicPr>
            <a:picLocks noChangeAspect="1"/>
          </p:cNvPicPr>
          <p:nvPr/>
        </p:nvPicPr>
        <p:blipFill>
          <a:blip r:embed="rId2"/>
          <a:stretch>
            <a:fillRect/>
          </a:stretch>
        </p:blipFill>
        <p:spPr>
          <a:xfrm>
            <a:off x="2990750" y="0"/>
            <a:ext cx="8953700" cy="6858000"/>
          </a:xfrm>
          <a:prstGeom prst="rect">
            <a:avLst/>
          </a:prstGeom>
        </p:spPr>
      </p:pic>
    </p:spTree>
    <p:extLst>
      <p:ext uri="{BB962C8B-B14F-4D97-AF65-F5344CB8AC3E}">
        <p14:creationId xmlns:p14="http://schemas.microsoft.com/office/powerpoint/2010/main" val="13831655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9E04-64C5-927D-6A6D-F9B911C902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0BEA5D-AA66-9A94-5CE4-0251D7F5FB52}"/>
              </a:ext>
            </a:extLst>
          </p:cNvPr>
          <p:cNvSpPr txBox="1"/>
          <p:nvPr/>
        </p:nvSpPr>
        <p:spPr>
          <a:xfrm>
            <a:off x="521950" y="240567"/>
            <a:ext cx="9161546" cy="523220"/>
          </a:xfrm>
          <a:prstGeom prst="rect">
            <a:avLst/>
          </a:prstGeom>
          <a:noFill/>
        </p:spPr>
        <p:txBody>
          <a:bodyPr wrap="square" rtlCol="0">
            <a:spAutoFit/>
          </a:bodyPr>
          <a:lstStyle/>
          <a:p>
            <a:r>
              <a:rPr lang="es-CO" sz="2800" b="1" dirty="0">
                <a:solidFill>
                  <a:srgbClr val="FF0000"/>
                </a:solidFill>
              </a:rPr>
              <a:t>Casos de uso</a:t>
            </a:r>
            <a:endParaRPr lang="en-US" sz="2800" b="1" dirty="0">
              <a:solidFill>
                <a:srgbClr val="FF0000"/>
              </a:solidFill>
            </a:endParaRPr>
          </a:p>
        </p:txBody>
      </p:sp>
      <p:pic>
        <p:nvPicPr>
          <p:cNvPr id="5" name="Picture 4">
            <a:extLst>
              <a:ext uri="{FF2B5EF4-FFF2-40B4-BE49-F238E27FC236}">
                <a16:creationId xmlns:a16="http://schemas.microsoft.com/office/drawing/2014/main" id="{346FE672-4A2F-8359-8E50-C71570BC53EB}"/>
              </a:ext>
            </a:extLst>
          </p:cNvPr>
          <p:cNvPicPr>
            <a:picLocks noChangeAspect="1"/>
          </p:cNvPicPr>
          <p:nvPr/>
        </p:nvPicPr>
        <p:blipFill>
          <a:blip r:embed="rId2"/>
          <a:stretch>
            <a:fillRect/>
          </a:stretch>
        </p:blipFill>
        <p:spPr>
          <a:xfrm>
            <a:off x="982862" y="870528"/>
            <a:ext cx="9974067" cy="819264"/>
          </a:xfrm>
          <a:prstGeom prst="rect">
            <a:avLst/>
          </a:prstGeom>
        </p:spPr>
      </p:pic>
      <p:pic>
        <p:nvPicPr>
          <p:cNvPr id="7" name="Picture 6">
            <a:extLst>
              <a:ext uri="{FF2B5EF4-FFF2-40B4-BE49-F238E27FC236}">
                <a16:creationId xmlns:a16="http://schemas.microsoft.com/office/drawing/2014/main" id="{1CA99239-47DA-E8FB-B011-5951BE877E2B}"/>
              </a:ext>
            </a:extLst>
          </p:cNvPr>
          <p:cNvPicPr>
            <a:picLocks noChangeAspect="1"/>
          </p:cNvPicPr>
          <p:nvPr/>
        </p:nvPicPr>
        <p:blipFill>
          <a:blip r:embed="rId3"/>
          <a:stretch>
            <a:fillRect/>
          </a:stretch>
        </p:blipFill>
        <p:spPr>
          <a:xfrm>
            <a:off x="1030494" y="1691097"/>
            <a:ext cx="9926435" cy="4296375"/>
          </a:xfrm>
          <a:prstGeom prst="rect">
            <a:avLst/>
          </a:prstGeom>
        </p:spPr>
      </p:pic>
    </p:spTree>
    <p:extLst>
      <p:ext uri="{BB962C8B-B14F-4D97-AF65-F5344CB8AC3E}">
        <p14:creationId xmlns:p14="http://schemas.microsoft.com/office/powerpoint/2010/main" val="3337720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197B1-F4E9-95C5-B55A-30225560992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B48BF5D-CB8D-A5D7-0808-591D8FC1F1FF}"/>
              </a:ext>
            </a:extLst>
          </p:cNvPr>
          <p:cNvSpPr txBox="1"/>
          <p:nvPr/>
        </p:nvSpPr>
        <p:spPr>
          <a:xfrm>
            <a:off x="521950" y="240567"/>
            <a:ext cx="9161546" cy="523220"/>
          </a:xfrm>
          <a:prstGeom prst="rect">
            <a:avLst/>
          </a:prstGeom>
          <a:noFill/>
        </p:spPr>
        <p:txBody>
          <a:bodyPr wrap="square" rtlCol="0">
            <a:spAutoFit/>
          </a:bodyPr>
          <a:lstStyle/>
          <a:p>
            <a:r>
              <a:rPr lang="es-CO" sz="2800" b="1" dirty="0">
                <a:solidFill>
                  <a:srgbClr val="FF0000"/>
                </a:solidFill>
              </a:rPr>
              <a:t>Ejemplo de casos de uso</a:t>
            </a:r>
            <a:endParaRPr lang="en-US" sz="2800" b="1" dirty="0">
              <a:solidFill>
                <a:srgbClr val="FF0000"/>
              </a:solidFill>
            </a:endParaRPr>
          </a:p>
        </p:txBody>
      </p:sp>
      <p:pic>
        <p:nvPicPr>
          <p:cNvPr id="3" name="Picture 2">
            <a:extLst>
              <a:ext uri="{FF2B5EF4-FFF2-40B4-BE49-F238E27FC236}">
                <a16:creationId xmlns:a16="http://schemas.microsoft.com/office/drawing/2014/main" id="{D0033566-7447-04D1-A253-92868D9F751A}"/>
              </a:ext>
            </a:extLst>
          </p:cNvPr>
          <p:cNvPicPr>
            <a:picLocks noChangeAspect="1"/>
          </p:cNvPicPr>
          <p:nvPr/>
        </p:nvPicPr>
        <p:blipFill>
          <a:blip r:embed="rId2"/>
          <a:stretch>
            <a:fillRect/>
          </a:stretch>
        </p:blipFill>
        <p:spPr>
          <a:xfrm>
            <a:off x="1104028" y="892081"/>
            <a:ext cx="9764488" cy="5896798"/>
          </a:xfrm>
          <a:prstGeom prst="rect">
            <a:avLst/>
          </a:prstGeom>
        </p:spPr>
      </p:pic>
    </p:spTree>
    <p:extLst>
      <p:ext uri="{BB962C8B-B14F-4D97-AF65-F5344CB8AC3E}">
        <p14:creationId xmlns:p14="http://schemas.microsoft.com/office/powerpoint/2010/main" val="2496236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AE66E-D5EE-7986-1BFF-2BD8D3D6DB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C6EA50-1D0F-AE0E-5A9C-532D1B6BB317}"/>
              </a:ext>
            </a:extLst>
          </p:cNvPr>
          <p:cNvSpPr txBox="1"/>
          <p:nvPr/>
        </p:nvSpPr>
        <p:spPr>
          <a:xfrm>
            <a:off x="888491" y="336368"/>
            <a:ext cx="5375149" cy="523220"/>
          </a:xfrm>
          <a:prstGeom prst="rect">
            <a:avLst/>
          </a:prstGeom>
          <a:noFill/>
        </p:spPr>
        <p:txBody>
          <a:bodyPr wrap="square" rtlCol="0">
            <a:spAutoFit/>
          </a:bodyPr>
          <a:lstStyle/>
          <a:p>
            <a:r>
              <a:rPr lang="en-US" sz="2800" b="1" dirty="0" err="1">
                <a:solidFill>
                  <a:srgbClr val="FF0000"/>
                </a:solidFill>
              </a:rPr>
              <a:t>Validación</a:t>
            </a:r>
            <a:r>
              <a:rPr lang="en-US" sz="2800" b="1" dirty="0">
                <a:solidFill>
                  <a:srgbClr val="FF0000"/>
                </a:solidFill>
              </a:rPr>
              <a:t> de </a:t>
            </a:r>
            <a:r>
              <a:rPr lang="en-US" sz="2800" b="1" dirty="0" err="1">
                <a:solidFill>
                  <a:srgbClr val="FF0000"/>
                </a:solidFill>
              </a:rPr>
              <a:t>requerimientos</a:t>
            </a:r>
            <a:endParaRPr lang="en-US" sz="2800" b="1" dirty="0">
              <a:solidFill>
                <a:srgbClr val="FF0000"/>
              </a:solidFill>
            </a:endParaRPr>
          </a:p>
        </p:txBody>
      </p:sp>
      <p:pic>
        <p:nvPicPr>
          <p:cNvPr id="3" name="Picture 2">
            <a:extLst>
              <a:ext uri="{FF2B5EF4-FFF2-40B4-BE49-F238E27FC236}">
                <a16:creationId xmlns:a16="http://schemas.microsoft.com/office/drawing/2014/main" id="{DDF322FB-2E83-C0AE-F42E-CA779C3D9C38}"/>
              </a:ext>
            </a:extLst>
          </p:cNvPr>
          <p:cNvPicPr>
            <a:picLocks noChangeAspect="1"/>
          </p:cNvPicPr>
          <p:nvPr/>
        </p:nvPicPr>
        <p:blipFill>
          <a:blip r:embed="rId2"/>
          <a:stretch>
            <a:fillRect/>
          </a:stretch>
        </p:blipFill>
        <p:spPr>
          <a:xfrm>
            <a:off x="1421185" y="1142402"/>
            <a:ext cx="8536632" cy="4573196"/>
          </a:xfrm>
          <a:prstGeom prst="rect">
            <a:avLst/>
          </a:prstGeom>
        </p:spPr>
      </p:pic>
    </p:spTree>
    <p:extLst>
      <p:ext uri="{BB962C8B-B14F-4D97-AF65-F5344CB8AC3E}">
        <p14:creationId xmlns:p14="http://schemas.microsoft.com/office/powerpoint/2010/main" val="76792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07A0C-58D8-7228-156B-62EB7578D4B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552250E-9486-1DA5-20BA-FEE4B2E5E45C}"/>
              </a:ext>
            </a:extLst>
          </p:cNvPr>
          <p:cNvSpPr txBox="1"/>
          <p:nvPr/>
        </p:nvSpPr>
        <p:spPr>
          <a:xfrm>
            <a:off x="888491" y="336368"/>
            <a:ext cx="5375149" cy="523220"/>
          </a:xfrm>
          <a:prstGeom prst="rect">
            <a:avLst/>
          </a:prstGeom>
          <a:noFill/>
        </p:spPr>
        <p:txBody>
          <a:bodyPr wrap="square" rtlCol="0">
            <a:spAutoFit/>
          </a:bodyPr>
          <a:lstStyle/>
          <a:p>
            <a:r>
              <a:rPr lang="en-US" sz="2800" b="1" dirty="0" err="1">
                <a:solidFill>
                  <a:srgbClr val="FF0000"/>
                </a:solidFill>
              </a:rPr>
              <a:t>Validación</a:t>
            </a:r>
            <a:r>
              <a:rPr lang="en-US" sz="2800" b="1" dirty="0">
                <a:solidFill>
                  <a:srgbClr val="FF0000"/>
                </a:solidFill>
              </a:rPr>
              <a:t> de </a:t>
            </a:r>
            <a:r>
              <a:rPr lang="en-US" sz="2800" b="1" dirty="0" err="1">
                <a:solidFill>
                  <a:srgbClr val="FF0000"/>
                </a:solidFill>
              </a:rPr>
              <a:t>requerimientos</a:t>
            </a:r>
            <a:endParaRPr lang="en-US" sz="2800" b="1" dirty="0">
              <a:solidFill>
                <a:srgbClr val="FF0000"/>
              </a:solidFill>
            </a:endParaRPr>
          </a:p>
        </p:txBody>
      </p:sp>
      <p:pic>
        <p:nvPicPr>
          <p:cNvPr id="5" name="Picture 4">
            <a:extLst>
              <a:ext uri="{FF2B5EF4-FFF2-40B4-BE49-F238E27FC236}">
                <a16:creationId xmlns:a16="http://schemas.microsoft.com/office/drawing/2014/main" id="{2048CBEC-4E83-40D8-FA70-AB8FF38E0AF5}"/>
              </a:ext>
            </a:extLst>
          </p:cNvPr>
          <p:cNvPicPr>
            <a:picLocks noChangeAspect="1"/>
          </p:cNvPicPr>
          <p:nvPr/>
        </p:nvPicPr>
        <p:blipFill>
          <a:blip r:embed="rId2"/>
          <a:stretch>
            <a:fillRect/>
          </a:stretch>
        </p:blipFill>
        <p:spPr>
          <a:xfrm>
            <a:off x="888491" y="1173650"/>
            <a:ext cx="9526525" cy="2871502"/>
          </a:xfrm>
          <a:prstGeom prst="rect">
            <a:avLst/>
          </a:prstGeom>
        </p:spPr>
      </p:pic>
    </p:spTree>
    <p:extLst>
      <p:ext uri="{BB962C8B-B14F-4D97-AF65-F5344CB8AC3E}">
        <p14:creationId xmlns:p14="http://schemas.microsoft.com/office/powerpoint/2010/main" val="25869702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D3C39-C268-519E-D714-BD186F9FE2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314EA0-6F4E-E746-FEAD-287CD88068DC}"/>
              </a:ext>
            </a:extLst>
          </p:cNvPr>
          <p:cNvSpPr txBox="1"/>
          <p:nvPr/>
        </p:nvSpPr>
        <p:spPr>
          <a:xfrm>
            <a:off x="614171" y="231423"/>
            <a:ext cx="9307069" cy="523220"/>
          </a:xfrm>
          <a:prstGeom prst="rect">
            <a:avLst/>
          </a:prstGeom>
          <a:noFill/>
        </p:spPr>
        <p:txBody>
          <a:bodyPr wrap="square" rtlCol="0">
            <a:spAutoFit/>
          </a:bodyPr>
          <a:lstStyle/>
          <a:p>
            <a:r>
              <a:rPr lang="en-US" sz="2800" b="1" dirty="0" err="1">
                <a:solidFill>
                  <a:srgbClr val="FF0000"/>
                </a:solidFill>
              </a:rPr>
              <a:t>Técnicas</a:t>
            </a:r>
            <a:r>
              <a:rPr lang="en-US" sz="2800" b="1" dirty="0">
                <a:solidFill>
                  <a:srgbClr val="FF0000"/>
                </a:solidFill>
              </a:rPr>
              <a:t> de </a:t>
            </a:r>
            <a:r>
              <a:rPr lang="en-US" sz="2800" b="1" dirty="0" err="1">
                <a:solidFill>
                  <a:srgbClr val="FF0000"/>
                </a:solidFill>
              </a:rPr>
              <a:t>validación</a:t>
            </a:r>
            <a:r>
              <a:rPr lang="en-US" sz="2800" b="1" dirty="0">
                <a:solidFill>
                  <a:srgbClr val="FF0000"/>
                </a:solidFill>
              </a:rPr>
              <a:t> de requerimientos</a:t>
            </a:r>
          </a:p>
        </p:txBody>
      </p:sp>
      <p:pic>
        <p:nvPicPr>
          <p:cNvPr id="3" name="Picture 2">
            <a:extLst>
              <a:ext uri="{FF2B5EF4-FFF2-40B4-BE49-F238E27FC236}">
                <a16:creationId xmlns:a16="http://schemas.microsoft.com/office/drawing/2014/main" id="{D56F7F22-A197-C8F1-1BB1-251599B217F5}"/>
              </a:ext>
            </a:extLst>
          </p:cNvPr>
          <p:cNvPicPr>
            <a:picLocks noChangeAspect="1"/>
          </p:cNvPicPr>
          <p:nvPr/>
        </p:nvPicPr>
        <p:blipFill>
          <a:blip r:embed="rId2"/>
          <a:stretch>
            <a:fillRect/>
          </a:stretch>
        </p:blipFill>
        <p:spPr>
          <a:xfrm>
            <a:off x="614171" y="937450"/>
            <a:ext cx="10374173" cy="5458587"/>
          </a:xfrm>
          <a:prstGeom prst="rect">
            <a:avLst/>
          </a:prstGeom>
        </p:spPr>
      </p:pic>
    </p:spTree>
    <p:extLst>
      <p:ext uri="{BB962C8B-B14F-4D97-AF65-F5344CB8AC3E}">
        <p14:creationId xmlns:p14="http://schemas.microsoft.com/office/powerpoint/2010/main" val="2632361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26069-A35C-75E2-169A-A45CB5E5D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72DDFA-7CF0-3EE1-7073-67F782EFFB90}"/>
              </a:ext>
            </a:extLst>
          </p:cNvPr>
          <p:cNvSpPr txBox="1"/>
          <p:nvPr/>
        </p:nvSpPr>
        <p:spPr>
          <a:xfrm>
            <a:off x="614171" y="231423"/>
            <a:ext cx="10267189" cy="2985433"/>
          </a:xfrm>
          <a:prstGeom prst="rect">
            <a:avLst/>
          </a:prstGeom>
          <a:noFill/>
        </p:spPr>
        <p:txBody>
          <a:bodyPr wrap="square" rtlCol="0">
            <a:spAutoFit/>
          </a:bodyPr>
          <a:lstStyle/>
          <a:p>
            <a:r>
              <a:rPr lang="en-US" sz="2800" b="1" dirty="0">
                <a:solidFill>
                  <a:srgbClr val="FF0000"/>
                </a:solidFill>
              </a:rPr>
              <a:t>Administración de </a:t>
            </a:r>
            <a:r>
              <a:rPr lang="en-US" sz="2800" b="1" dirty="0" err="1">
                <a:solidFill>
                  <a:srgbClr val="FF0000"/>
                </a:solidFill>
              </a:rPr>
              <a:t>requerimientos</a:t>
            </a:r>
            <a:endParaRPr lang="en-US" sz="2800" b="1" dirty="0">
              <a:solidFill>
                <a:srgbClr val="FF0000"/>
              </a:solidFill>
            </a:endParaRPr>
          </a:p>
          <a:p>
            <a:endParaRPr lang="en-US" sz="2000" b="1" dirty="0">
              <a:solidFill>
                <a:srgbClr val="FF0000"/>
              </a:solidFill>
            </a:endParaRPr>
          </a:p>
          <a:p>
            <a:r>
              <a:rPr lang="es-ES" sz="2000" dirty="0"/>
              <a:t>Los requerimientos para los grandes sistemas de software siempre cambian. Una razón es que dichos sistemas se desarrollaron por lo general para resolver problemas complejos: aquellos problemas que no se pueden definir por completo. Como el problema no se logra definir por completo, los requerimientos del software están condenados también a estar incompletos. Durante el proceso de software, la comprensión que los participantes tienen de los problemas cambia constantemente. Entonces, los requerimientos del sistema también deben evolucionar para reflejar esa visión cambiante del problema.</a:t>
            </a:r>
            <a:endParaRPr lang="en-US" sz="2000" b="1" dirty="0">
              <a:solidFill>
                <a:srgbClr val="FF0000"/>
              </a:solidFill>
            </a:endParaRPr>
          </a:p>
        </p:txBody>
      </p:sp>
      <p:pic>
        <p:nvPicPr>
          <p:cNvPr id="5" name="Picture 4">
            <a:extLst>
              <a:ext uri="{FF2B5EF4-FFF2-40B4-BE49-F238E27FC236}">
                <a16:creationId xmlns:a16="http://schemas.microsoft.com/office/drawing/2014/main" id="{B030598D-EF7C-BC5F-F8D2-9D9DF2CCD4C9}"/>
              </a:ext>
            </a:extLst>
          </p:cNvPr>
          <p:cNvPicPr>
            <a:picLocks noChangeAspect="1"/>
          </p:cNvPicPr>
          <p:nvPr/>
        </p:nvPicPr>
        <p:blipFill>
          <a:blip r:embed="rId2"/>
          <a:stretch>
            <a:fillRect/>
          </a:stretch>
        </p:blipFill>
        <p:spPr>
          <a:xfrm>
            <a:off x="2575104" y="3563260"/>
            <a:ext cx="6345321" cy="2797055"/>
          </a:xfrm>
          <a:prstGeom prst="rect">
            <a:avLst/>
          </a:prstGeom>
        </p:spPr>
      </p:pic>
    </p:spTree>
    <p:extLst>
      <p:ext uri="{BB962C8B-B14F-4D97-AF65-F5344CB8AC3E}">
        <p14:creationId xmlns:p14="http://schemas.microsoft.com/office/powerpoint/2010/main" val="1356057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84B3A-AD8A-4E23-E156-55A0264A60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E4A8CE2-9E99-F736-0660-BD03512ADB86}"/>
              </a:ext>
            </a:extLst>
          </p:cNvPr>
          <p:cNvSpPr txBox="1"/>
          <p:nvPr/>
        </p:nvSpPr>
        <p:spPr>
          <a:xfrm>
            <a:off x="614171" y="231423"/>
            <a:ext cx="10267189" cy="523220"/>
          </a:xfrm>
          <a:prstGeom prst="rect">
            <a:avLst/>
          </a:prstGeom>
          <a:noFill/>
        </p:spPr>
        <p:txBody>
          <a:bodyPr wrap="square" rtlCol="0">
            <a:spAutoFit/>
          </a:bodyPr>
          <a:lstStyle/>
          <a:p>
            <a:r>
              <a:rPr lang="en-US" sz="2800" b="1" dirty="0">
                <a:solidFill>
                  <a:srgbClr val="FF0000"/>
                </a:solidFill>
              </a:rPr>
              <a:t>Administración del </a:t>
            </a:r>
            <a:r>
              <a:rPr lang="en-US" sz="2800" b="1" dirty="0" err="1">
                <a:solidFill>
                  <a:srgbClr val="FF0000"/>
                </a:solidFill>
              </a:rPr>
              <a:t>cambio</a:t>
            </a:r>
            <a:r>
              <a:rPr lang="en-US" sz="2800" b="1" dirty="0">
                <a:solidFill>
                  <a:srgbClr val="FF0000"/>
                </a:solidFill>
              </a:rPr>
              <a:t> de </a:t>
            </a:r>
            <a:r>
              <a:rPr lang="en-US" sz="2800" b="1" dirty="0" err="1">
                <a:solidFill>
                  <a:srgbClr val="FF0000"/>
                </a:solidFill>
              </a:rPr>
              <a:t>requerimientos</a:t>
            </a:r>
            <a:endParaRPr lang="en-US" sz="2800" b="1" dirty="0">
              <a:solidFill>
                <a:srgbClr val="FF0000"/>
              </a:solidFill>
            </a:endParaRPr>
          </a:p>
        </p:txBody>
      </p:sp>
      <p:pic>
        <p:nvPicPr>
          <p:cNvPr id="5" name="Picture 4">
            <a:extLst>
              <a:ext uri="{FF2B5EF4-FFF2-40B4-BE49-F238E27FC236}">
                <a16:creationId xmlns:a16="http://schemas.microsoft.com/office/drawing/2014/main" id="{6D865042-BDC4-E8BE-77BB-2B254F3D9EC9}"/>
              </a:ext>
            </a:extLst>
          </p:cNvPr>
          <p:cNvPicPr>
            <a:picLocks noChangeAspect="1"/>
          </p:cNvPicPr>
          <p:nvPr/>
        </p:nvPicPr>
        <p:blipFill>
          <a:blip r:embed="rId2"/>
          <a:stretch>
            <a:fillRect/>
          </a:stretch>
        </p:blipFill>
        <p:spPr>
          <a:xfrm>
            <a:off x="2346504" y="1354885"/>
            <a:ext cx="6345321" cy="2797055"/>
          </a:xfrm>
          <a:prstGeom prst="rect">
            <a:avLst/>
          </a:prstGeom>
        </p:spPr>
      </p:pic>
      <p:pic>
        <p:nvPicPr>
          <p:cNvPr id="3" name="Picture 2">
            <a:extLst>
              <a:ext uri="{FF2B5EF4-FFF2-40B4-BE49-F238E27FC236}">
                <a16:creationId xmlns:a16="http://schemas.microsoft.com/office/drawing/2014/main" id="{752C011C-6F31-FD28-EA4E-FF7724F5196C}"/>
              </a:ext>
            </a:extLst>
          </p:cNvPr>
          <p:cNvPicPr>
            <a:picLocks noChangeAspect="1"/>
          </p:cNvPicPr>
          <p:nvPr/>
        </p:nvPicPr>
        <p:blipFill>
          <a:blip r:embed="rId3"/>
          <a:stretch>
            <a:fillRect/>
          </a:stretch>
        </p:blipFill>
        <p:spPr>
          <a:xfrm>
            <a:off x="262128" y="4752182"/>
            <a:ext cx="11359896" cy="1351364"/>
          </a:xfrm>
          <a:prstGeom prst="rect">
            <a:avLst/>
          </a:prstGeom>
        </p:spPr>
      </p:pic>
    </p:spTree>
    <p:extLst>
      <p:ext uri="{BB962C8B-B14F-4D97-AF65-F5344CB8AC3E}">
        <p14:creationId xmlns:p14="http://schemas.microsoft.com/office/powerpoint/2010/main" val="3318137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769</TotalTime>
  <Words>1452</Words>
  <Application>Microsoft Office PowerPoint</Application>
  <PresentationFormat>Widescreen</PresentationFormat>
  <Paragraphs>110</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Jorge Mario Becerra Pareja</dc:creator>
  <cp:lastModifiedBy>Jorge Mario Becerra Pareja</cp:lastModifiedBy>
  <cp:revision>46</cp:revision>
  <dcterms:created xsi:type="dcterms:W3CDTF">2025-09-02T04:29:00Z</dcterms:created>
  <dcterms:modified xsi:type="dcterms:W3CDTF">2025-09-27T15:47:21Z</dcterms:modified>
</cp:coreProperties>
</file>