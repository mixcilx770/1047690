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sldIdLst>
    <p:sldId id="258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289" r:id="rId22"/>
    <p:sldId id="290" r:id="rId23"/>
    <p:sldId id="312" r:id="rId24"/>
    <p:sldId id="313" r:id="rId25"/>
    <p:sldId id="291" r:id="rId26"/>
    <p:sldId id="294" r:id="rId27"/>
    <p:sldId id="295" r:id="rId28"/>
    <p:sldId id="292" r:id="rId29"/>
    <p:sldId id="293" r:id="rId3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631E9-40B0-40D8-A704-EABEAC23769D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4FE4C-CB43-41A4-BE41-A04EF435BA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114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922C5-0E7E-833C-BC13-EE4412B81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30A0E1-4840-DD75-6670-7F1F428AF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51A28E-2DF6-5E5E-5E7B-F7F9AA35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9618E2-186C-AC0C-1E98-6DA21FA3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B37A38-2BC5-6B3E-1055-76D1B17B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339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0DF9D-D431-1D1E-0C84-56F649F3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06A40-D4E0-EAB5-2662-675559A2E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A0D5EB-D800-B617-7232-D14707F5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2628AA-6481-9F13-4600-4A933DFD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F6A317-952F-9D2B-65CB-5CFAA345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12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31F2C-722B-8EFA-C843-08A48B5B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F22FC0-8540-D2CB-F733-BD3371236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B8F688-CDA5-D8E2-EE33-50CE1AC7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8C41B6-958B-33D4-A581-4BB9B70BE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353C13-2131-0F1F-068F-20455A67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865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C229D-72C6-F97A-1B85-19289CE7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FEF92F-5A56-C44C-07BC-8B1E5CAC9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15A808-DB79-D95E-0B81-EC5458436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6B9C96-0BF3-7D81-A953-D3E941970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69CEB9-2AB1-A899-B0D2-94DE8AE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5B8150-958B-A486-8380-21FBC2C4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671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6D8B4-0F0B-894C-0D14-A443FF53A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4913A5-45D8-1533-8F2C-D7E1DE7D1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FD76F26-2146-C7C2-40C6-1E32B6231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2AE50EE-48E5-8003-4E64-15F20FC46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9193D37-2871-C7DB-266F-8996AEA29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015ED46-B9F9-3440-4894-23307E49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DF0B9DF-7DD3-4599-FF8E-BC0AC43A6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E56D262-BAC2-45D7-F857-12BAF6A9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6204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AE5A9-0ED3-727E-13B8-3F90F250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C02C5E-4D11-BAFB-3A01-5C665AC7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8C9078-23EB-113D-CD3C-961CBAFE8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36350D-06E8-D92C-1629-A9FDFFD7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789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DF1E4E-C7F5-1235-AB97-2641A9A9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9F78E4D-8094-8D8E-A9BD-07330AA8C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82AD46-BACB-E518-88F1-41B24492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697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63E64-C551-4E07-43E8-FA679DF5A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5B389B-3534-5474-A58D-AD793ACA0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0869BA-2601-21EE-4BF3-90923337C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E84DDD-F44D-A821-8677-39FF2260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2EA6E9-3F4E-4030-3C57-802509914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BBF311-1A24-9203-804C-3553A1774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20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535A2-78D1-FDE5-A410-4A90E904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378C84-1230-D7DB-E7DA-613AEF2B1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1D9AEB-635B-2010-84CE-92B2849E9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B45BC2-841C-3640-E952-60806016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019204-D6ED-FCDB-849F-42E24EE8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F12B4A-B8BC-CB21-6D99-5DE214C7E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7622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8E612-64B1-2EF9-B1D1-2E70F1B1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19A259-FBEF-38BB-3DA8-6659B6946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4C8000-1FA2-007E-28E8-F09132BF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953959-8DD9-3734-0001-11F665E4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6263E9-8AAD-3C41-E7B2-5B15613F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595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22066F-7948-3224-DFEB-B22209A49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842C7A-3408-EE41-8FC2-C13A916D8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65358B-DAF1-CDD2-B7C9-0C2F05945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3DEB85-A9A9-357F-5F2A-BA0F8448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5B40FD-6D00-AC0E-853D-30CDF994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246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ECF7A4-396B-14FA-3985-E45C9D58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9BA880-981D-3AE8-818E-381BEFED4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EB874E-3906-B23C-E413-DCD9DA8B1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6D19E-B4D6-4120-953A-16371BFD6A54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A60F24-3A67-DFF3-22E9-9E4AA0FED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EDC0D8-2CEB-A3E2-901B-B08D23DC5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2DA93-1B3D-44B1-AAE7-72D76F598B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339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7.png"/><Relationship Id="rId7" Type="http://schemas.openxmlformats.org/officeDocument/2006/relationships/image" Target="../media/image10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B4F22BE-86A6-E280-A764-F4D42E34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486" y="3191069"/>
            <a:ext cx="6865776" cy="1140182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Derivada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B8E7C5E-0A14-A869-2180-F814944BF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486" y="4478693"/>
            <a:ext cx="6604518" cy="8677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Aida Ximena Velasco </a:t>
            </a:r>
            <a:r>
              <a:rPr lang="es-ES" dirty="0" err="1">
                <a:solidFill>
                  <a:schemeClr val="bg1"/>
                </a:solidFill>
              </a:rPr>
              <a:t>Velasco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910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35711-87EE-8331-C695-5C7EC905E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776605"/>
            <a:ext cx="10515600" cy="1325563"/>
          </a:xfrm>
        </p:spPr>
        <p:txBody>
          <a:bodyPr/>
          <a:lstStyle/>
          <a:p>
            <a:r>
              <a:rPr lang="es-MX" dirty="0"/>
              <a:t>Máximos y Mínimos de una función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547971A-FBD3-986A-F2D2-935B12A8B6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3255" y="1955864"/>
                <a:ext cx="4099561" cy="4351338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 algn="just">
                  <a:buNone/>
                </a:pPr>
                <a:r>
                  <a:rPr lang="es-MX" sz="8000" dirty="0"/>
                  <a:t>Definición:</a:t>
                </a:r>
              </a:p>
              <a:p>
                <a:pPr marL="514350" indent="-514350" algn="just">
                  <a:buAutoNum type="arabicPeriod"/>
                </a:pPr>
                <a:r>
                  <a:rPr lang="es-MX" sz="8000" dirty="0"/>
                  <a:t>Se dice que una función </a:t>
                </a:r>
                <a14:m>
                  <m:oMath xmlns:m="http://schemas.openxmlformats.org/officeDocument/2006/math"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sz="8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8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CO" sz="8000" dirty="0"/>
                  <a:t> tiene un máximo local M en </a:t>
                </a:r>
                <a14:m>
                  <m:oMath xmlns:m="http://schemas.openxmlformats.org/officeDocument/2006/math"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MX" sz="8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8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8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8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CO" sz="8000" dirty="0"/>
                  <a:t> si </a:t>
                </a:r>
                <a14:m>
                  <m:oMath xmlns:m="http://schemas.openxmlformats.org/officeDocument/2006/math"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MX" sz="8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8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8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s-MX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MX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MX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8000" dirty="0"/>
                  <a:t> para toda c en un intervalo </a:t>
                </a:r>
                <a14:m>
                  <m:oMath xmlns:m="http://schemas.openxmlformats.org/officeDocument/2006/math"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8000" dirty="0"/>
                  <a:t>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8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8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8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s-MX" sz="8000" b="0" i="0" smtClean="0">
                        <a:latin typeface="Cambria Math" panose="02040503050406030204" pitchFamily="18" charset="0"/>
                      </a:rPr>
                      <m:t>perenezca</m:t>
                    </m:r>
                    <m:r>
                      <a:rPr lang="es-MX" sz="8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80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s-MX" sz="8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8000" b="0" i="0" smtClean="0">
                        <a:latin typeface="Cambria Math" panose="02040503050406030204" pitchFamily="18" charset="0"/>
                      </a:rPr>
                      <m:t>dicho</m:t>
                    </m:r>
                    <m:r>
                      <a:rPr lang="es-MX" sz="8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8000" b="0" i="0" smtClean="0">
                        <a:latin typeface="Cambria Math" panose="02040503050406030204" pitchFamily="18" charset="0"/>
                      </a:rPr>
                      <m:t>intervalo</m:t>
                    </m:r>
                  </m:oMath>
                </a14:m>
                <a:r>
                  <a:rPr lang="es-CO" sz="8000" dirty="0"/>
                  <a:t>.</a:t>
                </a:r>
              </a:p>
              <a:p>
                <a:pPr marL="514350" indent="-514350" algn="just">
                  <a:buFont typeface="Arial" panose="020B0604020202020204" pitchFamily="34" charset="0"/>
                  <a:buAutoNum type="arabicPeriod"/>
                </a:pPr>
                <a:r>
                  <a:rPr lang="es-MX" sz="8000" dirty="0"/>
                  <a:t>Se dice que una función </a:t>
                </a:r>
                <a14:m>
                  <m:oMath xmlns:m="http://schemas.openxmlformats.org/officeDocument/2006/math"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sz="8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8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CO" sz="8000" dirty="0"/>
                  <a:t> tiene un mínimo local m en </a:t>
                </a:r>
                <a14:m>
                  <m:oMath xmlns:m="http://schemas.openxmlformats.org/officeDocument/2006/math"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MX" sz="8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8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8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8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CO" sz="8000" dirty="0"/>
                  <a:t> si </a:t>
                </a:r>
                <a14:m>
                  <m:oMath xmlns:m="http://schemas.openxmlformats.org/officeDocument/2006/math"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MX" sz="8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8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8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s-MX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MX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MX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8000" dirty="0"/>
                  <a:t> para toda c en un intervalo </a:t>
                </a:r>
                <a14:m>
                  <m:oMath xmlns:m="http://schemas.openxmlformats.org/officeDocument/2006/math"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MX" sz="8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8000" dirty="0"/>
                  <a:t>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8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8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8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s-MX" sz="8000" b="0" i="0" smtClean="0">
                        <a:latin typeface="Cambria Math" panose="02040503050406030204" pitchFamily="18" charset="0"/>
                      </a:rPr>
                      <m:t>perenezca</m:t>
                    </m:r>
                    <m:r>
                      <a:rPr lang="es-MX" sz="8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80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s-MX" sz="8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8000" b="0" i="0" smtClean="0">
                        <a:latin typeface="Cambria Math" panose="02040503050406030204" pitchFamily="18" charset="0"/>
                      </a:rPr>
                      <m:t>dicho</m:t>
                    </m:r>
                    <m:r>
                      <a:rPr lang="es-MX" sz="8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8000" b="0" i="0" smtClean="0">
                        <a:latin typeface="Cambria Math" panose="02040503050406030204" pitchFamily="18" charset="0"/>
                      </a:rPr>
                      <m:t>intervalo</m:t>
                    </m:r>
                  </m:oMath>
                </a14:m>
                <a:r>
                  <a:rPr lang="es-CO" sz="8000" dirty="0"/>
                  <a:t>.</a:t>
                </a:r>
              </a:p>
              <a:p>
                <a:pPr marL="514350" indent="-514350" algn="just">
                  <a:buAutoNum type="arabicPeriod"/>
                </a:pPr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547971A-FBD3-986A-F2D2-935B12A8B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255" y="1955864"/>
                <a:ext cx="4099561" cy="4351338"/>
              </a:xfrm>
              <a:blipFill>
                <a:blip r:embed="rId2"/>
                <a:stretch>
                  <a:fillRect l="-1486" t="-2521" r="-148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 descr="Diagrama, Esquemático&#10;&#10;Descripción generada automáticamente">
            <a:extLst>
              <a:ext uri="{FF2B5EF4-FFF2-40B4-BE49-F238E27FC236}">
                <a16:creationId xmlns:a16="http://schemas.microsoft.com/office/drawing/2014/main" id="{6E1140DB-A355-27D3-2594-A404353CE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531" t="4416" r="10520" b="2620"/>
          <a:stretch/>
        </p:blipFill>
        <p:spPr>
          <a:xfrm rot="16200000">
            <a:off x="6776637" y="290725"/>
            <a:ext cx="3189393" cy="69402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362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4A46304-C4A7-1345-E890-3EFBE4AA81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008" y="1133856"/>
                <a:ext cx="11158728" cy="512698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es-MX" sz="3000" dirty="0"/>
                  <a:t>Si </a:t>
                </a:r>
                <a14:m>
                  <m:oMath xmlns:m="http://schemas.openxmlformats.org/officeDocument/2006/math">
                    <m:r>
                      <a:rPr lang="es-MX" sz="3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3000" dirty="0"/>
                  <a:t> tiene un máximo local o mínimo local en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O" sz="3000" dirty="0"/>
                  <a:t>, entonces la pendiente de la recta tangente (derivada) en dicho punto es igual a cero.</a:t>
                </a:r>
              </a:p>
              <a:p>
                <a:pPr marL="0" indent="0" algn="just">
                  <a:buNone/>
                </a:pPr>
                <a:endParaRPr lang="es-CO" dirty="0"/>
              </a:p>
              <a:p>
                <a:pPr marL="0" indent="0" algn="just">
                  <a:buNone/>
                </a:pPr>
                <a:endParaRPr lang="es-CO" dirty="0"/>
              </a:p>
              <a:p>
                <a:pPr marL="0" indent="0" algn="just">
                  <a:buNone/>
                </a:pPr>
                <a:endParaRPr lang="es-CO" dirty="0"/>
              </a:p>
              <a:p>
                <a:pPr marL="0" indent="0" algn="just">
                  <a:buNone/>
                </a:pPr>
                <a:endParaRPr lang="es-CO" dirty="0"/>
              </a:p>
              <a:p>
                <a:pPr marL="0" indent="0" algn="just">
                  <a:buNone/>
                </a:pPr>
                <a:endParaRPr lang="es-CO" dirty="0"/>
              </a:p>
              <a:p>
                <a:pPr marL="0" indent="0" algn="just">
                  <a:buNone/>
                </a:pPr>
                <a:endParaRPr lang="es-CO" dirty="0"/>
              </a:p>
              <a:p>
                <a:pPr marL="0" indent="0" algn="just">
                  <a:buNone/>
                </a:pPr>
                <a:endParaRPr lang="es-CO" dirty="0"/>
              </a:p>
              <a:p>
                <a:pPr marL="0" indent="0" algn="just">
                  <a:buNone/>
                </a:pPr>
                <a:r>
                  <a:rPr lang="es-CO" dirty="0"/>
                  <a:t>Donde:</a:t>
                </a:r>
              </a:p>
              <a:p>
                <a:pPr marL="0" indent="0" algn="just">
                  <a:buNone/>
                </a:pPr>
                <a:r>
                  <a:rPr lang="es-CO" dirty="0"/>
                  <a:t>M= punto máximo</a:t>
                </a:r>
              </a:p>
              <a:p>
                <a:pPr marL="0" indent="0" algn="just">
                  <a:buNone/>
                </a:pPr>
                <a:r>
                  <a:rPr lang="es-CO" dirty="0"/>
                  <a:t>m= punto mínimo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4A46304-C4A7-1345-E890-3EFBE4AA81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008" y="1133856"/>
                <a:ext cx="11158728" cy="5126985"/>
              </a:xfrm>
              <a:blipFill>
                <a:blip r:embed="rId2"/>
                <a:stretch>
                  <a:fillRect l="-1092" t="-3210" r="-1038" b="-154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29D8FF2E-A4FE-45BA-EDE4-9E68DFF69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72" t="21592" r="6829" b="3235"/>
          <a:stretch/>
        </p:blipFill>
        <p:spPr>
          <a:xfrm rot="16200000">
            <a:off x="4489484" y="1152330"/>
            <a:ext cx="3069774" cy="455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6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46733-752A-EBD6-A669-03282FD65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2942"/>
            <a:ext cx="10515600" cy="1325563"/>
          </a:xfrm>
        </p:spPr>
        <p:txBody>
          <a:bodyPr/>
          <a:lstStyle/>
          <a:p>
            <a:r>
              <a:rPr lang="es-MX" dirty="0"/>
              <a:t>Criterio de la primera derivada</a:t>
            </a:r>
            <a:endParaRPr lang="es-C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38EA8B5-94BE-1280-E3A2-0DED25D1AE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8744" y="2008505"/>
                <a:ext cx="10515600" cy="3578479"/>
              </a:xfr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514350" indent="-514350" algn="just">
                  <a:buAutoNum type="alphaLcParenR"/>
                </a:pPr>
                <a:r>
                  <a:rPr lang="es-MX" dirty="0"/>
                  <a:t>Si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</m:t>
                    </m:r>
                  </m:oMath>
                </a14:m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MX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s-MX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CO" dirty="0"/>
                  <a:t>, para toda </a:t>
                </a:r>
                <a14:m>
                  <m:oMath xmlns:m="http://schemas.openxmlformats.org/officeDocument/2006/math">
                    <m:r>
                      <a:rPr lang="es-MX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s-CO" dirty="0"/>
                  <a:t>(es decir, la derivada cambia de valores positivos a negativos), entonces en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O" dirty="0"/>
                  <a:t>) existe un valor máximo local.</a:t>
                </a:r>
              </a:p>
              <a:p>
                <a:pPr marL="514350" indent="-514350" algn="just">
                  <a:buFont typeface="Arial" panose="020B0604020202020204" pitchFamily="34" charset="0"/>
                  <a:buAutoNum type="alphaLcParenR"/>
                </a:pPr>
                <a:r>
                  <a:rPr lang="es-MX" dirty="0"/>
                  <a:t>Si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</m:t>
                    </m:r>
                  </m:oMath>
                </a14:m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MX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´</m:t>
                        </m:r>
                      </m:sup>
                    </m:sSup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CO" dirty="0"/>
                  <a:t>, para toda </a:t>
                </a:r>
                <a14:m>
                  <m:oMath xmlns:m="http://schemas.openxmlformats.org/officeDocument/2006/math">
                    <m:r>
                      <a:rPr lang="es-MX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s-CO" dirty="0"/>
                  <a:t>(es decir, la derivada cambia de valores negativos a positivos), entonces en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O" dirty="0"/>
                  <a:t>) existe un </a:t>
                </a:r>
                <a:r>
                  <a:rPr lang="es-CO"/>
                  <a:t>valor mínimo </a:t>
                </a:r>
                <a:r>
                  <a:rPr lang="es-CO" dirty="0"/>
                  <a:t>local.</a:t>
                </a:r>
              </a:p>
              <a:p>
                <a:pPr marL="514350" indent="-514350" algn="just">
                  <a:buFont typeface="Arial" panose="020B0604020202020204" pitchFamily="34" charset="0"/>
                  <a:buAutoNum type="alphaLcParenR"/>
                </a:pPr>
                <a:r>
                  <a:rPr lang="es-CO" dirty="0"/>
                  <a:t>Si para toda </a:t>
                </a:r>
                <a14:m>
                  <m:oMath xmlns:m="http://schemas.openxmlformats.org/officeDocument/2006/math"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MX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´</m:t>
                        </m:r>
                      </m:sup>
                    </m:sSup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CO" dirty="0"/>
                  <a:t> tiene el mismo signo, entonces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CO" dirty="0"/>
                  <a:t> no tiene valor máximo ni mínimo local.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38EA8B5-94BE-1280-E3A2-0DED25D1AE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8744" y="2008505"/>
                <a:ext cx="10515600" cy="3578479"/>
              </a:xfrm>
              <a:blipFill>
                <a:blip r:embed="rId2"/>
                <a:stretch>
                  <a:fillRect l="-1157" t="-2707" r="-1042" b="-67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00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0D891-8A68-F6BC-C31E-F86C5237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681037"/>
            <a:ext cx="10515600" cy="1325563"/>
          </a:xfrm>
        </p:spPr>
        <p:txBody>
          <a:bodyPr/>
          <a:lstStyle/>
          <a:p>
            <a:r>
              <a:rPr lang="es-MX" dirty="0"/>
              <a:t>Ejemplo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19B7F53-1635-1F1D-BA02-CD3AA421C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25625"/>
                <a:ext cx="11301984" cy="4351338"/>
              </a:xfrm>
            </p:spPr>
            <p:txBody>
              <a:bodyPr/>
              <a:lstStyle/>
              <a:p>
                <a:r>
                  <a:rPr lang="es-MX" dirty="0"/>
                  <a:t>Determinar los puntos máximo y mínimo para la función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b="0" i="1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+15,</m:t>
                    </m:r>
                  </m:oMath>
                </a14:m>
                <a:r>
                  <a:rPr lang="es-CO" dirty="0"/>
                  <a:t> utilizar el criterio de la primera derivada.</a:t>
                </a:r>
              </a:p>
              <a:p>
                <a:pPr marL="0" indent="0">
                  <a:buNone/>
                </a:pPr>
                <a:r>
                  <a:rPr lang="es-CO" b="1" dirty="0"/>
                  <a:t>Solución</a:t>
                </a:r>
              </a:p>
              <a:p>
                <a:pPr marL="0" indent="0">
                  <a:buNone/>
                </a:pPr>
                <a:r>
                  <a:rPr lang="es-CO" dirty="0"/>
                  <a:t>Paso 1. Se obtiene la derivada de la función</a:t>
                </a:r>
              </a:p>
              <a:p>
                <a:pPr marL="0" indent="0" algn="ctr">
                  <a:buNone/>
                </a:pPr>
                <a:r>
                  <a:rPr lang="es-CO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´</m:t>
                        </m:r>
                      </m:sup>
                    </m:sSup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=6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−12</m:t>
                    </m:r>
                  </m:oMath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Paso 2. La derivada se iguala a cero y se resuelve la ecuación: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´</m:t>
                          </m:r>
                        </m:sup>
                      </m:sSup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;                           6</m:t>
                      </m:r>
                      <m:r>
                        <m:rPr>
                          <m:sty m:val="p"/>
                        </m:rPr>
                        <a:rPr lang="es-MX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−12=0       </m:t>
                      </m:r>
                      <m:r>
                        <m:rPr>
                          <m:sty m:val="p"/>
                        </m:rPr>
                        <a:rPr lang="es-MX" b="0" i="0" smtClean="0">
                          <a:latin typeface="Cambria Math" panose="02040503050406030204" pitchFamily="18" charset="0"/>
                        </a:rPr>
                        <m:t>donde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19B7F53-1635-1F1D-BA02-CD3AA421C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25625"/>
                <a:ext cx="11301984" cy="4351338"/>
              </a:xfrm>
              <a:blipFill>
                <a:blip r:embed="rId2"/>
                <a:stretch>
                  <a:fillRect l="-1079" t="-2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288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F2291-72D3-9806-27C1-01F5E089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FF07E-D115-95A0-29D5-8FEDC561E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681037"/>
            <a:ext cx="10515600" cy="1325563"/>
          </a:xfrm>
        </p:spPr>
        <p:txBody>
          <a:bodyPr/>
          <a:lstStyle/>
          <a:p>
            <a:r>
              <a:rPr lang="es-MX" dirty="0"/>
              <a:t>Ejemplo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144D75B-6D1A-8C7D-2B04-F1D6F6C38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008" y="1825625"/>
                <a:ext cx="1130198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O" dirty="0"/>
                  <a:t>Paso 3. Se da un valor menor y uno mayor próximo al valor crítico y se evalúan en la derivada. Para x=2 se toman 1 y 3 ( valores cercanos a 2).</a:t>
                </a:r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´</m:t>
                          </m:r>
                        </m:sup>
                      </m:sSup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;                                     6</m:t>
                      </m:r>
                      <m:r>
                        <m:rPr>
                          <m:sty m:val="p"/>
                        </m:rPr>
                        <a:rPr lang="es-MX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−12=0       </m:t>
                      </m:r>
                      <m:r>
                        <m:rPr>
                          <m:sty m:val="p"/>
                        </m:rPr>
                        <a:rPr lang="es-MX" b="0" i="0" smtClean="0">
                          <a:latin typeface="Cambria Math" panose="02040503050406030204" pitchFamily="18" charset="0"/>
                        </a:rPr>
                        <m:t>donde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´</m:t>
                        </m:r>
                      </m:sup>
                    </m:sSup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=6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lang="es-MX" b="0" i="0" smtClean="0">
                        <a:latin typeface="Cambria Math" panose="02040503050406030204" pitchFamily="18" charset="0"/>
                      </a:rPr>
                      <m:t>=−6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s-CO" dirty="0"/>
                  <a:t>            y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´</m:t>
                        </m:r>
                      </m:sup>
                    </m:sSup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=6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−12</m:t>
                    </m:r>
                    <m:r>
                      <a:rPr lang="es-MX">
                        <a:latin typeface="Cambria Math" panose="02040503050406030204" pitchFamily="18" charset="0"/>
                      </a:rPr>
                      <m:t>=6</m:t>
                    </m:r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s-MX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CO" dirty="0"/>
                  <a:t> </a:t>
                </a:r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El cambio de signo es negativo a positivo, entonces la función tiene un valor mínimo en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=2.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144D75B-6D1A-8C7D-2B04-F1D6F6C38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008" y="1825625"/>
                <a:ext cx="11301984" cy="4351338"/>
              </a:xfrm>
              <a:blipFill>
                <a:blip r:embed="rId2"/>
                <a:stretch>
                  <a:fillRect l="-1079" t="-23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38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4F30-9F3A-2BD6-D0F3-0C7DB611D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1F125-2950-0FFF-9F1D-5AA9C3BA5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681037"/>
            <a:ext cx="10515600" cy="1325563"/>
          </a:xfrm>
        </p:spPr>
        <p:txBody>
          <a:bodyPr/>
          <a:lstStyle/>
          <a:p>
            <a:r>
              <a:rPr lang="es-MX" dirty="0"/>
              <a:t>Ejemplo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B8B59F7-E1CD-46DA-3C18-A7B33B4D51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25625"/>
                <a:ext cx="1130198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O" dirty="0"/>
                  <a:t>Paso 4. El valor crítico se evalúa en la función:</a:t>
                </a:r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−12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+15</m:t>
                      </m:r>
                    </m:oMath>
                  </m:oMathPara>
                </a14:m>
                <a:endParaRPr lang="es-MX" b="0" dirty="0"/>
              </a:p>
              <a:p>
                <a:pPr marL="0" indent="0">
                  <a:buNone/>
                </a:pPr>
                <a:endParaRPr lang="es-MX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r>
                  <a:rPr lang="es-MX" dirty="0"/>
                  <a:t>Por consiguiente, el punto mínimo es (2,3)</a:t>
                </a:r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B8B59F7-E1CD-46DA-3C18-A7B33B4D51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25625"/>
                <a:ext cx="11301984" cy="4351338"/>
              </a:xfrm>
              <a:blipFill>
                <a:blip r:embed="rId2"/>
                <a:stretch>
                  <a:fillRect l="-1079" t="-23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39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5C6DA-3B62-0C4C-AA6A-A6B1FD392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F317B-8F5F-A66B-C45F-8B468A47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785749"/>
            <a:ext cx="10515600" cy="1325563"/>
          </a:xfrm>
        </p:spPr>
        <p:txBody>
          <a:bodyPr/>
          <a:lstStyle/>
          <a:p>
            <a:r>
              <a:rPr lang="es-MX" dirty="0"/>
              <a:t>Criterio de la segunda derivada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26C38F6-26A6-71C3-F1D8-772385373C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1312" y="2550224"/>
                <a:ext cx="10515600" cy="2323528"/>
              </a:xfr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514350" indent="-514350" algn="just">
                  <a:buAutoNum type="alphaLcParenR"/>
                </a:pPr>
                <a:r>
                  <a:rPr lang="es-MX" dirty="0"/>
                  <a:t>Dada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con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𝑠𝑖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CO" dirty="0"/>
                  <a:t>, entonces el punto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s-MX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CO" dirty="0"/>
                  <a:t> representa un punto mínimo.</a:t>
                </a:r>
              </a:p>
              <a:p>
                <a:pPr marL="514350" indent="-514350" algn="just">
                  <a:buAutoNum type="alphaLcParenR"/>
                </a:pPr>
                <a:endParaRPr lang="es-CO" dirty="0"/>
              </a:p>
              <a:p>
                <a:pPr marL="514350" indent="-514350" algn="just">
                  <a:buAutoNum type="alphaLcParenR"/>
                </a:pPr>
                <a:r>
                  <a:rPr lang="es-MX" dirty="0"/>
                  <a:t>Dada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CO" dirty="0"/>
                  <a:t> con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0" smtClean="0">
                        <a:latin typeface="Cambria Math" panose="02040503050406030204" pitchFamily="18" charset="0"/>
                      </a:rPr>
                      <m:t>=0, </m:t>
                    </m:r>
                  </m:oMath>
                </a14:m>
                <a:r>
                  <a:rPr lang="es-CO" dirty="0"/>
                  <a:t>entonces el punto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CO" dirty="0"/>
                  <a:t> representa un punto máximo.</a:t>
                </a:r>
              </a:p>
              <a:p>
                <a:pPr marL="514350" indent="-514350" algn="just">
                  <a:buAutoNum type="alphaLcParenR"/>
                </a:pPr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26C38F6-26A6-71C3-F1D8-772385373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1312" y="2550224"/>
                <a:ext cx="10515600" cy="2323528"/>
              </a:xfrm>
              <a:blipFill>
                <a:blip r:embed="rId2"/>
                <a:stretch>
                  <a:fillRect l="-1100" t="-4156" r="-1042" b="-41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264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BD520-29BF-398C-7B6A-57ACDDCB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5AC9-CABE-95CF-4416-6B9719A4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681037"/>
            <a:ext cx="10515600" cy="1325563"/>
          </a:xfrm>
        </p:spPr>
        <p:txBody>
          <a:bodyPr/>
          <a:lstStyle/>
          <a:p>
            <a:r>
              <a:rPr lang="es-MX" dirty="0"/>
              <a:t>Ejemplo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2883D5-3451-3327-464B-8450861FD7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25625"/>
                <a:ext cx="11301984" cy="4351338"/>
              </a:xfrm>
            </p:spPr>
            <p:txBody>
              <a:bodyPr/>
              <a:lstStyle/>
              <a:p>
                <a:r>
                  <a:rPr lang="es-MX" dirty="0"/>
                  <a:t>Determinar con el criterio de la segunda derivada los puntos máximos y mínimos de la función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MX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b="0" i="1" smtClean="0">
                        <a:latin typeface="Cambria Math" panose="02040503050406030204" pitchFamily="18" charset="0"/>
                      </a:rPr>
                      <m:t>−24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−10.</m:t>
                    </m:r>
                  </m:oMath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r>
                  <a:rPr lang="es-CO" b="1" dirty="0"/>
                  <a:t>Solución</a:t>
                </a:r>
              </a:p>
              <a:p>
                <a:pPr marL="0" indent="0">
                  <a:buNone/>
                </a:pPr>
                <a:r>
                  <a:rPr lang="es-CO" dirty="0"/>
                  <a:t>Paso 1. Se obtiene la derivada de la función</a:t>
                </a:r>
              </a:p>
              <a:p>
                <a:pPr marL="0" indent="0" algn="ctr">
                  <a:buNone/>
                </a:pPr>
                <a:r>
                  <a:rPr lang="es-CO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−24</m:t>
                    </m:r>
                  </m:oMath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Paso 2. La derivada se iguala a cero y se resuelve la ecuación: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−24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−24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2883D5-3451-3327-464B-8450861FD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25625"/>
                <a:ext cx="11301984" cy="4351338"/>
              </a:xfrm>
              <a:blipFill>
                <a:blip r:embed="rId2"/>
                <a:stretch>
                  <a:fillRect l="-1079" t="-23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164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CF106-20D8-9803-EE10-306292E1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B9767-EE3C-A916-5087-86FBF9D63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681037"/>
            <a:ext cx="10515600" cy="1325563"/>
          </a:xfrm>
        </p:spPr>
        <p:txBody>
          <a:bodyPr/>
          <a:lstStyle/>
          <a:p>
            <a:r>
              <a:rPr lang="es-MX" dirty="0"/>
              <a:t>Ejemplo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C5E668F-F05D-157A-EAA4-C37367736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008" y="1542161"/>
                <a:ext cx="11301984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−24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8=0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Los valores críticos son: 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=4 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Paso 3. Se obtiene la segunda derivada y se evalúan los valores críticos: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s-MX" b="0" dirty="0"/>
              </a:p>
              <a:p>
                <a:pPr marL="0" indent="0">
                  <a:buNone/>
                </a:pPr>
                <a:r>
                  <a:rPr lang="es-CO" dirty="0"/>
                  <a:t>Para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s-CO" dirty="0"/>
                  <a:t>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=6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−6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=−18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endParaRPr lang="es-MX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MX" dirty="0"/>
                  <a:t>Po lo tanto la función tiene un valor máximo en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=−2.</m:t>
                    </m:r>
                  </m:oMath>
                </a14:m>
                <a:endParaRPr lang="es-MX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C5E668F-F05D-157A-EAA4-C37367736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008" y="1542161"/>
                <a:ext cx="11301984" cy="4351338"/>
              </a:xfrm>
              <a:blipFill>
                <a:blip r:embed="rId2"/>
                <a:stretch>
                  <a:fillRect l="-107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439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1CBB2-9A36-90F5-A414-4F7B92B8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B0B56-EA0D-0C5C-5B4B-32567303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681037"/>
            <a:ext cx="10515600" cy="1325563"/>
          </a:xfrm>
        </p:spPr>
        <p:txBody>
          <a:bodyPr/>
          <a:lstStyle/>
          <a:p>
            <a:r>
              <a:rPr lang="es-MX" dirty="0"/>
              <a:t>Ejemplo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6A593B5-C35A-CAD3-9D74-82A983C654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008" y="1615313"/>
                <a:ext cx="1130198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O" dirty="0"/>
                  <a:t>Para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s-CO" dirty="0"/>
                  <a:t>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=6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−6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=18</m:t>
                    </m:r>
                    <m:r>
                      <a:rPr lang="es-MX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s-MX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MX" dirty="0"/>
                  <a:t>Por lo tanto, la función tiene un valor máximo en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=4.</m:t>
                    </m:r>
                  </m:oMath>
                </a14:m>
                <a:endParaRPr lang="es-MX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Paso 4. Los valores críticos  se evalúan en la función</a:t>
                </a:r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−3(−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2)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24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−10=18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(4)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−3(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4)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24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−10=−90</m:t>
                      </m:r>
                    </m:oMath>
                  </m:oMathPara>
                </a14:m>
                <a:endParaRPr lang="es-CO" dirty="0"/>
              </a:p>
              <a:p>
                <a:pPr marL="0" indent="0" algn="just">
                  <a:buNone/>
                </a:pPr>
                <a:r>
                  <a:rPr lang="es-CO" dirty="0"/>
                  <a:t>Entonces, la función tiene un punto máximo en (-2,18) y un punto mínimo en (4,-90).</a:t>
                </a:r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6A593B5-C35A-CAD3-9D74-82A983C654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008" y="1615313"/>
                <a:ext cx="11301984" cy="4351338"/>
              </a:xfrm>
              <a:blipFill>
                <a:blip r:embed="rId2"/>
                <a:stretch>
                  <a:fillRect l="-1079" t="-2521" r="-107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253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A6A97-F529-2F4B-2329-D6139592F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657733"/>
            <a:ext cx="10515600" cy="1325563"/>
          </a:xfrm>
        </p:spPr>
        <p:txBody>
          <a:bodyPr>
            <a:normAutofit/>
          </a:bodyPr>
          <a:lstStyle/>
          <a:p>
            <a:r>
              <a:rPr lang="es-MX" sz="4000" dirty="0"/>
              <a:t>Concavidad y punto de inflexión de una función</a:t>
            </a:r>
            <a:endParaRPr lang="es-CO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91FF850-126D-1763-6AE3-667EA040E1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0624" y="1848929"/>
                <a:ext cx="5090161" cy="435133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MX" dirty="0"/>
                  <a:t>La función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es cóncava hacia arriba cuando las rectas tangentes a dicha función están por debajo de la curva.</a:t>
                </a:r>
              </a:p>
              <a:p>
                <a:pPr marL="0" indent="0" algn="just">
                  <a:buNone/>
                </a:pPr>
                <a:r>
                  <a:rPr lang="es-MX" dirty="0"/>
                  <a:t>La función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es cóncava hacia abajo cuando las rectas tangentes a dicha función están por arriba de la curva.</a:t>
                </a:r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91FF850-126D-1763-6AE3-667EA040E1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624" y="1848929"/>
                <a:ext cx="5090161" cy="4351338"/>
              </a:xfrm>
              <a:blipFill>
                <a:blip r:embed="rId2"/>
                <a:stretch>
                  <a:fillRect l="-2395" t="-2381" r="-239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 descr="Diagrama, Esquemático&#10;&#10;Descripción generada automáticamente">
            <a:extLst>
              <a:ext uri="{FF2B5EF4-FFF2-40B4-BE49-F238E27FC236}">
                <a16:creationId xmlns:a16="http://schemas.microsoft.com/office/drawing/2014/main" id="{CF588624-E400-55B2-0455-CA1B024F1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33" t="2844" r="20607" b="8089"/>
          <a:stretch/>
        </p:blipFill>
        <p:spPr>
          <a:xfrm rot="16200000">
            <a:off x="7048501" y="769619"/>
            <a:ext cx="3026665" cy="57668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462EE45-017B-8266-830A-FF561252B1D9}"/>
                  </a:ext>
                </a:extLst>
              </p:cNvPr>
              <p:cNvSpPr txBox="1"/>
              <p:nvPr/>
            </p:nvSpPr>
            <p:spPr>
              <a:xfrm>
                <a:off x="541782" y="5526079"/>
                <a:ext cx="86022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s-CO" sz="2800" dirty="0"/>
                  <a:t>Donde </a:t>
                </a:r>
                <a14:m>
                  <m:oMath xmlns:m="http://schemas.openxmlformats.org/officeDocument/2006/math">
                    <m:r>
                      <a:rPr lang="es-MX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MX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MX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MX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MX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O" sz="2800" dirty="0"/>
                  <a:t>)) es el punto de inflexión</a:t>
                </a:r>
                <a:r>
                  <a:rPr lang="es-CO" dirty="0"/>
                  <a:t>.</a:t>
                </a: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462EE45-017B-8266-830A-FF561252B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82" y="5526079"/>
                <a:ext cx="8602218" cy="523220"/>
              </a:xfrm>
              <a:prstGeom prst="rect">
                <a:avLst/>
              </a:prstGeom>
              <a:blipFill>
                <a:blip r:embed="rId5"/>
                <a:stretch>
                  <a:fillRect l="-1488" t="-12941" b="-329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467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AB2F-0A70-8736-21B1-45EB80CB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074D9-1D36-3B63-1338-26621CF8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657733"/>
            <a:ext cx="10515600" cy="1325563"/>
          </a:xfrm>
        </p:spPr>
        <p:txBody>
          <a:bodyPr>
            <a:normAutofit/>
          </a:bodyPr>
          <a:lstStyle/>
          <a:p>
            <a:r>
              <a:rPr lang="es-MX" sz="4000" dirty="0"/>
              <a:t>Concavidad y punto de inflexión de una función</a:t>
            </a:r>
            <a:endParaRPr lang="es-CO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D61E97FC-A8E3-153F-873C-03CEDD28BE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5216" y="2118233"/>
                <a:ext cx="11021568" cy="3112135"/>
              </a:xfr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indent="0" algn="just">
                  <a:buNone/>
                </a:pPr>
                <a:r>
                  <a:rPr lang="es-MX" dirty="0"/>
                  <a:t>Prueba de concavidad: </a:t>
                </a:r>
              </a:p>
              <a:p>
                <a:pPr marL="514350" indent="-514350" algn="just">
                  <a:buAutoNum type="arabicPeriod"/>
                </a:pPr>
                <a:r>
                  <a:rPr lang="es-MX" dirty="0"/>
                  <a:t>Una función es cóncava hacia arriba en un intervalo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si para todo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</m:t>
                    </m:r>
                  </m:oMath>
                </a14:m>
                <a:endParaRPr lang="es-MX" b="0" dirty="0">
                  <a:ea typeface="Cambria Math" panose="02040503050406030204" pitchFamily="18" charset="0"/>
                </a:endParaRPr>
              </a:p>
              <a:p>
                <a:pPr marL="514350" indent="-514350" algn="just">
                  <a:buFont typeface="Arial" panose="020B0604020202020204" pitchFamily="34" charset="0"/>
                  <a:buAutoNum type="arabicPeriod"/>
                </a:pPr>
                <a:r>
                  <a:rPr lang="es-MX" dirty="0"/>
                  <a:t>Una función es cóncava hacia abajo en un intervalo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si para todo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</m:oMath>
                </a14:m>
                <a:endParaRPr lang="es-MX" b="0" dirty="0">
                  <a:ea typeface="Cambria Math" panose="02040503050406030204" pitchFamily="18" charset="0"/>
                </a:endParaRPr>
              </a:p>
              <a:p>
                <a:pPr marL="514350" indent="-514350" algn="just">
                  <a:buFont typeface="Arial" panose="020B0604020202020204" pitchFamily="34" charset="0"/>
                  <a:buAutoNum type="arabicPeriod"/>
                </a:pPr>
                <a:r>
                  <a:rPr lang="es-MX" dirty="0"/>
                  <a:t>Una función tiene un punto de inflexión 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s-MX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CO" dirty="0"/>
                  <a:t>)  si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D61E97FC-A8E3-153F-873C-03CEDD28BE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216" y="2118233"/>
                <a:ext cx="11021568" cy="3112135"/>
              </a:xfrm>
              <a:blipFill>
                <a:blip r:embed="rId2"/>
                <a:stretch>
                  <a:fillRect l="-1049" t="-3113" r="-99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456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07121-64C3-E5C2-DC75-C07BD007E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" y="705294"/>
            <a:ext cx="10515600" cy="1325563"/>
          </a:xfrm>
        </p:spPr>
        <p:txBody>
          <a:bodyPr/>
          <a:lstStyle/>
          <a:p>
            <a:r>
              <a:rPr lang="es-MX" dirty="0"/>
              <a:t>Ejercicio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D3BF687-B4C5-1DF9-CC78-8CF3EE294E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8432" y="1801368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Determina las coordenadas del punto de inflexión y los intervalos de concavidad para la función para la función.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b="1" dirty="0"/>
                  <a:t>Solución</a:t>
                </a:r>
              </a:p>
              <a:p>
                <a:pPr marL="0" indent="0">
                  <a:buNone/>
                </a:pPr>
                <a:r>
                  <a:rPr lang="es-CO" dirty="0"/>
                  <a:t>Paso1. Se obtiene la segunda derivada: </a:t>
                </a:r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=−6</m:t>
                      </m:r>
                      <m:sSup>
                        <m:sSup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+18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+60      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     </m:t>
                      </m:r>
                      <m:sSup>
                        <m:sSup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+18</m:t>
                      </m:r>
                      <m:r>
                        <m:rPr>
                          <m:nor/>
                        </m:rPr>
                        <a:rPr lang="es-CO" dirty="0"/>
                        <m:t>           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D3BF687-B4C5-1DF9-CC78-8CF3EE294E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8432" y="1801368"/>
                <a:ext cx="10515600" cy="4351338"/>
              </a:xfrm>
              <a:blipFill>
                <a:blip r:embed="rId2"/>
                <a:stretch>
                  <a:fillRect l="-1159" t="-252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32DD2ED-E69E-3B01-3322-6DE9A534415A}"/>
                  </a:ext>
                </a:extLst>
              </p:cNvPr>
              <p:cNvSpPr txBox="1"/>
              <p:nvPr/>
            </p:nvSpPr>
            <p:spPr>
              <a:xfrm>
                <a:off x="3346704" y="2849932"/>
                <a:ext cx="41224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+9</m:t>
                      </m:r>
                      <m:sSup>
                        <m:sSup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+60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32DD2ED-E69E-3B01-3322-6DE9A5344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704" y="2849932"/>
                <a:ext cx="412247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659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39122-1D58-EAF1-AEFE-1B9D88071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0C0A8-A32E-D0E4-8932-A822A606C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" y="705294"/>
            <a:ext cx="10515600" cy="1325563"/>
          </a:xfrm>
        </p:spPr>
        <p:txBody>
          <a:bodyPr/>
          <a:lstStyle/>
          <a:p>
            <a:r>
              <a:rPr lang="es-MX" dirty="0"/>
              <a:t>Ejercicio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DE7BC2B-3657-F715-B1ED-D43B7E0A79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8432" y="1801368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es-CO" dirty="0"/>
                  <a:t>Paso 2. La segunda derivada se iguala a cero y se resuelve la ecuación: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+18</m:t>
                      </m:r>
                      <m:r>
                        <m:rPr>
                          <m:nor/>
                        </m:rPr>
                        <a:rPr lang="es-MX" b="0" i="0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es-CO" dirty="0"/>
                        <m:t> 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 algn="just">
                  <a:buNone/>
                </a:pPr>
                <a:r>
                  <a:rPr lang="es-CO" dirty="0"/>
                  <a:t>Paso 3. Se evalúa la función con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s-CO" dirty="0"/>
              </a:p>
              <a:p>
                <a:pPr marL="0" indent="0" algn="just">
                  <a:buNone/>
                </a:pPr>
                <a:endParaRPr lang="es-CO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=−2(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+9(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+60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207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MX" b="0" dirty="0"/>
              </a:p>
              <a:p>
                <a:pPr marL="0" indent="0" algn="just">
                  <a:buNone/>
                </a:pPr>
                <a:endParaRPr lang="es-CO" dirty="0"/>
              </a:p>
              <a:p>
                <a:pPr marL="0" indent="0" algn="just">
                  <a:buNone/>
                </a:pPr>
                <a:r>
                  <a:rPr lang="es-CO" dirty="0"/>
                  <a:t>Por consiguiente, las coordenas del punto de inflexión son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207</m:t>
                            </m:r>
                          </m:num>
                          <m:den>
                            <m:r>
                              <a:rPr lang="es-MX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s-CO" dirty="0"/>
                  <a:t>.</a:t>
                </a:r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DE7BC2B-3657-F715-B1ED-D43B7E0A79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8432" y="1801368"/>
                <a:ext cx="10515600" cy="4351338"/>
              </a:xfrm>
              <a:blipFill>
                <a:blip r:embed="rId2"/>
                <a:stretch>
                  <a:fillRect l="-1043" t="-364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459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229D6-151A-4017-1D53-64A3D4217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8" y="681037"/>
            <a:ext cx="10515600" cy="1325563"/>
          </a:xfrm>
        </p:spPr>
        <p:txBody>
          <a:bodyPr/>
          <a:lstStyle/>
          <a:p>
            <a:r>
              <a:rPr lang="es-MX" dirty="0"/>
              <a:t>Intervalos de concavidad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6A6290-6901-DAA9-C115-A0F630E74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2168" y="1761617"/>
                <a:ext cx="1091184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Intervalo donde la función es cóncava hacia arriba</a:t>
                </a:r>
              </a:p>
              <a:p>
                <a:pPr marL="0" indent="0">
                  <a:buNone/>
                </a:pPr>
                <a:r>
                  <a:rPr lang="es-CO" dirty="0"/>
                  <a:t>Por definición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</m:t>
                    </m:r>
                  </m:oMath>
                </a14:m>
                <a:r>
                  <a:rPr lang="es-MX" dirty="0"/>
                  <a:t> entonces: 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+18&gt;0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Al resolver la desigualdad se obtiene que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s-MX" dirty="0"/>
                  <a:t>por tanto, el intervalo donde la función es cóncava hacia arriba es: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∞,</m:t>
                    </m:r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dirty="0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6A6290-6901-DAA9-C115-A0F630E74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2168" y="1761617"/>
                <a:ext cx="10911840" cy="4351338"/>
              </a:xfrm>
              <a:blipFill>
                <a:blip r:embed="rId2"/>
                <a:stretch>
                  <a:fillRect l="-1173" t="-2521" r="-55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127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F773-0521-EE27-DBD2-752900CD8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76F71-7B1C-EE46-BE7A-15AA5FAA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8" y="681037"/>
            <a:ext cx="10515600" cy="1325563"/>
          </a:xfrm>
        </p:spPr>
        <p:txBody>
          <a:bodyPr/>
          <a:lstStyle/>
          <a:p>
            <a:r>
              <a:rPr lang="es-MX" dirty="0"/>
              <a:t>Intervalos de concavidad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049A7B4-47CE-5098-9CD2-4586EF0627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2168" y="1761617"/>
                <a:ext cx="1091184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Intervalo donde la función es cóncava hacia arriba</a:t>
                </a:r>
              </a:p>
              <a:p>
                <a:pPr marL="0" indent="0">
                  <a:buNone/>
                </a:pPr>
                <a:r>
                  <a:rPr lang="es-CO" dirty="0"/>
                  <a:t>Por definición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</m:t>
                    </m:r>
                  </m:oMath>
                </a14:m>
                <a:r>
                  <a:rPr lang="es-MX" dirty="0"/>
                  <a:t> entonces: 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+18&lt;0</m:t>
                      </m:r>
                    </m:oMath>
                  </m:oMathPara>
                </a14:m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r>
                  <a:rPr lang="es-MX" dirty="0"/>
                  <a:t>Al resolver la desigualdad se obtiene que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s-MX" dirty="0"/>
                  <a:t>por tanto, </a:t>
                </a:r>
                <a:r>
                  <a:rPr lang="es-MX"/>
                  <a:t>el intervalo</a:t>
                </a:r>
              </a:p>
              <a:p>
                <a:pPr marL="0" indent="0">
                  <a:buNone/>
                </a:pPr>
                <a:r>
                  <a:rPr lang="es-MX"/>
                  <a:t> </a:t>
                </a:r>
                <a:r>
                  <a:rPr lang="es-MX" dirty="0"/>
                  <a:t>donde la función es cóncava hacia abajo es: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,+∞)</m:t>
                    </m:r>
                  </m:oMath>
                </a14:m>
                <a:r>
                  <a:rPr lang="es-MX" dirty="0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049A7B4-47CE-5098-9CD2-4586EF062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2168" y="1761617"/>
                <a:ext cx="10911840" cy="4351338"/>
              </a:xfrm>
              <a:blipFill>
                <a:blip r:embed="rId2"/>
                <a:stretch>
                  <a:fillRect l="-1173" t="-252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762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7AEEA-5587-CC82-64F9-3D0CDB01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3" y="681037"/>
            <a:ext cx="10515600" cy="1325563"/>
          </a:xfrm>
        </p:spPr>
        <p:txBody>
          <a:bodyPr/>
          <a:lstStyle/>
          <a:p>
            <a:r>
              <a:rPr lang="es-CO" dirty="0"/>
              <a:t>Aplicaciones de la derivada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8784C6-27FC-904A-8B17-8D54C05CE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9" y="2006600"/>
            <a:ext cx="6422571" cy="4351338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Pendiente, creciente, decreciente, máximo y mínimos:</a:t>
            </a:r>
          </a:p>
          <a:p>
            <a:r>
              <a:rPr lang="es-CO" dirty="0"/>
              <a:t>Para ser un máx. se deben cumplir 3 condiciones:</a:t>
            </a:r>
          </a:p>
          <a:p>
            <a:pPr marL="514350" indent="-514350">
              <a:buAutoNum type="arabicPeriod"/>
            </a:pPr>
            <a:r>
              <a:rPr lang="es-CO" dirty="0"/>
              <a:t>A la Izquierda tenga pendiente positiva.</a:t>
            </a:r>
          </a:p>
          <a:p>
            <a:pPr marL="514350" indent="-514350">
              <a:buAutoNum type="arabicPeriod"/>
            </a:pPr>
            <a:r>
              <a:rPr lang="es-CO" dirty="0"/>
              <a:t>A la derecha tenga pendiente negativa.</a:t>
            </a:r>
          </a:p>
          <a:p>
            <a:pPr marL="514350" indent="-514350">
              <a:buAutoNum type="arabicPeriod"/>
            </a:pPr>
            <a:r>
              <a:rPr lang="es-CO" dirty="0"/>
              <a:t>Pendiente cero en el punto máximo.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1A7BFB0-BEAC-3B45-0CD5-ED0248E1D79A}"/>
              </a:ext>
            </a:extLst>
          </p:cNvPr>
          <p:cNvGrpSpPr/>
          <p:nvPr/>
        </p:nvGrpSpPr>
        <p:grpSpPr>
          <a:xfrm>
            <a:off x="666071" y="2519363"/>
            <a:ext cx="4711472" cy="3930471"/>
            <a:chOff x="666071" y="2519363"/>
            <a:chExt cx="4711472" cy="3930471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9376FC7B-9C84-F153-0EEF-A11E7A608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071" y="2519363"/>
              <a:ext cx="4711472" cy="3930471"/>
            </a:xfrm>
            <a:prstGeom prst="rect">
              <a:avLst/>
            </a:prstGeom>
          </p:spPr>
        </p:pic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7CCBF8E7-FE52-FD62-047C-5821D1D34A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9312" y="3632543"/>
              <a:ext cx="979715" cy="1516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E278F2B7-4EBC-8999-C3B8-2EB31C59F47B}"/>
                </a:ext>
              </a:extLst>
            </p:cNvPr>
            <p:cNvCxnSpPr>
              <a:cxnSpLocks/>
            </p:cNvCxnSpPr>
            <p:nvPr/>
          </p:nvCxnSpPr>
          <p:spPr>
            <a:xfrm>
              <a:off x="3940627" y="3810000"/>
              <a:ext cx="685802" cy="12627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916612F7-4C93-EB39-0E23-BED1C5D0BC71}"/>
                </a:ext>
              </a:extLst>
            </p:cNvPr>
            <p:cNvCxnSpPr/>
            <p:nvPr/>
          </p:nvCxnSpPr>
          <p:spPr>
            <a:xfrm>
              <a:off x="2656114" y="3478498"/>
              <a:ext cx="105591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7563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7AEEA-5587-CC82-64F9-3D0CDB01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3" y="681037"/>
            <a:ext cx="10515600" cy="1325563"/>
          </a:xfrm>
        </p:spPr>
        <p:txBody>
          <a:bodyPr/>
          <a:lstStyle/>
          <a:p>
            <a:r>
              <a:rPr lang="es-CO" dirty="0"/>
              <a:t>Aplicaciones de la derivada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8784C6-27FC-904A-8B17-8D54C05CE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9" y="2006600"/>
            <a:ext cx="6422571" cy="4351338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Pendiente, creciente, decreciente, máximo y mínimos:</a:t>
            </a:r>
          </a:p>
          <a:p>
            <a:r>
              <a:rPr lang="es-CO" dirty="0"/>
              <a:t>Para ser un mín. se deben cumplir 3 condiciones:</a:t>
            </a:r>
          </a:p>
          <a:p>
            <a:pPr marL="514350" indent="-514350">
              <a:buAutoNum type="arabicPeriod"/>
            </a:pPr>
            <a:r>
              <a:rPr lang="es-CO" dirty="0"/>
              <a:t>A la Izquierda tenga pendiente decreciente.</a:t>
            </a:r>
          </a:p>
          <a:p>
            <a:pPr marL="514350" indent="-514350">
              <a:buAutoNum type="arabicPeriod"/>
            </a:pPr>
            <a:r>
              <a:rPr lang="es-CO" dirty="0"/>
              <a:t>A la derecha tenga pendiente creciente.</a:t>
            </a:r>
          </a:p>
          <a:p>
            <a:pPr marL="514350" indent="-514350">
              <a:buAutoNum type="arabicPeriod"/>
            </a:pPr>
            <a:r>
              <a:rPr lang="es-CO" dirty="0"/>
              <a:t>Pendiente cero o nula en el centro.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B59FF9-EA35-D11D-A871-35FF71731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43" y="1868375"/>
            <a:ext cx="4937184" cy="411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293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1F576-9748-D0AE-481B-52DE9E44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584581"/>
            <a:ext cx="10515600" cy="1325563"/>
          </a:xfrm>
        </p:spPr>
        <p:txBody>
          <a:bodyPr/>
          <a:lstStyle/>
          <a:p>
            <a:r>
              <a:rPr lang="es-MX" dirty="0"/>
              <a:t>Asíntotas de una Función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B565F5A-16B6-C5A9-0BDB-204A9139CF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9800" y="1506416"/>
                <a:ext cx="5800344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s-MX" dirty="0"/>
                  <a:t>Asíntota vertical –AV</a:t>
                </a:r>
              </a:p>
              <a:p>
                <a:pPr marL="0" indent="0">
                  <a:buNone/>
                </a:pPr>
                <a:r>
                  <a:rPr lang="es-MX" sz="1800" dirty="0"/>
                  <a:t>Igualo el denominador a cero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s-MX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dirty="0"/>
              </a:p>
              <a:p>
                <a:r>
                  <a:rPr lang="es-CO" dirty="0"/>
                  <a:t>Asíntota horizontal – AH</a:t>
                </a:r>
              </a:p>
              <a:p>
                <a:pPr marL="0" indent="0">
                  <a:buNone/>
                </a:pPr>
                <a:r>
                  <a:rPr lang="es-CO" sz="1800" dirty="0"/>
                  <a:t>Exponente del numerador </a:t>
                </a:r>
                <a14:m>
                  <m:oMath xmlns:m="http://schemas.openxmlformats.org/officeDocument/2006/math">
                    <m:r>
                      <a:rPr lang="es-CO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s-CO" sz="1800" dirty="0"/>
                  <a:t> Exponente del denominador</a:t>
                </a:r>
              </a:p>
              <a:p>
                <a:pPr marL="0" indent="0">
                  <a:buNone/>
                </a:pPr>
                <a:r>
                  <a:rPr lang="es-CO" sz="1800" dirty="0"/>
                  <a:t>Luego tomo los coeficientes de las variables.</a:t>
                </a:r>
              </a:p>
              <a:p>
                <a:pPr marL="0" indent="0">
                  <a:buNone/>
                </a:pPr>
                <a:endParaRPr lang="es-CO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MX" sz="2400" b="0" i="0" smtClean="0">
                          <a:latin typeface="Cambria Math" panose="02040503050406030204" pitchFamily="18" charset="0"/>
                        </a:rPr>
                        <m:t>AH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sz="2400" dirty="0"/>
              </a:p>
              <a:p>
                <a:pPr marL="0" indent="0">
                  <a:buNone/>
                </a:pPr>
                <a:endParaRPr lang="es-CO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sz="2400" dirty="0"/>
              </a:p>
              <a:p>
                <a:pPr marL="0" indent="0">
                  <a:buNone/>
                </a:pPr>
                <a:endParaRPr lang="es-CO" sz="2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B565F5A-16B6-C5A9-0BDB-204A9139CF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9800" y="1506416"/>
                <a:ext cx="5800344" cy="4351338"/>
              </a:xfrm>
              <a:blipFill>
                <a:blip r:embed="rId2"/>
                <a:stretch>
                  <a:fillRect l="-1682" t="-2101" b="-28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8">
            <a:extLst>
              <a:ext uri="{FF2B5EF4-FFF2-40B4-BE49-F238E27FC236}">
                <a16:creationId xmlns:a16="http://schemas.microsoft.com/office/drawing/2014/main" id="{3C803923-1B18-309A-D4DD-376864DA8A48}"/>
              </a:ext>
            </a:extLst>
          </p:cNvPr>
          <p:cNvGrpSpPr/>
          <p:nvPr/>
        </p:nvGrpSpPr>
        <p:grpSpPr>
          <a:xfrm>
            <a:off x="284334" y="1506417"/>
            <a:ext cx="5653170" cy="4490970"/>
            <a:chOff x="366630" y="1630881"/>
            <a:chExt cx="5370162" cy="410240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D3D825B-6396-F144-B015-C2957B9F0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7474" t="12381" r="14285" b="8524"/>
            <a:stretch/>
          </p:blipFill>
          <p:spPr>
            <a:xfrm>
              <a:off x="366630" y="1630881"/>
              <a:ext cx="5370162" cy="410240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7C296E0D-CDB8-CF0B-8746-995BF2DF8A8C}"/>
                    </a:ext>
                  </a:extLst>
                </p:cNvPr>
                <p:cNvSpPr txBox="1"/>
                <p:nvPr/>
              </p:nvSpPr>
              <p:spPr>
                <a:xfrm>
                  <a:off x="803179" y="2413338"/>
                  <a:ext cx="133761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7C296E0D-CDB8-CF0B-8746-995BF2DF8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179" y="2413338"/>
                  <a:ext cx="1337610" cy="5186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666197DE-C640-415A-C410-4ED0CF1EC3ED}"/>
                    </a:ext>
                  </a:extLst>
                </p:cNvPr>
                <p:cNvSpPr txBox="1"/>
                <p:nvPr/>
              </p:nvSpPr>
              <p:spPr>
                <a:xfrm>
                  <a:off x="3245401" y="4745349"/>
                  <a:ext cx="60651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666197DE-C640-415A-C410-4ED0CF1EC3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5401" y="4745349"/>
                  <a:ext cx="60651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857" r="-571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9B7C4557-256E-EFA5-1549-0F3349A2F809}"/>
                    </a:ext>
                  </a:extLst>
                </p:cNvPr>
                <p:cNvSpPr txBox="1"/>
                <p:nvPr/>
              </p:nvSpPr>
              <p:spPr>
                <a:xfrm>
                  <a:off x="2140789" y="3861866"/>
                  <a:ext cx="46968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s-MX" b="0" dirty="0"/>
                    <a:t>y</a:t>
                  </a:r>
                  <a14:m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9B7C4557-256E-EFA5-1549-0F3349A2F8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0789" y="3861866"/>
                  <a:ext cx="46968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8395" t="-24490" r="-11111" b="-4081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4683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8E5D-E720-A723-E922-92D02B36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258DF-58EA-3EA9-591F-F3CE8AFA4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" y="584581"/>
            <a:ext cx="10515600" cy="1325563"/>
          </a:xfrm>
        </p:spPr>
        <p:txBody>
          <a:bodyPr/>
          <a:lstStyle/>
          <a:p>
            <a:r>
              <a:rPr lang="es-MX" dirty="0"/>
              <a:t>Asíntotas de una Función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4E854A2-41C8-3365-C50A-35826CE7F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569773"/>
                <a:ext cx="6135624" cy="484866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MX" dirty="0"/>
                  <a:t>Asíntota vertical –AV</a:t>
                </a:r>
              </a:p>
              <a:p>
                <a:pPr marL="0" indent="0">
                  <a:buNone/>
                </a:pPr>
                <a:r>
                  <a:rPr lang="es-MX" sz="1800" dirty="0"/>
                  <a:t>Igualo el denominador a cero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s-MX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dirty="0"/>
              </a:p>
              <a:p>
                <a:r>
                  <a:rPr lang="es-CO" dirty="0"/>
                  <a:t>Asíntota oblicua – AO</a:t>
                </a:r>
              </a:p>
              <a:p>
                <a:pPr marL="0" indent="0">
                  <a:buNone/>
                </a:pPr>
                <a:r>
                  <a:rPr lang="es-CO" sz="1800" dirty="0"/>
                  <a:t>Exponente del numerador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sz="1800" dirty="0"/>
                  <a:t> Exponente del denominador + 1</a:t>
                </a:r>
              </a:p>
              <a:p>
                <a:pPr marL="0" indent="0">
                  <a:buNone/>
                </a:pPr>
                <a:endParaRPr lang="es-CO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CO" sz="2400" dirty="0"/>
              </a:p>
              <a:p>
                <a:pPr marL="0" indent="0">
                  <a:buNone/>
                </a:pPr>
                <a:endParaRPr lang="es-CO" sz="4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MX" sz="2400" b="0" dirty="0"/>
              </a:p>
              <a:p>
                <a:pPr marL="0" indent="0">
                  <a:buNone/>
                </a:pPr>
                <a:endParaRPr lang="es-MX" sz="2400" b="0" dirty="0"/>
              </a:p>
              <a:p>
                <a:pPr marL="0" indent="0">
                  <a:buNone/>
                </a:pPr>
                <a:r>
                  <a:rPr lang="es-CO" sz="2000" dirty="0"/>
                  <a:t>Luego la asíntota oblicua es el cociente de la división </a:t>
                </a:r>
              </a:p>
              <a:p>
                <a:pPr marL="0" indent="0">
                  <a:buNone/>
                </a:pPr>
                <a:endParaRPr lang="es-CO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MX" sz="3000" b="0" i="0" smtClean="0">
                          <a:latin typeface="Cambria Math" panose="02040503050406030204" pitchFamily="18" charset="0"/>
                        </a:rPr>
                        <m:t>AO</m:t>
                      </m:r>
                      <m:r>
                        <a:rPr lang="es-MX" sz="3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3000" b="0" i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CO" sz="3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4E854A2-41C8-3365-C50A-35826CE7F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569773"/>
                <a:ext cx="6135624" cy="4848664"/>
              </a:xfrm>
              <a:blipFill>
                <a:blip r:embed="rId2"/>
                <a:stretch>
                  <a:fillRect l="-1291" t="-27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upo 10">
            <a:extLst>
              <a:ext uri="{FF2B5EF4-FFF2-40B4-BE49-F238E27FC236}">
                <a16:creationId xmlns:a16="http://schemas.microsoft.com/office/drawing/2014/main" id="{9872DA79-69A0-B34E-234E-5EF588F8C3AE}"/>
              </a:ext>
            </a:extLst>
          </p:cNvPr>
          <p:cNvGrpSpPr/>
          <p:nvPr/>
        </p:nvGrpSpPr>
        <p:grpSpPr>
          <a:xfrm>
            <a:off x="539496" y="1641640"/>
            <a:ext cx="5221224" cy="4704931"/>
            <a:chOff x="539496" y="1641640"/>
            <a:chExt cx="5221224" cy="4704931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3B7B9A8C-41E3-5927-872A-7F650DA43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1500" t="14400" r="21475" b="10267"/>
            <a:stretch/>
          </p:blipFill>
          <p:spPr>
            <a:xfrm>
              <a:off x="539496" y="1641640"/>
              <a:ext cx="5221224" cy="4704931"/>
            </a:xfrm>
            <a:prstGeom prst="rect">
              <a:avLst/>
            </a:prstGeom>
          </p:spPr>
        </p:pic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55B7B774-AD42-F213-D3BA-4C76456A077A}"/>
                </a:ext>
              </a:extLst>
            </p:cNvPr>
            <p:cNvGrpSpPr/>
            <p:nvPr/>
          </p:nvGrpSpPr>
          <p:grpSpPr>
            <a:xfrm>
              <a:off x="539496" y="2614506"/>
              <a:ext cx="4666910" cy="2471850"/>
              <a:chOff x="539496" y="2614506"/>
              <a:chExt cx="4666910" cy="247185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CuadroTexto 5">
                    <a:extLst>
                      <a:ext uri="{FF2B5EF4-FFF2-40B4-BE49-F238E27FC236}">
                        <a16:creationId xmlns:a16="http://schemas.microsoft.com/office/drawing/2014/main" id="{02564D7B-84B6-8572-0D45-84DFC3408175}"/>
                      </a:ext>
                    </a:extLst>
                  </p:cNvPr>
                  <p:cNvSpPr txBox="1"/>
                  <p:nvPr/>
                </p:nvSpPr>
                <p:spPr>
                  <a:xfrm>
                    <a:off x="539496" y="2614506"/>
                    <a:ext cx="1984967" cy="55579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6" name="CuadroTexto 5">
                    <a:extLst>
                      <a:ext uri="{FF2B5EF4-FFF2-40B4-BE49-F238E27FC236}">
                        <a16:creationId xmlns:a16="http://schemas.microsoft.com/office/drawing/2014/main" id="{02564D7B-84B6-8572-0D45-84DFC34081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496" y="2614506"/>
                    <a:ext cx="1984967" cy="55579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CuadroTexto 7">
                    <a:extLst>
                      <a:ext uri="{FF2B5EF4-FFF2-40B4-BE49-F238E27FC236}">
                        <a16:creationId xmlns:a16="http://schemas.microsoft.com/office/drawing/2014/main" id="{3BC20292-0992-38EB-2899-23A1154AE77A}"/>
                      </a:ext>
                    </a:extLst>
                  </p:cNvPr>
                  <p:cNvSpPr txBox="1"/>
                  <p:nvPr/>
                </p:nvSpPr>
                <p:spPr>
                  <a:xfrm>
                    <a:off x="4208569" y="2967203"/>
                    <a:ext cx="99783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s-MX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s-MX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8" name="CuadroTexto 7">
                    <a:extLst>
                      <a:ext uri="{FF2B5EF4-FFF2-40B4-BE49-F238E27FC236}">
                        <a16:creationId xmlns:a16="http://schemas.microsoft.com/office/drawing/2014/main" id="{3BC20292-0992-38EB-2899-23A1154AE7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8569" y="2967203"/>
                    <a:ext cx="997837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6098" r="-5488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CuadroTexto 8">
                    <a:extLst>
                      <a:ext uri="{FF2B5EF4-FFF2-40B4-BE49-F238E27FC236}">
                        <a16:creationId xmlns:a16="http://schemas.microsoft.com/office/drawing/2014/main" id="{50D62610-1DC0-3E90-11CF-5244A7B1BC45}"/>
                      </a:ext>
                    </a:extLst>
                  </p:cNvPr>
                  <p:cNvSpPr txBox="1"/>
                  <p:nvPr/>
                </p:nvSpPr>
                <p:spPr>
                  <a:xfrm>
                    <a:off x="3492289" y="4809357"/>
                    <a:ext cx="60651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9" name="CuadroTexto 8">
                    <a:extLst>
                      <a:ext uri="{FF2B5EF4-FFF2-40B4-BE49-F238E27FC236}">
                        <a16:creationId xmlns:a16="http://schemas.microsoft.com/office/drawing/2014/main" id="{50D62610-1DC0-3E90-11CF-5244A7B1BC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2289" y="4809357"/>
                    <a:ext cx="606513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061" r="-9091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73401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7AEEA-5587-CC82-64F9-3D0CDB01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3" y="681037"/>
            <a:ext cx="10515600" cy="1325563"/>
          </a:xfrm>
        </p:spPr>
        <p:txBody>
          <a:bodyPr>
            <a:normAutofit/>
          </a:bodyPr>
          <a:lstStyle/>
          <a:p>
            <a:r>
              <a:rPr lang="es-CO" sz="3600" dirty="0"/>
              <a:t>Intervalos de crecimiento, decrecimiento, máx. y mín.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764645B-1499-8747-3A19-445E67967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870" y="2521258"/>
            <a:ext cx="3431959" cy="3744481"/>
          </a:xfrm>
        </p:spPr>
        <p:txBody>
          <a:bodyPr/>
          <a:lstStyle/>
          <a:p>
            <a:pPr marL="0" indent="0" algn="just">
              <a:buNone/>
            </a:pPr>
            <a:r>
              <a:rPr lang="es-CO" sz="2400" dirty="0"/>
              <a:t>1. Verificar que f(x) sea continua en un intervalo dado, es decir dominio todos los reales (-∞,+∞).</a:t>
            </a:r>
          </a:p>
          <a:p>
            <a:pPr marL="0" indent="0" algn="just">
              <a:buNone/>
            </a:pPr>
            <a:r>
              <a:rPr lang="es-CO" sz="2400" dirty="0"/>
              <a:t>2.Calcular la primera derivada.</a:t>
            </a:r>
          </a:p>
          <a:p>
            <a:pPr marL="0" indent="0">
              <a:buNone/>
            </a:pP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14F6198-4682-71F2-82F8-CF8F5430DED1}"/>
                  </a:ext>
                </a:extLst>
              </p:cNvPr>
              <p:cNvSpPr txBox="1"/>
              <p:nvPr/>
            </p:nvSpPr>
            <p:spPr>
              <a:xfrm>
                <a:off x="2772052" y="1850208"/>
                <a:ext cx="60945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14F6198-4682-71F2-82F8-CF8F5430D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052" y="1850208"/>
                <a:ext cx="609452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32E26F4-472E-DEC6-9187-C8D36C55FDAF}"/>
                  </a:ext>
                </a:extLst>
              </p:cNvPr>
              <p:cNvSpPr txBox="1"/>
              <p:nvPr/>
            </p:nvSpPr>
            <p:spPr>
              <a:xfrm>
                <a:off x="841898" y="4789592"/>
                <a:ext cx="275207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)=2</m:t>
                      </m:r>
                      <m:r>
                        <a:rPr lang="es-CO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32E26F4-472E-DEC6-9187-C8D36C55F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98" y="4789592"/>
                <a:ext cx="2752078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arcador de contenido 4">
            <a:extLst>
              <a:ext uri="{FF2B5EF4-FFF2-40B4-BE49-F238E27FC236}">
                <a16:creationId xmlns:a16="http://schemas.microsoft.com/office/drawing/2014/main" id="{4AADEF2C-976A-CBC5-67A8-CC0D5C1500C1}"/>
              </a:ext>
            </a:extLst>
          </p:cNvPr>
          <p:cNvSpPr txBox="1">
            <a:spLocks/>
          </p:cNvSpPr>
          <p:nvPr/>
        </p:nvSpPr>
        <p:spPr>
          <a:xfrm>
            <a:off x="7870794" y="2462393"/>
            <a:ext cx="3927629" cy="37444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CO" sz="2400" dirty="0"/>
              <a:t>3. </a:t>
            </a:r>
            <a:r>
              <a:rPr lang="es-CO" sz="2600" dirty="0"/>
              <a:t>Calcular los valores x que anulan la derivada, es decir cuando se iguala la derivada a cero para encontrar el valor de x.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CO" sz="260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260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260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200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2000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CO" sz="2000" dirty="0"/>
              <a:t>Este valor lo representa la recta numérica.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CO" sz="200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F803FEF-8C49-7EDB-5EC8-C958793B287C}"/>
              </a:ext>
            </a:extLst>
          </p:cNvPr>
          <p:cNvGrpSpPr/>
          <p:nvPr/>
        </p:nvGrpSpPr>
        <p:grpSpPr>
          <a:xfrm>
            <a:off x="8866572" y="3865817"/>
            <a:ext cx="2752078" cy="1554704"/>
            <a:chOff x="8534294" y="4193443"/>
            <a:chExt cx="2752078" cy="15547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FE2DAB4B-2F4A-C528-9161-28F1C44E594D}"/>
                    </a:ext>
                  </a:extLst>
                </p:cNvPr>
                <p:cNvSpPr txBox="1"/>
                <p:nvPr/>
              </p:nvSpPr>
              <p:spPr>
                <a:xfrm>
                  <a:off x="8534294" y="4193443"/>
                  <a:ext cx="275207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CO" sz="2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s-CO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FE2DAB4B-2F4A-C528-9161-28F1C44E5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4294" y="4193443"/>
                  <a:ext cx="275207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4DAC02DB-E100-8355-C28D-6C947ED687D5}"/>
                    </a:ext>
                  </a:extLst>
                </p:cNvPr>
                <p:cNvSpPr txBox="1"/>
                <p:nvPr/>
              </p:nvSpPr>
              <p:spPr>
                <a:xfrm>
                  <a:off x="9082490" y="4497852"/>
                  <a:ext cx="119785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O" sz="18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4DAC02DB-E100-8355-C28D-6C947ED687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2490" y="4497852"/>
                  <a:ext cx="119785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D8507C3E-7305-B5E1-91A6-6DA634323A1D}"/>
                    </a:ext>
                  </a:extLst>
                </p:cNvPr>
                <p:cNvSpPr txBox="1"/>
                <p:nvPr/>
              </p:nvSpPr>
              <p:spPr>
                <a:xfrm>
                  <a:off x="8986580" y="4773049"/>
                  <a:ext cx="1197851" cy="6109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MX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num>
                          <m:den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s-CO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D8507C3E-7305-B5E1-91A6-6DA634323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6580" y="4773049"/>
                  <a:ext cx="1197851" cy="6109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08DA9812-DD85-7FFC-98D6-5EACF1B52CCA}"/>
                    </a:ext>
                  </a:extLst>
                </p:cNvPr>
                <p:cNvSpPr txBox="1"/>
                <p:nvPr/>
              </p:nvSpPr>
              <p:spPr>
                <a:xfrm>
                  <a:off x="9094775" y="5378815"/>
                  <a:ext cx="981459" cy="369332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s-CO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08DA9812-DD85-7FFC-98D6-5EACF1B52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4775" y="5378815"/>
                  <a:ext cx="98145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E917CA5E-5CF2-F456-E318-9767A04AC8A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8708" t="13722" r="35443" b="29712"/>
          <a:stretch/>
        </p:blipFill>
        <p:spPr>
          <a:xfrm>
            <a:off x="4628196" y="2734716"/>
            <a:ext cx="2484745" cy="305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935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7AEEA-5587-CC82-64F9-3D0CDB01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3" y="681037"/>
            <a:ext cx="10515600" cy="1325563"/>
          </a:xfrm>
        </p:spPr>
        <p:txBody>
          <a:bodyPr>
            <a:normAutofit/>
          </a:bodyPr>
          <a:lstStyle/>
          <a:p>
            <a:r>
              <a:rPr lang="es-CO" sz="3600" dirty="0"/>
              <a:t>Intervalos de crecimiento, decrecimiento, máx. y mín.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1764645B-1499-8747-3A19-445E679670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1870" y="2521258"/>
                <a:ext cx="3431959" cy="374448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s-CO" sz="2400" dirty="0"/>
                  <a:t>4. Representar los valores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s-CO" sz="2400" dirty="0"/>
                  <a:t>0 en la recta numérica.</a:t>
                </a:r>
              </a:p>
              <a:p>
                <a:pPr marL="0" indent="0" algn="just">
                  <a:buNone/>
                </a:pPr>
                <a:r>
                  <a:rPr lang="es-CO" sz="2400" dirty="0"/>
                  <a:t>Establecer los puntos de intervalos desde -∞ al punto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s-CO" sz="2400" dirty="0"/>
                  <a:t>0  y el 2do desde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MX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400" i="1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s-CO" sz="2400" dirty="0"/>
                  <a:t>0 a +∞. </a:t>
                </a:r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1764645B-1499-8747-3A19-445E67967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1870" y="2521258"/>
                <a:ext cx="3431959" cy="3744481"/>
              </a:xfrm>
              <a:blipFill>
                <a:blip r:embed="rId2"/>
                <a:stretch>
                  <a:fillRect l="-2842" t="-2117" r="-266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14F6198-4682-71F2-82F8-CF8F5430DED1}"/>
                  </a:ext>
                </a:extLst>
              </p:cNvPr>
              <p:cNvSpPr txBox="1"/>
              <p:nvPr/>
            </p:nvSpPr>
            <p:spPr>
              <a:xfrm>
                <a:off x="-829323" y="1864619"/>
                <a:ext cx="60945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14F6198-4682-71F2-82F8-CF8F5430D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29323" y="1864619"/>
                <a:ext cx="609452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32E26F4-472E-DEC6-9187-C8D36C55FDAF}"/>
                  </a:ext>
                </a:extLst>
              </p:cNvPr>
              <p:cNvSpPr txBox="1"/>
              <p:nvPr/>
            </p:nvSpPr>
            <p:spPr>
              <a:xfrm>
                <a:off x="911518" y="5301514"/>
                <a:ext cx="275207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)=2</m:t>
                      </m:r>
                      <m:r>
                        <a:rPr lang="es-CO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32E26F4-472E-DEC6-9187-C8D36C55F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18" y="5301514"/>
                <a:ext cx="2752078" cy="400110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4">
                <a:extLst>
                  <a:ext uri="{FF2B5EF4-FFF2-40B4-BE49-F238E27FC236}">
                    <a16:creationId xmlns:a16="http://schemas.microsoft.com/office/drawing/2014/main" id="{4AADEF2C-976A-CBC5-67A8-CC0D5C1500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05269" y="1976608"/>
                <a:ext cx="3927629" cy="37444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 panose="020B0604020202020204" pitchFamily="34" charset="0"/>
                  <a:buNone/>
                </a:pPr>
                <a:r>
                  <a:rPr lang="es-CO" sz="2400" dirty="0"/>
                  <a:t>5. Analizar los signos en los intervalos (puntos de control)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000" dirty="0"/>
                  <a:t>, ¿cómo se toman? Un valor de x cualquiera. </a:t>
                </a:r>
              </a:p>
              <a:p>
                <a:pPr marL="0" indent="0" algn="just">
                  <a:buFont typeface="Arial" panose="020B0604020202020204" pitchFamily="34" charset="0"/>
                  <a:buNone/>
                </a:pPr>
                <a:endParaRPr lang="es-CO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7" name="Marcador de contenido 4">
                <a:extLst>
                  <a:ext uri="{FF2B5EF4-FFF2-40B4-BE49-F238E27FC236}">
                    <a16:creationId xmlns:a16="http://schemas.microsoft.com/office/drawing/2014/main" id="{4AADEF2C-976A-CBC5-67A8-CC0D5C150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269" y="1976608"/>
                <a:ext cx="3927629" cy="3744481"/>
              </a:xfrm>
              <a:prstGeom prst="rect">
                <a:avLst/>
              </a:prstGeom>
              <a:blipFill>
                <a:blip r:embed="rId5"/>
                <a:stretch>
                  <a:fillRect l="-2484" t="-2117" r="-23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n 17">
            <a:extLst>
              <a:ext uri="{FF2B5EF4-FFF2-40B4-BE49-F238E27FC236}">
                <a16:creationId xmlns:a16="http://schemas.microsoft.com/office/drawing/2014/main" id="{E917CA5E-5CF2-F456-E318-9767A04AC8A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8708" t="13722" r="35443" b="29712"/>
          <a:stretch/>
        </p:blipFill>
        <p:spPr>
          <a:xfrm>
            <a:off x="4670286" y="1669070"/>
            <a:ext cx="2212234" cy="2723085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29FE0006-F31A-12EB-897D-CBE7BA24D634}"/>
              </a:ext>
            </a:extLst>
          </p:cNvPr>
          <p:cNvSpPr txBox="1"/>
          <p:nvPr/>
        </p:nvSpPr>
        <p:spPr>
          <a:xfrm>
            <a:off x="4670286" y="4527944"/>
            <a:ext cx="233563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dirty="0"/>
              <a:t>-</a:t>
            </a:r>
            <a:r>
              <a:rPr lang="es-MX" sz="1600" dirty="0"/>
              <a:t>2 y 2 puntos de control</a:t>
            </a:r>
            <a:endParaRPr lang="es-CO" sz="160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EFC8795-E296-9A54-716A-B806B8653084}"/>
              </a:ext>
            </a:extLst>
          </p:cNvPr>
          <p:cNvGrpSpPr/>
          <p:nvPr/>
        </p:nvGrpSpPr>
        <p:grpSpPr>
          <a:xfrm>
            <a:off x="4048880" y="5088417"/>
            <a:ext cx="3327777" cy="1227045"/>
            <a:chOff x="4048880" y="5088417"/>
            <a:chExt cx="3327777" cy="1227045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96F063B5-6775-E167-E229-6E14625C69DD}"/>
                </a:ext>
              </a:extLst>
            </p:cNvPr>
            <p:cNvGrpSpPr/>
            <p:nvPr/>
          </p:nvGrpSpPr>
          <p:grpSpPr>
            <a:xfrm>
              <a:off x="4048880" y="5088417"/>
              <a:ext cx="3327777" cy="1118457"/>
              <a:chOff x="4048880" y="5088417"/>
              <a:chExt cx="3327777" cy="1118457"/>
            </a:xfrm>
          </p:grpSpPr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84EDB3BB-66BE-BAC4-F8DA-AED3D99308BE}"/>
                  </a:ext>
                </a:extLst>
              </p:cNvPr>
              <p:cNvGrpSpPr/>
              <p:nvPr/>
            </p:nvGrpSpPr>
            <p:grpSpPr>
              <a:xfrm>
                <a:off x="4048880" y="5088417"/>
                <a:ext cx="3327777" cy="761132"/>
                <a:chOff x="4048880" y="5088417"/>
                <a:chExt cx="3327777" cy="761132"/>
              </a:xfrm>
            </p:grpSpPr>
            <p:grpSp>
              <p:nvGrpSpPr>
                <p:cNvPr id="20" name="Grupo 19">
                  <a:extLst>
                    <a:ext uri="{FF2B5EF4-FFF2-40B4-BE49-F238E27FC236}">
                      <a16:creationId xmlns:a16="http://schemas.microsoft.com/office/drawing/2014/main" id="{76618E06-E15A-BFDA-68DC-568D2183C359}"/>
                    </a:ext>
                  </a:extLst>
                </p:cNvPr>
                <p:cNvGrpSpPr/>
                <p:nvPr/>
              </p:nvGrpSpPr>
              <p:grpSpPr>
                <a:xfrm>
                  <a:off x="4048880" y="5088417"/>
                  <a:ext cx="3327777" cy="583542"/>
                  <a:chOff x="4182017" y="5847514"/>
                  <a:chExt cx="3327777" cy="583542"/>
                </a:xfrm>
              </p:grpSpPr>
              <p:cxnSp>
                <p:nvCxnSpPr>
                  <p:cNvPr id="16" name="Conector recto 15">
                    <a:extLst>
                      <a:ext uri="{FF2B5EF4-FFF2-40B4-BE49-F238E27FC236}">
                        <a16:creationId xmlns:a16="http://schemas.microsoft.com/office/drawing/2014/main" id="{4FAC51ED-66E1-001B-A50F-F41763B8660D}"/>
                      </a:ext>
                    </a:extLst>
                  </p:cNvPr>
                  <p:cNvCxnSpPr/>
                  <p:nvPr/>
                </p:nvCxnSpPr>
                <p:spPr>
                  <a:xfrm>
                    <a:off x="4235282" y="5925934"/>
                    <a:ext cx="3151573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Conector recto 8">
                    <a:extLst>
                      <a:ext uri="{FF2B5EF4-FFF2-40B4-BE49-F238E27FC236}">
                        <a16:creationId xmlns:a16="http://schemas.microsoft.com/office/drawing/2014/main" id="{D59DB5D7-0133-F677-C381-FC0A5A9D61B4}"/>
                      </a:ext>
                    </a:extLst>
                  </p:cNvPr>
                  <p:cNvCxnSpPr/>
                  <p:nvPr/>
                </p:nvCxnSpPr>
                <p:spPr>
                  <a:xfrm>
                    <a:off x="5844321" y="5859262"/>
                    <a:ext cx="0" cy="213064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Conector recto 11">
                    <a:extLst>
                      <a:ext uri="{FF2B5EF4-FFF2-40B4-BE49-F238E27FC236}">
                        <a16:creationId xmlns:a16="http://schemas.microsoft.com/office/drawing/2014/main" id="{867693BF-D5F8-62BD-9CB6-5217F88529AF}"/>
                      </a:ext>
                    </a:extLst>
                  </p:cNvPr>
                  <p:cNvCxnSpPr/>
                  <p:nvPr/>
                </p:nvCxnSpPr>
                <p:spPr>
                  <a:xfrm>
                    <a:off x="5526204" y="5847514"/>
                    <a:ext cx="0" cy="213064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CuadroTexto 18">
                    <a:extLst>
                      <a:ext uri="{FF2B5EF4-FFF2-40B4-BE49-F238E27FC236}">
                        <a16:creationId xmlns:a16="http://schemas.microsoft.com/office/drawing/2014/main" id="{A481AEB4-EF2E-973F-649C-DF0252AA3DAD}"/>
                      </a:ext>
                    </a:extLst>
                  </p:cNvPr>
                  <p:cNvSpPr txBox="1"/>
                  <p:nvPr/>
                </p:nvSpPr>
                <p:spPr>
                  <a:xfrm>
                    <a:off x="4182017" y="6061724"/>
                    <a:ext cx="332777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dirty="0"/>
                      <a:t>-∞          -2    -1     0          +2          + ∞</a:t>
                    </a:r>
                    <a:endParaRPr lang="es-CO" dirty="0"/>
                  </a:p>
                </p:txBody>
              </p:sp>
            </p:grpSp>
            <p:sp>
              <p:nvSpPr>
                <p:cNvPr id="22" name="Abrir llave 21">
                  <a:extLst>
                    <a:ext uri="{FF2B5EF4-FFF2-40B4-BE49-F238E27FC236}">
                      <a16:creationId xmlns:a16="http://schemas.microsoft.com/office/drawing/2014/main" id="{20ACE6E4-9183-626C-7B94-887939F3990E}"/>
                    </a:ext>
                  </a:extLst>
                </p:cNvPr>
                <p:cNvSpPr/>
                <p:nvPr/>
              </p:nvSpPr>
              <p:spPr>
                <a:xfrm rot="5400000" flipH="1">
                  <a:off x="4682687" y="5156238"/>
                  <a:ext cx="214142" cy="1172480"/>
                </a:xfrm>
                <a:prstGeom prst="leftBrace">
                  <a:avLst/>
                </a:prstGeom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23" name="Abrir llave 22">
                  <a:extLst>
                    <a:ext uri="{FF2B5EF4-FFF2-40B4-BE49-F238E27FC236}">
                      <a16:creationId xmlns:a16="http://schemas.microsoft.com/office/drawing/2014/main" id="{B6103794-9EE1-5C69-9420-FF0AA60BE949}"/>
                    </a:ext>
                  </a:extLst>
                </p:cNvPr>
                <p:cNvSpPr/>
                <p:nvPr/>
              </p:nvSpPr>
              <p:spPr>
                <a:xfrm rot="5400000" flipH="1">
                  <a:off x="6191857" y="4846868"/>
                  <a:ext cx="214142" cy="1788282"/>
                </a:xfrm>
                <a:prstGeom prst="leftBrace">
                  <a:avLst/>
                </a:prstGeom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</p:grpSp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59FCFF0A-C3A9-5907-8C63-EC51487E02AA}"/>
                  </a:ext>
                </a:extLst>
              </p:cNvPr>
              <p:cNvSpPr txBox="1"/>
              <p:nvPr/>
            </p:nvSpPr>
            <p:spPr>
              <a:xfrm>
                <a:off x="4664174" y="5837542"/>
                <a:ext cx="3063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b="1" dirty="0"/>
                  <a:t>- </a:t>
                </a:r>
                <a:endParaRPr lang="es-CO" b="1" dirty="0"/>
              </a:p>
            </p:txBody>
          </p:sp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7BB204E-7970-FD00-03F9-B8807F5EA65F}"/>
                  </a:ext>
                </a:extLst>
              </p:cNvPr>
              <p:cNvSpPr txBox="1"/>
              <p:nvPr/>
            </p:nvSpPr>
            <p:spPr>
              <a:xfrm>
                <a:off x="6175355" y="5756854"/>
                <a:ext cx="3063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b="1" dirty="0"/>
                  <a:t>+ </a:t>
                </a:r>
                <a:endParaRPr lang="es-CO" b="1" dirty="0"/>
              </a:p>
            </p:txBody>
          </p:sp>
        </p:grp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4DC6A9F4-0106-A5C9-3578-C71A6ED548C6}"/>
                </a:ext>
              </a:extLst>
            </p:cNvPr>
            <p:cNvSpPr txBox="1"/>
            <p:nvPr/>
          </p:nvSpPr>
          <p:spPr>
            <a:xfrm>
              <a:off x="4447942" y="6038463"/>
              <a:ext cx="29287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/>
                <a:t>Nos interesa el signo no el resultado </a:t>
              </a:r>
              <a:endParaRPr lang="es-CO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9831B6C-704B-4CE4-0027-5D3B4874D4D0}"/>
                  </a:ext>
                </a:extLst>
              </p:cNvPr>
              <p:cNvSpPr txBox="1"/>
              <p:nvPr/>
            </p:nvSpPr>
            <p:spPr>
              <a:xfrm>
                <a:off x="8034291" y="3622421"/>
                <a:ext cx="34330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+2=−2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9831B6C-704B-4CE4-0027-5D3B4874D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4291" y="3622421"/>
                <a:ext cx="3433023" cy="400110"/>
              </a:xfrm>
              <a:prstGeom prst="rect">
                <a:avLst/>
              </a:prstGeom>
              <a:blipFill>
                <a:blip r:embed="rId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34CDE9F5-E596-583B-EE5F-07284C2EAA5A}"/>
                  </a:ext>
                </a:extLst>
              </p:cNvPr>
              <p:cNvSpPr txBox="1"/>
              <p:nvPr/>
            </p:nvSpPr>
            <p:spPr>
              <a:xfrm>
                <a:off x="8034291" y="4127834"/>
                <a:ext cx="34330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+2=6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34CDE9F5-E596-583B-EE5F-07284C2EA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4291" y="4127834"/>
                <a:ext cx="3433023" cy="400110"/>
              </a:xfrm>
              <a:prstGeom prst="rect">
                <a:avLst/>
              </a:prstGeom>
              <a:blipFill>
                <a:blip r:embed="rId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0079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7AEEA-5587-CC82-64F9-3D0CDB01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696550"/>
            <a:ext cx="10515600" cy="1325563"/>
          </a:xfrm>
        </p:spPr>
        <p:txBody>
          <a:bodyPr>
            <a:normAutofit/>
          </a:bodyPr>
          <a:lstStyle/>
          <a:p>
            <a:r>
              <a:rPr lang="es-CO" sz="3600" dirty="0"/>
              <a:t>Intervalos de crecimiento, decrecimiento, máx. y mín.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14F6198-4682-71F2-82F8-CF8F5430DED1}"/>
                  </a:ext>
                </a:extLst>
              </p:cNvPr>
              <p:cNvSpPr txBox="1"/>
              <p:nvPr/>
            </p:nvSpPr>
            <p:spPr>
              <a:xfrm>
                <a:off x="4279306" y="2364371"/>
                <a:ext cx="60945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14F6198-4682-71F2-82F8-CF8F5430D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306" y="2364371"/>
                <a:ext cx="609452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n 17">
            <a:extLst>
              <a:ext uri="{FF2B5EF4-FFF2-40B4-BE49-F238E27FC236}">
                <a16:creationId xmlns:a16="http://schemas.microsoft.com/office/drawing/2014/main" id="{E917CA5E-5CF2-F456-E318-9767A04AC8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08" t="13722" r="35443" b="29712"/>
          <a:stretch/>
        </p:blipFill>
        <p:spPr>
          <a:xfrm>
            <a:off x="1066722" y="1736964"/>
            <a:ext cx="2212234" cy="2723085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274C9CD0-7B73-6F5A-CAA2-75FCDABDC373}"/>
              </a:ext>
            </a:extLst>
          </p:cNvPr>
          <p:cNvGrpSpPr/>
          <p:nvPr/>
        </p:nvGrpSpPr>
        <p:grpSpPr>
          <a:xfrm>
            <a:off x="451428" y="4527944"/>
            <a:ext cx="3327777" cy="1787518"/>
            <a:chOff x="4048880" y="4527944"/>
            <a:chExt cx="3327777" cy="1787518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29FE0006-F31A-12EB-897D-CBE7BA24D634}"/>
                </a:ext>
              </a:extLst>
            </p:cNvPr>
            <p:cNvSpPr txBox="1"/>
            <p:nvPr/>
          </p:nvSpPr>
          <p:spPr>
            <a:xfrm>
              <a:off x="4670286" y="4527944"/>
              <a:ext cx="233563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s-MX" dirty="0"/>
                <a:t>-</a:t>
              </a:r>
              <a:r>
                <a:rPr lang="es-MX" sz="1600" dirty="0"/>
                <a:t>2 y 2 puntos de control</a:t>
              </a:r>
              <a:endParaRPr lang="es-CO" sz="1600" dirty="0"/>
            </a:p>
          </p:txBody>
        </p: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5EFC8795-E296-9A54-716A-B806B8653084}"/>
                </a:ext>
              </a:extLst>
            </p:cNvPr>
            <p:cNvGrpSpPr/>
            <p:nvPr/>
          </p:nvGrpSpPr>
          <p:grpSpPr>
            <a:xfrm>
              <a:off x="4048880" y="5088417"/>
              <a:ext cx="3327777" cy="1227045"/>
              <a:chOff x="4048880" y="5088417"/>
              <a:chExt cx="3327777" cy="1227045"/>
            </a:xfrm>
          </p:grpSpPr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96F063B5-6775-E167-E229-6E14625C69DD}"/>
                  </a:ext>
                </a:extLst>
              </p:cNvPr>
              <p:cNvGrpSpPr/>
              <p:nvPr/>
            </p:nvGrpSpPr>
            <p:grpSpPr>
              <a:xfrm>
                <a:off x="4048880" y="5088417"/>
                <a:ext cx="3327777" cy="1118457"/>
                <a:chOff x="4048880" y="5088417"/>
                <a:chExt cx="3327777" cy="1118457"/>
              </a:xfrm>
            </p:grpSpPr>
            <p:grpSp>
              <p:nvGrpSpPr>
                <p:cNvPr id="24" name="Grupo 23">
                  <a:extLst>
                    <a:ext uri="{FF2B5EF4-FFF2-40B4-BE49-F238E27FC236}">
                      <a16:creationId xmlns:a16="http://schemas.microsoft.com/office/drawing/2014/main" id="{84EDB3BB-66BE-BAC4-F8DA-AED3D99308BE}"/>
                    </a:ext>
                  </a:extLst>
                </p:cNvPr>
                <p:cNvGrpSpPr/>
                <p:nvPr/>
              </p:nvGrpSpPr>
              <p:grpSpPr>
                <a:xfrm>
                  <a:off x="4048880" y="5088417"/>
                  <a:ext cx="3327777" cy="761132"/>
                  <a:chOff x="4048880" y="5088417"/>
                  <a:chExt cx="3327777" cy="761132"/>
                </a:xfrm>
              </p:grpSpPr>
              <p:grpSp>
                <p:nvGrpSpPr>
                  <p:cNvPr id="20" name="Grupo 19">
                    <a:extLst>
                      <a:ext uri="{FF2B5EF4-FFF2-40B4-BE49-F238E27FC236}">
                        <a16:creationId xmlns:a16="http://schemas.microsoft.com/office/drawing/2014/main" id="{76618E06-E15A-BFDA-68DC-568D2183C359}"/>
                      </a:ext>
                    </a:extLst>
                  </p:cNvPr>
                  <p:cNvGrpSpPr/>
                  <p:nvPr/>
                </p:nvGrpSpPr>
                <p:grpSpPr>
                  <a:xfrm>
                    <a:off x="4048880" y="5088417"/>
                    <a:ext cx="3327777" cy="583542"/>
                    <a:chOff x="4182017" y="5847514"/>
                    <a:chExt cx="3327777" cy="583542"/>
                  </a:xfrm>
                </p:grpSpPr>
                <p:cxnSp>
                  <p:nvCxnSpPr>
                    <p:cNvPr id="16" name="Conector recto 15">
                      <a:extLst>
                        <a:ext uri="{FF2B5EF4-FFF2-40B4-BE49-F238E27FC236}">
                          <a16:creationId xmlns:a16="http://schemas.microsoft.com/office/drawing/2014/main" id="{4FAC51ED-66E1-001B-A50F-F41763B8660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235282" y="5925934"/>
                      <a:ext cx="3151573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" name="Conector recto 8">
                      <a:extLst>
                        <a:ext uri="{FF2B5EF4-FFF2-40B4-BE49-F238E27FC236}">
                          <a16:creationId xmlns:a16="http://schemas.microsoft.com/office/drawing/2014/main" id="{D59DB5D7-0133-F677-C381-FC0A5A9D61B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844321" y="5859262"/>
                      <a:ext cx="0" cy="21306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" name="Conector recto 11">
                      <a:extLst>
                        <a:ext uri="{FF2B5EF4-FFF2-40B4-BE49-F238E27FC236}">
                          <a16:creationId xmlns:a16="http://schemas.microsoft.com/office/drawing/2014/main" id="{867693BF-D5F8-62BD-9CB6-5217F88529A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526204" y="5847514"/>
                      <a:ext cx="0" cy="21306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9" name="CuadroTexto 18">
                      <a:extLst>
                        <a:ext uri="{FF2B5EF4-FFF2-40B4-BE49-F238E27FC236}">
                          <a16:creationId xmlns:a16="http://schemas.microsoft.com/office/drawing/2014/main" id="{A481AEB4-EF2E-973F-649C-DF0252AA3D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82017" y="6061724"/>
                      <a:ext cx="332777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MX" dirty="0"/>
                        <a:t>-∞          -2    -1     0          +2          + ∞</a:t>
                      </a:r>
                      <a:endParaRPr lang="es-CO" dirty="0"/>
                    </a:p>
                  </p:txBody>
                </p:sp>
              </p:grpSp>
              <p:sp>
                <p:nvSpPr>
                  <p:cNvPr id="22" name="Abrir llave 21">
                    <a:extLst>
                      <a:ext uri="{FF2B5EF4-FFF2-40B4-BE49-F238E27FC236}">
                        <a16:creationId xmlns:a16="http://schemas.microsoft.com/office/drawing/2014/main" id="{20ACE6E4-9183-626C-7B94-887939F3990E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4682687" y="5156238"/>
                    <a:ext cx="214142" cy="1172480"/>
                  </a:xfrm>
                  <a:prstGeom prst="leftBrace">
                    <a:avLst/>
                  </a:prstGeom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  <p:sp>
                <p:nvSpPr>
                  <p:cNvPr id="23" name="Abrir llave 22">
                    <a:extLst>
                      <a:ext uri="{FF2B5EF4-FFF2-40B4-BE49-F238E27FC236}">
                        <a16:creationId xmlns:a16="http://schemas.microsoft.com/office/drawing/2014/main" id="{B6103794-9EE1-5C69-9420-FF0AA60BE949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6191857" y="4846868"/>
                    <a:ext cx="214142" cy="1788282"/>
                  </a:xfrm>
                  <a:prstGeom prst="leftBrace">
                    <a:avLst/>
                  </a:prstGeom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</p:grpSp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59FCFF0A-C3A9-5907-8C63-EC51487E02AA}"/>
                    </a:ext>
                  </a:extLst>
                </p:cNvPr>
                <p:cNvSpPr txBox="1"/>
                <p:nvPr/>
              </p:nvSpPr>
              <p:spPr>
                <a:xfrm>
                  <a:off x="4664174" y="5837542"/>
                  <a:ext cx="3063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b="1" dirty="0"/>
                    <a:t>- </a:t>
                  </a:r>
                  <a:endParaRPr lang="es-CO" b="1" dirty="0"/>
                </a:p>
              </p:txBody>
            </p:sp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77BB204E-7970-FD00-03F9-B8807F5EA65F}"/>
                    </a:ext>
                  </a:extLst>
                </p:cNvPr>
                <p:cNvSpPr txBox="1"/>
                <p:nvPr/>
              </p:nvSpPr>
              <p:spPr>
                <a:xfrm>
                  <a:off x="6175355" y="5756854"/>
                  <a:ext cx="3063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b="1" dirty="0"/>
                    <a:t>+ </a:t>
                  </a:r>
                  <a:endParaRPr lang="es-CO" b="1" dirty="0"/>
                </a:p>
              </p:txBody>
            </p:sp>
          </p:grpSp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4DC6A9F4-0106-A5C9-3578-C71A6ED548C6}"/>
                  </a:ext>
                </a:extLst>
              </p:cNvPr>
              <p:cNvSpPr txBox="1"/>
              <p:nvPr/>
            </p:nvSpPr>
            <p:spPr>
              <a:xfrm>
                <a:off x="4447942" y="6038463"/>
                <a:ext cx="2928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200" dirty="0"/>
                  <a:t>Nos interesa el signo no el resultado </a:t>
                </a:r>
                <a:endParaRPr lang="es-CO" sz="1200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3C78A010-BC7F-D37E-9AB6-3C5B69C0AE30}"/>
              </a:ext>
            </a:extLst>
          </p:cNvPr>
          <p:cNvGrpSpPr/>
          <p:nvPr/>
        </p:nvGrpSpPr>
        <p:grpSpPr>
          <a:xfrm>
            <a:off x="3974382" y="1889457"/>
            <a:ext cx="7264748" cy="3744481"/>
            <a:chOff x="4031504" y="1889457"/>
            <a:chExt cx="7264748" cy="3744481"/>
          </a:xfrm>
        </p:grpSpPr>
        <p:sp>
          <p:nvSpPr>
            <p:cNvPr id="7" name="Marcador de contenido 4">
              <a:extLst>
                <a:ext uri="{FF2B5EF4-FFF2-40B4-BE49-F238E27FC236}">
                  <a16:creationId xmlns:a16="http://schemas.microsoft.com/office/drawing/2014/main" id="{4AADEF2C-976A-CBC5-67A8-CC0D5C1500C1}"/>
                </a:ext>
              </a:extLst>
            </p:cNvPr>
            <p:cNvSpPr txBox="1">
              <a:spLocks/>
            </p:cNvSpPr>
            <p:nvPr/>
          </p:nvSpPr>
          <p:spPr>
            <a:xfrm>
              <a:off x="4408814" y="1889457"/>
              <a:ext cx="6690387" cy="374448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Font typeface="Arial" panose="020B0604020202020204" pitchFamily="34" charset="0"/>
                <a:buNone/>
              </a:pPr>
              <a:r>
                <a:rPr lang="es-MX" sz="2400" dirty="0"/>
                <a:t>6. Determine las coordenadas de valores críticos</a:t>
              </a:r>
            </a:p>
            <a:p>
              <a:pPr marL="0" indent="0" algn="just">
                <a:buFont typeface="Arial" panose="020B0604020202020204" pitchFamily="34" charset="0"/>
                <a:buNone/>
              </a:pPr>
              <a:endParaRPr lang="es-MX" sz="2400" dirty="0"/>
            </a:p>
            <a:p>
              <a:pPr marL="0" indent="0" algn="just">
                <a:buFont typeface="Arial" panose="020B0604020202020204" pitchFamily="34" charset="0"/>
                <a:buNone/>
              </a:pPr>
              <a:endParaRPr lang="es-MX" sz="2400" dirty="0"/>
            </a:p>
            <a:p>
              <a:pPr marL="0" indent="0" algn="just">
                <a:buFont typeface="Arial" panose="020B0604020202020204" pitchFamily="34" charset="0"/>
                <a:buNone/>
              </a:pPr>
              <a:endParaRPr lang="es-CO" sz="2400" dirty="0"/>
            </a:p>
            <a:p>
              <a:pPr marL="0" indent="0">
                <a:buFont typeface="Arial" panose="020B0604020202020204" pitchFamily="34" charset="0"/>
                <a:buNone/>
              </a:pPr>
              <a:endParaRPr lang="es-CO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A633646D-319D-E572-D725-0548EBA45CF8}"/>
                    </a:ext>
                  </a:extLst>
                </p:cNvPr>
                <p:cNvSpPr txBox="1"/>
                <p:nvPr/>
              </p:nvSpPr>
              <p:spPr>
                <a:xfrm>
                  <a:off x="4641994" y="2887591"/>
                  <a:ext cx="609452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800" b="0" i="1" smtClean="0">
                                <a:latin typeface="Cambria Math" panose="02040503050406030204" pitchFamily="18" charset="0"/>
                              </a:rPr>
                              <m:t>(−1)</m:t>
                            </m:r>
                          </m:e>
                          <m:sup>
                            <m: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MX" sz="2800" b="0" i="1" smtClean="0">
                            <a:latin typeface="Cambria Math" panose="02040503050406030204" pitchFamily="18" charset="0"/>
                          </a:rPr>
                          <m:t>(−1)</m:t>
                        </m:r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es-CO" sz="2800" dirty="0"/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A633646D-319D-E572-D725-0548EBA45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994" y="2887591"/>
                  <a:ext cx="609452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8215F351-3169-3CD3-FE6D-536A2D43B10D}"/>
                    </a:ext>
                  </a:extLst>
                </p:cNvPr>
                <p:cNvSpPr txBox="1"/>
                <p:nvPr/>
              </p:nvSpPr>
              <p:spPr>
                <a:xfrm>
                  <a:off x="4031504" y="3475934"/>
                  <a:ext cx="609452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2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2−3</m:t>
                        </m:r>
                      </m:oMath>
                    </m:oMathPara>
                  </a14:m>
                  <a:endParaRPr lang="es-CO" sz="2800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8215F351-3169-3CD3-FE6D-536A2D43B1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504" y="3475934"/>
                  <a:ext cx="609452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9969CCD9-C641-8F73-1A25-6A67E2834DF9}"/>
                    </a:ext>
                  </a:extLst>
                </p:cNvPr>
                <p:cNvSpPr txBox="1"/>
                <p:nvPr/>
              </p:nvSpPr>
              <p:spPr>
                <a:xfrm>
                  <a:off x="5518625" y="4004724"/>
                  <a:ext cx="2235382" cy="52322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28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s-CO" sz="2800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9969CCD9-C641-8F73-1A25-6A67E2834D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8625" y="4004724"/>
                  <a:ext cx="2235382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AF875E81-F47E-DC77-D394-BF22B00FBF6B}"/>
                </a:ext>
              </a:extLst>
            </p:cNvPr>
            <p:cNvSpPr txBox="1"/>
            <p:nvPr/>
          </p:nvSpPr>
          <p:spPr>
            <a:xfrm>
              <a:off x="7994489" y="4166960"/>
              <a:ext cx="330176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MX" sz="1600" dirty="0"/>
                <a:t>Punto mínimo de la función (-1,- 4)</a:t>
              </a:r>
              <a:endParaRPr lang="es-CO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80694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892AD0E-CC51-77EC-4C1E-CAA29E97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35" y="633830"/>
            <a:ext cx="10515600" cy="1325563"/>
          </a:xfrm>
        </p:spPr>
        <p:txBody>
          <a:bodyPr/>
          <a:lstStyle/>
          <a:p>
            <a:r>
              <a:rPr lang="es-MX" dirty="0"/>
              <a:t>Razón de cambio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2">
                <a:extLst>
                  <a:ext uri="{FF2B5EF4-FFF2-40B4-BE49-F238E27FC236}">
                    <a16:creationId xmlns:a16="http://schemas.microsoft.com/office/drawing/2014/main" id="{9C565556-98EB-2C37-1276-953A8EC14B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0135" y="1682286"/>
                <a:ext cx="11273418" cy="435133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MX" sz="3200" dirty="0"/>
                  <a:t>Sea una función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s-CO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3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sz="3200" i="1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r>
                  <a:rPr lang="es-MX" sz="3200" dirty="0"/>
                  <a:t>si para un valor de la variable x se da un incremento </a:t>
                </a:r>
                <a14:m>
                  <m:oMath xmlns:m="http://schemas.openxmlformats.org/officeDocument/2006/math">
                    <m:r>
                      <a:rPr lang="es-MX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𝑐𝑎𝑙𝑐𝑢𝑙𝑎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𝑟𝑒𝑠𝑝𝑒𝑐𝑡𝑜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𝑖𝑛𝑐𝑟𝑒𝑚𝑒𝑛𝑡𝑜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∆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MX" sz="3200" dirty="0"/>
                  <a:t> de la variable dependiente, al dividir </a:t>
                </a:r>
                <a14:m>
                  <m:oMath xmlns:m="http://schemas.openxmlformats.org/officeDocument/2006/math">
                    <m:r>
                      <a:rPr lang="es-MX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CO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CO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entre</m:t>
                    </m:r>
                    <m:r>
                      <a:rPr lang="es-CO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CO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3200" dirty="0"/>
                  <a:t> se obtiene una razón promedio de y con respecto a x.</a:t>
                </a:r>
              </a:p>
              <a:p>
                <a:pPr marL="0" indent="0" algn="just">
                  <a:buNone/>
                </a:pPr>
                <a:endParaRPr lang="es-MX" sz="3200" dirty="0"/>
              </a:p>
              <a:p>
                <a:pPr marL="0" indent="0" algn="just">
                  <a:buNone/>
                </a:pPr>
                <a:endParaRPr lang="es-MX" sz="3200" dirty="0"/>
              </a:p>
              <a:p>
                <a:pPr marL="0" indent="0" algn="just">
                  <a:buNone/>
                </a:pPr>
                <a:endParaRPr lang="es-CO" sz="3200" dirty="0"/>
              </a:p>
            </p:txBody>
          </p:sp>
        </mc:Choice>
        <mc:Fallback xmlns="">
          <p:sp>
            <p:nvSpPr>
              <p:cNvPr id="5" name="Marcador de contenido 2">
                <a:extLst>
                  <a:ext uri="{FF2B5EF4-FFF2-40B4-BE49-F238E27FC236}">
                    <a16:creationId xmlns:a16="http://schemas.microsoft.com/office/drawing/2014/main" id="{9C565556-98EB-2C37-1276-953A8EC14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135" y="1682286"/>
                <a:ext cx="11273418" cy="4351338"/>
              </a:xfrm>
              <a:blipFill>
                <a:blip r:embed="rId2"/>
                <a:stretch>
                  <a:fillRect l="-1406" t="-2801" r="-135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upo 21">
            <a:extLst>
              <a:ext uri="{FF2B5EF4-FFF2-40B4-BE49-F238E27FC236}">
                <a16:creationId xmlns:a16="http://schemas.microsoft.com/office/drawing/2014/main" id="{8E108ECB-4F41-AE55-DC55-B1E826111E23}"/>
              </a:ext>
            </a:extLst>
          </p:cNvPr>
          <p:cNvGrpSpPr/>
          <p:nvPr/>
        </p:nvGrpSpPr>
        <p:grpSpPr>
          <a:xfrm>
            <a:off x="3316663" y="3857955"/>
            <a:ext cx="5420361" cy="1178463"/>
            <a:chOff x="4528457" y="3904890"/>
            <a:chExt cx="4606410" cy="11784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913C4964-E7AB-0009-0113-8CA98B17FE32}"/>
                    </a:ext>
                  </a:extLst>
                </p:cNvPr>
                <p:cNvSpPr txBox="1"/>
                <p:nvPr/>
              </p:nvSpPr>
              <p:spPr>
                <a:xfrm>
                  <a:off x="4528457" y="3904890"/>
                  <a:ext cx="696473" cy="11687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O" sz="4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4000" b="0" i="1" smtClean="0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es-CO" sz="40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</m:oMath>
                    </m:oMathPara>
                  </a14:m>
                  <a:endParaRPr lang="es-CO" sz="2800" dirty="0"/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913C4964-E7AB-0009-0113-8CA98B17F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8457" y="3904890"/>
                  <a:ext cx="696473" cy="11687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E57B6E05-BBD9-EFCA-936F-9985F38D40DA}"/>
                </a:ext>
              </a:extLst>
            </p:cNvPr>
            <p:cNvCxnSpPr/>
            <p:nvPr/>
          </p:nvCxnSpPr>
          <p:spPr>
            <a:xfrm>
              <a:off x="5224930" y="4489249"/>
              <a:ext cx="176348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E908D05-5248-8722-5EB3-F93839447EA8}"/>
                </a:ext>
              </a:extLst>
            </p:cNvPr>
            <p:cNvSpPr txBox="1"/>
            <p:nvPr/>
          </p:nvSpPr>
          <p:spPr>
            <a:xfrm>
              <a:off x="7174885" y="4129246"/>
              <a:ext cx="195998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2800" b="1" dirty="0"/>
                <a:t>Razón de cambio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6341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892AD0E-CC51-77EC-4C1E-CAA29E97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35" y="633830"/>
            <a:ext cx="10515600" cy="1325563"/>
          </a:xfrm>
        </p:spPr>
        <p:txBody>
          <a:bodyPr/>
          <a:lstStyle/>
          <a:p>
            <a:r>
              <a:rPr lang="es-MX" dirty="0"/>
              <a:t>Razón de cambio</a:t>
            </a:r>
            <a:endParaRPr lang="es-CO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C565556-98EB-2C37-1276-953A8EC14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35" y="1682286"/>
            <a:ext cx="11273418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3200" dirty="0"/>
              <a:t>Ejemplo: Una llave suministra 10 litros de agua cada 5 minutos, ¿Cómo se representa a la razón de cambio?</a:t>
            </a: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CO" sz="3200" dirty="0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9D7DD11F-E4BD-1551-9705-6D7D895CCA25}"/>
              </a:ext>
            </a:extLst>
          </p:cNvPr>
          <p:cNvGrpSpPr/>
          <p:nvPr/>
        </p:nvGrpSpPr>
        <p:grpSpPr>
          <a:xfrm>
            <a:off x="5851538" y="3190383"/>
            <a:ext cx="5331704" cy="2507724"/>
            <a:chOff x="5266778" y="2827790"/>
            <a:chExt cx="5331704" cy="2507724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8E108ECB-4F41-AE55-DC55-B1E826111E23}"/>
                </a:ext>
              </a:extLst>
            </p:cNvPr>
            <p:cNvGrpSpPr/>
            <p:nvPr/>
          </p:nvGrpSpPr>
          <p:grpSpPr>
            <a:xfrm>
              <a:off x="5266779" y="2827790"/>
              <a:ext cx="5331703" cy="1190441"/>
              <a:chOff x="4603802" y="3892912"/>
              <a:chExt cx="4531065" cy="11904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CuadroTexto 16">
                    <a:extLst>
                      <a:ext uri="{FF2B5EF4-FFF2-40B4-BE49-F238E27FC236}">
                        <a16:creationId xmlns:a16="http://schemas.microsoft.com/office/drawing/2014/main" id="{913C4964-E7AB-0009-0113-8CA98B17FE32}"/>
                      </a:ext>
                    </a:extLst>
                  </p:cNvPr>
                  <p:cNvSpPr txBox="1"/>
                  <p:nvPr/>
                </p:nvSpPr>
                <p:spPr>
                  <a:xfrm>
                    <a:off x="4603802" y="3892912"/>
                    <a:ext cx="591887" cy="116871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CO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4000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s-CO" sz="40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oMath>
                      </m:oMathPara>
                    </a14:m>
                    <a:endParaRPr lang="es-CO" sz="2800" dirty="0"/>
                  </a:p>
                </p:txBody>
              </p:sp>
            </mc:Choice>
            <mc:Fallback xmlns="">
              <p:sp>
                <p:nvSpPr>
                  <p:cNvPr id="17" name="CuadroTexto 16">
                    <a:extLst>
                      <a:ext uri="{FF2B5EF4-FFF2-40B4-BE49-F238E27FC236}">
                        <a16:creationId xmlns:a16="http://schemas.microsoft.com/office/drawing/2014/main" id="{913C4964-E7AB-0009-0113-8CA98B17FE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3802" y="3892912"/>
                    <a:ext cx="591887" cy="116871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Conector recto de flecha 19">
                <a:extLst>
                  <a:ext uri="{FF2B5EF4-FFF2-40B4-BE49-F238E27FC236}">
                    <a16:creationId xmlns:a16="http://schemas.microsoft.com/office/drawing/2014/main" id="{E57B6E05-BBD9-EFCA-936F-9985F38D40DA}"/>
                  </a:ext>
                </a:extLst>
              </p:cNvPr>
              <p:cNvCxnSpPr/>
              <p:nvPr/>
            </p:nvCxnSpPr>
            <p:spPr>
              <a:xfrm>
                <a:off x="5224930" y="4489249"/>
                <a:ext cx="1763485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E908D05-5248-8722-5EB3-F93839447EA8}"/>
                  </a:ext>
                </a:extLst>
              </p:cNvPr>
              <p:cNvSpPr txBox="1"/>
              <p:nvPr/>
            </p:nvSpPr>
            <p:spPr>
              <a:xfrm>
                <a:off x="7174885" y="4129246"/>
                <a:ext cx="1959982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800" b="1" dirty="0"/>
                  <a:t>Razón de cambio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08728EE7-CB9B-39CB-CD7B-A6567A0B74BE}"/>
                    </a:ext>
                  </a:extLst>
                </p:cNvPr>
                <p:cNvSpPr txBox="1"/>
                <p:nvPr/>
              </p:nvSpPr>
              <p:spPr>
                <a:xfrm>
                  <a:off x="5266778" y="4166733"/>
                  <a:ext cx="4407104" cy="11687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O" sz="4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4000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es-CO" sz="4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s-CO" sz="4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s-CO" sz="4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CO" sz="4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4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s-CO" sz="4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s-CO" sz="4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s-CO" sz="4000" b="0" i="1" smtClean="0">
                            <a:latin typeface="Cambria Math" panose="02040503050406030204" pitchFamily="18" charset="0"/>
                          </a:rPr>
                          <m:t>𝑙𝑡</m:t>
                        </m:r>
                        <m:r>
                          <a:rPr lang="es-CO" sz="4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s-CO" sz="40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oMath>
                    </m:oMathPara>
                  </a14:m>
                  <a:endParaRPr lang="es-CO" sz="2800" dirty="0"/>
                </a:p>
              </p:txBody>
            </p:sp>
          </mc:Choice>
          <mc:Fallback xmlns=""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08728EE7-CB9B-39CB-CD7B-A6567A0B74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6778" y="4166733"/>
                  <a:ext cx="4407104" cy="11687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EA759B53-609E-6545-A379-E8A382BEDC1F}"/>
              </a:ext>
            </a:extLst>
          </p:cNvPr>
          <p:cNvGrpSpPr/>
          <p:nvPr/>
        </p:nvGrpSpPr>
        <p:grpSpPr>
          <a:xfrm>
            <a:off x="432904" y="2746672"/>
            <a:ext cx="5041454" cy="3629311"/>
            <a:chOff x="432904" y="2746672"/>
            <a:chExt cx="5041454" cy="3629311"/>
          </a:xfrm>
        </p:grpSpPr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6CE89767-9D28-CF6C-CF2E-E7F3AC80E509}"/>
                </a:ext>
              </a:extLst>
            </p:cNvPr>
            <p:cNvSpPr txBox="1"/>
            <p:nvPr/>
          </p:nvSpPr>
          <p:spPr>
            <a:xfrm>
              <a:off x="4225298" y="5452511"/>
              <a:ext cx="1249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X (tiempo)</a:t>
              </a:r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62791E63-1EBC-F19D-2F93-1AFB574FCC90}"/>
                </a:ext>
              </a:extLst>
            </p:cNvPr>
            <p:cNvGrpSpPr/>
            <p:nvPr/>
          </p:nvGrpSpPr>
          <p:grpSpPr>
            <a:xfrm>
              <a:off x="432904" y="2746672"/>
              <a:ext cx="4853126" cy="3629311"/>
              <a:chOff x="432904" y="2746672"/>
              <a:chExt cx="4853126" cy="3629311"/>
            </a:xfrm>
          </p:grpSpPr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07EC9E61-0696-F164-4FC6-E36E1A56DB72}"/>
                  </a:ext>
                </a:extLst>
              </p:cNvPr>
              <p:cNvGrpSpPr/>
              <p:nvPr/>
            </p:nvGrpSpPr>
            <p:grpSpPr>
              <a:xfrm>
                <a:off x="723599" y="3215937"/>
                <a:ext cx="4562431" cy="3160046"/>
                <a:chOff x="484927" y="3007849"/>
                <a:chExt cx="4562431" cy="3160046"/>
              </a:xfrm>
            </p:grpSpPr>
            <p:grpSp>
              <p:nvGrpSpPr>
                <p:cNvPr id="34" name="Grupo 33">
                  <a:extLst>
                    <a:ext uri="{FF2B5EF4-FFF2-40B4-BE49-F238E27FC236}">
                      <a16:creationId xmlns:a16="http://schemas.microsoft.com/office/drawing/2014/main" id="{0EDF3D87-3CBC-F2D8-7F4D-E01F74668817}"/>
                    </a:ext>
                  </a:extLst>
                </p:cNvPr>
                <p:cNvGrpSpPr/>
                <p:nvPr/>
              </p:nvGrpSpPr>
              <p:grpSpPr>
                <a:xfrm>
                  <a:off x="484927" y="3007849"/>
                  <a:ext cx="4562431" cy="3160046"/>
                  <a:chOff x="484927" y="3007849"/>
                  <a:chExt cx="4562431" cy="3160046"/>
                </a:xfrm>
              </p:grpSpPr>
              <p:grpSp>
                <p:nvGrpSpPr>
                  <p:cNvPr id="11" name="Grupo 10">
                    <a:extLst>
                      <a:ext uri="{FF2B5EF4-FFF2-40B4-BE49-F238E27FC236}">
                        <a16:creationId xmlns:a16="http://schemas.microsoft.com/office/drawing/2014/main" id="{19C8D4E2-170F-CFD6-E22C-4F68BE74CDAC}"/>
                      </a:ext>
                    </a:extLst>
                  </p:cNvPr>
                  <p:cNvGrpSpPr/>
                  <p:nvPr/>
                </p:nvGrpSpPr>
                <p:grpSpPr>
                  <a:xfrm>
                    <a:off x="484927" y="3007849"/>
                    <a:ext cx="4562431" cy="3160046"/>
                    <a:chOff x="140198" y="3064124"/>
                    <a:chExt cx="4562431" cy="3160046"/>
                  </a:xfrm>
                </p:grpSpPr>
                <p:cxnSp>
                  <p:nvCxnSpPr>
                    <p:cNvPr id="6" name="Conector recto 5">
                      <a:extLst>
                        <a:ext uri="{FF2B5EF4-FFF2-40B4-BE49-F238E27FC236}">
                          <a16:creationId xmlns:a16="http://schemas.microsoft.com/office/drawing/2014/main" id="{E52983E2-D247-C234-B0AE-CEE4F5CF462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74914" y="3064124"/>
                      <a:ext cx="0" cy="2629105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" name="Conector recto 7">
                      <a:extLst>
                        <a:ext uri="{FF2B5EF4-FFF2-40B4-BE49-F238E27FC236}">
                          <a16:creationId xmlns:a16="http://schemas.microsoft.com/office/drawing/2014/main" id="{79A15D28-E08A-A1A9-0206-80B9BCA2606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64029" y="5693229"/>
                      <a:ext cx="3788228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" name="CuadroTexto 8">
                      <a:extLst>
                        <a:ext uri="{FF2B5EF4-FFF2-40B4-BE49-F238E27FC236}">
                          <a16:creationId xmlns:a16="http://schemas.microsoft.com/office/drawing/2014/main" id="{AB38EB97-CE34-0F30-5AED-5981A0A978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8447" y="5854838"/>
                      <a:ext cx="417418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CO" b="1" dirty="0"/>
                        <a:t>0                   5                 10             15             20</a:t>
                      </a:r>
                    </a:p>
                  </p:txBody>
                </p:sp>
                <p:sp>
                  <p:nvSpPr>
                    <p:cNvPr id="10" name="CuadroTexto 9">
                      <a:extLst>
                        <a:ext uri="{FF2B5EF4-FFF2-40B4-BE49-F238E27FC236}">
                          <a16:creationId xmlns:a16="http://schemas.microsoft.com/office/drawing/2014/main" id="{812B9022-A6E9-D73A-B76E-8B8FDB5467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198" y="3244317"/>
                      <a:ext cx="466334" cy="203132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CO" b="1" dirty="0"/>
                        <a:t>30</a:t>
                      </a:r>
                    </a:p>
                    <a:p>
                      <a:endParaRPr lang="es-CO" b="1" dirty="0"/>
                    </a:p>
                    <a:p>
                      <a:endParaRPr lang="es-CO" b="1" dirty="0"/>
                    </a:p>
                    <a:p>
                      <a:r>
                        <a:rPr lang="es-CO" b="1" dirty="0"/>
                        <a:t>20</a:t>
                      </a:r>
                    </a:p>
                    <a:p>
                      <a:endParaRPr lang="es-CO" b="1" dirty="0"/>
                    </a:p>
                    <a:p>
                      <a:endParaRPr lang="es-CO" b="1" dirty="0"/>
                    </a:p>
                    <a:p>
                      <a:r>
                        <a:rPr lang="es-CO" b="1" dirty="0"/>
                        <a:t>10</a:t>
                      </a:r>
                    </a:p>
                  </p:txBody>
                </p:sp>
              </p:grpSp>
              <p:cxnSp>
                <p:nvCxnSpPr>
                  <p:cNvPr id="13" name="Conector recto 12">
                    <a:extLst>
                      <a:ext uri="{FF2B5EF4-FFF2-40B4-BE49-F238E27FC236}">
                        <a16:creationId xmlns:a16="http://schemas.microsoft.com/office/drawing/2014/main" id="{07542BD8-ACB3-059F-9EBD-3215842D18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45029" y="3076006"/>
                    <a:ext cx="3292306" cy="2530137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3" name="Grupo 32">
                    <a:extLst>
                      <a:ext uri="{FF2B5EF4-FFF2-40B4-BE49-F238E27FC236}">
                        <a16:creationId xmlns:a16="http://schemas.microsoft.com/office/drawing/2014/main" id="{974069EB-3EB4-B186-E008-6477A8BABCD6}"/>
                      </a:ext>
                    </a:extLst>
                  </p:cNvPr>
                  <p:cNvGrpSpPr/>
                  <p:nvPr/>
                </p:nvGrpSpPr>
                <p:grpSpPr>
                  <a:xfrm>
                    <a:off x="1828800" y="3416301"/>
                    <a:ext cx="2057400" cy="1583623"/>
                    <a:chOff x="1828800" y="3416301"/>
                    <a:chExt cx="2057400" cy="1583623"/>
                  </a:xfrm>
                </p:grpSpPr>
                <p:cxnSp>
                  <p:nvCxnSpPr>
                    <p:cNvPr id="16" name="Conector recto 15">
                      <a:extLst>
                        <a:ext uri="{FF2B5EF4-FFF2-40B4-BE49-F238E27FC236}">
                          <a16:creationId xmlns:a16="http://schemas.microsoft.com/office/drawing/2014/main" id="{E9EB2E00-19F8-C215-E10E-A10AE0912B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28800" y="4999924"/>
                      <a:ext cx="1074072" cy="0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Conector recto de flecha 18">
                      <a:extLst>
                        <a:ext uri="{FF2B5EF4-FFF2-40B4-BE49-F238E27FC236}">
                          <a16:creationId xmlns:a16="http://schemas.microsoft.com/office/drawing/2014/main" id="{75DCBF5A-FBCE-620E-D408-BBC9C8EB6D1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916723" y="4203705"/>
                      <a:ext cx="0" cy="796219"/>
                    </a:xfrm>
                    <a:prstGeom prst="straightConnector1">
                      <a:avLst/>
                    </a:prstGeom>
                    <a:ln>
                      <a:prstDash val="dash"/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Conector recto 27">
                      <a:extLst>
                        <a:ext uri="{FF2B5EF4-FFF2-40B4-BE49-F238E27FC236}">
                          <a16:creationId xmlns:a16="http://schemas.microsoft.com/office/drawing/2014/main" id="{9C804B5D-9891-7247-F11D-C0EB517B1C7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02872" y="4203704"/>
                      <a:ext cx="983328" cy="0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Conector recto de flecha 29">
                      <a:extLst>
                        <a:ext uri="{FF2B5EF4-FFF2-40B4-BE49-F238E27FC236}">
                          <a16:creationId xmlns:a16="http://schemas.microsoft.com/office/drawing/2014/main" id="{C5AA3DB5-E877-9B62-3D44-3E4DD30AAF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886200" y="3416301"/>
                      <a:ext cx="0" cy="796219"/>
                    </a:xfrm>
                    <a:prstGeom prst="straightConnector1">
                      <a:avLst/>
                    </a:prstGeom>
                    <a:ln>
                      <a:prstDash val="dash"/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29EBF374-8523-FC52-47E8-71C805D6A1DF}"/>
                    </a:ext>
                  </a:extLst>
                </p:cNvPr>
                <p:cNvSpPr txBox="1"/>
                <p:nvPr/>
              </p:nvSpPr>
              <p:spPr>
                <a:xfrm>
                  <a:off x="2246223" y="4976867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b="1" dirty="0"/>
                    <a:t>5</a:t>
                  </a:r>
                </a:p>
              </p:txBody>
            </p:sp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B0BA0AA0-B794-5610-1B19-699502FDB3BB}"/>
                    </a:ext>
                  </a:extLst>
                </p:cNvPr>
                <p:cNvSpPr txBox="1"/>
                <p:nvPr/>
              </p:nvSpPr>
              <p:spPr>
                <a:xfrm>
                  <a:off x="3320524" y="4173927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b="1" dirty="0"/>
                    <a:t>5</a:t>
                  </a:r>
                </a:p>
              </p:txBody>
            </p:sp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A26E88D1-8A7B-E89F-B3F6-A0D86DC4B985}"/>
                    </a:ext>
                  </a:extLst>
                </p:cNvPr>
                <p:cNvSpPr txBox="1"/>
                <p:nvPr/>
              </p:nvSpPr>
              <p:spPr>
                <a:xfrm>
                  <a:off x="2942312" y="4535592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b="1" dirty="0"/>
                    <a:t>10</a:t>
                  </a:r>
                </a:p>
              </p:txBody>
            </p:sp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D78B5D87-1E61-F72F-8143-7011449E4A13}"/>
                    </a:ext>
                  </a:extLst>
                </p:cNvPr>
                <p:cNvSpPr txBox="1"/>
                <p:nvPr/>
              </p:nvSpPr>
              <p:spPr>
                <a:xfrm>
                  <a:off x="3792046" y="3576696"/>
                  <a:ext cx="533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b="1" dirty="0"/>
                    <a:t>10</a:t>
                  </a:r>
                </a:p>
              </p:txBody>
            </p:sp>
          </p:grpSp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21BBDB3F-F1FF-27DA-03C0-967835E7B532}"/>
                  </a:ext>
                </a:extLst>
              </p:cNvPr>
              <p:cNvSpPr txBox="1"/>
              <p:nvPr/>
            </p:nvSpPr>
            <p:spPr>
              <a:xfrm>
                <a:off x="432904" y="2746672"/>
                <a:ext cx="10477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Y (litros)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93219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F88B0848BE9E1438880DFDB1818E093" ma:contentTypeVersion="8" ma:contentTypeDescription="Crear nuevo documento." ma:contentTypeScope="" ma:versionID="b9577ca902d049722bbb0a0817c27d02">
  <xsd:schema xmlns:xsd="http://www.w3.org/2001/XMLSchema" xmlns:xs="http://www.w3.org/2001/XMLSchema" xmlns:p="http://schemas.microsoft.com/office/2006/metadata/properties" xmlns:ns2="65025548-468f-4300-832d-f5a82054d728" xmlns:ns3="d5313cc2-4b9c-4dc5-98ed-d5a410f7e63e" targetNamespace="http://schemas.microsoft.com/office/2006/metadata/properties" ma:root="true" ma:fieldsID="658a1ed89ddf92e839cb381a1133f24a" ns2:_="" ns3:_="">
    <xsd:import namespace="65025548-468f-4300-832d-f5a82054d728"/>
    <xsd:import namespace="d5313cc2-4b9c-4dc5-98ed-d5a410f7e6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025548-468f-4300-832d-f5a82054d7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313cc2-4b9c-4dc5-98ed-d5a410f7e63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B80FA7-A890-461A-A644-E310622E7841}">
  <ds:schemaRefs>
    <ds:schemaRef ds:uri="65025548-468f-4300-832d-f5a82054d728"/>
    <ds:schemaRef ds:uri="d5313cc2-4b9c-4dc5-98ed-d5a410f7e6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CF5DBB5-1E41-43E4-9334-C07F9A8571D9}">
  <ds:schemaRefs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5313cc2-4b9c-4dc5-98ed-d5a410f7e63e"/>
    <ds:schemaRef ds:uri="65025548-468f-4300-832d-f5a82054d728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C18EC6E-6470-41AE-AD96-8FF98CAF61B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2164</TotalTime>
  <Words>1859</Words>
  <Application>Microsoft Office PowerPoint</Application>
  <PresentationFormat>Panorámica</PresentationFormat>
  <Paragraphs>232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Cambria Math</vt:lpstr>
      <vt:lpstr>Tema de Office</vt:lpstr>
      <vt:lpstr>Derivada</vt:lpstr>
      <vt:lpstr>Máximos y Mínimos de una función</vt:lpstr>
      <vt:lpstr>Presentación de PowerPoint</vt:lpstr>
      <vt:lpstr>Criterio de la primera derivada</vt:lpstr>
      <vt:lpstr>Ejemplo</vt:lpstr>
      <vt:lpstr>Ejemplo</vt:lpstr>
      <vt:lpstr>Ejemplo</vt:lpstr>
      <vt:lpstr>Criterio de la segunda derivada</vt:lpstr>
      <vt:lpstr>Ejemplo</vt:lpstr>
      <vt:lpstr>Ejemplo</vt:lpstr>
      <vt:lpstr>Ejemplo</vt:lpstr>
      <vt:lpstr>Concavidad y punto de inflexión de una función</vt:lpstr>
      <vt:lpstr>Concavidad y punto de inflexión de una función</vt:lpstr>
      <vt:lpstr>Ejercicio</vt:lpstr>
      <vt:lpstr>Ejercicio</vt:lpstr>
      <vt:lpstr>Intervalos de concavidad</vt:lpstr>
      <vt:lpstr>Intervalos de concavidad</vt:lpstr>
      <vt:lpstr>Aplicaciones de la derivada</vt:lpstr>
      <vt:lpstr>Aplicaciones de la derivada</vt:lpstr>
      <vt:lpstr>Asíntotas de una Función</vt:lpstr>
      <vt:lpstr>Asíntotas de una Función</vt:lpstr>
      <vt:lpstr>Intervalos de crecimiento, decrecimiento, máx. y mín.</vt:lpstr>
      <vt:lpstr>Intervalos de crecimiento, decrecimiento, máx. y mín.</vt:lpstr>
      <vt:lpstr>Intervalos de crecimiento, decrecimiento, máx. y mín.</vt:lpstr>
      <vt:lpstr>Razón de cambio</vt:lpstr>
      <vt:lpstr>Razón de cambio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ALEJANDRO SALAZAR VILLADA</dc:creator>
  <cp:lastModifiedBy>Office</cp:lastModifiedBy>
  <cp:revision>83</cp:revision>
  <dcterms:created xsi:type="dcterms:W3CDTF">2024-01-24T21:41:27Z</dcterms:created>
  <dcterms:modified xsi:type="dcterms:W3CDTF">2025-11-13T04:24:24Z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0x010100EF88B0848BE9E1438880DFDB1818E093</vt:lpwstr>
  </property>
</Properties>
</file>