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2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3" r:id="rId37"/>
    <p:sldId id="291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7" r:id="rId48"/>
    <p:sldId id="303" r:id="rId49"/>
    <p:sldId id="304" r:id="rId50"/>
    <p:sldId id="305" r:id="rId51"/>
    <p:sldId id="306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B288E9-D3C7-A4DA-9F2A-E9124DCECC77}" v="16" dt="2026-05-19T14:20:35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407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9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9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74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0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2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4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4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4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7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312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57B938ED-887F-F41B-0A40-6C3F012480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-2808" t="10903" r="2808" b="8968"/>
          <a:stretch>
            <a:fillRect/>
          </a:stretch>
        </p:blipFill>
        <p:spPr>
          <a:xfrm>
            <a:off x="1" y="1"/>
            <a:ext cx="12192012" cy="6862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08" y="1136771"/>
            <a:ext cx="5548340" cy="230074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PROGRAMACIÓN ORIENTADA A OBJETOS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938" y="3793937"/>
            <a:ext cx="4716002" cy="675538"/>
          </a:xfrm>
        </p:spPr>
        <p:txBody>
          <a:bodyPr>
            <a:normAutofit fontScale="92500"/>
          </a:bodyPr>
          <a:lstStyle/>
          <a:p>
            <a:r>
              <a:rPr lang="en-US" sz="2200">
                <a:solidFill>
                  <a:srgbClr val="FFFFFF"/>
                </a:solidFill>
              </a:rPr>
              <a:t>ANDRES ALFONSO MURGAS VILORIA</a:t>
            </a:r>
          </a:p>
        </p:txBody>
      </p:sp>
    </p:spTree>
    <p:extLst>
      <p:ext uri="{BB962C8B-B14F-4D97-AF65-F5344CB8AC3E}">
        <p14:creationId xmlns:p14="http://schemas.microsoft.com/office/powerpoint/2010/main" val="3589516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7DD7-26B9-01E0-4F87-F1F8089C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91" y="454895"/>
            <a:ext cx="9238434" cy="857559"/>
          </a:xfrm>
        </p:spPr>
        <p:txBody>
          <a:bodyPr/>
          <a:lstStyle/>
          <a:p>
            <a:r>
              <a:rPr lang="en-US"/>
              <a:t>PREELIMINARES DE POO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35F22-69CE-7927-C878-BAAA2A7C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E13CC-6C99-49B2-83B7-9E0B785AB94C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372D-6D10-D4E9-C506-600ECACA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0F507-64A0-25BC-557C-BFBC50F0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/>
          </a:p>
        </p:txBody>
      </p:sp>
      <p:pic>
        <p:nvPicPr>
          <p:cNvPr id="7" name="Picture 6" descr="Programación Orientada a Objetos (POO) en Python">
            <a:extLst>
              <a:ext uri="{FF2B5EF4-FFF2-40B4-BE49-F238E27FC236}">
                <a16:creationId xmlns:a16="http://schemas.microsoft.com/office/drawing/2014/main" id="{599B99E0-A70A-E42B-0AC4-B7873892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2047875"/>
            <a:ext cx="5934075" cy="2971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7F1499-5D18-478D-6CE1-470A1A92A7BD}"/>
              </a:ext>
            </a:extLst>
          </p:cNvPr>
          <p:cNvSpPr txBox="1"/>
          <p:nvPr/>
        </p:nvSpPr>
        <p:spPr>
          <a:xfrm>
            <a:off x="6562725" y="1524000"/>
            <a:ext cx="465772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/>
              <a:t>La </a:t>
            </a:r>
            <a:r>
              <a:rPr lang="en-US" b="1"/>
              <a:t>POO</a:t>
            </a:r>
            <a:r>
              <a:rPr lang="en-US"/>
              <a:t> es un </a:t>
            </a:r>
            <a:r>
              <a:rPr lang="en-US" err="1"/>
              <a:t>paradigma</a:t>
            </a:r>
            <a:r>
              <a:rPr lang="en-US"/>
              <a:t> de </a:t>
            </a:r>
            <a:r>
              <a:rPr lang="en-US" err="1"/>
              <a:t>programación</a:t>
            </a:r>
            <a:r>
              <a:rPr lang="en-US"/>
              <a:t> </a:t>
            </a:r>
            <a:r>
              <a:rPr lang="en-US" err="1"/>
              <a:t>basado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concepto</a:t>
            </a:r>
            <a:r>
              <a:rPr lang="en-US"/>
              <a:t> de </a:t>
            </a:r>
            <a:r>
              <a:rPr lang="en-US" b="1" err="1"/>
              <a:t>objetos</a:t>
            </a:r>
            <a:r>
              <a:rPr lang="en-US"/>
              <a:t>,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cuales</a:t>
            </a:r>
            <a:r>
              <a:rPr lang="en-US"/>
              <a:t> </a:t>
            </a:r>
            <a:r>
              <a:rPr lang="en-US" err="1"/>
              <a:t>contienen</a:t>
            </a:r>
            <a:r>
              <a:rPr lang="en-US"/>
              <a:t>: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/>
              <a:t>DATOS -&gt; ATRIBUTOS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/>
              <a:t>COMPORTAMIENTOS -&gt; </a:t>
            </a:r>
            <a:r>
              <a:rPr lang="en-US" err="1"/>
              <a:t>Métodos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1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1273-96BD-4389-6E2D-8A728EE8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713A-CE80-2C0D-7CA9-D7339466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16" y="169145"/>
            <a:ext cx="9238434" cy="857559"/>
          </a:xfrm>
        </p:spPr>
        <p:txBody>
          <a:bodyPr/>
          <a:lstStyle/>
          <a:p>
            <a:r>
              <a:rPr lang="en-US"/>
              <a:t>PARADIGMAS DE PROGRAMACIÓN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1201E-11A0-ABF6-D71D-499FE766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E13CC-6C99-49B2-83B7-9E0B785AB94C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27003-0B78-0FBE-B62B-0F834680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B5535-C60A-0226-C779-1A56954E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12C662-52B4-8DA3-E073-D8909CB9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798418"/>
              </p:ext>
            </p:extLst>
          </p:nvPr>
        </p:nvGraphicFramePr>
        <p:xfrm>
          <a:off x="182880" y="1579626"/>
          <a:ext cx="6593124" cy="341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708">
                  <a:extLst>
                    <a:ext uri="{9D8B030D-6E8A-4147-A177-3AD203B41FA5}">
                      <a16:colId xmlns:a16="http://schemas.microsoft.com/office/drawing/2014/main" val="2556490276"/>
                    </a:ext>
                  </a:extLst>
                </a:gridCol>
                <a:gridCol w="2197708">
                  <a:extLst>
                    <a:ext uri="{9D8B030D-6E8A-4147-A177-3AD203B41FA5}">
                      <a16:colId xmlns:a16="http://schemas.microsoft.com/office/drawing/2014/main" val="185284019"/>
                    </a:ext>
                  </a:extLst>
                </a:gridCol>
                <a:gridCol w="2197708">
                  <a:extLst>
                    <a:ext uri="{9D8B030D-6E8A-4147-A177-3AD203B41FA5}">
                      <a16:colId xmlns:a16="http://schemas.microsoft.com/office/drawing/2014/main" val="688914110"/>
                    </a:ext>
                  </a:extLst>
                </a:gridCol>
              </a:tblGrid>
              <a:tr h="854675">
                <a:tc>
                  <a:txBody>
                    <a:bodyPr/>
                    <a:lstStyle/>
                    <a:p>
                      <a:r>
                        <a:rPr lang="en-US" err="1"/>
                        <a:t>Paradigma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Enfoque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894"/>
                  </a:ext>
                </a:extLst>
              </a:tr>
              <a:tr h="854675">
                <a:tc>
                  <a:txBody>
                    <a:bodyPr/>
                    <a:lstStyle/>
                    <a:p>
                      <a:r>
                        <a:rPr lang="en-US" err="1"/>
                        <a:t>Procedimental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Funciones</a:t>
                      </a:r>
                      <a:r>
                        <a:rPr lang="en-US"/>
                        <a:t> y pasos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665995"/>
                  </a:ext>
                </a:extLst>
              </a:tr>
              <a:tr h="854675">
                <a:tc>
                  <a:txBody>
                    <a:bodyPr/>
                    <a:lstStyle/>
                    <a:p>
                      <a:r>
                        <a:rPr lang="en-US" err="1"/>
                        <a:t>Orientado</a:t>
                      </a:r>
                      <a:r>
                        <a:rPr lang="en-US"/>
                        <a:t> a </a:t>
                      </a:r>
                      <a:r>
                        <a:rPr lang="en-US" err="1"/>
                        <a:t>objetos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Objetos</a:t>
                      </a:r>
                      <a:r>
                        <a:rPr lang="en-US"/>
                        <a:t> y </a:t>
                      </a:r>
                      <a:r>
                        <a:rPr lang="en-US" err="1"/>
                        <a:t>clase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Python, 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29670"/>
                  </a:ext>
                </a:extLst>
              </a:tr>
              <a:tr h="854675">
                <a:tc>
                  <a:txBody>
                    <a:bodyPr/>
                    <a:lstStyle/>
                    <a:p>
                      <a:r>
                        <a:rPr lang="en-US" err="1"/>
                        <a:t>Funcional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Funciones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puras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Haskell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5148"/>
                  </a:ext>
                </a:extLst>
              </a:tr>
            </a:tbl>
          </a:graphicData>
        </a:graphic>
      </p:graphicFrame>
      <p:pic>
        <p:nvPicPr>
          <p:cNvPr id="8" name="Picture 7" descr="Qué son los paradigmas de programación? | EDteam">
            <a:extLst>
              <a:ext uri="{FF2B5EF4-FFF2-40B4-BE49-F238E27FC236}">
                <a16:creationId xmlns:a16="http://schemas.microsoft.com/office/drawing/2014/main" id="{9BE11A1B-1F7B-8B52-F59E-1A0EA8735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1314450"/>
            <a:ext cx="509587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7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BAB65-6E6B-834C-6DFE-F26B944A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4512-2977-709B-EA30-9EF66746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16" y="169145"/>
            <a:ext cx="9238434" cy="857559"/>
          </a:xfrm>
        </p:spPr>
        <p:txBody>
          <a:bodyPr/>
          <a:lstStyle/>
          <a:p>
            <a:r>
              <a:rPr lang="en-US"/>
              <a:t>CONCEPTOS FUNDAMENTALES EN POO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664C-A5E7-162B-17AE-282BFC85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E13CC-6C99-49B2-83B7-9E0B785AB94C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438F0-6B1A-6AAA-047F-4B531D91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A914-2E6E-BC5E-7D65-004EBD5A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B5BA3-4C37-662F-F1BA-44943B844836}"/>
              </a:ext>
            </a:extLst>
          </p:cNvPr>
          <p:cNvSpPr txBox="1"/>
          <p:nvPr/>
        </p:nvSpPr>
        <p:spPr>
          <a:xfrm>
            <a:off x="342900" y="1133475"/>
            <a:ext cx="4210050" cy="27699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Clase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>
              <a:lnSpc>
                <a:spcPct val="200000"/>
              </a:lnSpc>
            </a:pP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Plantilla,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molde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o plano conceptual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define la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estructura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el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comportamiento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(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datos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acciones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)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comunes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de un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grupo</a:t>
            </a:r>
            <a:r>
              <a:rPr lang="en-US" sz="1400">
                <a:solidFill>
                  <a:srgbClr val="EEF0FF"/>
                </a:solidFill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EF0FF"/>
                </a:solidFill>
                <a:ea typeface="+mn-lt"/>
                <a:cs typeface="+mn-lt"/>
              </a:rPr>
              <a:t>objetos</a:t>
            </a:r>
            <a:r>
              <a:rPr lang="en-US" sz="1400">
                <a:solidFill>
                  <a:srgbClr val="E6E8F0"/>
                </a:solidFill>
                <a:highlight>
                  <a:srgbClr val="1F1F1F"/>
                </a:highlight>
                <a:ea typeface="+mn-lt"/>
                <a:cs typeface="+mn-lt"/>
              </a:rPr>
              <a:t>.</a:t>
            </a:r>
            <a:endParaRPr lang="en-US" sz="1400"/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05ADE-43D5-DB83-710A-EF8F3D5D1A67}"/>
              </a:ext>
            </a:extLst>
          </p:cNvPr>
          <p:cNvSpPr txBox="1"/>
          <p:nvPr/>
        </p:nvSpPr>
        <p:spPr>
          <a:xfrm>
            <a:off x="7544572" y="1132188"/>
            <a:ext cx="408673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/>
              <a:t>Objeto</a:t>
            </a:r>
          </a:p>
          <a:p>
            <a:pPr>
              <a:lnSpc>
                <a:spcPct val="200000"/>
              </a:lnSpc>
            </a:pPr>
            <a:r>
              <a:rPr lang="en-US" sz="1400" err="1"/>
              <a:t>instancia</a:t>
            </a:r>
            <a:r>
              <a:rPr lang="en-US" sz="1400"/>
              <a:t> </a:t>
            </a:r>
            <a:r>
              <a:rPr lang="en-US" sz="1400" err="1"/>
              <a:t>concreta</a:t>
            </a:r>
            <a:r>
              <a:rPr lang="en-US" sz="1400"/>
              <a:t> de </a:t>
            </a:r>
            <a:r>
              <a:rPr lang="en-US" sz="1400" err="1"/>
              <a:t>una</a:t>
            </a:r>
            <a:r>
              <a:rPr lang="en-US" sz="1400"/>
              <a:t> </a:t>
            </a:r>
            <a:r>
              <a:rPr lang="en-US" sz="1400" err="1"/>
              <a:t>clase</a:t>
            </a:r>
            <a:r>
              <a:rPr lang="en-US" sz="1400"/>
              <a:t>, </a:t>
            </a:r>
            <a:r>
              <a:rPr lang="en-US" sz="1400" err="1"/>
              <a:t>actuando</a:t>
            </a:r>
            <a:r>
              <a:rPr lang="en-US" sz="1400"/>
              <a:t> </a:t>
            </a:r>
            <a:r>
              <a:rPr lang="en-US" sz="1400" err="1"/>
              <a:t>como</a:t>
            </a:r>
            <a:r>
              <a:rPr lang="en-US" sz="1400"/>
              <a:t> </a:t>
            </a:r>
            <a:r>
              <a:rPr lang="en-US" sz="1400" err="1"/>
              <a:t>una</a:t>
            </a:r>
            <a:r>
              <a:rPr lang="en-US" sz="1400"/>
              <a:t> </a:t>
            </a:r>
            <a:r>
              <a:rPr lang="en-US" sz="1400" err="1"/>
              <a:t>unidad</a:t>
            </a:r>
            <a:r>
              <a:rPr lang="en-US" sz="1400"/>
              <a:t> </a:t>
            </a:r>
            <a:r>
              <a:rPr lang="en-US" sz="1400" err="1"/>
              <a:t>independiente</a:t>
            </a:r>
            <a:r>
              <a:rPr lang="en-US" sz="1400"/>
              <a:t> </a:t>
            </a:r>
            <a:r>
              <a:rPr lang="en-US" sz="1400" err="1"/>
              <a:t>que</a:t>
            </a:r>
            <a:r>
              <a:rPr lang="en-US" sz="1400"/>
              <a:t> </a:t>
            </a:r>
            <a:r>
              <a:rPr lang="en-US" sz="1400" err="1"/>
              <a:t>agrupa</a:t>
            </a:r>
            <a:r>
              <a:rPr lang="en-US" sz="1400"/>
              <a:t> </a:t>
            </a:r>
            <a:r>
              <a:rPr lang="en-US" sz="1400" err="1"/>
              <a:t>características</a:t>
            </a:r>
            <a:r>
              <a:rPr lang="en-US" sz="1400"/>
              <a:t> (</a:t>
            </a:r>
            <a:r>
              <a:rPr lang="en-US" sz="1400" err="1"/>
              <a:t>atributos</a:t>
            </a:r>
            <a:r>
              <a:rPr lang="en-US" sz="1400"/>
              <a:t>) y </a:t>
            </a:r>
            <a:r>
              <a:rPr lang="en-US" sz="1400" err="1"/>
              <a:t>comportamientos</a:t>
            </a:r>
            <a:r>
              <a:rPr lang="en-US" sz="1400"/>
              <a:t> (</a:t>
            </a:r>
            <a:r>
              <a:rPr lang="en-US" sz="1400" err="1"/>
              <a:t>métodos</a:t>
            </a:r>
            <a:r>
              <a:rPr lang="en-US" sz="1400"/>
              <a:t>)</a:t>
            </a:r>
          </a:p>
          <a:p>
            <a:endParaRPr lang="en-US"/>
          </a:p>
        </p:txBody>
      </p:sp>
      <p:pic>
        <p:nvPicPr>
          <p:cNvPr id="11" name="Picture 10" descr="A red car with black text&#10;&#10;AI-generated content may be incorrect.">
            <a:extLst>
              <a:ext uri="{FF2B5EF4-FFF2-40B4-BE49-F238E27FC236}">
                <a16:creationId xmlns:a16="http://schemas.microsoft.com/office/drawing/2014/main" id="{6AAFB995-0FD9-679F-8204-E5DA3CF0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67"/>
          <a:stretch>
            <a:fillRect/>
          </a:stretch>
        </p:blipFill>
        <p:spPr>
          <a:xfrm>
            <a:off x="2447411" y="3358422"/>
            <a:ext cx="5601214" cy="315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D5D0-F56B-DEDB-954D-7CD4482B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10DC-4036-04B4-7A5E-A8000372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16" y="169145"/>
            <a:ext cx="9238434" cy="857559"/>
          </a:xfrm>
        </p:spPr>
        <p:txBody>
          <a:bodyPr/>
          <a:lstStyle/>
          <a:p>
            <a:r>
              <a:rPr lang="en-US"/>
              <a:t>CONCEPTOS FUNDAMENTALES EN POO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6E88-EA4C-51F4-E5A4-08990F5D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E13CC-6C99-49B2-83B7-9E0B785AB94C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6F1AA-1780-64FB-55B7-E8F63703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A00E-503E-C775-874D-7BD40C49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B5C50-8E52-709B-CD77-B8C843DA24CA}"/>
              </a:ext>
            </a:extLst>
          </p:cNvPr>
          <p:cNvSpPr txBox="1"/>
          <p:nvPr/>
        </p:nvSpPr>
        <p:spPr>
          <a:xfrm>
            <a:off x="346761" y="1399918"/>
            <a:ext cx="3036415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 err="1"/>
              <a:t>Atributo</a:t>
            </a:r>
          </a:p>
          <a:p>
            <a:pPr>
              <a:lnSpc>
                <a:spcPct val="200000"/>
              </a:lnSpc>
            </a:pP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Variable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asociada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o a un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objeto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define sus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propiedades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características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o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estado</a:t>
            </a:r>
            <a:endParaRPr lang="en-US" sz="1400" err="1"/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  <a:p>
            <a:pPr marL="228600" indent="-228600">
              <a:buFont typeface=""/>
              <a:buChar char="•"/>
            </a:pPr>
            <a:r>
              <a:rPr lang="en-US" err="1"/>
              <a:t>Método</a:t>
            </a:r>
            <a:endParaRPr lang="en-US"/>
          </a:p>
          <a:p>
            <a:pPr marL="228600" indent="-228600">
              <a:lnSpc>
                <a:spcPct val="200000"/>
              </a:lnSpc>
              <a:buFont typeface=""/>
              <a:buChar char="•"/>
            </a:pPr>
            <a:endParaRPr lang="en-US" sz="1400"/>
          </a:p>
          <a:p>
            <a:pPr>
              <a:lnSpc>
                <a:spcPct val="200000"/>
              </a:lnSpc>
            </a:pP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Bloque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código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o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función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definida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dentro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representa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el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 </a:t>
            </a:r>
            <a:r>
              <a:rPr lang="en-US" sz="1400" b="1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comportamiento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 o las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acciones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un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objeto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puede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realizar</a:t>
            </a:r>
            <a:endParaRPr lang="en-US" sz="1400" err="1"/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  <p:pic>
        <p:nvPicPr>
          <p:cNvPr id="10" name="Picture 9" descr="A red car with black text&#10;&#10;AI-generated content may be incorrect.">
            <a:extLst>
              <a:ext uri="{FF2B5EF4-FFF2-40B4-BE49-F238E27FC236}">
                <a16:creationId xmlns:a16="http://schemas.microsoft.com/office/drawing/2014/main" id="{8F276B3B-5123-518D-5D9D-37194117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67"/>
          <a:stretch>
            <a:fillRect/>
          </a:stretch>
        </p:blipFill>
        <p:spPr>
          <a:xfrm>
            <a:off x="4300924" y="1937396"/>
            <a:ext cx="6939862" cy="391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2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D67E9-7DFA-87D7-3B4A-972CC592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D3E5-0FDC-A51A-42DE-E44E66373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40" y="4388"/>
            <a:ext cx="9238434" cy="857559"/>
          </a:xfrm>
        </p:spPr>
        <p:txBody>
          <a:bodyPr/>
          <a:lstStyle/>
          <a:p>
            <a:r>
              <a:rPr lang="en-US"/>
              <a:t>CONCEPTOS FUNDAMENTALES EN POO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0959A-5B58-65EE-B15D-9018D096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E13CC-6C99-49B2-83B7-9E0B785AB94C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DF6FB-BA48-C85B-7471-D53999DA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1F1E6-7B70-7C9F-F4C3-C773205E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AAB81-67A7-7B68-3533-049AF99F5285}"/>
              </a:ext>
            </a:extLst>
          </p:cNvPr>
          <p:cNvSpPr txBox="1"/>
          <p:nvPr/>
        </p:nvSpPr>
        <p:spPr>
          <a:xfrm>
            <a:off x="346761" y="1121890"/>
            <a:ext cx="4869333" cy="57708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/>
              <a:t>Encapsulamiento</a:t>
            </a:r>
            <a:endParaRPr lang="en-US" sz="2000"/>
          </a:p>
          <a:p>
            <a:pPr>
              <a:lnSpc>
                <a:spcPct val="150000"/>
              </a:lnSpc>
            </a:pP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principio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agrupar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datos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(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atributos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) y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métodos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operan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sobre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ellos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en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única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unidad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(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),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restringiendo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el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acceso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directo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componentes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internos</a:t>
            </a:r>
            <a:endParaRPr lang="en-US" sz="14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>
              <a:lnSpc>
                <a:spcPct val="150000"/>
              </a:lnSpc>
            </a:pPr>
            <a:endParaRPr lang="en-US" sz="1400">
              <a:solidFill>
                <a:srgbClr val="EEF0FF"/>
              </a:solidFill>
              <a:highlight>
                <a:srgbClr val="1F1F1F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000"/>
              <a:t>Herencia</a:t>
            </a:r>
          </a:p>
          <a:p>
            <a:pPr>
              <a:lnSpc>
                <a:spcPct val="150000"/>
              </a:lnSpc>
            </a:pP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mecanismo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fundamental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permite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nueva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(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derivada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hija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o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subclase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)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adquirir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automáticamente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los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atributos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métodos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existente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(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base, padre o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superclase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)</a:t>
            </a:r>
            <a:endParaRPr lang="en-US" sz="1400"/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endParaRPr lang="en-US" sz="2000"/>
          </a:p>
          <a:p>
            <a:pPr>
              <a:lnSpc>
                <a:spcPct val="150000"/>
              </a:lnSpc>
            </a:pPr>
            <a:r>
              <a:rPr lang="en-US" sz="2000" err="1"/>
              <a:t>Polimorfismo</a:t>
            </a:r>
          </a:p>
          <a:p>
            <a:pPr>
              <a:lnSpc>
                <a:spcPct val="150000"/>
              </a:lnSpc>
            </a:pP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capacidad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que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tienen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objetos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distintas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clases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derivadas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una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superclase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común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, para responder a un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mismo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mensaje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o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método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de formas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específicas</a:t>
            </a:r>
            <a:r>
              <a:rPr lang="en-US" sz="1400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 y </a:t>
            </a:r>
            <a:r>
              <a:rPr lang="en-US" sz="1400" err="1">
                <a:solidFill>
                  <a:srgbClr val="EEF0FF"/>
                </a:solidFill>
                <a:highlight>
                  <a:srgbClr val="1F1F1F"/>
                </a:highlight>
                <a:ea typeface="+mn-lt"/>
                <a:cs typeface="+mn-lt"/>
              </a:rPr>
              <a:t>únicas</a:t>
            </a:r>
            <a:endParaRPr lang="en-US" sz="1400"/>
          </a:p>
          <a:p>
            <a:pPr algn="ctr"/>
            <a:endParaRPr lang="en-US"/>
          </a:p>
        </p:txBody>
      </p:sp>
      <p:pic>
        <p:nvPicPr>
          <p:cNvPr id="3" name="Picture 2" descr="3.2 Polimorfismo y Sobrecarga | Tecnologías de la Información y la  Comunicación II">
            <a:extLst>
              <a:ext uri="{FF2B5EF4-FFF2-40B4-BE49-F238E27FC236}">
                <a16:creationId xmlns:a16="http://schemas.microsoft.com/office/drawing/2014/main" id="{83C03D0D-328E-7C30-D34E-2999E8D63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671" y="1718985"/>
            <a:ext cx="6903306" cy="374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5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7E8C-032B-0690-B210-D9133BDC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8533584" cy="886134"/>
          </a:xfrm>
        </p:spPr>
        <p:txBody>
          <a:bodyPr/>
          <a:lstStyle/>
          <a:p>
            <a:r>
              <a:rPr lang="en-US"/>
              <a:t>EJEMPLO PRACTICOS PY con </a:t>
            </a:r>
            <a:r>
              <a:rPr lang="en-US" err="1"/>
              <a:t>metodo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8AD1A-D709-FD09-C0D9-E8BD241B1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41" y="1095375"/>
            <a:ext cx="4266384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class Persona: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 def </a:t>
            </a:r>
            <a:r>
              <a:rPr lang="en-US" err="1">
                <a:ea typeface="+mn-lt"/>
                <a:cs typeface="+mn-lt"/>
              </a:rPr>
              <a:t>saludar</a:t>
            </a:r>
            <a:r>
              <a:rPr lang="en-US">
                <a:ea typeface="+mn-lt"/>
                <a:cs typeface="+mn-lt"/>
              </a:rPr>
              <a:t>(self):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     print("Hola, soy </a:t>
            </a:r>
            <a:r>
              <a:rPr lang="en-US" err="1">
                <a:ea typeface="+mn-lt"/>
                <a:cs typeface="+mn-lt"/>
              </a:rPr>
              <a:t>una</a:t>
            </a:r>
            <a:r>
              <a:rPr lang="en-US">
                <a:ea typeface="+mn-lt"/>
                <a:cs typeface="+mn-lt"/>
              </a:rPr>
              <a:t> persona")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p1 = Persona()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p1.saludar()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7DF17-6770-BB10-E0EC-D85C696B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7E1D6-F2F9-F231-0A13-16A751767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80957-D1E2-4ED9-1DB3-9AA78455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F74955-A9D6-7BA7-2FCD-0A810F1E0355}"/>
              </a:ext>
            </a:extLst>
          </p:cNvPr>
          <p:cNvSpPr txBox="1"/>
          <p:nvPr/>
        </p:nvSpPr>
        <p:spPr>
          <a:xfrm>
            <a:off x="5600700" y="1371600"/>
            <a:ext cx="601027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class Persona: →  Se </a:t>
            </a:r>
            <a:r>
              <a:rPr lang="en-US" err="1"/>
              <a:t>crea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b="1" err="1"/>
              <a:t>clase</a:t>
            </a:r>
            <a:r>
              <a:rPr lang="en-US"/>
              <a:t> 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def </a:t>
            </a:r>
            <a:r>
              <a:rPr lang="en-US" err="1"/>
              <a:t>saludar</a:t>
            </a:r>
            <a:r>
              <a:rPr lang="en-US"/>
              <a:t>(self): → </a:t>
            </a:r>
            <a:r>
              <a:rPr lang="en-US" err="1"/>
              <a:t>Método</a:t>
            </a:r>
            <a:r>
              <a:rPr lang="en-US"/>
              <a:t> (</a:t>
            </a:r>
            <a:r>
              <a:rPr lang="en-US" err="1"/>
              <a:t>función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de la </a:t>
            </a:r>
            <a:r>
              <a:rPr lang="en-US" err="1"/>
              <a:t>clase</a:t>
            </a:r>
            <a:r>
              <a:rPr lang="en-US"/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self → </a:t>
            </a:r>
            <a:r>
              <a:rPr lang="en-US" err="1"/>
              <a:t>Representa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objeto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llama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método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p1 = Persona() → </a:t>
            </a:r>
            <a:r>
              <a:rPr lang="en-US" err="1"/>
              <a:t>Creamos</a:t>
            </a:r>
            <a:r>
              <a:rPr lang="en-US"/>
              <a:t> un </a:t>
            </a:r>
            <a:r>
              <a:rPr lang="en-US" b="1" err="1"/>
              <a:t>objeto</a:t>
            </a:r>
            <a:r>
              <a:rPr lang="en-US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p1.saludar() → </a:t>
            </a:r>
            <a:r>
              <a:rPr lang="en-US" err="1"/>
              <a:t>Ejecutamos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método</a:t>
            </a:r>
            <a:r>
              <a:rPr lang="en-US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1478-1698-E1D4-C357-0D48FCE5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306CC-5C8D-CC48-98FE-0D169DB3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9169184" cy="886134"/>
          </a:xfrm>
        </p:spPr>
        <p:txBody>
          <a:bodyPr/>
          <a:lstStyle/>
          <a:p>
            <a:r>
              <a:rPr lang="en-US"/>
              <a:t>EJEMPLO PRACTICOS PY con </a:t>
            </a:r>
            <a:r>
              <a:rPr lang="en-US" err="1"/>
              <a:t>atributos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87C8B-4FCF-AC64-8A7A-D70FA1DAE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41" y="1095375"/>
            <a:ext cx="4266384" cy="38100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class Persona: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def __</a:t>
            </a:r>
            <a:r>
              <a:rPr lang="en-US" err="1">
                <a:ea typeface="+mn-lt"/>
                <a:cs typeface="+mn-lt"/>
              </a:rPr>
              <a:t>init</a:t>
            </a:r>
            <a:r>
              <a:rPr lang="en-US">
                <a:ea typeface="+mn-lt"/>
                <a:cs typeface="+mn-lt"/>
              </a:rPr>
              <a:t>__(self, </a:t>
            </a:r>
            <a:r>
              <a:rPr lang="en-US" err="1">
                <a:ea typeface="+mn-lt"/>
                <a:cs typeface="+mn-lt"/>
              </a:rPr>
              <a:t>nombre</a:t>
            </a:r>
            <a:r>
              <a:rPr lang="en-US">
                <a:ea typeface="+mn-lt"/>
                <a:cs typeface="+mn-lt"/>
              </a:rPr>
              <a:t>):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self.nombre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nombre</a:t>
            </a:r>
            <a:endParaRPr lang="en-US" err="1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def </a:t>
            </a:r>
            <a:r>
              <a:rPr lang="en-US" err="1">
                <a:ea typeface="+mn-lt"/>
                <a:cs typeface="+mn-lt"/>
              </a:rPr>
              <a:t>saludar</a:t>
            </a:r>
            <a:r>
              <a:rPr lang="en-US">
                <a:ea typeface="+mn-lt"/>
                <a:cs typeface="+mn-lt"/>
              </a:rPr>
              <a:t>(self):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print("Hola, mi </a:t>
            </a:r>
            <a:r>
              <a:rPr lang="en-US" err="1">
                <a:ea typeface="+mn-lt"/>
                <a:cs typeface="+mn-lt"/>
              </a:rPr>
              <a:t>nombre</a:t>
            </a:r>
            <a:r>
              <a:rPr lang="en-US">
                <a:ea typeface="+mn-lt"/>
                <a:cs typeface="+mn-lt"/>
              </a:rPr>
              <a:t> es", </a:t>
            </a:r>
            <a:r>
              <a:rPr lang="en-US" err="1">
                <a:ea typeface="+mn-lt"/>
                <a:cs typeface="+mn-lt"/>
              </a:rPr>
              <a:t>self.nombre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p1 = Persona("Andrés")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p1.saludar()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20ED-C910-9E94-522D-849EC5B5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8D49B-F4A0-D2E0-5AB2-E0338A89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8E63-A6C0-B9FD-A79E-433E4337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37233-BE65-4463-A559-722A770763CC}"/>
              </a:ext>
            </a:extLst>
          </p:cNvPr>
          <p:cNvSpPr txBox="1"/>
          <p:nvPr/>
        </p:nvSpPr>
        <p:spPr>
          <a:xfrm>
            <a:off x="5600700" y="1371600"/>
            <a:ext cx="601027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latin typeface="Consolas"/>
              </a:rPr>
              <a:t>__</a:t>
            </a:r>
            <a:r>
              <a:rPr lang="en-US" err="1">
                <a:latin typeface="Consolas"/>
              </a:rPr>
              <a:t>init</a:t>
            </a:r>
            <a:r>
              <a:rPr lang="en-US">
                <a:latin typeface="Consolas"/>
              </a:rPr>
              <a:t>__</a:t>
            </a:r>
            <a:r>
              <a:rPr lang="en-US">
                <a:ea typeface="+mn-lt"/>
                <a:cs typeface="+mn-lt"/>
              </a:rPr>
              <a:t> → Constructor, se </a:t>
            </a:r>
            <a:r>
              <a:rPr lang="en-US" err="1">
                <a:ea typeface="+mn-lt"/>
                <a:cs typeface="+mn-lt"/>
              </a:rPr>
              <a:t>ejecuta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cuando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creamos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objeto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endParaRPr lang="en-US">
              <a:latin typeface="Trade Gothic Next Light"/>
            </a:endParaRPr>
          </a:p>
          <a:p>
            <a:pPr>
              <a:buFont typeface="Arial"/>
              <a:buChar char="•"/>
            </a:pPr>
            <a:r>
              <a:rPr lang="en-US" err="1">
                <a:latin typeface="Consolas"/>
              </a:rPr>
              <a:t>self.nombre</a:t>
            </a:r>
            <a:r>
              <a:rPr lang="en-US">
                <a:latin typeface="Consolas"/>
              </a:rPr>
              <a:t> = </a:t>
            </a:r>
            <a:r>
              <a:rPr lang="en-US" err="1">
                <a:latin typeface="Consolas"/>
              </a:rPr>
              <a:t>nombre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err="1">
                <a:ea typeface="+mn-lt"/>
                <a:cs typeface="+mn-lt"/>
              </a:rPr>
              <a:t>Guardamos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atributo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objeto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3439-77AE-16A3-FEEA-58F4FBF5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8EBB-E8D8-6577-270B-A9B412EC7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11115373" cy="886134"/>
          </a:xfrm>
        </p:spPr>
        <p:txBody>
          <a:bodyPr/>
          <a:lstStyle/>
          <a:p>
            <a:r>
              <a:rPr lang="en-US"/>
              <a:t>EJEMPLO PRACTICOS PY </a:t>
            </a:r>
            <a:r>
              <a:rPr lang="en-US" b="0">
                <a:ea typeface="+mj-lt"/>
                <a:cs typeface="+mj-lt"/>
              </a:rPr>
              <a:t>Clase con </a:t>
            </a:r>
            <a:r>
              <a:rPr lang="en-US" b="0" err="1">
                <a:ea typeface="+mj-lt"/>
                <a:cs typeface="+mj-lt"/>
              </a:rPr>
              <a:t>varios</a:t>
            </a:r>
            <a:r>
              <a:rPr lang="en-US" b="0">
                <a:ea typeface="+mj-lt"/>
                <a:cs typeface="+mj-lt"/>
              </a:rPr>
              <a:t> </a:t>
            </a:r>
            <a:r>
              <a:rPr lang="en-US" b="0" err="1">
                <a:ea typeface="+mj-lt"/>
                <a:cs typeface="+mj-lt"/>
              </a:rPr>
              <a:t>atributos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4661-70FE-9F82-DE40-2B884FCE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841" y="1095375"/>
            <a:ext cx="4266384" cy="381000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class </a:t>
            </a:r>
            <a:r>
              <a:rPr lang="en-US" err="1">
                <a:ea typeface="+mn-lt"/>
                <a:cs typeface="+mn-lt"/>
              </a:rPr>
              <a:t>Estudiante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def __</a:t>
            </a:r>
            <a:r>
              <a:rPr lang="en-US" err="1">
                <a:ea typeface="+mn-lt"/>
                <a:cs typeface="+mn-lt"/>
              </a:rPr>
              <a:t>init</a:t>
            </a:r>
            <a:r>
              <a:rPr lang="en-US">
                <a:ea typeface="+mn-lt"/>
                <a:cs typeface="+mn-lt"/>
              </a:rPr>
              <a:t>__(self, </a:t>
            </a:r>
            <a:r>
              <a:rPr lang="en-US" err="1">
                <a:ea typeface="+mn-lt"/>
                <a:cs typeface="+mn-lt"/>
              </a:rPr>
              <a:t>nombre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edad</a:t>
            </a:r>
            <a:r>
              <a:rPr lang="en-US">
                <a:ea typeface="+mn-lt"/>
                <a:cs typeface="+mn-lt"/>
              </a:rPr>
              <a:t>):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self.nombre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nombre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</a:t>
            </a:r>
            <a:r>
              <a:rPr lang="en-US" err="1">
                <a:ea typeface="+mn-lt"/>
                <a:cs typeface="+mn-lt"/>
              </a:rPr>
              <a:t>self.edad</a:t>
            </a:r>
            <a:r>
              <a:rPr lang="en-US">
                <a:ea typeface="+mn-lt"/>
                <a:cs typeface="+mn-lt"/>
              </a:rPr>
              <a:t> = </a:t>
            </a:r>
            <a:r>
              <a:rPr lang="en-US" err="1">
                <a:ea typeface="+mn-lt"/>
                <a:cs typeface="+mn-lt"/>
              </a:rPr>
              <a:t>edad</a:t>
            </a:r>
            <a:endParaRPr lang="en-US" err="1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 def </a:t>
            </a:r>
            <a:r>
              <a:rPr lang="en-US" err="1">
                <a:ea typeface="+mn-lt"/>
                <a:cs typeface="+mn-lt"/>
              </a:rPr>
              <a:t>mostrar_datos</a:t>
            </a:r>
            <a:r>
              <a:rPr lang="en-US">
                <a:ea typeface="+mn-lt"/>
                <a:cs typeface="+mn-lt"/>
              </a:rPr>
              <a:t>(self):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print("Nombre:", </a:t>
            </a:r>
            <a:r>
              <a:rPr lang="en-US" err="1">
                <a:ea typeface="+mn-lt"/>
                <a:cs typeface="+mn-lt"/>
              </a:rPr>
              <a:t>self.nombre</a:t>
            </a:r>
            <a:r>
              <a:rPr lang="en-US">
                <a:ea typeface="+mn-lt"/>
                <a:cs typeface="+mn-lt"/>
              </a:rPr>
              <a:t>)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   print("Edad:", </a:t>
            </a:r>
            <a:r>
              <a:rPr lang="en-US" err="1">
                <a:ea typeface="+mn-lt"/>
                <a:cs typeface="+mn-lt"/>
              </a:rPr>
              <a:t>self.edad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e1 = </a:t>
            </a:r>
            <a:r>
              <a:rPr lang="en-US" err="1">
                <a:ea typeface="+mn-lt"/>
                <a:cs typeface="+mn-lt"/>
              </a:rPr>
              <a:t>Estudiante</a:t>
            </a:r>
            <a:r>
              <a:rPr lang="en-US">
                <a:ea typeface="+mn-lt"/>
                <a:cs typeface="+mn-lt"/>
              </a:rPr>
              <a:t>("Laura", 20)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e1.mostrar_datos()</a:t>
            </a: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2B2A8-BECD-6F3F-0A67-AF207DD3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D7FAF-96F1-DEDD-A391-8A6C8712F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AEFEB-1D89-72E1-C824-27901A68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3CECE-F976-9012-11EE-FD89F1C59D8C}"/>
              </a:ext>
            </a:extLst>
          </p:cNvPr>
          <p:cNvSpPr txBox="1"/>
          <p:nvPr/>
        </p:nvSpPr>
        <p:spPr>
          <a:xfrm>
            <a:off x="5600700" y="1371600"/>
            <a:ext cx="601027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Los </a:t>
            </a:r>
            <a:r>
              <a:rPr lang="en-US" err="1">
                <a:ea typeface="+mn-lt"/>
                <a:cs typeface="+mn-lt"/>
              </a:rPr>
              <a:t>atributos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describen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estado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Los </a:t>
            </a:r>
            <a:r>
              <a:rPr lang="en-US" err="1">
                <a:ea typeface="+mn-lt"/>
                <a:cs typeface="+mn-lt"/>
              </a:rPr>
              <a:t>métodos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describen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comportamiento</a:t>
            </a:r>
            <a:endParaRPr lang="en-US" err="1"/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21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F715-98A8-124A-67C0-F10D67DC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AB05-6500-72BB-6E98-E50CFE810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11115373" cy="886134"/>
          </a:xfrm>
        </p:spPr>
        <p:txBody>
          <a:bodyPr/>
          <a:lstStyle/>
          <a:p>
            <a:r>
              <a:rPr lang="en-US"/>
              <a:t>EJEMPLO PRACTICOS PY </a:t>
            </a:r>
            <a:r>
              <a:rPr lang="en-US" err="1"/>
              <a:t>Encapsulamiento</a:t>
            </a:r>
            <a:endParaRPr lang="en-US" b="0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5A88-AD10-E598-8C01-577DA68E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38" y="1023294"/>
            <a:ext cx="4266384" cy="56532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class </a:t>
            </a:r>
            <a:r>
              <a:rPr lang="en-US" sz="1600" err="1">
                <a:ea typeface="+mn-lt"/>
                <a:cs typeface="+mn-lt"/>
              </a:rPr>
              <a:t>CuentaBancaria</a:t>
            </a:r>
            <a:r>
              <a:rPr lang="en-US" sz="1600">
                <a:ea typeface="+mn-lt"/>
                <a:cs typeface="+mn-lt"/>
              </a:rPr>
              <a:t>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 def __</a:t>
            </a:r>
            <a:r>
              <a:rPr lang="en-US" sz="1600" err="1">
                <a:ea typeface="+mn-lt"/>
                <a:cs typeface="+mn-lt"/>
              </a:rPr>
              <a:t>init</a:t>
            </a:r>
            <a:r>
              <a:rPr lang="en-US" sz="1600">
                <a:ea typeface="+mn-lt"/>
                <a:cs typeface="+mn-lt"/>
              </a:rPr>
              <a:t>__(self, </a:t>
            </a:r>
            <a:r>
              <a:rPr lang="en-US" sz="1600" err="1">
                <a:ea typeface="+mn-lt"/>
                <a:cs typeface="+mn-lt"/>
              </a:rPr>
              <a:t>saldo</a:t>
            </a:r>
            <a:r>
              <a:rPr lang="en-US" sz="1600">
                <a:ea typeface="+mn-lt"/>
                <a:cs typeface="+mn-lt"/>
              </a:rPr>
              <a:t>):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     self.__</a:t>
            </a:r>
            <a:r>
              <a:rPr lang="en-US" sz="1600" err="1">
                <a:ea typeface="+mn-lt"/>
                <a:cs typeface="+mn-lt"/>
              </a:rPr>
              <a:t>saldo</a:t>
            </a:r>
            <a:r>
              <a:rPr lang="en-US" sz="160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saldo</a:t>
            </a:r>
            <a:r>
              <a:rPr lang="en-US" sz="1600">
                <a:ea typeface="+mn-lt"/>
                <a:cs typeface="+mn-lt"/>
              </a:rPr>
              <a:t>  # </a:t>
            </a:r>
            <a:r>
              <a:rPr lang="en-US" sz="1600" err="1">
                <a:ea typeface="+mn-lt"/>
                <a:cs typeface="+mn-lt"/>
              </a:rPr>
              <a:t>atributo</a:t>
            </a:r>
            <a:r>
              <a:rPr lang="en-US" sz="1600">
                <a:ea typeface="+mn-lt"/>
                <a:cs typeface="+mn-lt"/>
              </a:rPr>
              <a:t> privado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 def </a:t>
            </a:r>
            <a:r>
              <a:rPr lang="en-US" sz="1600" err="1">
                <a:ea typeface="+mn-lt"/>
                <a:cs typeface="+mn-lt"/>
              </a:rPr>
              <a:t>depositar</a:t>
            </a:r>
            <a:r>
              <a:rPr lang="en-US" sz="1600">
                <a:ea typeface="+mn-lt"/>
                <a:cs typeface="+mn-lt"/>
              </a:rPr>
              <a:t>(self, </a:t>
            </a:r>
            <a:r>
              <a:rPr lang="en-US" sz="1600" err="1">
                <a:ea typeface="+mn-lt"/>
                <a:cs typeface="+mn-lt"/>
              </a:rPr>
              <a:t>cantidad</a:t>
            </a:r>
            <a:r>
              <a:rPr lang="en-US" sz="1600">
                <a:ea typeface="+mn-lt"/>
                <a:cs typeface="+mn-lt"/>
              </a:rPr>
              <a:t>):</a:t>
            </a:r>
            <a:endParaRPr lang="en-US" sz="1600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     self.__</a:t>
            </a:r>
            <a:r>
              <a:rPr lang="en-US" sz="1600" err="1">
                <a:ea typeface="+mn-lt"/>
                <a:cs typeface="+mn-lt"/>
              </a:rPr>
              <a:t>saldo</a:t>
            </a:r>
            <a:r>
              <a:rPr lang="en-US" sz="1600">
                <a:ea typeface="+mn-lt"/>
                <a:cs typeface="+mn-lt"/>
              </a:rPr>
              <a:t> += </a:t>
            </a:r>
            <a:r>
              <a:rPr lang="en-US" sz="1600" err="1">
                <a:ea typeface="+mn-lt"/>
                <a:cs typeface="+mn-lt"/>
              </a:rPr>
              <a:t>cantidad</a:t>
            </a:r>
            <a:endParaRPr lang="en-US" sz="1600" err="1"/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 def </a:t>
            </a:r>
            <a:r>
              <a:rPr lang="en-US" sz="1600" err="1">
                <a:ea typeface="+mn-lt"/>
                <a:cs typeface="+mn-lt"/>
              </a:rPr>
              <a:t>mostrar_saldo</a:t>
            </a:r>
            <a:r>
              <a:rPr lang="en-US" sz="1600">
                <a:ea typeface="+mn-lt"/>
                <a:cs typeface="+mn-lt"/>
              </a:rPr>
              <a:t>(self):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     print("Saldo actual:", self.__</a:t>
            </a:r>
            <a:r>
              <a:rPr lang="en-US" sz="1600" err="1">
                <a:ea typeface="+mn-lt"/>
                <a:cs typeface="+mn-lt"/>
              </a:rPr>
              <a:t>saldo</a:t>
            </a:r>
            <a:r>
              <a:rPr lang="en-US" sz="1600">
                <a:ea typeface="+mn-lt"/>
                <a:cs typeface="+mn-lt"/>
              </a:rPr>
              <a:t>)</a:t>
            </a: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r>
              <a:rPr lang="en-US" sz="1600" err="1">
                <a:ea typeface="+mn-lt"/>
                <a:cs typeface="+mn-lt"/>
              </a:rPr>
              <a:t>cuenta</a:t>
            </a:r>
            <a:r>
              <a:rPr lang="en-US" sz="1600">
                <a:ea typeface="+mn-lt"/>
                <a:cs typeface="+mn-lt"/>
              </a:rPr>
              <a:t> = </a:t>
            </a:r>
            <a:r>
              <a:rPr lang="en-US" sz="1600" err="1">
                <a:ea typeface="+mn-lt"/>
                <a:cs typeface="+mn-lt"/>
              </a:rPr>
              <a:t>CuentaBancaria</a:t>
            </a:r>
            <a:r>
              <a:rPr lang="en-US" sz="1600">
                <a:ea typeface="+mn-lt"/>
                <a:cs typeface="+mn-lt"/>
              </a:rPr>
              <a:t>(1000)</a:t>
            </a:r>
          </a:p>
          <a:p>
            <a:pPr>
              <a:buNone/>
            </a:pPr>
            <a:r>
              <a:rPr lang="en-US" sz="1600" err="1">
                <a:ea typeface="+mn-lt"/>
                <a:cs typeface="+mn-lt"/>
              </a:rPr>
              <a:t>cuenta.depositar</a:t>
            </a:r>
            <a:r>
              <a:rPr lang="en-US" sz="1600">
                <a:ea typeface="+mn-lt"/>
                <a:cs typeface="+mn-lt"/>
              </a:rPr>
              <a:t>(500)</a:t>
            </a:r>
          </a:p>
          <a:p>
            <a:pPr>
              <a:buNone/>
            </a:pPr>
            <a:r>
              <a:rPr lang="en-US" sz="1600" err="1">
                <a:ea typeface="+mn-lt"/>
                <a:cs typeface="+mn-lt"/>
              </a:rPr>
              <a:t>cuenta.mostrar_saldo</a:t>
            </a:r>
            <a:r>
              <a:rPr lang="en-US" sz="1600">
                <a:ea typeface="+mn-lt"/>
                <a:cs typeface="+mn-lt"/>
              </a:rPr>
              <a:t>()</a:t>
            </a: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80B4-480A-06AE-7A2D-1B17CE5C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40AF4-AC9A-516D-3D96-9690549D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31527-1985-9B46-2D27-7F39EEBF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FD806-F7C9-E629-766A-BD3D6AEFFBDB}"/>
              </a:ext>
            </a:extLst>
          </p:cNvPr>
          <p:cNvSpPr txBox="1"/>
          <p:nvPr/>
        </p:nvSpPr>
        <p:spPr>
          <a:xfrm>
            <a:off x="5600700" y="1371600"/>
            <a:ext cx="601027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latin typeface="Consolas"/>
              </a:rPr>
              <a:t>__</a:t>
            </a:r>
            <a:r>
              <a:rPr lang="en-US" err="1">
                <a:latin typeface="Consolas"/>
              </a:rPr>
              <a:t>saldo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err="1">
                <a:ea typeface="+mn-lt"/>
                <a:cs typeface="+mn-lt"/>
              </a:rPr>
              <a:t>Atributo</a:t>
            </a:r>
            <a:r>
              <a:rPr lang="en-US">
                <a:ea typeface="+mn-lt"/>
                <a:cs typeface="+mn-lt"/>
              </a:rPr>
              <a:t> privado.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 se </a:t>
            </a:r>
            <a:r>
              <a:rPr lang="en-US" err="1">
                <a:ea typeface="+mn-lt"/>
                <a:cs typeface="+mn-lt"/>
              </a:rPr>
              <a:t>debería</a:t>
            </a:r>
            <a:r>
              <a:rPr lang="en-US">
                <a:ea typeface="+mn-lt"/>
                <a:cs typeface="+mn-lt"/>
              </a:rPr>
              <a:t> acceder directamente desde afuera.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 </a:t>
            </a:r>
            <a:r>
              <a:rPr lang="en-US" err="1">
                <a:ea typeface="+mn-lt"/>
                <a:cs typeface="+mn-lt"/>
              </a:rPr>
              <a:t>manipula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mediante</a:t>
            </a:r>
            <a:r>
              <a:rPr lang="en-US">
                <a:ea typeface="+mn-lt"/>
                <a:cs typeface="+mn-lt"/>
              </a:rPr>
              <a:t> métodos.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3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1CD9F-1869-247B-18FF-652DCB9B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A44F-6A3B-45F5-2406-77A0F368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11115373" cy="886134"/>
          </a:xfrm>
        </p:spPr>
        <p:txBody>
          <a:bodyPr/>
          <a:lstStyle/>
          <a:p>
            <a:r>
              <a:rPr lang="en-US"/>
              <a:t>EJEMPLO PRACTICOS PY HERENCIA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320D-99C5-8E00-388E-D6CEF54A7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38" y="1023294"/>
            <a:ext cx="4266384" cy="56532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>
                <a:ea typeface="+mn-lt"/>
                <a:cs typeface="+mn-lt"/>
              </a:rPr>
              <a:t>class Animal: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 def </a:t>
            </a:r>
            <a:r>
              <a:rPr lang="en-US" sz="1600" err="1">
                <a:ea typeface="+mn-lt"/>
                <a:cs typeface="+mn-lt"/>
              </a:rPr>
              <a:t>hablar</a:t>
            </a:r>
            <a:r>
              <a:rPr lang="en-US" sz="1600">
                <a:ea typeface="+mn-lt"/>
                <a:cs typeface="+mn-lt"/>
              </a:rPr>
              <a:t>(self):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     print("El animal hace un sonido")</a:t>
            </a:r>
            <a:endParaRPr lang="en-US"/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class Perro(Animal):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 def </a:t>
            </a:r>
            <a:r>
              <a:rPr lang="en-US" sz="1600" err="1">
                <a:ea typeface="+mn-lt"/>
                <a:cs typeface="+mn-lt"/>
              </a:rPr>
              <a:t>hablar</a:t>
            </a:r>
            <a:r>
              <a:rPr lang="en-US" sz="1600">
                <a:ea typeface="+mn-lt"/>
                <a:cs typeface="+mn-lt"/>
              </a:rPr>
              <a:t>(self):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        print("El </a:t>
            </a:r>
            <a:r>
              <a:rPr lang="en-US" sz="1600" err="1">
                <a:ea typeface="+mn-lt"/>
                <a:cs typeface="+mn-lt"/>
              </a:rPr>
              <a:t>perro</a:t>
            </a:r>
            <a:r>
              <a:rPr lang="en-US" sz="1600">
                <a:ea typeface="+mn-lt"/>
                <a:cs typeface="+mn-lt"/>
              </a:rPr>
              <a:t> dice: Guau")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600" err="1">
                <a:ea typeface="+mn-lt"/>
                <a:cs typeface="+mn-lt"/>
              </a:rPr>
              <a:t>mi_perro</a:t>
            </a:r>
            <a:r>
              <a:rPr lang="en-US" sz="1600">
                <a:ea typeface="+mn-lt"/>
                <a:cs typeface="+mn-lt"/>
              </a:rPr>
              <a:t> = Perro()</a:t>
            </a:r>
            <a:endParaRPr lang="en-US"/>
          </a:p>
          <a:p>
            <a:pPr>
              <a:buNone/>
            </a:pPr>
            <a:r>
              <a:rPr lang="en-US" sz="1600" err="1">
                <a:ea typeface="+mn-lt"/>
                <a:cs typeface="+mn-lt"/>
              </a:rPr>
              <a:t>mi_perro.hablar</a:t>
            </a:r>
            <a:r>
              <a:rPr lang="en-US" sz="1600">
                <a:ea typeface="+mn-lt"/>
                <a:cs typeface="+mn-lt"/>
              </a:rPr>
              <a:t>()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3098A-145A-B32A-E035-77A29961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FB0B-7683-2429-7B08-1F8AA11E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33104-2358-9877-D1E8-7417A896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F2737B-C2FE-2436-E9F5-52BBC42BE163}"/>
              </a:ext>
            </a:extLst>
          </p:cNvPr>
          <p:cNvSpPr txBox="1"/>
          <p:nvPr/>
        </p:nvSpPr>
        <p:spPr>
          <a:xfrm>
            <a:off x="5600700" y="1371600"/>
            <a:ext cx="60102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>
                <a:latin typeface="Consolas"/>
              </a:rPr>
              <a:t>Perro</a:t>
            </a:r>
            <a:r>
              <a:rPr lang="en-US">
                <a:latin typeface="Consolas"/>
                <a:ea typeface="+mn-lt"/>
                <a:cs typeface="+mn-lt"/>
              </a:rPr>
              <a:t>(Animal)</a:t>
            </a:r>
            <a:r>
              <a:rPr lang="en-US">
                <a:ea typeface="+mn-lt"/>
                <a:cs typeface="+mn-lt"/>
              </a:rPr>
              <a:t> → Hereda de Animal.</a:t>
            </a:r>
          </a:p>
          <a:p>
            <a:pPr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err="1">
                <a:ea typeface="+mn-lt"/>
                <a:cs typeface="+mn-lt"/>
              </a:rPr>
              <a:t>Puede</a:t>
            </a:r>
            <a:r>
              <a:rPr lang="en-US">
                <a:ea typeface="+mn-lt"/>
                <a:cs typeface="+mn-lt"/>
              </a:rPr>
              <a:t> usar sus métodos o sobrescribirlos.</a:t>
            </a:r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r>
              <a:rPr lang="en-US">
                <a:ea typeface="+mn-lt"/>
                <a:cs typeface="+mn-lt"/>
              </a:rPr>
              <a:t>Una </a:t>
            </a:r>
            <a:r>
              <a:rPr lang="en-US" err="1">
                <a:ea typeface="+mn-lt"/>
                <a:cs typeface="+mn-lt"/>
              </a:rPr>
              <a:t>clase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hija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hereda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características</a:t>
            </a:r>
            <a:r>
              <a:rPr lang="en-US">
                <a:ea typeface="+mn-lt"/>
                <a:cs typeface="+mn-lt"/>
              </a:rPr>
              <a:t> de la </a:t>
            </a:r>
            <a:r>
              <a:rPr lang="en-US" err="1">
                <a:ea typeface="+mn-lt"/>
                <a:cs typeface="+mn-lt"/>
              </a:rPr>
              <a:t>clase</a:t>
            </a:r>
            <a:r>
              <a:rPr lang="en-US">
                <a:ea typeface="+mn-lt"/>
                <a:cs typeface="+mn-lt"/>
              </a:rPr>
              <a:t> padre.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3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DA61-D23B-CB81-1D58-59B6C9081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BF49-6291-0F58-FFEB-A5ED2396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" y="-2305"/>
            <a:ext cx="11115373" cy="886134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EJERCICIO EN CLASE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34D1-30E7-928B-75BA-834511B5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38" y="1023294"/>
            <a:ext cx="4688573" cy="565321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err="1"/>
              <a:t>Utilizando</a:t>
            </a:r>
            <a:r>
              <a:rPr lang="en-US" sz="1600"/>
              <a:t> </a:t>
            </a:r>
            <a:r>
              <a:rPr lang="en-US" sz="1600" err="1"/>
              <a:t>los</a:t>
            </a:r>
            <a:r>
              <a:rPr lang="en-US" sz="1600"/>
              <a:t> </a:t>
            </a:r>
            <a:r>
              <a:rPr lang="en-US" sz="1600" err="1"/>
              <a:t>conceptos</a:t>
            </a:r>
            <a:r>
              <a:rPr lang="en-US" sz="1600"/>
              <a:t> de </a:t>
            </a:r>
            <a:r>
              <a:rPr lang="en-US" sz="1600" err="1"/>
              <a:t>aprendizajes</a:t>
            </a:r>
            <a:r>
              <a:rPr lang="en-US" sz="1600"/>
              <a:t> de </a:t>
            </a:r>
            <a:r>
              <a:rPr lang="en-US" sz="1600" err="1"/>
              <a:t>conceptos</a:t>
            </a:r>
            <a:r>
              <a:rPr lang="en-US" sz="1600"/>
              <a:t> </a:t>
            </a:r>
            <a:r>
              <a:rPr lang="en-US" sz="1600" err="1"/>
              <a:t>fundamentales</a:t>
            </a:r>
            <a:r>
              <a:rPr lang="en-US" sz="1600"/>
              <a:t> de poo,  </a:t>
            </a:r>
            <a:r>
              <a:rPr lang="en-US" sz="1600" err="1"/>
              <a:t>crear</a:t>
            </a:r>
            <a:r>
              <a:rPr lang="en-US" sz="1600"/>
              <a:t> la </a:t>
            </a:r>
            <a:r>
              <a:rPr lang="en-US" sz="1600" err="1"/>
              <a:t>clase</a:t>
            </a:r>
            <a:r>
              <a:rPr lang="en-US" sz="1600"/>
              <a:t> </a:t>
            </a:r>
            <a:r>
              <a:rPr lang="en-US" sz="1600" err="1"/>
              <a:t>rectangulo</a:t>
            </a:r>
            <a:r>
              <a:rPr lang="en-US" sz="1600"/>
              <a:t> y </a:t>
            </a:r>
            <a:r>
              <a:rPr lang="en-US" sz="1600" err="1"/>
              <a:t>calcular</a:t>
            </a:r>
            <a:r>
              <a:rPr lang="en-US" sz="1600"/>
              <a:t> </a:t>
            </a:r>
            <a:r>
              <a:rPr lang="en-US" sz="1600" err="1"/>
              <a:t>su</a:t>
            </a:r>
            <a:r>
              <a:rPr lang="en-US" sz="1600"/>
              <a:t> area, </a:t>
            </a:r>
            <a:r>
              <a:rPr lang="en-US" sz="1600" err="1"/>
              <a:t>recordar</a:t>
            </a:r>
            <a:r>
              <a:rPr lang="en-US" sz="1600"/>
              <a:t> </a:t>
            </a:r>
            <a:r>
              <a:rPr lang="en-US" sz="1600" err="1"/>
              <a:t>que</a:t>
            </a:r>
            <a:r>
              <a:rPr lang="en-US" sz="1600"/>
              <a:t> para </a:t>
            </a:r>
            <a:r>
              <a:rPr lang="en-US" sz="1600" err="1"/>
              <a:t>calcular</a:t>
            </a:r>
            <a:r>
              <a:rPr lang="en-US" sz="1600"/>
              <a:t> </a:t>
            </a:r>
            <a:r>
              <a:rPr lang="en-US" sz="1600" err="1"/>
              <a:t>el</a:t>
            </a:r>
            <a:r>
              <a:rPr lang="en-US" sz="1600"/>
              <a:t> area </a:t>
            </a:r>
            <a:r>
              <a:rPr lang="en-US" sz="1600" err="1"/>
              <a:t>vamos</a:t>
            </a:r>
            <a:r>
              <a:rPr lang="en-US" sz="1600"/>
              <a:t> a </a:t>
            </a:r>
            <a:r>
              <a:rPr lang="en-US" sz="1600" err="1"/>
              <a:t>necesitar</a:t>
            </a:r>
            <a:r>
              <a:rPr lang="en-US" sz="1600"/>
              <a:t> la formula de :</a:t>
            </a:r>
          </a:p>
          <a:p>
            <a:pPr>
              <a:buNone/>
            </a:pPr>
            <a:r>
              <a:rPr lang="en-US" sz="1600">
                <a:ea typeface="+mn-lt"/>
                <a:cs typeface="+mn-lt"/>
              </a:rPr>
              <a:t>A=B*AL</a:t>
            </a: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 sz="1600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8D604-2869-90D9-D23D-4E6F3067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C63F5-D4D7-E02E-4079-8C8223E1C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A0805-6B51-B0B6-9A61-C1AD5C2E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BC9883-925D-ED24-B457-D5995E6413E2}"/>
              </a:ext>
            </a:extLst>
          </p:cNvPr>
          <p:cNvSpPr txBox="1"/>
          <p:nvPr/>
        </p:nvSpPr>
        <p:spPr>
          <a:xfrm>
            <a:off x="6374027" y="1019432"/>
            <a:ext cx="543697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class </a:t>
            </a:r>
            <a:r>
              <a:rPr lang="en-US" err="1">
                <a:solidFill>
                  <a:schemeClr val="bg1"/>
                </a:solidFill>
              </a:rPr>
              <a:t>Rectangulo</a:t>
            </a:r>
            <a:r>
              <a:rPr lang="en-US">
                <a:solidFill>
                  <a:schemeClr val="bg1"/>
                </a:solidFill>
              </a:rPr>
              <a:t>: </a:t>
            </a:r>
          </a:p>
          <a:p>
            <a:r>
              <a:rPr lang="en-US">
                <a:solidFill>
                  <a:schemeClr val="bg1"/>
                </a:solidFill>
              </a:rPr>
              <a:t>  </a:t>
            </a:r>
          </a:p>
          <a:p>
            <a:r>
              <a:rPr lang="en-US">
                <a:solidFill>
                  <a:schemeClr val="bg1"/>
                </a:solidFill>
              </a:rPr>
              <a:t> def __</a:t>
            </a:r>
            <a:r>
              <a:rPr lang="en-US" err="1">
                <a:solidFill>
                  <a:schemeClr val="bg1"/>
                </a:solidFill>
              </a:rPr>
              <a:t>init</a:t>
            </a:r>
            <a:r>
              <a:rPr lang="en-US">
                <a:solidFill>
                  <a:schemeClr val="bg1"/>
                </a:solidFill>
              </a:rPr>
              <a:t>__(self, base, </a:t>
            </a:r>
            <a:r>
              <a:rPr lang="en-US" err="1">
                <a:solidFill>
                  <a:schemeClr val="bg1"/>
                </a:solidFill>
              </a:rPr>
              <a:t>altura</a:t>
            </a:r>
            <a:r>
              <a:rPr lang="en-US">
                <a:solidFill>
                  <a:schemeClr val="bg1"/>
                </a:solidFill>
              </a:rPr>
              <a:t>): </a:t>
            </a:r>
          </a:p>
          <a:p>
            <a:r>
              <a:rPr lang="en-US">
                <a:solidFill>
                  <a:schemeClr val="bg1"/>
                </a:solidFill>
              </a:rPr>
              <a:t>  </a:t>
            </a:r>
            <a:r>
              <a:rPr lang="en-US" err="1">
                <a:solidFill>
                  <a:schemeClr val="bg1"/>
                </a:solidFill>
              </a:rPr>
              <a:t>self.base</a:t>
            </a:r>
            <a:r>
              <a:rPr lang="en-US">
                <a:solidFill>
                  <a:schemeClr val="bg1"/>
                </a:solidFill>
              </a:rPr>
              <a:t> = base </a:t>
            </a:r>
          </a:p>
          <a:p>
            <a:r>
              <a:rPr lang="en-US">
                <a:solidFill>
                  <a:schemeClr val="bg1"/>
                </a:solidFill>
              </a:rPr>
              <a:t>  </a:t>
            </a:r>
            <a:r>
              <a:rPr lang="en-US" err="1">
                <a:solidFill>
                  <a:schemeClr val="bg1"/>
                </a:solidFill>
              </a:rPr>
              <a:t>self.altura</a:t>
            </a:r>
            <a:r>
              <a:rPr lang="en-US">
                <a:solidFill>
                  <a:schemeClr val="bg1"/>
                </a:solidFill>
              </a:rPr>
              <a:t> = </a:t>
            </a:r>
            <a:r>
              <a:rPr lang="en-US" err="1">
                <a:solidFill>
                  <a:schemeClr val="bg1"/>
                </a:solidFill>
              </a:rPr>
              <a:t>altura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 def </a:t>
            </a:r>
            <a:r>
              <a:rPr lang="en-US" err="1">
                <a:solidFill>
                  <a:schemeClr val="bg1"/>
                </a:solidFill>
              </a:rPr>
              <a:t>calcular_area</a:t>
            </a:r>
            <a:r>
              <a:rPr lang="en-US">
                <a:solidFill>
                  <a:schemeClr val="bg1"/>
                </a:solidFill>
              </a:rPr>
              <a:t>(self): </a:t>
            </a:r>
          </a:p>
          <a:p>
            <a:r>
              <a:rPr lang="en-US">
                <a:solidFill>
                  <a:schemeClr val="bg1"/>
                </a:solidFill>
              </a:rPr>
              <a:t>   return </a:t>
            </a:r>
            <a:r>
              <a:rPr lang="en-US" err="1">
                <a:solidFill>
                  <a:schemeClr val="bg1"/>
                </a:solidFill>
              </a:rPr>
              <a:t>self.base</a:t>
            </a:r>
            <a:r>
              <a:rPr lang="en-US">
                <a:solidFill>
                  <a:schemeClr val="bg1"/>
                </a:solidFill>
              </a:rPr>
              <a:t> * </a:t>
            </a:r>
            <a:r>
              <a:rPr lang="en-US" err="1">
                <a:solidFill>
                  <a:schemeClr val="bg1"/>
                </a:solidFill>
              </a:rPr>
              <a:t>self.altura</a:t>
            </a:r>
            <a:r>
              <a:rPr lang="en-US">
                <a:solidFill>
                  <a:schemeClr val="bg1"/>
                </a:solidFill>
              </a:rPr>
              <a:t> 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r1 = </a:t>
            </a:r>
            <a:r>
              <a:rPr lang="en-US" err="1">
                <a:solidFill>
                  <a:schemeClr val="bg1"/>
                </a:solidFill>
              </a:rPr>
              <a:t>Rectangulo</a:t>
            </a:r>
            <a:r>
              <a:rPr lang="en-US">
                <a:solidFill>
                  <a:schemeClr val="bg1"/>
                </a:solidFill>
              </a:rPr>
              <a:t>(5, 3) </a:t>
            </a:r>
          </a:p>
          <a:p>
            <a:r>
              <a:rPr lang="en-US">
                <a:solidFill>
                  <a:schemeClr val="bg1"/>
                </a:solidFill>
              </a:rPr>
              <a:t>print("</a:t>
            </a:r>
            <a:r>
              <a:rPr lang="en-US" err="1">
                <a:solidFill>
                  <a:schemeClr val="bg1"/>
                </a:solidFill>
              </a:rPr>
              <a:t>Área</a:t>
            </a:r>
            <a:r>
              <a:rPr lang="en-US">
                <a:solidFill>
                  <a:schemeClr val="bg1"/>
                </a:solidFill>
              </a:rPr>
              <a:t>:", r1.calcular_area())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20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1345-D965-545A-7ED1-39679162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A0F29-7CB5-2B13-38AE-3C3C2FAB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872B3-D2B1-CC4E-745A-D9607A94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79BB-6596-C788-52CA-176059551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7A8EB8-CD3E-0057-9F5E-43C73AABA47E}"/>
              </a:ext>
            </a:extLst>
          </p:cNvPr>
          <p:cNvSpPr txBox="1"/>
          <p:nvPr/>
        </p:nvSpPr>
        <p:spPr>
          <a:xfrm>
            <a:off x="841248" y="1106424"/>
            <a:ext cx="965606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, soy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y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tengo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años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"Carlos"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20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5A626B-3D47-487C-402D-25C6F14C1022}"/>
              </a:ext>
            </a:extLst>
          </p:cNvPr>
          <p:cNvSpPr txBox="1"/>
          <p:nvPr/>
        </p:nvSpPr>
        <p:spPr>
          <a:xfrm>
            <a:off x="201168" y="4550664"/>
            <a:ext cx="32552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= Constructor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self = </a:t>
            </a:r>
            <a:r>
              <a:rPr lang="en-US" dirty="0" err="1"/>
              <a:t>Referencia</a:t>
            </a:r>
            <a:r>
              <a:rPr lang="en-US" dirty="0"/>
              <a:t> al </a:t>
            </a:r>
            <a:r>
              <a:rPr lang="en-US" dirty="0" err="1"/>
              <a:t>objeto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nombre</a:t>
            </a:r>
            <a:r>
              <a:rPr lang="en-US" dirty="0"/>
              <a:t> y </a:t>
            </a:r>
            <a:r>
              <a:rPr lang="en-US" dirty="0" err="1"/>
              <a:t>edad</a:t>
            </a:r>
            <a:r>
              <a:rPr lang="en-US" dirty="0"/>
              <a:t> = </a:t>
            </a:r>
            <a:r>
              <a:rPr lang="en-US" dirty="0" err="1"/>
              <a:t>atributos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presentarse</a:t>
            </a:r>
            <a:r>
              <a:rPr lang="en-US" dirty="0"/>
              <a:t>() = </a:t>
            </a:r>
            <a:r>
              <a:rPr lang="en-US" dirty="0" err="1"/>
              <a:t>método</a:t>
            </a:r>
          </a:p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767215-1509-9A68-8FBB-D2FA49132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Clase con </a:t>
            </a:r>
            <a:r>
              <a:rPr lang="en-US" b="0" dirty="0" err="1">
                <a:ea typeface="+mj-lt"/>
                <a:cs typeface="+mj-lt"/>
              </a:rPr>
              <a:t>atributos</a:t>
            </a:r>
            <a:r>
              <a:rPr lang="en-US" b="0" dirty="0">
                <a:ea typeface="+mj-lt"/>
                <a:cs typeface="+mj-lt"/>
              </a:rPr>
              <a:t> y </a:t>
            </a:r>
            <a:r>
              <a:rPr lang="en-US" b="0" dirty="0" err="1">
                <a:ea typeface="+mj-lt"/>
                <a:cs typeface="+mj-lt"/>
              </a:rPr>
              <a:t>métodos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638243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DA03-C67B-2B6F-E0B0-FA81241D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F7BD-2464-3663-A980-269982AC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DEEC5-14A3-3E4F-5443-FB51B0E2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5407B-3F88-5595-B778-1191AD45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015F0C-DD84-E603-C0FB-F71016BC3AE4}"/>
              </a:ext>
            </a:extLst>
          </p:cNvPr>
          <p:cNvSpPr txBox="1"/>
          <p:nvPr/>
        </p:nvSpPr>
        <p:spPr>
          <a:xfrm>
            <a:off x="201168" y="131064"/>
            <a:ext cx="965606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, soy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y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tengo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años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"Carlos"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20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D9A83B-35AE-304A-0E4A-3DD0515740AB}"/>
              </a:ext>
            </a:extLst>
          </p:cNvPr>
          <p:cNvSpPr txBox="1"/>
          <p:nvPr/>
        </p:nvSpPr>
        <p:spPr>
          <a:xfrm>
            <a:off x="201168" y="3429000"/>
            <a:ext cx="32552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= Constructor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self = </a:t>
            </a:r>
            <a:r>
              <a:rPr lang="en-US" dirty="0" err="1"/>
              <a:t>Referencia</a:t>
            </a:r>
            <a:r>
              <a:rPr lang="en-US" dirty="0"/>
              <a:t> al </a:t>
            </a:r>
            <a:r>
              <a:rPr lang="en-US" dirty="0" err="1"/>
              <a:t>objeto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nombre</a:t>
            </a:r>
            <a:r>
              <a:rPr lang="en-US" dirty="0"/>
              <a:t> y </a:t>
            </a:r>
            <a:r>
              <a:rPr lang="en-US" dirty="0" err="1"/>
              <a:t>edad</a:t>
            </a:r>
            <a:r>
              <a:rPr lang="en-US" dirty="0"/>
              <a:t> = </a:t>
            </a:r>
            <a:r>
              <a:rPr lang="en-US" dirty="0" err="1"/>
              <a:t>atributos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presentarse</a:t>
            </a:r>
            <a:r>
              <a:rPr lang="en-US" dirty="0"/>
              <a:t>() = </a:t>
            </a:r>
            <a:r>
              <a:rPr lang="en-US" dirty="0" err="1"/>
              <a:t>método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60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8A61-048B-E4C5-FA7C-15D20D33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B2018-D2BD-06A9-0578-DADD93899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D08BA-5DED-27A1-65AF-C1BB1DD9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29588-2A7A-F6DD-DA0E-A7FE19F9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C793E-38AF-1147-1484-BE3F964A48BB}"/>
              </a:ext>
            </a:extLst>
          </p:cNvPr>
          <p:cNvSpPr txBox="1"/>
          <p:nvPr/>
        </p:nvSpPr>
        <p:spPr>
          <a:xfrm>
            <a:off x="201168" y="131064"/>
            <a:ext cx="965606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endParaRPr lang="en-US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, soy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y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tengo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años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"Carlos"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20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presentarse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42E59-F7A1-280C-D6AD-34FB2AC7FD33}"/>
              </a:ext>
            </a:extLst>
          </p:cNvPr>
          <p:cNvSpPr txBox="1"/>
          <p:nvPr/>
        </p:nvSpPr>
        <p:spPr>
          <a:xfrm>
            <a:off x="201168" y="3429000"/>
            <a:ext cx="325526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= Constructor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self = </a:t>
            </a:r>
            <a:r>
              <a:rPr lang="en-US" dirty="0" err="1"/>
              <a:t>Referencia</a:t>
            </a:r>
            <a:r>
              <a:rPr lang="en-US" dirty="0"/>
              <a:t> al </a:t>
            </a:r>
            <a:r>
              <a:rPr lang="en-US" dirty="0" err="1"/>
              <a:t>objeto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nombre</a:t>
            </a:r>
            <a:r>
              <a:rPr lang="en-US" dirty="0"/>
              <a:t> y </a:t>
            </a:r>
            <a:r>
              <a:rPr lang="en-US" dirty="0" err="1"/>
              <a:t>edad</a:t>
            </a:r>
            <a:r>
              <a:rPr lang="en-US" dirty="0"/>
              <a:t> = </a:t>
            </a:r>
            <a:r>
              <a:rPr lang="en-US" dirty="0" err="1"/>
              <a:t>atributos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presentarse</a:t>
            </a:r>
            <a:r>
              <a:rPr lang="en-US" dirty="0"/>
              <a:t>() = </a:t>
            </a:r>
            <a:r>
              <a:rPr lang="en-US" dirty="0" err="1"/>
              <a:t>método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99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412D8-DF21-87AD-E458-C6347BDBA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6FFCE-E737-6DAB-0BCF-414E4703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FD196-D8E4-CEA4-7B60-87BA9978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D8E94-CCD8-E62B-EF68-1060F668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64940F6-EB1F-4F05-1604-7206E9CE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PREELIMINARES 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241407-95BD-9C6D-4A2C-08849A10B532}"/>
              </a:ext>
            </a:extLst>
          </p:cNvPr>
          <p:cNvSpPr txBox="1">
            <a:spLocks/>
          </p:cNvSpPr>
          <p:nvPr/>
        </p:nvSpPr>
        <p:spPr>
          <a:xfrm>
            <a:off x="1427280" y="875519"/>
            <a:ext cx="10060765" cy="5813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 err="1">
                <a:ea typeface="+mj-lt"/>
                <a:cs typeface="+mj-lt"/>
              </a:rPr>
              <a:t>Diferencia</a:t>
            </a:r>
            <a:r>
              <a:rPr lang="en-US" b="0" dirty="0">
                <a:ea typeface="+mj-lt"/>
                <a:cs typeface="+mj-lt"/>
              </a:rPr>
              <a:t> entre </a:t>
            </a:r>
            <a:r>
              <a:rPr lang="en-US" b="0" dirty="0" err="1">
                <a:ea typeface="+mj-lt"/>
                <a:cs typeface="+mj-lt"/>
              </a:rPr>
              <a:t>enfoque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tradicional</a:t>
            </a:r>
            <a:r>
              <a:rPr lang="en-US" b="0" dirty="0">
                <a:ea typeface="+mj-lt"/>
                <a:cs typeface="+mj-lt"/>
              </a:rPr>
              <a:t> y POO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F65D3-919D-44BD-085D-022CB0F77C14}"/>
              </a:ext>
            </a:extLst>
          </p:cNvPr>
          <p:cNvSpPr txBox="1"/>
          <p:nvPr/>
        </p:nvSpPr>
        <p:spPr>
          <a:xfrm>
            <a:off x="201168" y="1929384"/>
            <a:ext cx="3255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tradicional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procedimental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DC358-6276-9433-DF48-B9546C32FD37}"/>
              </a:ext>
            </a:extLst>
          </p:cNvPr>
          <p:cNvSpPr txBox="1"/>
          <p:nvPr/>
        </p:nvSpPr>
        <p:spPr>
          <a:xfrm>
            <a:off x="201168" y="2575560"/>
            <a:ext cx="450258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"Andrés"</a:t>
            </a:r>
          </a:p>
          <a:p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35</a:t>
            </a:r>
          </a:p>
          <a:p>
            <a:br>
              <a:rPr lang="en-US" sz="1200">
                <a:solidFill>
                  <a:srgbClr val="CCCCCC"/>
                </a:solidFill>
                <a:latin typeface="Menlo"/>
                <a:ea typeface="Menlo"/>
                <a:cs typeface="Menlo"/>
              </a:rPr>
            </a:b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saludar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sz="12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sz="120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soy 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y </a:t>
            </a:r>
            <a:r>
              <a:rPr lang="en-US" sz="120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tengo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años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sz="1200">
                <a:solidFill>
                  <a:srgbClr val="CCCCCC"/>
                </a:solidFill>
                <a:latin typeface="Menlo"/>
                <a:ea typeface="Menlo"/>
                <a:cs typeface="Menlo"/>
              </a:rPr>
            </a:br>
            <a:r>
              <a:rPr lang="en-US" sz="120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saludar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2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 sz="120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2BC3F-19B3-9644-25BC-9769F08DE443}"/>
              </a:ext>
            </a:extLst>
          </p:cNvPr>
          <p:cNvSpPr txBox="1"/>
          <p:nvPr/>
        </p:nvSpPr>
        <p:spPr>
          <a:xfrm>
            <a:off x="6095999" y="2578007"/>
            <a:ext cx="551754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Persona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sz="120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sz="12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endParaRPr lang="en-US" sz="1200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endParaRPr lang="en-US" sz="1200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br>
              <a:rPr lang="en-US" sz="1200" dirty="0">
                <a:latin typeface="Menlo"/>
                <a:ea typeface="Menlo"/>
                <a:cs typeface="Menlo"/>
              </a:rPr>
            </a:b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saludar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sz="12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sz="120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soy 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y </a:t>
            </a:r>
            <a:r>
              <a:rPr lang="en-US" sz="120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tengo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sz="12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2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edad</a:t>
            </a:r>
            <a:r>
              <a:rPr lang="en-US" sz="120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años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sz="1200" dirty="0">
                <a:latin typeface="Menlo"/>
                <a:ea typeface="Menlo"/>
                <a:cs typeface="Menlo"/>
              </a:rPr>
            </a:br>
            <a:r>
              <a:rPr lang="en-US" sz="12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p1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Persona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"Andrés"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20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35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sz="12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p1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saludar</a:t>
            </a:r>
            <a:r>
              <a:rPr lang="en-US" sz="12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1CB887-8B23-3970-ABC5-2762315E71B0}"/>
              </a:ext>
            </a:extLst>
          </p:cNvPr>
          <p:cNvSpPr txBox="1"/>
          <p:nvPr/>
        </p:nvSpPr>
        <p:spPr>
          <a:xfrm>
            <a:off x="6096934" y="1929384"/>
            <a:ext cx="32552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tradicional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procedimental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3FE5D-1648-654D-E4D2-E65EEDA0B89D}"/>
              </a:ext>
            </a:extLst>
          </p:cNvPr>
          <p:cNvSpPr txBox="1"/>
          <p:nvPr/>
        </p:nvSpPr>
        <p:spPr>
          <a:xfrm>
            <a:off x="6485344" y="4641526"/>
            <a:ext cx="398798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En la </a:t>
            </a:r>
            <a:r>
              <a:rPr lang="en-US" sz="1400" err="1"/>
              <a:t>versión</a:t>
            </a:r>
            <a:r>
              <a:rPr lang="en-US" sz="1400" dirty="0"/>
              <a:t> POO:</a:t>
            </a:r>
          </a:p>
          <a:p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dirty="0"/>
              <a:t>Los </a:t>
            </a:r>
            <a:r>
              <a:rPr lang="en-US" sz="1400" err="1"/>
              <a:t>datos</a:t>
            </a:r>
            <a:r>
              <a:rPr lang="en-US" sz="1400" dirty="0"/>
              <a:t> y </a:t>
            </a:r>
            <a:r>
              <a:rPr lang="en-US" sz="1400" err="1"/>
              <a:t>el</a:t>
            </a:r>
            <a:r>
              <a:rPr lang="en-US" sz="1400" dirty="0"/>
              <a:t> </a:t>
            </a:r>
            <a:r>
              <a:rPr lang="en-US" sz="1400" err="1"/>
              <a:t>comportamiento</a:t>
            </a:r>
            <a:r>
              <a:rPr lang="en-US" sz="1400" dirty="0"/>
              <a:t> </a:t>
            </a:r>
            <a:r>
              <a:rPr lang="en-US" sz="1400" err="1"/>
              <a:t>están</a:t>
            </a:r>
            <a:r>
              <a:rPr lang="en-US" sz="1400" dirty="0"/>
              <a:t> </a:t>
            </a:r>
            <a:r>
              <a:rPr lang="en-US" sz="1400" err="1"/>
              <a:t>unidos</a:t>
            </a:r>
            <a:endParaRPr lang="en-US" sz="1400"/>
          </a:p>
          <a:p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dirty="0"/>
              <a:t>El </a:t>
            </a:r>
            <a:r>
              <a:rPr lang="en-US" sz="1400" err="1"/>
              <a:t>objeto</a:t>
            </a:r>
            <a:r>
              <a:rPr lang="en-US" sz="1400" dirty="0"/>
              <a:t> </a:t>
            </a:r>
            <a:r>
              <a:rPr lang="en-US" sz="1400" err="1"/>
              <a:t>contiene</a:t>
            </a:r>
            <a:r>
              <a:rPr lang="en-US" sz="1400" dirty="0"/>
              <a:t> </a:t>
            </a:r>
            <a:r>
              <a:rPr lang="en-US" sz="1400" err="1"/>
              <a:t>su</a:t>
            </a:r>
            <a:r>
              <a:rPr lang="en-US" sz="1400" dirty="0"/>
              <a:t> </a:t>
            </a:r>
            <a:r>
              <a:rPr lang="en-US" sz="1400" err="1"/>
              <a:t>propia</a:t>
            </a:r>
            <a:r>
              <a:rPr lang="en-US" sz="1400" dirty="0"/>
              <a:t> </a:t>
            </a:r>
            <a:r>
              <a:rPr lang="en-US" sz="1400" err="1"/>
              <a:t>información</a:t>
            </a:r>
            <a:endParaRPr lang="en-US" sz="140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dirty="0"/>
              <a:t>Es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escalable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8A8D0-DC74-20B2-F202-35C8B57FA290}"/>
              </a:ext>
            </a:extLst>
          </p:cNvPr>
          <p:cNvSpPr txBox="1"/>
          <p:nvPr/>
        </p:nvSpPr>
        <p:spPr>
          <a:xfrm>
            <a:off x="294789" y="5681629"/>
            <a:ext cx="45219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¿</a:t>
            </a:r>
            <a:r>
              <a:rPr lang="en-US" dirty="0" err="1">
                <a:ea typeface="+mn-lt"/>
                <a:cs typeface="+mn-lt"/>
              </a:rPr>
              <a:t>Qué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pasaría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necesitamos</a:t>
            </a:r>
            <a:r>
              <a:rPr lang="en-US" dirty="0">
                <a:ea typeface="+mn-lt"/>
                <a:cs typeface="+mn-lt"/>
              </a:rPr>
              <a:t> 100 personas?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2749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0B0D-E77D-7076-8D10-07AE3D98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CB0F-E13D-C97A-02C1-1B8454D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6BA19-ADB2-1417-6FE7-ADACB8B1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BCC5-D0D1-5C97-12E2-F7DA99B4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A31D385-6652-FBF2-CF47-CE2E7CE8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PREELIMINARES </a:t>
            </a:r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8AEF73F-8B6B-2E7A-9F11-0D2A49F6D6B0}"/>
              </a:ext>
            </a:extLst>
          </p:cNvPr>
          <p:cNvSpPr txBox="1">
            <a:spLocks/>
          </p:cNvSpPr>
          <p:nvPr/>
        </p:nvSpPr>
        <p:spPr>
          <a:xfrm>
            <a:off x="303747" y="1075753"/>
            <a:ext cx="2118168" cy="7148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dirty="0">
                <a:ea typeface="+mj-lt"/>
                <a:cs typeface="+mj-lt"/>
              </a:rPr>
              <a:t>INTERFAZ DE DESARROLLO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32C0C-2F68-072C-C100-605DDF9A5450}"/>
              </a:ext>
            </a:extLst>
          </p:cNvPr>
          <p:cNvSpPr txBox="1"/>
          <p:nvPr/>
        </p:nvSpPr>
        <p:spPr>
          <a:xfrm>
            <a:off x="201168" y="2024918"/>
            <a:ext cx="3340119" cy="16235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1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"Bienvenido a la </a:t>
            </a:r>
            <a:r>
              <a:rPr lang="en-US" sz="11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calculadora</a:t>
            </a:r>
            <a:r>
              <a:rPr lang="en-US" sz="11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br>
              <a:rPr lang="en-US" sz="2800" dirty="0"/>
            </a:br>
            <a:endParaRPr lang="en-US" sz="2800" dirty="0"/>
          </a:p>
          <a:p>
            <a:r>
              <a:rPr lang="en-US" sz="11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</a:t>
            </a:r>
            <a:r>
              <a:rPr lang="en-US" sz="11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num1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5</a:t>
            </a:r>
            <a:endParaRPr lang="en-US" sz="2800" dirty="0"/>
          </a:p>
          <a:p>
            <a:r>
              <a:rPr lang="en-US" sz="11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</a:t>
            </a:r>
            <a:r>
              <a:rPr lang="en-US" sz="11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num2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3</a:t>
            </a:r>
            <a:br>
              <a:rPr lang="en-US" sz="2800" dirty="0"/>
            </a:br>
            <a:endParaRPr lang="en-US" sz="2800" dirty="0"/>
          </a:p>
          <a:p>
            <a:r>
              <a:rPr lang="en-US" sz="11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1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"Suma:"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1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num1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+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1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num2</a:t>
            </a:r>
            <a:r>
              <a:rPr lang="en-US" sz="11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100" dirty="0">
              <a:highlight>
                <a:srgbClr val="1F1F1F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CE7BC-E1E1-2DC1-2F6C-DA29338AAF82}"/>
              </a:ext>
            </a:extLst>
          </p:cNvPr>
          <p:cNvSpPr txBox="1"/>
          <p:nvPr/>
        </p:nvSpPr>
        <p:spPr>
          <a:xfrm>
            <a:off x="194672" y="3851715"/>
            <a:ext cx="2853329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 dirty="0"/>
              <a:t>Python </a:t>
            </a:r>
            <a:r>
              <a:rPr lang="en-US" sz="1400" err="1"/>
              <a:t>ejecuta</a:t>
            </a:r>
            <a:r>
              <a:rPr lang="en-US" sz="1400" dirty="0"/>
              <a:t> </a:t>
            </a:r>
            <a:r>
              <a:rPr lang="en-US" sz="1400" err="1"/>
              <a:t>línea</a:t>
            </a:r>
            <a:r>
              <a:rPr lang="en-US" sz="1400" dirty="0"/>
              <a:t> </a:t>
            </a:r>
            <a:r>
              <a:rPr lang="en-US" sz="1400" err="1"/>
              <a:t>por</a:t>
            </a:r>
            <a:r>
              <a:rPr lang="en-US" sz="1400" dirty="0"/>
              <a:t> </a:t>
            </a:r>
            <a:r>
              <a:rPr lang="en-US" sz="1400" err="1"/>
              <a:t>línea</a:t>
            </a:r>
            <a:endParaRPr lang="en-US" sz="140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dirty="0"/>
              <a:t>No </a:t>
            </a:r>
            <a:r>
              <a:rPr lang="en-US" sz="1400" err="1"/>
              <a:t>requiere</a:t>
            </a:r>
            <a:r>
              <a:rPr lang="en-US" sz="1400" dirty="0"/>
              <a:t> </a:t>
            </a:r>
            <a:r>
              <a:rPr lang="en-US" sz="1400" err="1"/>
              <a:t>compilación</a:t>
            </a:r>
            <a:r>
              <a:rPr lang="en-US" sz="1400" dirty="0"/>
              <a:t> previa</a:t>
            </a:r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dirty="0"/>
              <a:t>La terminal es fundamental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5ED47-0676-5E8C-ADFD-D1C83301A3E7}"/>
              </a:ext>
            </a:extLst>
          </p:cNvPr>
          <p:cNvSpPr txBox="1"/>
          <p:nvPr/>
        </p:nvSpPr>
        <p:spPr>
          <a:xfrm>
            <a:off x="4544190" y="1955058"/>
            <a:ext cx="336503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datetime</a:t>
            </a:r>
          </a:p>
          <a:p>
            <a:br>
              <a:rPr lang="en-US" sz="1400" dirty="0">
                <a:latin typeface="Menlo"/>
                <a:ea typeface="Menlo"/>
                <a:cs typeface="Menlo"/>
              </a:rPr>
            </a:br>
            <a:r>
              <a:rPr lang="en-US" sz="14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hoy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datetime</a:t>
            </a:r>
            <a:r>
              <a:rPr lang="en-US" sz="14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40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date</a:t>
            </a:r>
            <a:r>
              <a:rPr lang="en-US" sz="14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40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today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endParaRPr lang="en-US" sz="1400" dirty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r>
              <a:rPr lang="en-US" sz="14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sz="140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Fecha</a:t>
            </a:r>
            <a:r>
              <a:rPr lang="en-US" sz="14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actual:"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hoy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6204DAC-04BF-0648-EE7F-BC582A59BE00}"/>
              </a:ext>
            </a:extLst>
          </p:cNvPr>
          <p:cNvSpPr txBox="1">
            <a:spLocks/>
          </p:cNvSpPr>
          <p:nvPr/>
        </p:nvSpPr>
        <p:spPr>
          <a:xfrm>
            <a:off x="5187221" y="1025693"/>
            <a:ext cx="5188415" cy="687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0" dirty="0">
                <a:ea typeface="+mj-lt"/>
                <a:cs typeface="+mj-lt"/>
              </a:rPr>
              <a:t>LIBRERÍAS ESTÁNDAR</a:t>
            </a:r>
            <a:endParaRPr lang="en-US" sz="4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6D757-7B63-5F96-88C0-D481873CC0AE}"/>
              </a:ext>
            </a:extLst>
          </p:cNvPr>
          <p:cNvSpPr txBox="1"/>
          <p:nvPr/>
        </p:nvSpPr>
        <p:spPr>
          <a:xfrm>
            <a:off x="8509927" y="1955059"/>
            <a:ext cx="3114746" cy="1373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math</a:t>
            </a:r>
          </a:p>
          <a:p>
            <a:br>
              <a:rPr lang="en-US" sz="1400" dirty="0">
                <a:latin typeface="Menlo"/>
                <a:ea typeface="Menlo"/>
                <a:cs typeface="Menlo"/>
              </a:rPr>
            </a:br>
            <a:r>
              <a:rPr lang="en-US" sz="14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25</a:t>
            </a:r>
          </a:p>
          <a:p>
            <a:r>
              <a:rPr lang="en-US" sz="14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raiz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sz="140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math</a:t>
            </a:r>
            <a:r>
              <a:rPr lang="en-US" sz="140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sz="140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sqrt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40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sz="1400" dirty="0">
                <a:latin typeface="Menlo"/>
                <a:ea typeface="Menlo"/>
                <a:cs typeface="Menlo"/>
              </a:rPr>
            </a:br>
            <a:r>
              <a:rPr lang="en-US" sz="140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"La </a:t>
            </a:r>
            <a:r>
              <a:rPr lang="en-US" sz="140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raíz</a:t>
            </a:r>
            <a:r>
              <a:rPr lang="en-US" sz="140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es:"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raiz</a:t>
            </a:r>
            <a:r>
              <a:rPr lang="en-US" sz="140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67E52-9DBC-78C0-1000-D377EE26F192}"/>
              </a:ext>
            </a:extLst>
          </p:cNvPr>
          <p:cNvSpPr txBox="1"/>
          <p:nvPr/>
        </p:nvSpPr>
        <p:spPr>
          <a:xfrm>
            <a:off x="5689971" y="3734912"/>
            <a:ext cx="4905723" cy="28511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import </a:t>
            </a:r>
            <a:r>
              <a:rPr lang="en-US" err="1"/>
              <a:t>permite</a:t>
            </a:r>
            <a:r>
              <a:rPr lang="en-US" dirty="0"/>
              <a:t> usar </a:t>
            </a:r>
            <a:r>
              <a:rPr lang="en-US" err="1"/>
              <a:t>módulos</a:t>
            </a:r>
            <a:endParaRPr lang="en-US"/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 err="1"/>
              <a:t>datetime.date.today</a:t>
            </a:r>
            <a:r>
              <a:rPr lang="en-US" dirty="0"/>
              <a:t>() </a:t>
            </a:r>
            <a:r>
              <a:rPr lang="en-US" dirty="0" err="1"/>
              <a:t>devuelve</a:t>
            </a:r>
            <a:r>
              <a:rPr lang="en-US" dirty="0"/>
              <a:t> </a:t>
            </a:r>
            <a:r>
              <a:rPr lang="en-US" dirty="0" err="1"/>
              <a:t>fecha</a:t>
            </a:r>
            <a:r>
              <a:rPr lang="en-US" dirty="0"/>
              <a:t> actual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No </a:t>
            </a:r>
            <a:r>
              <a:rPr lang="en-US" err="1"/>
              <a:t>creamos</a:t>
            </a:r>
            <a:r>
              <a:rPr lang="en-US" dirty="0"/>
              <a:t> la </a:t>
            </a:r>
            <a:r>
              <a:rPr lang="en-US" err="1"/>
              <a:t>función</a:t>
            </a:r>
            <a:r>
              <a:rPr lang="en-US" dirty="0"/>
              <a:t>, </a:t>
            </a:r>
            <a:r>
              <a:rPr lang="en-US" err="1"/>
              <a:t>ya</a:t>
            </a:r>
            <a:r>
              <a:rPr lang="en-US" dirty="0"/>
              <a:t> </a:t>
            </a:r>
            <a:r>
              <a:rPr lang="en-US" err="1"/>
              <a:t>viene</a:t>
            </a:r>
            <a:r>
              <a:rPr lang="en-US" dirty="0"/>
              <a:t> </a:t>
            </a:r>
            <a:r>
              <a:rPr lang="en-US" err="1"/>
              <a:t>en</a:t>
            </a:r>
            <a:r>
              <a:rPr lang="en-US" dirty="0"/>
              <a:t> Python</a:t>
            </a:r>
          </a:p>
          <a:p>
            <a:pPr marL="228600" indent="-228600">
              <a:buFont typeface=""/>
              <a:buChar char="•"/>
            </a:pPr>
            <a:endParaRPr lang="en-US" dirty="0">
              <a:latin typeface="Trade Gothic Next Light"/>
            </a:endParaRPr>
          </a:p>
          <a:p>
            <a:pPr marL="228600" indent="-228600">
              <a:buFont typeface=""/>
              <a:buChar char="•"/>
            </a:pPr>
            <a:r>
              <a:rPr lang="en-US" dirty="0" err="1">
                <a:latin typeface="Consolas"/>
              </a:rPr>
              <a:t>math.sqrt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raíz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cuadrada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Retorna</a:t>
            </a:r>
            <a:r>
              <a:rPr lang="en-US" dirty="0">
                <a:ea typeface="+mn-lt"/>
                <a:cs typeface="+mn-lt"/>
              </a:rPr>
              <a:t> float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002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EC0F-A9BA-3347-A662-171F18AF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D54B1-917C-52CC-9565-12197056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2E09-5891-029E-62CF-A1533744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7C90C-1D61-117E-466C-E062474A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A145BD-0EF9-1741-DE41-01D8756D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PREELIMINARES </a:t>
            </a:r>
            <a:endParaRPr lang="en-US" b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5E0576-D484-D3B7-5775-42025DF5154E}"/>
              </a:ext>
            </a:extLst>
          </p:cNvPr>
          <p:cNvSpPr txBox="1">
            <a:spLocks/>
          </p:cNvSpPr>
          <p:nvPr/>
        </p:nvSpPr>
        <p:spPr>
          <a:xfrm>
            <a:off x="654155" y="1025693"/>
            <a:ext cx="6534428" cy="687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0" dirty="0">
                <a:ea typeface="+mj-lt"/>
                <a:cs typeface="+mj-lt"/>
              </a:rPr>
              <a:t>APLICATIVOS BÁSICOS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A8078D-7FC7-8DE0-5EEE-0DC8C53F2691}"/>
              </a:ext>
            </a:extLst>
          </p:cNvPr>
          <p:cNvSpPr txBox="1"/>
          <p:nvPr/>
        </p:nvSpPr>
        <p:spPr>
          <a:xfrm>
            <a:off x="2135824" y="1715891"/>
            <a:ext cx="3114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Clase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Producto</a:t>
            </a:r>
            <a:endParaRPr lang="en-US" sz="2400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10D0F-46E0-5383-467C-710D8C68FDC4}"/>
              </a:ext>
            </a:extLst>
          </p:cNvPr>
          <p:cNvSpPr txBox="1"/>
          <p:nvPr/>
        </p:nvSpPr>
        <p:spPr>
          <a:xfrm>
            <a:off x="411591" y="2539073"/>
            <a:ext cx="609600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Producto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precio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</a:p>
          <a:p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precio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precio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"Producto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nombre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"Precio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precio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Producto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"Laptop"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3000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p1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FE511F-A259-267E-2461-D99B780FFA97}"/>
              </a:ext>
            </a:extLst>
          </p:cNvPr>
          <p:cNvSpPr txBox="1"/>
          <p:nvPr/>
        </p:nvSpPr>
        <p:spPr>
          <a:xfrm>
            <a:off x="7542131" y="5559263"/>
            <a:ext cx="44496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/>
              <a:t>__init__ inicializa atributos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self guarda datos en el objeto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Cada objeto puede tener valores distintos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09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6E0C-BA8D-A01D-622D-AAB309F0D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C1970-3562-D190-96CB-26C355DA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7E20B-F511-205D-DC92-A2C16E89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0C4A9-A395-5920-192F-6942445C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FD09DBD-AAF6-B9E4-08D1-8C1E3996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PREELIMINARES </a:t>
            </a:r>
            <a:endParaRPr lang="en-US" b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AAAA8C7-0D2B-5CF2-3572-E807ED77F032}"/>
              </a:ext>
            </a:extLst>
          </p:cNvPr>
          <p:cNvSpPr txBox="1">
            <a:spLocks/>
          </p:cNvSpPr>
          <p:nvPr/>
        </p:nvSpPr>
        <p:spPr>
          <a:xfrm>
            <a:off x="654155" y="1025693"/>
            <a:ext cx="6534428" cy="687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0" dirty="0"/>
              <a:t>EJERCICIO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058679-402B-0F04-BE09-666A91B5115C}"/>
              </a:ext>
            </a:extLst>
          </p:cNvPr>
          <p:cNvSpPr txBox="1"/>
          <p:nvPr/>
        </p:nvSpPr>
        <p:spPr>
          <a:xfrm>
            <a:off x="656320" y="1960621"/>
            <a:ext cx="50948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Crear </a:t>
            </a:r>
            <a:r>
              <a:rPr lang="en-US" err="1"/>
              <a:t>clase</a:t>
            </a:r>
            <a:r>
              <a:rPr lang="en-US" b="1" dirty="0"/>
              <a:t> </a:t>
            </a:r>
            <a:r>
              <a:rPr lang="en-US" b="1" err="1"/>
              <a:t>CalculadoraSimple</a:t>
            </a:r>
            <a:endParaRPr lang="en-US" b="1"/>
          </a:p>
          <a:p>
            <a:endParaRPr lang="en-US" b="1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Debe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tener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>
              <a:solidFill>
                <a:srgbClr val="4EC9B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atributo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numero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método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cuadrado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()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método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cubo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()</a:t>
            </a:r>
            <a:endParaRPr lang="en-US" dirty="0"/>
          </a:p>
          <a:p>
            <a:endParaRPr lang="en-US" dirty="0">
              <a:solidFill>
                <a:srgbClr val="4EC9B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FD02F-2582-CABD-8AD7-981E0556A757}"/>
              </a:ext>
            </a:extLst>
          </p:cNvPr>
          <p:cNvSpPr txBox="1"/>
          <p:nvPr/>
        </p:nvSpPr>
        <p:spPr>
          <a:xfrm>
            <a:off x="5712219" y="403248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class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CalculadoraSimple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def __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__(self,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self.numero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 =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numero</a:t>
            </a:r>
            <a:endParaRPr lang="en-US">
              <a:solidFill>
                <a:schemeClr val="bg1"/>
              </a:solidFill>
              <a:latin typeface="Menlo"/>
              <a:ea typeface="Menlo"/>
              <a:cs typeface="Menlo"/>
            </a:endParaRPr>
          </a:p>
          <a:p>
            <a:b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def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cuadrado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(self):</a:t>
            </a:r>
          </a:p>
          <a:p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return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self.numero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 ** 2</a:t>
            </a:r>
          </a:p>
          <a:p>
            <a:b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def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cubo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(self):</a:t>
            </a:r>
          </a:p>
          <a:p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return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self.numero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 ** 3</a:t>
            </a:r>
          </a:p>
          <a:p>
            <a:b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calc =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CalculadoraSimple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(4)</a:t>
            </a:r>
          </a:p>
          <a:p>
            <a:b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print("Cuadrado:",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calc.cuadrado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())</a:t>
            </a:r>
          </a:p>
          <a:p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print("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Cubo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:", </a:t>
            </a:r>
            <a:r>
              <a:rPr lang="en-US" err="1">
                <a:solidFill>
                  <a:schemeClr val="bg1"/>
                </a:solidFill>
                <a:latin typeface="Menlo"/>
                <a:ea typeface="Menlo"/>
                <a:cs typeface="Menlo"/>
              </a:rPr>
              <a:t>calc.cubo</a:t>
            </a:r>
            <a:r>
              <a:rPr lang="en-US" dirty="0">
                <a:solidFill>
                  <a:schemeClr val="bg1"/>
                </a:solidFill>
                <a:latin typeface="Menlo"/>
                <a:ea typeface="Menlo"/>
                <a:cs typeface="Menlo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164414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F1AC-9987-A213-156D-66E5AAFEA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C50D2-A610-A448-A401-87327504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CC8A7-299C-C574-0919-D7802FAB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D929-E5F3-196C-D48D-5D2E859C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31BC43A-444D-D124-E88A-F48EBFF9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PREELIMINARES </a:t>
            </a:r>
            <a:endParaRPr lang="en-US" b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3B70F8E-D9B7-BBE7-A4A6-E7722FE819C2}"/>
              </a:ext>
            </a:extLst>
          </p:cNvPr>
          <p:cNvSpPr txBox="1">
            <a:spLocks/>
          </p:cNvSpPr>
          <p:nvPr/>
        </p:nvSpPr>
        <p:spPr>
          <a:xfrm>
            <a:off x="654155" y="1025693"/>
            <a:ext cx="6534428" cy="687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6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0" dirty="0"/>
              <a:t>EJERCICIO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F694D5-ADDA-DFA2-F409-502C1B2F9E81}"/>
              </a:ext>
            </a:extLst>
          </p:cNvPr>
          <p:cNvSpPr txBox="1"/>
          <p:nvPr/>
        </p:nvSpPr>
        <p:spPr>
          <a:xfrm>
            <a:off x="656320" y="1960621"/>
            <a:ext cx="50948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Crear Clase </a:t>
            </a:r>
            <a:r>
              <a:rPr lang="en-US" b="1" dirty="0" err="1"/>
              <a:t>Conversor</a:t>
            </a:r>
            <a:r>
              <a:rPr lang="en-US" b="1" dirty="0"/>
              <a:t> de </a:t>
            </a:r>
            <a:r>
              <a:rPr lang="en-US" b="1" dirty="0" err="1"/>
              <a:t>temperatura</a:t>
            </a:r>
            <a:r>
              <a:rPr lang="en-US" b="1" dirty="0"/>
              <a:t> </a:t>
            </a:r>
          </a:p>
          <a:p>
            <a:endParaRPr lang="en-US" b="1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Debe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tener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>
              <a:solidFill>
                <a:srgbClr val="4EC9B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Atributo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:  Celsius</a:t>
            </a:r>
            <a:endParaRPr lang="en-US" dirty="0">
              <a:solidFill>
                <a:srgbClr val="4EC9B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Método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a_fahrenheit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()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método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 </a:t>
            </a:r>
            <a:r>
              <a:rPr lang="en-US" dirty="0" err="1">
                <a:solidFill>
                  <a:srgbClr val="4EC9B0"/>
                </a:solidFill>
                <a:ea typeface="+mn-lt"/>
                <a:cs typeface="+mn-lt"/>
              </a:rPr>
              <a:t>a_kelvin</a:t>
            </a:r>
            <a:r>
              <a:rPr lang="en-US" dirty="0">
                <a:solidFill>
                  <a:srgbClr val="4EC9B0"/>
                </a:solidFill>
                <a:ea typeface="+mn-lt"/>
                <a:cs typeface="+mn-lt"/>
              </a:rPr>
              <a:t>()</a:t>
            </a:r>
            <a:endParaRPr lang="en-US" dirty="0"/>
          </a:p>
          <a:p>
            <a:endParaRPr lang="en-US" dirty="0">
              <a:solidFill>
                <a:srgbClr val="4EC9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694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4CFC5-62CE-C962-8EDF-9C5D78282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AEF2C-310B-8689-6D4D-9C350E9E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4565-5B13-4318-02F2-8C09D732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DD004-37E9-971F-97C0-CADF8112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9FE4DB9-0AA8-C5BE-8049-D30B90AD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04" y="-304"/>
            <a:ext cx="8674692" cy="1250265"/>
          </a:xfrm>
        </p:spPr>
        <p:txBody>
          <a:bodyPr/>
          <a:lstStyle/>
          <a:p>
            <a:r>
              <a:rPr lang="en-US" dirty="0" err="1"/>
              <a:t>Estructuras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Orientada</a:t>
            </a:r>
            <a:r>
              <a:rPr lang="en-US" dirty="0"/>
              <a:t> a </a:t>
            </a:r>
            <a:r>
              <a:rPr lang="en-US" dirty="0" err="1"/>
              <a:t>Objetos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12679-FE91-D8C4-9806-9BE52F3BAAA2}"/>
              </a:ext>
            </a:extLst>
          </p:cNvPr>
          <p:cNvSpPr txBox="1"/>
          <p:nvPr/>
        </p:nvSpPr>
        <p:spPr>
          <a:xfrm>
            <a:off x="371297" y="1419659"/>
            <a:ext cx="3960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ESTRUCTURAS BÁSICAS (if, while, for)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A2E1F-A1F6-4A32-D347-429F78E03D89}"/>
              </a:ext>
            </a:extLst>
          </p:cNvPr>
          <p:cNvSpPr txBox="1"/>
          <p:nvPr/>
        </p:nvSpPr>
        <p:spPr>
          <a:xfrm>
            <a:off x="179341" y="2332895"/>
            <a:ext cx="3256728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Estructura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condicional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(if)</a:t>
            </a:r>
          </a:p>
          <a:p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  <a:p>
            <a:endParaRPr lang="en-US" sz="3600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18</a:t>
            </a:r>
            <a:endParaRPr lang="en-US" sz="1400"/>
          </a:p>
          <a:p>
            <a:endParaRPr lang="en-US" sz="3600" dirty="0"/>
          </a:p>
          <a:p>
            <a:r>
              <a:rPr lang="en-US" sz="14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if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&gt;=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18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"Es mayor de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400"/>
          </a:p>
          <a:p>
            <a:r>
              <a:rPr lang="en-US" sz="14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else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"Es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menor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de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400"/>
          </a:p>
          <a:p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B2189-CB38-8686-54E6-EF578AD3BD88}"/>
              </a:ext>
            </a:extLst>
          </p:cNvPr>
          <p:cNvSpPr txBox="1"/>
          <p:nvPr/>
        </p:nvSpPr>
        <p:spPr>
          <a:xfrm>
            <a:off x="4053325" y="2443413"/>
            <a:ext cx="3256728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Ciclo while</a:t>
            </a:r>
            <a:endParaRPr lang="en-US"/>
          </a:p>
          <a:p>
            <a:endParaRPr lang="en-US" sz="3600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contador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</a:t>
            </a:r>
            <a:endParaRPr lang="en-US" sz="1400"/>
          </a:p>
          <a:p>
            <a:br>
              <a:rPr lang="en-US" dirty="0"/>
            </a:br>
            <a:endParaRPr lang="en-US" sz="3600"/>
          </a:p>
          <a:p>
            <a:r>
              <a:rPr lang="en-US" sz="14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while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contador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&lt;=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5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contador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40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contador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+=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</a:t>
            </a:r>
            <a:endParaRPr lang="en-US" sz="1400" dirty="0"/>
          </a:p>
          <a:p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7C71F-CC67-E8CA-ED6A-070E20BEE8A2}"/>
              </a:ext>
            </a:extLst>
          </p:cNvPr>
          <p:cNvSpPr txBox="1"/>
          <p:nvPr/>
        </p:nvSpPr>
        <p:spPr>
          <a:xfrm>
            <a:off x="7758621" y="2443412"/>
            <a:ext cx="325672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Ciclo for</a:t>
            </a:r>
            <a:endParaRPr lang="en-US"/>
          </a:p>
          <a:p>
            <a:endParaRPr lang="en-US" sz="7200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</a:rPr>
              <a:t>for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i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</a:rPr>
              <a:t>in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dirty="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range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</a:rPr>
              <a:t>1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, </a:t>
            </a:r>
            <a:r>
              <a:rPr lang="en-US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</a:rPr>
              <a:t>6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</a:p>
          <a:p>
            <a:endParaRPr lang="en-US" dirty="0">
              <a:solidFill>
                <a:srgbClr val="CCCCCC"/>
              </a:solidFill>
              <a:highlight>
                <a:srgbClr val="1F1F1F"/>
              </a:highlight>
              <a:latin typeface="Menlo"/>
            </a:endParaRPr>
          </a:p>
          <a:p>
            <a:r>
              <a:rPr lang="en-US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i</a:t>
            </a:r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endParaRPr lang="en-US"/>
          </a:p>
          <a:p>
            <a:endParaRPr lang="en-US" sz="1400" dirty="0">
              <a:solidFill>
                <a:srgbClr val="9CDCFE"/>
              </a:solidFill>
              <a:highlight>
                <a:srgbClr val="1F1F1F"/>
              </a:highlight>
              <a:latin typeface="Menlo"/>
            </a:endParaRPr>
          </a:p>
          <a:p>
            <a:endParaRPr lang="en-US" dirty="0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988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B856E-A729-E089-B10A-A4CC6B9A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F535C-4915-5928-A3F8-2D3C5E57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EA7E4-F871-28A0-B4A5-FA7B1883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06D13-7922-604A-DF2A-F660C0A7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CECC16-B9EB-EDCB-518D-B560886A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84" y="168383"/>
            <a:ext cx="6976189" cy="581334"/>
          </a:xfrm>
        </p:spPr>
        <p:txBody>
          <a:bodyPr/>
          <a:lstStyle/>
          <a:p>
            <a:r>
              <a:rPr lang="en-US" b="0"/>
              <a:t>EJERCICIO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9E9B2-F00D-4D7E-303A-F71B2BC96E58}"/>
              </a:ext>
            </a:extLst>
          </p:cNvPr>
          <p:cNvSpPr txBox="1"/>
          <p:nvPr/>
        </p:nvSpPr>
        <p:spPr>
          <a:xfrm>
            <a:off x="342213" y="977583"/>
            <a:ext cx="509483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Crear un </a:t>
            </a:r>
            <a:r>
              <a:rPr lang="en-US" dirty="0" err="1">
                <a:ea typeface="+mn-lt"/>
                <a:cs typeface="+mn-lt"/>
              </a:rPr>
              <a:t>programa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Pida 5 </a:t>
            </a:r>
            <a:r>
              <a:rPr lang="en-US" dirty="0" err="1">
                <a:ea typeface="+mn-lt"/>
                <a:cs typeface="+mn-lt"/>
              </a:rPr>
              <a:t>números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Muestre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cuántos</a:t>
            </a:r>
            <a:r>
              <a:rPr lang="en-US" dirty="0">
                <a:ea typeface="+mn-lt"/>
                <a:cs typeface="+mn-lt"/>
              </a:rPr>
              <a:t> son </a:t>
            </a:r>
            <a:r>
              <a:rPr lang="en-US" dirty="0" err="1">
                <a:ea typeface="+mn-lt"/>
                <a:cs typeface="+mn-lt"/>
              </a:rPr>
              <a:t>positivos</a:t>
            </a:r>
            <a:endParaRPr lang="en-US" dirty="0" err="1"/>
          </a:p>
          <a:p>
            <a:endParaRPr lang="en-US" b="1" dirty="0"/>
          </a:p>
          <a:p>
            <a:endParaRPr lang="en-US" dirty="0">
              <a:solidFill>
                <a:srgbClr val="4EC9B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465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F89D5-00EF-F917-D449-CAB5B8BB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FA286-E813-F494-4E36-23A3EF0EA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4416B-F230-A787-9029-686C533F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F6D7-1E6D-95AE-DB7B-6C2C6748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23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1E7159-EC64-D28C-1080-E2EB0B69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17" y="209100"/>
            <a:ext cx="407942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CLASES Y OBJETOS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C9ED7A-D420-4092-8C97-FE902268928C}"/>
              </a:ext>
            </a:extLst>
          </p:cNvPr>
          <p:cNvSpPr txBox="1"/>
          <p:nvPr/>
        </p:nvSpPr>
        <p:spPr>
          <a:xfrm>
            <a:off x="441099" y="1082285"/>
            <a:ext cx="3960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Clase con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lógica</a:t>
            </a:r>
            <a:endParaRPr lang="en-US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88BE93-28B3-E121-4B12-E40EBFC93A2B}"/>
              </a:ext>
            </a:extLst>
          </p:cNvPr>
          <p:cNvSpPr txBox="1"/>
          <p:nvPr/>
        </p:nvSpPr>
        <p:spPr>
          <a:xfrm>
            <a:off x="179341" y="1757033"/>
            <a:ext cx="5432208" cy="4497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class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Persona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__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init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__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endParaRPr lang="en-US" sz="1200" dirty="0"/>
          </a:p>
          <a:p>
            <a:endParaRPr lang="en-US" sz="3200" dirty="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es_mayor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    if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&gt;=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18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      return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True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    else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 dirty="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      return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False</a:t>
            </a:r>
            <a:endParaRPr lang="en-US" sz="1200"/>
          </a:p>
          <a:p>
            <a:endParaRPr lang="en-US" sz="3200" dirty="0"/>
          </a:p>
          <a:p>
            <a:r>
              <a:rPr lang="en-US" sz="12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p1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Persona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"Ana"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20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/>
          </a:p>
          <a:p>
            <a:endParaRPr lang="en-US" sz="3200" dirty="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if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p1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es_mayor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():</a:t>
            </a:r>
            <a:endParaRPr lang="en-US" sz="120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"Mayor de 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else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"Menor de 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 dirty="0"/>
          </a:p>
          <a:p>
            <a:endParaRPr lang="en-US" sz="2000" dirty="0">
              <a:solidFill>
                <a:srgbClr val="FF0000"/>
              </a:solidFill>
              <a:latin typeface="Trade Gothic Next Light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F23E0-3072-C09F-6225-03A958B0CEBF}"/>
              </a:ext>
            </a:extLst>
          </p:cNvPr>
          <p:cNvSpPr txBox="1"/>
          <p:nvPr/>
        </p:nvSpPr>
        <p:spPr>
          <a:xfrm>
            <a:off x="5613206" y="1189534"/>
            <a:ext cx="3024733" cy="1202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Los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b="1" dirty="0" err="1"/>
              <a:t>lógica</a:t>
            </a:r>
            <a:r>
              <a:rPr lang="en-US" b="1" dirty="0"/>
              <a:t> interna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if y </a:t>
            </a:r>
            <a:r>
              <a:rPr lang="en-US"/>
              <a:t>ciclos.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16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3510-A07C-625F-0638-806A2B6C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5A023-F3F3-95C8-0610-A05A673F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C25F8-915D-42CD-28AF-A7E3E726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0C105-C232-A383-ED8E-D5CBE334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24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FD70500-9135-8CEE-491C-19830EDD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17" y="209100"/>
            <a:ext cx="407942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CLASES Y OBJETOS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0E6E7C-69F7-16E5-80D4-6E42B87CDFF1}"/>
              </a:ext>
            </a:extLst>
          </p:cNvPr>
          <p:cNvSpPr txBox="1"/>
          <p:nvPr/>
        </p:nvSpPr>
        <p:spPr>
          <a:xfrm>
            <a:off x="441099" y="1082285"/>
            <a:ext cx="3960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Clase con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lógica</a:t>
            </a:r>
            <a:endParaRPr lang="en-US" dirty="0" err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28280-5908-D95C-D827-948FC5D8659D}"/>
              </a:ext>
            </a:extLst>
          </p:cNvPr>
          <p:cNvSpPr txBox="1"/>
          <p:nvPr/>
        </p:nvSpPr>
        <p:spPr>
          <a:xfrm>
            <a:off x="179341" y="1757033"/>
            <a:ext cx="5432208" cy="4497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class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Persona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__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init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__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nombre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endParaRPr lang="en-US" sz="1200" dirty="0"/>
          </a:p>
          <a:p>
            <a:endParaRPr lang="en-US" sz="3200" dirty="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es_mayor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    if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&gt;=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18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      return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True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    else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 dirty="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      return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False</a:t>
            </a:r>
            <a:endParaRPr lang="en-US" sz="1200"/>
          </a:p>
          <a:p>
            <a:endParaRPr lang="en-US" sz="3200" dirty="0"/>
          </a:p>
          <a:p>
            <a:r>
              <a:rPr lang="en-US" sz="12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p1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Persona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"Ana"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, </a:t>
            </a:r>
            <a:r>
              <a:rPr lang="en-US" sz="120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20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/>
          </a:p>
          <a:p>
            <a:endParaRPr lang="en-US" sz="3200" dirty="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if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p1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.</a:t>
            </a:r>
            <a:r>
              <a:rPr lang="en-US" sz="12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es_mayor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():</a:t>
            </a:r>
            <a:endParaRPr lang="en-US" sz="120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"Mayor de 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else</a:t>
            </a:r>
            <a:r>
              <a:rPr lang="en-US" sz="12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"Menor de 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edad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)</a:t>
            </a:r>
            <a:endParaRPr lang="en-US" sz="1200" dirty="0"/>
          </a:p>
          <a:p>
            <a:endParaRPr lang="en-US" sz="2000" dirty="0">
              <a:solidFill>
                <a:srgbClr val="FF0000"/>
              </a:solidFill>
              <a:latin typeface="Trade Gothic Next Light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BAD55C-0D2C-4B0B-A82E-8F21187879D2}"/>
              </a:ext>
            </a:extLst>
          </p:cNvPr>
          <p:cNvSpPr txBox="1"/>
          <p:nvPr/>
        </p:nvSpPr>
        <p:spPr>
          <a:xfrm>
            <a:off x="5613206" y="1189534"/>
            <a:ext cx="3024733" cy="1202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Los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b="1" dirty="0" err="1"/>
              <a:t>lógica</a:t>
            </a:r>
            <a:r>
              <a:rPr lang="en-US" b="1" dirty="0"/>
              <a:t> interna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if y </a:t>
            </a:r>
            <a:r>
              <a:rPr lang="en-US"/>
              <a:t>ciclos.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3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265C-A4C4-BC79-DACA-4EE8B8A3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9D06-A406-9420-0EBA-72A0C21E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9E8A2-3848-1F27-6C96-43DFF030C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C4AA6-B633-0EF8-430D-16FF38D2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25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A58DED9-6EE7-7971-92B6-C10CBB20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17" y="209100"/>
            <a:ext cx="407942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CLASES Y OBJETOS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A1604-1039-62B5-B61B-25B8322E26CA}"/>
              </a:ext>
            </a:extLst>
          </p:cNvPr>
          <p:cNvSpPr txBox="1"/>
          <p:nvPr/>
        </p:nvSpPr>
        <p:spPr>
          <a:xfrm>
            <a:off x="179343" y="1192804"/>
            <a:ext cx="39605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¿QUÉ ES UNA CLASE?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437EFB-E91B-1F33-913C-A2CDB45700E7}"/>
              </a:ext>
            </a:extLst>
          </p:cNvPr>
          <p:cNvSpPr txBox="1"/>
          <p:nvPr/>
        </p:nvSpPr>
        <p:spPr>
          <a:xfrm>
            <a:off x="6199723" y="1693048"/>
            <a:ext cx="258779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endParaRPr lang="en-US"/>
          </a:p>
          <a:p>
            <a:r>
              <a:rPr lang="en-US" sz="24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class</a:t>
            </a:r>
            <a:r>
              <a:rPr lang="en-US" sz="2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 </a:t>
            </a:r>
            <a:r>
              <a:rPr lang="en-US" sz="2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Carro</a:t>
            </a:r>
            <a:r>
              <a:rPr lang="en-US" sz="2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:</a:t>
            </a:r>
            <a:endParaRPr lang="en-US" sz="2400">
              <a:solidFill>
                <a:srgbClr val="CCCCCC"/>
              </a:solidFill>
              <a:highlight>
                <a:srgbClr val="1F1F1F"/>
              </a:highlight>
              <a:latin typeface="Menlo"/>
            </a:endParaRPr>
          </a:p>
          <a:p>
            <a:endParaRPr lang="en-US" sz="2400" dirty="0">
              <a:solidFill>
                <a:srgbClr val="CCCCCC"/>
              </a:solidFill>
              <a:highlight>
                <a:srgbClr val="1F1F1F"/>
              </a:highlight>
              <a:latin typeface="Menlo"/>
              <a:ea typeface="+mn-lt"/>
              <a:cs typeface="+mn-lt"/>
            </a:endParaRPr>
          </a:p>
          <a:p>
            <a:r>
              <a:rPr lang="en-US" sz="24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+mn-lt"/>
                <a:cs typeface="+mn-lt"/>
              </a:rPr>
              <a:t>pass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9FD58-F3EE-48E9-1D5E-DE89D130E87A}"/>
              </a:ext>
            </a:extLst>
          </p:cNvPr>
          <p:cNvSpPr txBox="1"/>
          <p:nvPr/>
        </p:nvSpPr>
        <p:spPr>
          <a:xfrm>
            <a:off x="500244" y="1713046"/>
            <a:ext cx="4583633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Una </a:t>
            </a:r>
            <a:r>
              <a:rPr lang="en-US" b="1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es un </a:t>
            </a:r>
            <a:r>
              <a:rPr lang="en-US" dirty="0" err="1">
                <a:ea typeface="+mn-lt"/>
                <a:cs typeface="+mn-lt"/>
              </a:rPr>
              <a:t>molde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plantilla</a:t>
            </a:r>
            <a:r>
              <a:rPr lang="en-US" dirty="0">
                <a:ea typeface="+mn-lt"/>
                <a:cs typeface="+mn-lt"/>
              </a:rPr>
              <a:t> para </a:t>
            </a:r>
            <a:r>
              <a:rPr lang="en-US" dirty="0" err="1">
                <a:ea typeface="+mn-lt"/>
                <a:cs typeface="+mn-lt"/>
              </a:rPr>
              <a:t>crear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objetos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Clase: </a:t>
            </a:r>
            <a:r>
              <a:rPr lang="en-US" b="1">
                <a:ea typeface="+mn-lt"/>
                <a:cs typeface="+mn-lt"/>
              </a:rPr>
              <a:t>Carro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Objetos</a:t>
            </a:r>
            <a:r>
              <a:rPr lang="en-US" dirty="0">
                <a:ea typeface="+mn-lt"/>
                <a:cs typeface="+mn-lt"/>
              </a:rPr>
              <a:t>: Mazda, Toyota, Renault</a:t>
            </a:r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EF6E0-A60D-BFD0-E6ED-8D2AE1BD8F65}"/>
              </a:ext>
            </a:extLst>
          </p:cNvPr>
          <p:cNvSpPr txBox="1"/>
          <p:nvPr/>
        </p:nvSpPr>
        <p:spPr>
          <a:xfrm>
            <a:off x="6061098" y="3853626"/>
            <a:ext cx="456618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class → palabra clave para crear clases </a:t>
            </a:r>
          </a:p>
          <a:p>
            <a:pPr>
              <a:buFont typeface=""/>
              <a:buChar char="•"/>
            </a:pPr>
            <a:r>
              <a:rPr lang="en-US"/>
              <a:t>Carro → nombre de la clase </a:t>
            </a:r>
          </a:p>
          <a:p>
            <a:pPr>
              <a:buFont typeface=""/>
              <a:buChar char="•"/>
            </a:pPr>
            <a:r>
              <a:rPr lang="en-US"/>
              <a:t>pass → clase vacía (aún no hace nada)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99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677A-1F09-54C3-BB7F-FC43177E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9E267-05AA-59D8-A43A-12D390D5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DD152-D800-D801-BD9B-1F1CA56C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2BA0B-D317-7FDD-687A-1B671DB11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121DC7E-574C-9F05-D517-E63384F1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16" y="511573"/>
            <a:ext cx="6638815" cy="680220"/>
          </a:xfrm>
        </p:spPr>
        <p:txBody>
          <a:bodyPr/>
          <a:lstStyle/>
          <a:p>
            <a:r>
              <a:rPr lang="en-US"/>
              <a:t>ATRIBUTOS Y MÉTODOS</a:t>
            </a:r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B0A7BB-D04C-E862-38A2-0CCD20385E03}"/>
              </a:ext>
            </a:extLst>
          </p:cNvPr>
          <p:cNvSpPr txBox="1"/>
          <p:nvPr/>
        </p:nvSpPr>
        <p:spPr>
          <a:xfrm>
            <a:off x="179343" y="1192804"/>
            <a:ext cx="39605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Los </a:t>
            </a:r>
            <a:r>
              <a:rPr lang="en-US" dirty="0" err="1">
                <a:ea typeface="+mn-lt"/>
                <a:cs typeface="+mn-lt"/>
              </a:rPr>
              <a:t>atributos</a:t>
            </a:r>
            <a:r>
              <a:rPr lang="en-US" dirty="0">
                <a:ea typeface="+mn-lt"/>
                <a:cs typeface="+mn-lt"/>
              </a:rPr>
              <a:t> Son las </a:t>
            </a:r>
            <a:r>
              <a:rPr lang="en-US" b="1" dirty="0" err="1">
                <a:ea typeface="+mn-lt"/>
                <a:cs typeface="+mn-lt"/>
              </a:rPr>
              <a:t>propiedades</a:t>
            </a:r>
            <a:r>
              <a:rPr lang="en-US" dirty="0">
                <a:ea typeface="+mn-lt"/>
                <a:cs typeface="+mn-lt"/>
              </a:rPr>
              <a:t> de un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667622-6942-5CF2-EBE8-86E7119543E9}"/>
              </a:ext>
            </a:extLst>
          </p:cNvPr>
          <p:cNvSpPr txBox="1"/>
          <p:nvPr/>
        </p:nvSpPr>
        <p:spPr>
          <a:xfrm>
            <a:off x="197771" y="2219107"/>
            <a:ext cx="458363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métodos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retornan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valores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modifican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atributos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solo </a:t>
            </a:r>
            <a:r>
              <a:rPr lang="en-US" b="1" dirty="0" err="1">
                <a:ea typeface="+mn-lt"/>
                <a:cs typeface="+mn-lt"/>
              </a:rPr>
              <a:t>imprimen</a:t>
            </a:r>
            <a:endParaRPr lang="en-US" dirty="0" err="1"/>
          </a:p>
          <a:p>
            <a:pPr algn="ctr"/>
            <a:endParaRPr lang="en-US">
              <a:ea typeface="+mn-lt"/>
              <a:cs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6751E-1EBF-2A15-CC1A-A3926C55B064}"/>
              </a:ext>
            </a:extLst>
          </p:cNvPr>
          <p:cNvSpPr txBox="1"/>
          <p:nvPr/>
        </p:nvSpPr>
        <p:spPr>
          <a:xfrm>
            <a:off x="5275832" y="939412"/>
            <a:ext cx="609600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4EC9B0"/>
                </a:solidFill>
                <a:latin typeface="Menlo"/>
                <a:ea typeface="Menlo"/>
                <a:cs typeface="Menlo"/>
              </a:rPr>
              <a:t>Contador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valor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0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incrementar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     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valor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+=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1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   def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     print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valor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dirty="0">
                <a:latin typeface="Menlo"/>
                <a:ea typeface="Menlo"/>
                <a:cs typeface="Menlo"/>
              </a:rPr>
            </a:br>
            <a:br>
              <a:rPr lang="en-US" dirty="0">
                <a:latin typeface="Menlo"/>
                <a:ea typeface="Menlo"/>
                <a:cs typeface="Menlo"/>
              </a:rPr>
            </a:br>
            <a:r>
              <a:rPr lang="en-US">
                <a:solidFill>
                  <a:srgbClr val="9CDCFE"/>
                </a:solidFill>
                <a:latin typeface="Menlo"/>
                <a:ea typeface="Menlo"/>
                <a:cs typeface="Menlo"/>
              </a:rPr>
              <a:t>c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>
                <a:solidFill>
                  <a:srgbClr val="4EC9B0"/>
                </a:solidFill>
                <a:latin typeface="Menlo"/>
                <a:ea typeface="Menlo"/>
                <a:cs typeface="Menlo"/>
              </a:rPr>
              <a:t>Contador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incrementar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incrementar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r>
              <a:rPr lang="en-US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</a:t>
            </a:r>
            <a:r>
              <a:rPr lang="en-US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r>
              <a:rPr lang="en-US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460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7CDB-69DC-178C-4A67-8EB651104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7BB3B-AD10-FAE4-878B-3E800AEC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FD759-C632-6B48-5651-6F77193EB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A0EC8-B9EC-83C0-461F-D141C466F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54F3B61-06D5-24F4-56F6-0ADD2CF3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/>
              <a:t>ATRIBUTOS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14A09-8948-FACD-629A-475F9FB637EE}"/>
              </a:ext>
            </a:extLst>
          </p:cNvPr>
          <p:cNvSpPr txBox="1"/>
          <p:nvPr/>
        </p:nvSpPr>
        <p:spPr>
          <a:xfrm>
            <a:off x="179343" y="1192804"/>
            <a:ext cx="39605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Los </a:t>
            </a:r>
            <a:r>
              <a:rPr lang="en-US" dirty="0" err="1">
                <a:ea typeface="+mn-lt"/>
                <a:cs typeface="+mn-lt"/>
              </a:rPr>
              <a:t>atributos</a:t>
            </a:r>
            <a:r>
              <a:rPr lang="en-US" dirty="0">
                <a:ea typeface="+mn-lt"/>
                <a:cs typeface="+mn-lt"/>
              </a:rPr>
              <a:t> Son las </a:t>
            </a:r>
            <a:r>
              <a:rPr lang="en-US" b="1" dirty="0" err="1">
                <a:ea typeface="+mn-lt"/>
                <a:cs typeface="+mn-lt"/>
              </a:rPr>
              <a:t>propiedades</a:t>
            </a:r>
            <a:r>
              <a:rPr lang="en-US" dirty="0">
                <a:ea typeface="+mn-lt"/>
                <a:cs typeface="+mn-lt"/>
              </a:rPr>
              <a:t> de un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B2F31-6A7A-0BA5-9531-464E20704F17}"/>
              </a:ext>
            </a:extLst>
          </p:cNvPr>
          <p:cNvSpPr txBox="1"/>
          <p:nvPr/>
        </p:nvSpPr>
        <p:spPr>
          <a:xfrm>
            <a:off x="354824" y="2137672"/>
            <a:ext cx="5142045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endParaRPr lang="en-US"/>
          </a:p>
          <a:p>
            <a:r>
              <a:rPr lang="en-US" sz="16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color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endParaRPr lang="en-US" sz="1600"/>
          </a:p>
          <a:p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color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color</a:t>
            </a:r>
            <a:br>
              <a:rPr lang="en-US" sz="4000" dirty="0"/>
            </a:br>
            <a:endParaRPr lang="en-US" sz="4000" dirty="0"/>
          </a:p>
          <a:p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carro1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"Toyota"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"Rojo"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600"/>
          </a:p>
          <a:p>
            <a:endParaRPr lang="en-US" sz="4000" dirty="0"/>
          </a:p>
          <a:p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carro1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carro1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color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/>
          </a:p>
          <a:p>
            <a:endParaRPr lang="en-US" dirty="0">
              <a:solidFill>
                <a:srgbClr val="CCCCC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8BBD3-6E37-70DC-3046-B692AFB70429}"/>
              </a:ext>
            </a:extLst>
          </p:cNvPr>
          <p:cNvSpPr txBox="1"/>
          <p:nvPr/>
        </p:nvSpPr>
        <p:spPr>
          <a:xfrm>
            <a:off x="5287466" y="4993718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 → constructor, se </a:t>
            </a:r>
            <a:r>
              <a:rPr lang="en-US" dirty="0" err="1"/>
              <a:t>ejecuta</a:t>
            </a:r>
            <a:r>
              <a:rPr lang="en-US" dirty="0"/>
              <a:t> al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.</a:t>
            </a:r>
          </a:p>
          <a:p>
            <a:pPr>
              <a:buFont typeface=""/>
              <a:buChar char="•"/>
            </a:pPr>
            <a:r>
              <a:rPr lang="en-US" dirty="0"/>
              <a:t>self →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 actual </a:t>
            </a:r>
          </a:p>
          <a:p>
            <a:pPr>
              <a:buFont typeface=""/>
              <a:buChar char="•"/>
            </a:pPr>
            <a:r>
              <a:rPr lang="en-US" dirty="0" err="1"/>
              <a:t>marca</a:t>
            </a:r>
            <a:r>
              <a:rPr lang="en-US" dirty="0"/>
              <a:t>, color → </a:t>
            </a:r>
            <a:r>
              <a:rPr lang="en-US" dirty="0" err="1"/>
              <a:t>atributos</a:t>
            </a:r>
          </a:p>
          <a:p>
            <a:pPr>
              <a:buFont typeface=""/>
              <a:buChar char="•"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El </a:t>
            </a:r>
            <a:r>
              <a:rPr lang="en-US" dirty="0" err="1">
                <a:ea typeface="+mn-lt"/>
                <a:cs typeface="+mn-lt"/>
              </a:rPr>
              <a:t>carro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características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marca</a:t>
            </a:r>
            <a:r>
              <a:rPr lang="en-US" dirty="0">
                <a:ea typeface="+mn-lt"/>
                <a:cs typeface="+mn-lt"/>
              </a:rPr>
              <a:t> y color → </a:t>
            </a:r>
            <a:r>
              <a:rPr lang="en-US" dirty="0" err="1">
                <a:ea typeface="+mn-lt"/>
                <a:cs typeface="+mn-lt"/>
              </a:rPr>
              <a:t>eso</a:t>
            </a:r>
            <a:r>
              <a:rPr lang="en-US" dirty="0">
                <a:ea typeface="+mn-lt"/>
                <a:cs typeface="+mn-lt"/>
              </a:rPr>
              <a:t> son </a:t>
            </a:r>
            <a:r>
              <a:rPr lang="en-US" dirty="0" err="1">
                <a:ea typeface="+mn-lt"/>
                <a:cs typeface="+mn-lt"/>
              </a:rPr>
              <a:t>atributos</a:t>
            </a:r>
            <a:endParaRPr lang="en-US" dirty="0" err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28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C8EE-009F-5CF6-A661-827F0403D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C963-7567-8C1F-FC73-CC28B2BC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40FC6-2C44-28ED-C98F-4147E58E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AE2C2-5B14-C838-F440-27C1A231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B83984A-C793-6232-B4A1-B7090703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MÉTODOS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4EB6AA-41DB-2BEF-CBA9-672F606280F8}"/>
              </a:ext>
            </a:extLst>
          </p:cNvPr>
          <p:cNvSpPr txBox="1"/>
          <p:nvPr/>
        </p:nvSpPr>
        <p:spPr>
          <a:xfrm>
            <a:off x="196793" y="797262"/>
            <a:ext cx="58742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Son las </a:t>
            </a:r>
            <a:r>
              <a:rPr lang="en-US" b="1" dirty="0" err="1">
                <a:ea typeface="+mn-lt"/>
                <a:cs typeface="+mn-lt"/>
              </a:rPr>
              <a:t>acciones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realizar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97938-8104-ADE4-1016-A48574DB089F}"/>
              </a:ext>
            </a:extLst>
          </p:cNvPr>
          <p:cNvSpPr txBox="1"/>
          <p:nvPr/>
        </p:nvSpPr>
        <p:spPr>
          <a:xfrm>
            <a:off x="197771" y="1492008"/>
            <a:ext cx="5142045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endParaRPr lang="en-US" sz="1400"/>
          </a:p>
          <a:p>
            <a:endParaRPr lang="en-US" sz="36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encender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 err="1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f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"El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marca</a:t>
            </a:r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está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encendido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c1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Carro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"Mazda"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encender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endParaRPr lang="en-US" dirty="0"/>
          </a:p>
          <a:p>
            <a:endParaRPr lang="en-US" dirty="0">
              <a:solidFill>
                <a:srgbClr val="CCCCC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36DE1-F09A-9BBD-790D-1CAB444519F4}"/>
              </a:ext>
            </a:extLst>
          </p:cNvPr>
          <p:cNvSpPr txBox="1"/>
          <p:nvPr/>
        </p:nvSpPr>
        <p:spPr>
          <a:xfrm>
            <a:off x="366458" y="5127504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>
                <a:latin typeface="Consolas"/>
              </a:rPr>
              <a:t>encender</a:t>
            </a:r>
            <a:r>
              <a:rPr lang="en-US" dirty="0">
                <a:latin typeface="Consolas"/>
                <a:ea typeface="+mn-lt"/>
                <a:cs typeface="+mn-lt"/>
              </a:rPr>
              <a:t>()</a:t>
            </a:r>
            <a:r>
              <a:rPr lang="en-US" dirty="0">
                <a:ea typeface="+mn-lt"/>
                <a:cs typeface="+mn-lt"/>
              </a:rPr>
              <a:t> es un </a:t>
            </a: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Usa </a:t>
            </a:r>
            <a:r>
              <a:rPr lang="en-US" dirty="0" err="1">
                <a:ea typeface="+mn-lt"/>
                <a:cs typeface="+mn-lt"/>
              </a:rPr>
              <a:t>información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objeto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latin typeface="Consolas"/>
              </a:rPr>
              <a:t>self.marca</a:t>
            </a:r>
            <a:r>
              <a:rPr lang="en-US" dirty="0">
                <a:ea typeface="+mn-lt"/>
                <a:cs typeface="+mn-lt"/>
              </a:rPr>
              <a:t>) </a:t>
            </a:r>
            <a:endParaRPr lang="en-US" dirty="0"/>
          </a:p>
          <a:p>
            <a:pPr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29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71949-DB39-E637-1FFF-C5F39FD4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8A82D-01CB-3331-5D4D-45069BEA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85400-854C-20F0-20D5-4E876B4F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D9086-62DE-BA2C-E15C-1ED77958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8EEEBB8-99BA-DE8A-3D49-F87D7FB5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CLASE COMPLETA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E5CAF-44C9-BB7E-204D-D220197AE800}"/>
              </a:ext>
            </a:extLst>
          </p:cNvPr>
          <p:cNvSpPr txBox="1"/>
          <p:nvPr/>
        </p:nvSpPr>
        <p:spPr>
          <a:xfrm>
            <a:off x="197771" y="793992"/>
            <a:ext cx="5142045" cy="6524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CuentaBancaria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titular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titular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titular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br>
              <a:rPr lang="en-US" sz="3200" dirty="0"/>
            </a:br>
            <a:endParaRPr lang="en-US" sz="3200" dirty="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depositar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monto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+=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monto</a:t>
            </a:r>
            <a:endParaRPr lang="en-US" sz="1200"/>
          </a:p>
          <a:p>
            <a:endParaRPr lang="en-US" sz="3200" dirty="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retirar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monto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    if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monto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&lt;=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200"/>
          </a:p>
          <a:p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      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-=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monto</a:t>
            </a:r>
            <a:endParaRPr lang="en-US" sz="1200" dirty="0"/>
          </a:p>
          <a:p>
            <a:r>
              <a:rPr lang="en-US" sz="12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    else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200" dirty="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Fondos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insuficientes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200"/>
          </a:p>
          <a:p>
            <a:endParaRPr lang="en-US" sz="3200" dirty="0"/>
          </a:p>
          <a:p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  def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mostrar_saldo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2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200"/>
          </a:p>
          <a:p>
            <a:r>
              <a:rPr lang="en-US" sz="12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    print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200" dirty="0" err="1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f</a:t>
            </a:r>
            <a:r>
              <a:rPr lang="en-US" sz="12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"Saldo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: </a:t>
            </a:r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saldo</a:t>
            </a:r>
            <a:r>
              <a:rPr lang="en-US" sz="12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200" dirty="0"/>
            </a:br>
            <a:endParaRPr lang="en-US" sz="3200" dirty="0"/>
          </a:p>
          <a:p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2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CuentaBancaria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"Andrés"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2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1000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200" dirty="0"/>
            </a:br>
            <a:endParaRPr lang="en-US" sz="3200" dirty="0"/>
          </a:p>
          <a:p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depositar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500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200"/>
          </a:p>
          <a:p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retirar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2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200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200"/>
          </a:p>
          <a:p>
            <a:r>
              <a:rPr lang="en-US" sz="12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cuenta</a:t>
            </a:r>
            <a:r>
              <a:rPr lang="en-US" sz="12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2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mostrar_saldo</a:t>
            </a:r>
            <a:r>
              <a:rPr lang="en-US" sz="12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200"/>
          </a:p>
          <a:p>
            <a:endParaRPr lang="en-US" dirty="0"/>
          </a:p>
          <a:p>
            <a:endParaRPr lang="en-US" dirty="0">
              <a:solidFill>
                <a:srgbClr val="CCCCC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28347-BDDA-CB35-1876-7CC079F03D0F}"/>
              </a:ext>
            </a:extLst>
          </p:cNvPr>
          <p:cNvSpPr txBox="1"/>
          <p:nvPr/>
        </p:nvSpPr>
        <p:spPr>
          <a:xfrm>
            <a:off x="4572000" y="5656832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atributos → titular, saldo </a:t>
            </a:r>
          </a:p>
          <a:p>
            <a:pPr>
              <a:buFont typeface=""/>
              <a:buChar char="•"/>
            </a:pPr>
            <a:r>
              <a:rPr lang="en-US"/>
              <a:t>métodos → acciones del banco </a:t>
            </a:r>
          </a:p>
          <a:p>
            <a:pPr>
              <a:buFont typeface=""/>
              <a:buChar char="•"/>
            </a:pPr>
            <a:r>
              <a:rPr lang="en-US"/>
              <a:t>lógica → validaciones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52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8BD2-B5F0-09D0-B8C3-BEA5E04CC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A56B2-1BEC-2EB2-8BFF-06CC40A9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DC2EF-CA85-26E6-9239-4A99E2F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9ED40-519D-C628-571C-5CE85017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682BAD9-5328-4B99-8436-93F9867AB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/>
              <a:t>Actividad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clase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4BDF1-1DB9-F01D-626C-87CFEF6864B1}"/>
              </a:ext>
            </a:extLst>
          </p:cNvPr>
          <p:cNvSpPr txBox="1"/>
          <p:nvPr/>
        </p:nvSpPr>
        <p:spPr>
          <a:xfrm>
            <a:off x="290840" y="1113916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/>
              <a:t>Ejercicio</a:t>
            </a:r>
            <a:r>
              <a:rPr lang="en-US" dirty="0"/>
              <a:t> 1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Crear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Estudiante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</a:t>
            </a:r>
            <a:r>
              <a:rPr lang="en-US" dirty="0" err="1">
                <a:ea typeface="+mn-lt"/>
                <a:cs typeface="+mn-lt"/>
              </a:rPr>
              <a:t>nombre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  nota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</a:t>
            </a:r>
            <a:r>
              <a:rPr lang="en-US" dirty="0" err="1">
                <a:ea typeface="+mn-lt"/>
                <a:cs typeface="+mn-lt"/>
              </a:rPr>
              <a:t>aprobar</a:t>
            </a:r>
            <a:r>
              <a:rPr lang="en-US" dirty="0">
                <a:ea typeface="+mn-lt"/>
                <a:cs typeface="+mn-lt"/>
              </a:rPr>
              <a:t>() → </a:t>
            </a:r>
            <a:r>
              <a:rPr lang="en-US" dirty="0" err="1">
                <a:ea typeface="+mn-lt"/>
                <a:cs typeface="+mn-lt"/>
              </a:rPr>
              <a:t>si</a:t>
            </a:r>
            <a:r>
              <a:rPr lang="en-US" dirty="0">
                <a:ea typeface="+mn-lt"/>
                <a:cs typeface="+mn-lt"/>
              </a:rPr>
              <a:t> nota &gt;= 3</a:t>
            </a:r>
            <a:endParaRPr lang="en-US"/>
          </a:p>
          <a:p>
            <a:pPr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392378-6A21-D916-F45B-81F1F4A5EA56}"/>
              </a:ext>
            </a:extLst>
          </p:cNvPr>
          <p:cNvSpPr txBox="1"/>
          <p:nvPr/>
        </p:nvSpPr>
        <p:spPr>
          <a:xfrm>
            <a:off x="290840" y="4057214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Ejercicio</a:t>
            </a:r>
            <a:r>
              <a:rPr lang="en-US" b="1" dirty="0"/>
              <a:t> 2 </a:t>
            </a:r>
          </a:p>
          <a:p>
            <a:endParaRPr lang="en-US" b="1" dirty="0"/>
          </a:p>
          <a:p>
            <a:r>
              <a:rPr lang="en-US" dirty="0"/>
              <a:t>Crear </a:t>
            </a:r>
            <a:r>
              <a:rPr lang="en-US" dirty="0" err="1"/>
              <a:t>clase</a:t>
            </a:r>
            <a:r>
              <a:rPr lang="en-US" dirty="0"/>
              <a:t> Contador:</a:t>
            </a:r>
          </a:p>
          <a:p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atributo</a:t>
            </a:r>
            <a:r>
              <a:rPr lang="en-US" dirty="0"/>
              <a:t> valor </a:t>
            </a:r>
          </a:p>
          <a:p>
            <a:pPr>
              <a:buFont typeface=""/>
              <a:buChar char="•"/>
            </a:pP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incrementar</a:t>
            </a:r>
            <a:r>
              <a:rPr lang="en-US" dirty="0"/>
              <a:t>() </a:t>
            </a:r>
          </a:p>
          <a:p>
            <a:pPr>
              <a:buFont typeface=""/>
              <a:buChar char="•"/>
            </a:pP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disminuir</a:t>
            </a:r>
            <a:r>
              <a:rPr lang="en-US" dirty="0"/>
              <a:t>()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21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E0193-CCA2-50CE-96F0-2D0E3BA27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D0423-2180-6ED3-09BF-F89BD1D1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56B2E-B788-ECCF-4616-86A6C956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88D-3A16-3289-4196-DF5BFBD6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C9E9F20-323B-50B5-9573-C86B499C7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05" y="-221343"/>
            <a:ext cx="6638815" cy="680220"/>
          </a:xfrm>
        </p:spPr>
        <p:txBody>
          <a:bodyPr/>
          <a:lstStyle/>
          <a:p>
            <a:r>
              <a:rPr lang="en-US" b="0" dirty="0" err="1"/>
              <a:t>Actividad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clase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6396C-0BE7-00A2-B39D-920B768C98EA}"/>
              </a:ext>
            </a:extLst>
          </p:cNvPr>
          <p:cNvSpPr txBox="1"/>
          <p:nvPr/>
        </p:nvSpPr>
        <p:spPr>
          <a:xfrm>
            <a:off x="40718" y="1486190"/>
            <a:ext cx="327485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 err="1"/>
              <a:t>Ejercicio</a:t>
            </a:r>
            <a:r>
              <a:rPr lang="en-US" dirty="0"/>
              <a:t> 1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Crear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Estudiante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</a:t>
            </a:r>
            <a:r>
              <a:rPr lang="en-US" dirty="0" err="1">
                <a:ea typeface="+mn-lt"/>
                <a:cs typeface="+mn-lt"/>
              </a:rPr>
              <a:t>nombre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  nota 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  </a:t>
            </a:r>
            <a:r>
              <a:rPr lang="en-US" dirty="0" err="1">
                <a:ea typeface="+mn-lt"/>
                <a:cs typeface="+mn-lt"/>
              </a:rPr>
              <a:t>aprobar</a:t>
            </a:r>
            <a:r>
              <a:rPr lang="en-US" dirty="0">
                <a:ea typeface="+mn-lt"/>
                <a:cs typeface="+mn-lt"/>
              </a:rPr>
              <a:t>() → </a:t>
            </a:r>
            <a:r>
              <a:rPr lang="en-US" dirty="0" err="1">
                <a:ea typeface="+mn-lt"/>
                <a:cs typeface="+mn-lt"/>
              </a:rPr>
              <a:t>si</a:t>
            </a:r>
            <a:r>
              <a:rPr lang="en-US" dirty="0">
                <a:ea typeface="+mn-lt"/>
                <a:cs typeface="+mn-lt"/>
              </a:rPr>
              <a:t> nota &gt;= 3</a:t>
            </a:r>
            <a:endParaRPr lang="en-US"/>
          </a:p>
          <a:p>
            <a:pPr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65750-5B19-1415-8470-CE81B4805CED}"/>
              </a:ext>
            </a:extLst>
          </p:cNvPr>
          <p:cNvSpPr txBox="1"/>
          <p:nvPr/>
        </p:nvSpPr>
        <p:spPr>
          <a:xfrm>
            <a:off x="3594780" y="1009214"/>
            <a:ext cx="7899204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Estudiante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600">
              <a:highlight>
                <a:srgbClr val="1F1F1F"/>
              </a:highlight>
            </a:endParaRPr>
          </a:p>
          <a:p>
            <a:endParaRPr lang="en-US" sz="2400" dirty="0"/>
          </a:p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br>
              <a:rPr lang="en-US" sz="2400" dirty="0"/>
            </a:br>
            <a:endParaRPr lang="en-US" sz="4000"/>
          </a:p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aprobar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    if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&gt;=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3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      return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f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aprobó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con nota 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endParaRPr lang="en-US" sz="1600">
              <a:highlight>
                <a:srgbClr val="1F1F1F"/>
              </a:highlight>
            </a:endParaRPr>
          </a:p>
          <a:p>
            <a:r>
              <a:rPr lang="en-US" sz="160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    else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600" dirty="0">
              <a:highlight>
                <a:srgbClr val="1F1F1F"/>
              </a:highlight>
            </a:endParaRPr>
          </a:p>
          <a:p>
            <a:r>
              <a:rPr lang="en-US" sz="1600" dirty="0">
                <a:solidFill>
                  <a:srgbClr val="C586C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      return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f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reprobó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con nota 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{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nota</a:t>
            </a:r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}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</a:t>
            </a:r>
            <a:endParaRPr lang="en-US" sz="1600">
              <a:highlight>
                <a:srgbClr val="1F1F1F"/>
              </a:highlight>
            </a:endParaRPr>
          </a:p>
          <a:p>
            <a:endParaRPr lang="en-US" sz="2400" dirty="0"/>
          </a:p>
          <a:p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est1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Estudiante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"Andrés"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4.5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600"/>
          </a:p>
          <a:p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est2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Estudiante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"Carlos"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6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2.8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600"/>
          </a:p>
          <a:p>
            <a:endParaRPr lang="en-US" sz="2400" dirty="0"/>
          </a:p>
          <a:p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est1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aprobar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())</a:t>
            </a:r>
            <a:endParaRPr lang="en-US" sz="1600"/>
          </a:p>
          <a:p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est2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aprobar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())</a:t>
            </a:r>
            <a:endParaRPr lang="en-US" sz="1600"/>
          </a:p>
          <a:p>
            <a:endParaRPr lang="en-US" dirty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endParaRPr lang="en-US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03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C30D-3681-D54B-59CF-D63000048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424D7-E52A-848B-19A3-CCBC7200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7AF-1017-224E-B11D-22EE60F6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25B45-AD41-1D27-D6D3-FAB33F2B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2C551A3-8A10-497D-2B12-FBC1AD3F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05" y="-221343"/>
            <a:ext cx="6638815" cy="680220"/>
          </a:xfrm>
        </p:spPr>
        <p:txBody>
          <a:bodyPr/>
          <a:lstStyle/>
          <a:p>
            <a:r>
              <a:rPr lang="en-US" b="0" dirty="0" err="1"/>
              <a:t>Actividad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clase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6BF62-E4EF-75C3-FD9F-042E0EEA5BDE}"/>
              </a:ext>
            </a:extLst>
          </p:cNvPr>
          <p:cNvSpPr txBox="1"/>
          <p:nvPr/>
        </p:nvSpPr>
        <p:spPr>
          <a:xfrm>
            <a:off x="40718" y="1486190"/>
            <a:ext cx="327485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 err="1"/>
              <a:t>Ejercicio</a:t>
            </a:r>
            <a:r>
              <a:rPr lang="en-US" b="1" dirty="0"/>
              <a:t> 2 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Crear 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>
                <a:latin typeface="Trade Gothic Next Light"/>
              </a:rPr>
              <a:t>Contador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atributo</a:t>
            </a:r>
            <a:r>
              <a:rPr lang="en-US" dirty="0">
                <a:ea typeface="+mn-lt"/>
                <a:cs typeface="+mn-lt"/>
              </a:rPr>
              <a:t> valor 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incrementar</a:t>
            </a:r>
            <a:r>
              <a:rPr lang="en-US" dirty="0">
                <a:ea typeface="+mn-lt"/>
                <a:cs typeface="+mn-lt"/>
              </a:rPr>
              <a:t>() 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disminuir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/>
          </a:p>
          <a:p>
            <a:pPr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00BF3-E9EF-B6D6-80CA-02E52C2B1331}"/>
              </a:ext>
            </a:extLst>
          </p:cNvPr>
          <p:cNvSpPr txBox="1"/>
          <p:nvPr/>
        </p:nvSpPr>
        <p:spPr>
          <a:xfrm>
            <a:off x="4758139" y="351916"/>
            <a:ext cx="7899204" cy="6678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Contador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br>
              <a:rPr lang="en-US" sz="3600" dirty="0"/>
            </a:br>
            <a:endParaRPr lang="en-US" sz="36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0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br>
              <a:rPr lang="en-US" sz="2800" dirty="0"/>
            </a:br>
            <a:endParaRPr lang="en-US" sz="36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incrementar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+=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1</a:t>
            </a:r>
            <a:br>
              <a:rPr lang="en-US" sz="2800" dirty="0"/>
            </a:br>
            <a:endParaRPr lang="en-US" sz="36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disminuir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    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-=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1</a:t>
            </a:r>
            <a:br>
              <a:rPr lang="en-US" sz="3600" dirty="0"/>
            </a:br>
            <a:endParaRPr lang="en-US" sz="36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Contador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br>
              <a:rPr lang="en-US" sz="3600" dirty="0"/>
            </a:br>
            <a:endParaRPr lang="en-US" sz="36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incrementar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incrementar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incrementar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()</a:t>
            </a:r>
            <a:br>
              <a:rPr lang="en-US" sz="3600" dirty="0"/>
            </a:br>
            <a:endParaRPr lang="en-US" sz="36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 </a:t>
            </a:r>
            <a:r>
              <a:rPr lang="en-US" sz="1400" dirty="0">
                <a:solidFill>
                  <a:srgbClr val="6A9955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# 3</a:t>
            </a:r>
            <a:endParaRPr lang="en-US" sz="14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disminuir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cont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valor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 </a:t>
            </a:r>
            <a:r>
              <a:rPr lang="en-US" sz="1400" dirty="0">
                <a:solidFill>
                  <a:srgbClr val="6A9955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# 2</a:t>
            </a:r>
            <a:endParaRPr lang="en-US" sz="1400"/>
          </a:p>
          <a:p>
            <a:endParaRPr lang="en-US" sz="1600" dirty="0">
              <a:solidFill>
                <a:srgbClr val="CCCCCC"/>
              </a:solidFill>
              <a:highlight>
                <a:srgbClr val="1F1F1F"/>
              </a:highlight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321036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E0D74-0C96-53CD-104D-8DDD1703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A1CEC-CDA5-8894-77DF-7AB6F70F6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04B8E-9FAF-50BD-244C-EC95CDA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25153-1568-F89E-28EB-D7F227F2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33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5D4BEA9-4B48-FBCA-4124-71D66F7B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HERENCIA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2B0C3-119D-A693-3ECE-C4DD841BD13E}"/>
              </a:ext>
            </a:extLst>
          </p:cNvPr>
          <p:cNvSpPr txBox="1"/>
          <p:nvPr/>
        </p:nvSpPr>
        <p:spPr>
          <a:xfrm>
            <a:off x="196793" y="797262"/>
            <a:ext cx="58742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herede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características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otra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DAD03A-FD53-E545-387E-BCAB4490DA63}"/>
              </a:ext>
            </a:extLst>
          </p:cNvPr>
          <p:cNvSpPr txBox="1"/>
          <p:nvPr/>
        </p:nvSpPr>
        <p:spPr>
          <a:xfrm>
            <a:off x="562672" y="1282726"/>
            <a:ext cx="5142045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6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Animal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600"/>
          </a:p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  def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hablar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600"/>
          </a:p>
          <a:p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   print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"El animal </a:t>
            </a:r>
            <a:r>
              <a:rPr lang="en-US" sz="16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hace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 un </a:t>
            </a:r>
            <a:r>
              <a:rPr lang="en-US" sz="16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sonido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endParaRPr lang="en-US" sz="4000" dirty="0"/>
          </a:p>
          <a:p>
            <a:endParaRPr lang="en-US" sz="4000" dirty="0"/>
          </a:p>
          <a:p>
            <a:r>
              <a:rPr lang="en-US" sz="160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class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Perro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Animal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4000" dirty="0"/>
          </a:p>
          <a:p>
            <a:r>
              <a:rPr lang="en-US" sz="16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  def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ladrar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6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600"/>
          </a:p>
          <a:p>
            <a:r>
              <a:rPr lang="en-US" sz="16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   print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6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Guau</a:t>
            </a:r>
            <a:r>
              <a:rPr lang="en-US" sz="16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4000" dirty="0"/>
            </a:br>
            <a:endParaRPr lang="en-US" sz="4000" dirty="0"/>
          </a:p>
          <a:p>
            <a:r>
              <a:rPr lang="en-US" sz="16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6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Perro</a:t>
            </a:r>
            <a:r>
              <a:rPr lang="en-US" sz="16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4000" dirty="0"/>
          </a:p>
          <a:p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hablar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4000" dirty="0"/>
          </a:p>
          <a:p>
            <a:r>
              <a:rPr lang="en-US" sz="16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</a:t>
            </a:r>
            <a:r>
              <a:rPr lang="en-US" sz="16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6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ladrar</a:t>
            </a:r>
            <a:r>
              <a:rPr lang="en-US" sz="16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3A6554-321D-FD1F-4520-E7FDCD9089E2}"/>
              </a:ext>
            </a:extLst>
          </p:cNvPr>
          <p:cNvSpPr txBox="1"/>
          <p:nvPr/>
        </p:nvSpPr>
        <p:spPr>
          <a:xfrm>
            <a:off x="4659415" y="3651800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dirty="0">
                <a:latin typeface="Consolas"/>
              </a:rPr>
              <a:t>Perro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hereda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>
                <a:latin typeface="Consolas"/>
                <a:ea typeface="+mn-lt"/>
                <a:cs typeface="+mn-lt"/>
              </a:rPr>
              <a:t>Animal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Puede</a:t>
            </a:r>
            <a:r>
              <a:rPr lang="en-US" dirty="0">
                <a:ea typeface="+mn-lt"/>
                <a:cs typeface="+mn-lt"/>
              </a:rPr>
              <a:t> usar </a:t>
            </a: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del padre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Una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clase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hija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hereda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de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una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rgbClr val="FF0000"/>
                </a:solidFill>
                <a:ea typeface="+mn-lt"/>
                <a:cs typeface="+mn-lt"/>
              </a:rPr>
              <a:t>clase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 padre</a:t>
            </a:r>
            <a:endParaRPr lang="en-US" b="1">
              <a:solidFill>
                <a:srgbClr val="FF0000"/>
              </a:solidFill>
            </a:endParaRPr>
          </a:p>
          <a:p>
            <a:pPr>
              <a:buFont typeface="Arial"/>
              <a:buChar char="•"/>
            </a:pP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804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04F5-D859-142A-E2F4-7A99F8C4C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38DA0-D897-D467-3553-98D26F93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0F278-0D5E-2168-C189-D5E0B5F3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481A-9FB3-BFD2-1116-88FD65894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34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DA8C0FB-5F2B-362A-411A-41EABCD5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HERENCIA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77F5DF-378E-C451-1DD9-4026744AE8C9}"/>
              </a:ext>
            </a:extLst>
          </p:cNvPr>
          <p:cNvSpPr txBox="1"/>
          <p:nvPr/>
        </p:nvSpPr>
        <p:spPr>
          <a:xfrm>
            <a:off x="196793" y="797262"/>
            <a:ext cx="58742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ea typeface="+mn-lt"/>
                <a:cs typeface="+mn-lt"/>
              </a:rPr>
              <a:t>Permite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herede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características</a:t>
            </a:r>
            <a:r>
              <a:rPr lang="en-US" b="1" dirty="0">
                <a:ea typeface="+mn-lt"/>
                <a:cs typeface="+mn-lt"/>
              </a:rPr>
              <a:t> de </a:t>
            </a:r>
            <a:r>
              <a:rPr lang="en-US" b="1" dirty="0" err="1">
                <a:ea typeface="+mn-lt"/>
                <a:cs typeface="+mn-lt"/>
              </a:rPr>
              <a:t>otra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1A9ED-E11A-C6C3-81B5-1E270D2562B7}"/>
              </a:ext>
            </a:extLst>
          </p:cNvPr>
          <p:cNvSpPr txBox="1"/>
          <p:nvPr/>
        </p:nvSpPr>
        <p:spPr>
          <a:xfrm>
            <a:off x="562672" y="1282726"/>
            <a:ext cx="2943968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Persona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endParaRPr lang="en-US" sz="1400"/>
          </a:p>
          <a:p>
            <a:endParaRPr lang="en-US" sz="36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saludar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 err="1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f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"Hola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 soy </a:t>
            </a:r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{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nombre</a:t>
            </a:r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}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endParaRPr lang="en-US" sz="1400"/>
          </a:p>
          <a:p>
            <a:endParaRPr lang="en-US" sz="36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Estudiante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Persona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estudiar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Estoy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estudiando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e1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Estudiante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"Carlos"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saludar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estudiar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748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6B94-64C8-C859-B1E9-F68B68B2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0E09-60BE-C1A0-8183-2FF55C49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4B01D-240D-FAA8-83F0-0824594C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A8290-9A55-A175-F78D-16EEBE7F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35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F2B2F4F-DDD9-8124-8092-66BAEA756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POLIMORFISMO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569C8-6139-278B-7937-B3C6943DF009}"/>
              </a:ext>
            </a:extLst>
          </p:cNvPr>
          <p:cNvSpPr txBox="1"/>
          <p:nvPr/>
        </p:nvSpPr>
        <p:spPr>
          <a:xfrm>
            <a:off x="196793" y="797262"/>
            <a:ext cx="58742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Un </a:t>
            </a:r>
            <a:r>
              <a:rPr lang="en-US" dirty="0" err="1">
                <a:ea typeface="+mn-lt"/>
                <a:cs typeface="+mn-lt"/>
              </a:rPr>
              <a:t>mismo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comportarse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diferente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1A27E-9277-6F4F-E33A-E4938041866F}"/>
              </a:ext>
            </a:extLst>
          </p:cNvPr>
          <p:cNvSpPr txBox="1"/>
          <p:nvPr/>
        </p:nvSpPr>
        <p:spPr>
          <a:xfrm>
            <a:off x="197771" y="1196867"/>
            <a:ext cx="5142045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Animal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hablar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"Sonido 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genérico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Gato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Animal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hablar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Miau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Perro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Animal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hablar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Guau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400"/>
          </a:p>
          <a:p>
            <a:endParaRPr lang="en-US" sz="3600" dirty="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a1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>
                <a:solidFill>
                  <a:srgbClr val="D4D4D4"/>
                </a:solidFill>
                <a:highlight>
                  <a:srgbClr val="1F1F1F"/>
                </a:highlight>
                <a:latin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Gato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a2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Perro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br>
              <a:rPr lang="en-US" sz="3600" dirty="0"/>
            </a:br>
            <a:endParaRPr lang="en-US" sz="3600" dirty="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hablar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a2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hablar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A8C5E-9331-844D-8617-1894C64F1565}"/>
              </a:ext>
            </a:extLst>
          </p:cNvPr>
          <p:cNvSpPr txBox="1"/>
          <p:nvPr/>
        </p:nvSpPr>
        <p:spPr>
          <a:xfrm>
            <a:off x="5709634" y="2618704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dirty="0"/>
              <a:t>Cada </a:t>
            </a:r>
            <a:r>
              <a:rPr lang="en-US" dirty="0" err="1"/>
              <a:t>clase</a:t>
            </a:r>
            <a:r>
              <a:rPr lang="en-US" dirty="0"/>
              <a:t> redefine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→ </a:t>
            </a:r>
            <a:r>
              <a:rPr lang="en-US" dirty="0" err="1"/>
              <a:t>diferente</a:t>
            </a:r>
            <a:r>
              <a:rPr lang="en-US" dirty="0"/>
              <a:t> </a:t>
            </a:r>
            <a:r>
              <a:rPr lang="en-US" dirty="0" err="1"/>
              <a:t>comportamiento</a:t>
            </a:r>
            <a:endParaRPr lang="en-US" dirty="0"/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Todas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tienen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sonido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Pero </a:t>
            </a:r>
            <a:r>
              <a:rPr lang="en-US" dirty="0" err="1">
                <a:ea typeface="+mn-lt"/>
                <a:cs typeface="+mn-lt"/>
              </a:rPr>
              <a:t>cada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clase</a:t>
            </a:r>
            <a:r>
              <a:rPr lang="en-US" dirty="0">
                <a:ea typeface="+mn-lt"/>
                <a:cs typeface="+mn-lt"/>
              </a:rPr>
              <a:t> lo define </a:t>
            </a:r>
            <a:r>
              <a:rPr lang="en-US" dirty="0" err="1">
                <a:ea typeface="+mn-lt"/>
                <a:cs typeface="+mn-lt"/>
              </a:rPr>
              <a:t>diferente</a:t>
            </a:r>
            <a:endParaRPr lang="en-US" dirty="0" err="1"/>
          </a:p>
          <a:p>
            <a:pPr>
              <a:buFont typeface=""/>
              <a:buChar char="•"/>
            </a:pP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42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BF1E0-7C08-27F0-ACF0-59C809597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10E5-D19C-7725-E2A9-516E3EFB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E6D7A-C78F-C4DE-5BEF-7B72A0EFB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3560F-72B7-3BE5-D8FF-4454C389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04DDF05-9CEC-41BD-3738-CF87B7FD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POLIMORFISMO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CA568-94D4-BDE1-D66F-3EC6312FBFA6}"/>
              </a:ext>
            </a:extLst>
          </p:cNvPr>
          <p:cNvSpPr txBox="1"/>
          <p:nvPr/>
        </p:nvSpPr>
        <p:spPr>
          <a:xfrm>
            <a:off x="196793" y="797262"/>
            <a:ext cx="58742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Un </a:t>
            </a:r>
            <a:r>
              <a:rPr lang="en-US" dirty="0" err="1">
                <a:ea typeface="+mn-lt"/>
                <a:cs typeface="+mn-lt"/>
              </a:rPr>
              <a:t>mismo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método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puede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comportarse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diferente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69EAB-46E0-2C00-D4CE-44332A8DD746}"/>
              </a:ext>
            </a:extLst>
          </p:cNvPr>
          <p:cNvSpPr txBox="1"/>
          <p:nvPr/>
        </p:nvSpPr>
        <p:spPr>
          <a:xfrm>
            <a:off x="197771" y="1180769"/>
            <a:ext cx="5496214" cy="5679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dirty="0"/>
            </a:br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Empleado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:</a:t>
            </a:r>
            <a:endParaRPr lang="en-US" sz="14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init</a:t>
            </a:r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__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salario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):</a:t>
            </a:r>
            <a:endParaRPr lang="en-US" sz="1400" dirty="0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nombre</a:t>
            </a:r>
            <a:endParaRPr lang="en-US" sz="1400" dirty="0" err="1"/>
          </a:p>
          <a:p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salario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salario</a:t>
            </a:r>
            <a:endParaRPr lang="en-US" sz="1400" dirty="0" err="1"/>
          </a:p>
          <a:p>
            <a:endParaRPr lang="en-US" sz="36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mostrar_info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 dirty="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salario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class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Gerente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Empleado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 dirty="0"/>
          </a:p>
          <a:p>
            <a:r>
              <a:rPr lang="en-US" sz="1400" dirty="0">
                <a:solidFill>
                  <a:srgbClr val="569CD6"/>
                </a:solidFill>
                <a:highlight>
                  <a:srgbClr val="1F1F1F"/>
                </a:highlight>
                <a:latin typeface="Menlo"/>
              </a:rPr>
              <a:t>def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mostrar_info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):</a:t>
            </a:r>
            <a:endParaRPr lang="en-US" sz="1400" dirty="0"/>
          </a:p>
          <a:p>
            <a:r>
              <a:rPr lang="en-US" sz="1400" dirty="0">
                <a:solidFill>
                  <a:srgbClr val="DCDCAA"/>
                </a:solidFill>
                <a:highlight>
                  <a:srgbClr val="1F1F1F"/>
                </a:highlight>
                <a:latin typeface="Menlo"/>
              </a:rPr>
              <a:t>print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nombre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, 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self</a:t>
            </a:r>
            <a:r>
              <a:rPr lang="en-US" sz="1400" dirty="0" err="1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.</a:t>
            </a:r>
            <a:r>
              <a:rPr lang="en-US" sz="1400" dirty="0" err="1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salario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, 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 err="1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Gerente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br>
              <a:rPr lang="en-US" sz="3600" dirty="0"/>
            </a:br>
            <a:endParaRPr lang="en-US" sz="3600" dirty="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</a:rPr>
              <a:t>e1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</a:rPr>
              <a:t>Empleado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</a:rPr>
              <a:t>"Ana"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,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</a:rPr>
              <a:t>2000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</a:rPr>
              <a:t>)</a:t>
            </a:r>
            <a:endParaRPr lang="en-US" sz="1400" dirty="0"/>
          </a:p>
          <a:p>
            <a:r>
              <a:rPr lang="en-US" sz="1400" dirty="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g1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>
                <a:solidFill>
                  <a:srgbClr val="D4D4D4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=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 </a:t>
            </a:r>
            <a:r>
              <a:rPr lang="en-US" sz="1400" dirty="0" err="1">
                <a:solidFill>
                  <a:srgbClr val="4EC9B0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Gerente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</a:t>
            </a:r>
            <a:r>
              <a:rPr lang="en-US" sz="1400" dirty="0">
                <a:solidFill>
                  <a:srgbClr val="CE917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"Luis"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, </a:t>
            </a:r>
            <a:r>
              <a:rPr lang="en-US" sz="1400" dirty="0">
                <a:solidFill>
                  <a:srgbClr val="B5CEA8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5000</a:t>
            </a:r>
            <a:r>
              <a:rPr lang="en-US" sz="1400" dirty="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)</a:t>
            </a:r>
            <a:endParaRPr lang="en-US" sz="1400" dirty="0"/>
          </a:p>
          <a:p>
            <a:endParaRPr lang="en-US" sz="3600" dirty="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e1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mostrar_info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r>
              <a:rPr lang="en-US" sz="1400">
                <a:solidFill>
                  <a:srgbClr val="9CDCFE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g1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.</a:t>
            </a:r>
            <a:r>
              <a:rPr lang="en-US" sz="1400">
                <a:solidFill>
                  <a:srgbClr val="DCDCAA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mostrar_info</a:t>
            </a:r>
            <a:r>
              <a:rPr lang="en-US" sz="1400">
                <a:solidFill>
                  <a:srgbClr val="CCCCCC"/>
                </a:solidFill>
                <a:highlight>
                  <a:srgbClr val="1F1F1F"/>
                </a:highlight>
                <a:latin typeface="Menlo"/>
                <a:ea typeface="Menlo"/>
                <a:cs typeface="Menlo"/>
              </a:rPr>
              <a:t>()</a:t>
            </a:r>
            <a:endParaRPr lang="en-US" sz="14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61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5BF24-9822-134C-270B-BD572174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BFFB-10CF-B11D-3C08-28B76227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FA4A-65A4-9AF8-1309-1294E19A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39344-2AA0-40D2-0E47-20F10A8B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7C38BDC-6CDE-4487-223C-8C70BC3BC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/>
              <a:t>ACTIVIDAD</a:t>
            </a:r>
            <a:endParaRPr lang="en-US" b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AC6D6-22BE-F6AD-417D-8A16BEDBA1A6}"/>
              </a:ext>
            </a:extLst>
          </p:cNvPr>
          <p:cNvSpPr txBox="1"/>
          <p:nvPr/>
        </p:nvSpPr>
        <p:spPr>
          <a:xfrm>
            <a:off x="226101" y="954120"/>
            <a:ext cx="587428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Crear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Clase </a:t>
            </a:r>
            <a:r>
              <a:rPr lang="en-US">
                <a:latin typeface="Consolas"/>
                <a:ea typeface="+mn-lt"/>
                <a:cs typeface="+mn-lt"/>
              </a:rPr>
              <a:t>Persona</a:t>
            </a:r>
            <a:endParaRPr lang="en-US" dirty="0" err="1">
              <a:latin typeface="Trade Gothic Next Ligh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nsolas"/>
                <a:ea typeface="+mn-lt"/>
                <a:cs typeface="+mn-lt"/>
              </a:rPr>
              <a:t>Clase </a:t>
            </a:r>
            <a:r>
              <a:rPr lang="en-US" dirty="0" err="1">
                <a:latin typeface="Consolas"/>
                <a:ea typeface="+mn-lt"/>
                <a:cs typeface="+mn-lt"/>
              </a:rPr>
              <a:t>Profesor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Clase </a:t>
            </a:r>
            <a:r>
              <a:rPr lang="en-US" dirty="0" err="1">
                <a:latin typeface="Consolas"/>
                <a:ea typeface="+mn-lt"/>
                <a:cs typeface="+mn-lt"/>
              </a:rPr>
              <a:t>Estudiante</a:t>
            </a:r>
            <a:endParaRPr lang="en-US" dirty="0"/>
          </a:p>
          <a:p>
            <a:endParaRPr lang="en-US" dirty="0">
              <a:latin typeface="Consolas"/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Debe </a:t>
            </a:r>
            <a:r>
              <a:rPr lang="en-US" dirty="0" err="1">
                <a:ea typeface="+mn-lt"/>
                <a:cs typeface="+mn-lt"/>
              </a:rPr>
              <a:t>tener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atributos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métodos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herencia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polimorfismo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4488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2235-B9F1-6B66-A81E-8E4CE8D2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C2433-136B-2E1F-3830-E078A662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8AFBD-16B2-9B58-5DE3-AE1F4B5CE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E07CB-8DBC-6280-5ACF-533D5E55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CAE6E8-A4E5-D3EF-EA4B-451A6327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F40EF-A33A-5CBF-7FDB-A283C2D97449}"/>
              </a:ext>
            </a:extLst>
          </p:cNvPr>
          <p:cNvSpPr txBox="1"/>
          <p:nvPr/>
        </p:nvSpPr>
        <p:spPr>
          <a:xfrm>
            <a:off x="196793" y="1113351"/>
            <a:ext cx="75055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¿QUÉ ES UNA EXCEPCIÓN?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Una </a:t>
            </a:r>
            <a:r>
              <a:rPr lang="en-US" dirty="0" err="1">
                <a:ea typeface="+mn-lt"/>
                <a:cs typeface="+mn-lt"/>
              </a:rPr>
              <a:t>excepción</a:t>
            </a:r>
            <a:r>
              <a:rPr lang="en-US" dirty="0">
                <a:ea typeface="+mn-lt"/>
                <a:cs typeface="+mn-lt"/>
              </a:rPr>
              <a:t> es un error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ocurre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durante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ejecución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programa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813AA7-DE43-9E01-A6BA-AFB097C4FC0F}"/>
              </a:ext>
            </a:extLst>
          </p:cNvPr>
          <p:cNvSpPr txBox="1"/>
          <p:nvPr/>
        </p:nvSpPr>
        <p:spPr>
          <a:xfrm>
            <a:off x="1298222" y="2554111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dirty="0" err="1"/>
              <a:t>Dividir</a:t>
            </a:r>
            <a:r>
              <a:rPr lang="en-US" dirty="0"/>
              <a:t> entre cero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Ingresar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espera</a:t>
            </a:r>
            <a:r>
              <a:rPr lang="en-US" dirty="0"/>
              <a:t> un </a:t>
            </a:r>
            <a:r>
              <a:rPr lang="en-US" dirty="0" err="1"/>
              <a:t>número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 dirty="0"/>
              <a:t>Abrir un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no </a:t>
            </a:r>
            <a:r>
              <a:rPr lang="en-US" dirty="0" err="1"/>
              <a:t>existe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67DA3-20ED-4BA2-4737-0E25961E8EC3}"/>
              </a:ext>
            </a:extLst>
          </p:cNvPr>
          <p:cNvSpPr txBox="1"/>
          <p:nvPr/>
        </p:nvSpPr>
        <p:spPr>
          <a:xfrm>
            <a:off x="587022" y="4823178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"Ingrese un número: "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))</a:t>
            </a:r>
          </a:p>
          <a:p>
            <a:b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*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9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D66D-A868-E325-BE3F-513695F7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32CD2-1E2B-C61A-D671-DC0F3D95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C74B-6A48-489F-BC7E-373919A7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6D2AF-A1D8-25CD-054A-A47830B6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B6AC076-AF10-3F01-28AC-DA10A8E6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BAC31A-BFAB-8EFB-BED2-7C07EDCDB444}"/>
              </a:ext>
            </a:extLst>
          </p:cNvPr>
          <p:cNvSpPr txBox="1"/>
          <p:nvPr/>
        </p:nvSpPr>
        <p:spPr>
          <a:xfrm>
            <a:off x="196793" y="1113351"/>
            <a:ext cx="750552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TRY Y EXCEPT</a:t>
            </a:r>
            <a:endParaRPr lang="en-US"/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nsolas"/>
                <a:ea typeface="+mn-lt"/>
                <a:cs typeface="+mn-lt"/>
              </a:rPr>
              <a:t>try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intenta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ejecutar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código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latin typeface="Trade Gothic Next Ligh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onsolas"/>
                <a:ea typeface="+mn-lt"/>
                <a:cs typeface="+mn-lt"/>
              </a:rPr>
              <a:t>except</a:t>
            </a:r>
            <a:r>
              <a:rPr lang="en-US" dirty="0">
                <a:ea typeface="+mn-lt"/>
                <a:cs typeface="+mn-lt"/>
              </a:rPr>
              <a:t> → </a:t>
            </a:r>
            <a:r>
              <a:rPr lang="en-US" dirty="0" err="1">
                <a:ea typeface="+mn-lt"/>
                <a:cs typeface="+mn-lt"/>
              </a:rPr>
              <a:t>captura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error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5C00F-BE4E-D211-3CB4-6AB57A6EC53A}"/>
              </a:ext>
            </a:extLst>
          </p:cNvPr>
          <p:cNvSpPr txBox="1"/>
          <p:nvPr/>
        </p:nvSpPr>
        <p:spPr>
          <a:xfrm>
            <a:off x="1222435" y="2507234"/>
            <a:ext cx="888435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try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Ingrese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un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número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))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*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"Error: Debe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ingresar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un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número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55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17F5-CCD3-A66F-E562-22E39BB1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E0043-3294-AD7B-7C3E-AD792D72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A12C-9CD4-255B-B12B-9A89A5D9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9752-B381-87C0-2DF6-8DBCC510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D85EF5A-0F19-0417-3DAA-3E9523EE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B1E6E-2E1E-23C4-41B5-3E00A27B6038}"/>
              </a:ext>
            </a:extLst>
          </p:cNvPr>
          <p:cNvSpPr txBox="1"/>
          <p:nvPr/>
        </p:nvSpPr>
        <p:spPr>
          <a:xfrm>
            <a:off x="196793" y="1113351"/>
            <a:ext cx="750552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FINALLY</a:t>
            </a:r>
            <a:endParaRPr lang="en-US"/>
          </a:p>
          <a:p>
            <a:endParaRPr lang="en-US" dirty="0">
              <a:solidFill>
                <a:srgbClr val="FF0000"/>
              </a:solidFill>
              <a:latin typeface="Trade Gothic Next Light"/>
            </a:endParaRPr>
          </a:p>
          <a:p>
            <a:r>
              <a:rPr lang="en-US" dirty="0">
                <a:latin typeface="Consolas"/>
              </a:rPr>
              <a:t>finally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siempre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ejecuta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Se </a:t>
            </a:r>
            <a:r>
              <a:rPr lang="en-US" dirty="0" err="1">
                <a:ea typeface="+mn-lt"/>
                <a:cs typeface="+mn-lt"/>
              </a:rPr>
              <a:t>usa</a:t>
            </a:r>
            <a:r>
              <a:rPr lang="en-US" dirty="0">
                <a:ea typeface="+mn-lt"/>
                <a:cs typeface="+mn-lt"/>
              </a:rPr>
              <a:t> para: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cerrar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archivos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cerrar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conexiones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mostrar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mensajes</a:t>
            </a:r>
            <a:r>
              <a:rPr lang="en-US" dirty="0">
                <a:ea typeface="+mn-lt"/>
                <a:cs typeface="+mn-lt"/>
              </a:rPr>
              <a:t> finales</a:t>
            </a:r>
            <a:endParaRPr lang="en-US" dirty="0"/>
          </a:p>
          <a:p>
            <a:endParaRPr lang="en-US" dirty="0">
              <a:latin typeface="Trade Gothic Next Ligh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Aunque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exista</a:t>
            </a:r>
            <a:r>
              <a:rPr lang="en-US" dirty="0">
                <a:ea typeface="+mn-lt"/>
                <a:cs typeface="+mn-lt"/>
              </a:rPr>
              <a:t> error,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finally se </a:t>
            </a:r>
            <a:r>
              <a:rPr lang="en-US" dirty="0" err="1">
                <a:ea typeface="+mn-lt"/>
                <a:cs typeface="+mn-lt"/>
              </a:rPr>
              <a:t>ejecuta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A2EC1F-1B5B-3641-700B-144B97B174ED}"/>
              </a:ext>
            </a:extLst>
          </p:cNvPr>
          <p:cNvSpPr txBox="1"/>
          <p:nvPr/>
        </p:nvSpPr>
        <p:spPr>
          <a:xfrm>
            <a:off x="4910667" y="1560689"/>
            <a:ext cx="708942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try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Número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))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10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/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Ocurrió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un error"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finally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"Fin del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programa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028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24E10-5E13-DA05-383C-6AAE67FA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1AA2A-151C-ABAD-7FB2-6EACAE95D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68C1-27ED-A694-57C4-1EF705FE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B32F5-93F2-9F7F-C2CA-066ADC9A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9643B03-E44F-6FC4-7C82-DD9D4DFE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63D64C-3564-10FF-45C6-5942F105F4BA}"/>
              </a:ext>
            </a:extLst>
          </p:cNvPr>
          <p:cNvSpPr txBox="1"/>
          <p:nvPr/>
        </p:nvSpPr>
        <p:spPr>
          <a:xfrm>
            <a:off x="196793" y="1113351"/>
            <a:ext cx="3035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EXCEPCIONES ESPECÍFICAS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B423C-2275-1BB2-5095-D2AA127DB67D}"/>
              </a:ext>
            </a:extLst>
          </p:cNvPr>
          <p:cNvSpPr txBox="1"/>
          <p:nvPr/>
        </p:nvSpPr>
        <p:spPr>
          <a:xfrm>
            <a:off x="197556" y="1521178"/>
            <a:ext cx="1029546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try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Número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))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resultado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B5CEA8"/>
                </a:solidFill>
                <a:latin typeface="Menlo"/>
                <a:ea typeface="Menlo"/>
                <a:cs typeface="Menlo"/>
              </a:rPr>
              <a:t>10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/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numero</a:t>
            </a:r>
            <a:endParaRPr lang="en-US" b="0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ValueError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"Debe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ingresar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un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número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válido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ZeroDivisionError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"No se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puede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dividir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entre cero"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CD0C1F-8CA0-5BFF-38A8-21B7572AD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7219"/>
              </p:ext>
            </p:extLst>
          </p:nvPr>
        </p:nvGraphicFramePr>
        <p:xfrm>
          <a:off x="1049866" y="5057422"/>
          <a:ext cx="5746043" cy="11222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52888">
                  <a:extLst>
                    <a:ext uri="{9D8B030D-6E8A-4147-A177-3AD203B41FA5}">
                      <a16:colId xmlns:a16="http://schemas.microsoft.com/office/drawing/2014/main" val="1659262715"/>
                    </a:ext>
                  </a:extLst>
                </a:gridCol>
                <a:gridCol w="3093155">
                  <a:extLst>
                    <a:ext uri="{9D8B030D-6E8A-4147-A177-3AD203B41FA5}">
                      <a16:colId xmlns:a16="http://schemas.microsoft.com/office/drawing/2014/main" val="1053050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</a:rPr>
                        <a:t>Error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27402"/>
                  </a:ext>
                </a:extLst>
              </a:tr>
              <a:tr h="390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ValueError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</a:rPr>
                        <a:t>Tipo </a:t>
                      </a:r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incorrecto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6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</a:rPr>
                        <a:t>ZeroDivisionError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</a:rPr>
                        <a:t>División entre cero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28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575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AFA4-AF0D-BD3C-22CE-834FDE6FD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57382-AD2A-76AF-3A02-4C52AF50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DCE2F-BE43-A580-E62B-5AE8E5B4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A4B83-7603-4271-27F3-7EF85C63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DC53370-F02A-76EB-1A93-66B41AA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6842F1-D7C0-2C8B-471B-0D749B3FF0FD}"/>
              </a:ext>
            </a:extLst>
          </p:cNvPr>
          <p:cNvSpPr txBox="1"/>
          <p:nvPr/>
        </p:nvSpPr>
        <p:spPr>
          <a:xfrm>
            <a:off x="196793" y="932729"/>
            <a:ext cx="49316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APLICATIVOS POR CONSOLA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LOGIN BASIC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18B0-D2E4-4378-3C52-967C0CB5067F}"/>
              </a:ext>
            </a:extLst>
          </p:cNvPr>
          <p:cNvSpPr txBox="1"/>
          <p:nvPr/>
        </p:nvSpPr>
        <p:spPr>
          <a:xfrm>
            <a:off x="197556" y="2006600"/>
            <a:ext cx="11260666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usuario_correcto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"admin"</a:t>
            </a:r>
          </a:p>
          <a:p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clave_correcta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"1234"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try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usuario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Usuario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clave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input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"Clave: 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usuario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usuario_correcto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and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clave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clave_correcta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"Bienvenido"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else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Credenciales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incorrectas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Ocurrió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un error"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75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63EE-1505-FCCB-81AB-D52918882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C8F9B-4D08-B8A7-3538-CE42602F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FA3A8-020C-6FFC-25BE-493AEF3C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EC749-AA1E-0EFF-AE10-F3F0690D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43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04076ED-D120-B904-BDF8-15AC36EB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BEBE6-F6A5-E255-6435-40CEDFEDB466}"/>
              </a:ext>
            </a:extLst>
          </p:cNvPr>
          <p:cNvSpPr txBox="1"/>
          <p:nvPr/>
        </p:nvSpPr>
        <p:spPr>
          <a:xfrm>
            <a:off x="196793" y="932729"/>
            <a:ext cx="4931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ACTIVIDAD EN CLASE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4E51B-3BAF-35EC-890D-223B29E3BC5E}"/>
              </a:ext>
            </a:extLst>
          </p:cNvPr>
          <p:cNvSpPr txBox="1"/>
          <p:nvPr/>
        </p:nvSpPr>
        <p:spPr>
          <a:xfrm>
            <a:off x="581378" y="1278467"/>
            <a:ext cx="6096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r>
              <a:rPr lang="en-US" dirty="0"/>
              <a:t>Crear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Solicite</a:t>
            </a:r>
            <a:r>
              <a:rPr lang="en-US" dirty="0"/>
              <a:t> dos </a:t>
            </a:r>
            <a:r>
              <a:rPr lang="en-US" dirty="0" err="1"/>
              <a:t>números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Divida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/>
              <a:t>Controle: 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685800" lvl="2" indent="-228600">
              <a:buFont typeface="Wingdings"/>
              <a:buChar char="§"/>
            </a:pPr>
            <a:r>
              <a:rPr lang="en-US" dirty="0" err="1"/>
              <a:t>división</a:t>
            </a:r>
            <a:r>
              <a:rPr lang="en-US" dirty="0"/>
              <a:t> entre cero </a:t>
            </a:r>
          </a:p>
          <a:p>
            <a:pPr marL="685800" lvl="2" indent="-228600">
              <a:buFont typeface="Wingdings"/>
              <a:buChar char="§"/>
            </a:pPr>
            <a:endParaRPr lang="en-US" dirty="0"/>
          </a:p>
          <a:p>
            <a:pPr marL="685800" lvl="2" indent="-228600">
              <a:buFont typeface="Wingdings"/>
              <a:buChar char="§"/>
            </a:pPr>
            <a:r>
              <a:rPr lang="en-US" dirty="0" err="1"/>
              <a:t>errores</a:t>
            </a:r>
            <a:r>
              <a:rPr lang="en-US" dirty="0"/>
              <a:t> de entrada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21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0067-B0D7-1722-1CE4-54803C56D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F5F5-137D-357A-A939-7214AC74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046E9-9080-6341-39A2-574AB439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7D5F6-8885-98BE-F9EE-4CDB5B7C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44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E3A9B2E-A610-2477-41AB-7C44C002C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6638815" cy="680220"/>
          </a:xfrm>
        </p:spPr>
        <p:txBody>
          <a:bodyPr/>
          <a:lstStyle/>
          <a:p>
            <a:r>
              <a:rPr lang="en-US" b="0" dirty="0" err="1">
                <a:ea typeface="+mj-lt"/>
                <a:cs typeface="+mj-lt"/>
              </a:rPr>
              <a:t>Excepciones</a:t>
            </a:r>
            <a:r>
              <a:rPr lang="en-US" b="0" dirty="0">
                <a:ea typeface="+mj-lt"/>
                <a:cs typeface="+mj-lt"/>
              </a:rPr>
              <a:t> </a:t>
            </a:r>
            <a:r>
              <a:rPr lang="en-US" b="0" dirty="0" err="1">
                <a:ea typeface="+mj-lt"/>
                <a:cs typeface="+mj-lt"/>
              </a:rPr>
              <a:t>en</a:t>
            </a:r>
            <a:r>
              <a:rPr lang="en-US" b="0" dirty="0">
                <a:ea typeface="+mj-lt"/>
                <a:cs typeface="+mj-lt"/>
              </a:rPr>
              <a:t> POO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F7358F-3E65-5882-4D31-A5D719B950CB}"/>
              </a:ext>
            </a:extLst>
          </p:cNvPr>
          <p:cNvSpPr txBox="1"/>
          <p:nvPr/>
        </p:nvSpPr>
        <p:spPr>
          <a:xfrm>
            <a:off x="196793" y="932729"/>
            <a:ext cx="49316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Sistema Cajero con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Excepciones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D4A9F-16CD-AD66-2D84-AAE3D92CDA57}"/>
              </a:ext>
            </a:extLst>
          </p:cNvPr>
          <p:cNvSpPr txBox="1"/>
          <p:nvPr/>
        </p:nvSpPr>
        <p:spPr>
          <a:xfrm>
            <a:off x="3929449" y="795028"/>
            <a:ext cx="756340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>
                <a:solidFill>
                  <a:srgbClr val="569CD6"/>
                </a:solidFill>
                <a:latin typeface="Menlo"/>
                <a:ea typeface="Menlo"/>
                <a:cs typeface="Menlo"/>
              </a:rPr>
              <a:t>class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Cajero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init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__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saldo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saldo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saldo</a:t>
            </a:r>
            <a:endParaRPr lang="en-US" b="0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retirar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monto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):</a:t>
            </a:r>
          </a:p>
          <a:p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try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monto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&gt;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saldo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        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raise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ValueError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Fondos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insuficientes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self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saldo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-=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monto</a:t>
            </a:r>
            <a:endParaRPr lang="en-US" b="0" dirty="0">
              <a:solidFill>
                <a:srgbClr val="9CDCFE"/>
              </a:solidFill>
              <a:latin typeface="Menlo"/>
              <a:ea typeface="Menlo"/>
              <a:cs typeface="Menlo"/>
            </a:endParaRP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"Retiro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exitoso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except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ValueError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>
                <a:solidFill>
                  <a:srgbClr val="C586C0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>
                <a:solidFill>
                  <a:srgbClr val="C586C0"/>
                </a:solidFill>
                <a:latin typeface="Menlo"/>
                <a:ea typeface="Menlo"/>
                <a:cs typeface="Menlo"/>
              </a:rPr>
              <a:t>finally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Operación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finalizada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c1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Cajero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B5CEA8"/>
                </a:solidFill>
                <a:latin typeface="Menlo"/>
                <a:ea typeface="Menlo"/>
                <a:cs typeface="Menlo"/>
              </a:rPr>
              <a:t>1000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c1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retirar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B5CEA8"/>
                </a:solidFill>
                <a:latin typeface="Menlo"/>
                <a:ea typeface="Menlo"/>
                <a:cs typeface="Menlo"/>
              </a:rPr>
              <a:t>2000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6168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C0FB-C446-074B-BCE5-C4A58A93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8B99-A4D7-AC58-2096-B91E685A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9E49B-3964-240C-EBEE-BFDFE4FE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E2803-B549-2552-C034-B9F410F6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45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6E0E094-6696-05BB-9258-2BA0B3C2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D61AFB-618B-0ED9-96A6-A58A19B1C86C}"/>
              </a:ext>
            </a:extLst>
          </p:cNvPr>
          <p:cNvSpPr txBox="1"/>
          <p:nvPr/>
        </p:nvSpPr>
        <p:spPr>
          <a:xfrm>
            <a:off x="196793" y="932729"/>
            <a:ext cx="21307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¿QUÉ ES UNA GUI?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12842-9FCE-2DF3-2E5A-A2E337427266}"/>
              </a:ext>
            </a:extLst>
          </p:cNvPr>
          <p:cNvSpPr txBox="1"/>
          <p:nvPr/>
        </p:nvSpPr>
        <p:spPr>
          <a:xfrm>
            <a:off x="302054" y="1959919"/>
            <a:ext cx="2766541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400" dirty="0" err="1"/>
              <a:t>botones</a:t>
            </a:r>
            <a:r>
              <a:rPr lang="en-US" sz="2400" dirty="0"/>
              <a:t> </a:t>
            </a:r>
          </a:p>
          <a:p>
            <a:pPr>
              <a:buFont typeface=""/>
              <a:buChar char="•"/>
            </a:pPr>
            <a:endParaRPr lang="en-US" sz="2400" dirty="0"/>
          </a:p>
          <a:p>
            <a:pPr>
              <a:buFont typeface=""/>
              <a:buChar char="•"/>
            </a:pPr>
            <a:r>
              <a:rPr lang="en-US" sz="2400" dirty="0" err="1"/>
              <a:t>ventanas</a:t>
            </a:r>
            <a:r>
              <a:rPr lang="en-US" sz="2400" dirty="0"/>
              <a:t> </a:t>
            </a:r>
          </a:p>
          <a:p>
            <a:pPr>
              <a:buFont typeface=""/>
              <a:buChar char="•"/>
            </a:pPr>
            <a:endParaRPr lang="en-US" sz="2400" dirty="0"/>
          </a:p>
          <a:p>
            <a:pPr>
              <a:buFont typeface=""/>
              <a:buChar char="•"/>
            </a:pPr>
            <a:r>
              <a:rPr lang="en-US" sz="2400" dirty="0" err="1"/>
              <a:t>cajas</a:t>
            </a:r>
            <a:r>
              <a:rPr lang="en-US" sz="2400" dirty="0"/>
              <a:t> de </a:t>
            </a:r>
            <a:r>
              <a:rPr lang="en-US" sz="2400" dirty="0" err="1"/>
              <a:t>texto</a:t>
            </a:r>
            <a:r>
              <a:rPr lang="en-US" sz="2400" dirty="0"/>
              <a:t> </a:t>
            </a:r>
          </a:p>
          <a:p>
            <a:pPr>
              <a:buFont typeface=""/>
              <a:buChar char="•"/>
            </a:pPr>
            <a:endParaRPr lang="en-US" sz="2400" dirty="0"/>
          </a:p>
          <a:p>
            <a:pPr>
              <a:buFont typeface=""/>
              <a:buChar char="•"/>
            </a:pPr>
            <a:r>
              <a:rPr lang="en-US" sz="2400" dirty="0" err="1"/>
              <a:t>menús</a:t>
            </a:r>
            <a:endParaRPr lang="en-US" sz="2400" dirty="0"/>
          </a:p>
          <a:p>
            <a:pPr algn="ctr"/>
            <a:endParaRPr lang="en-US"/>
          </a:p>
        </p:txBody>
      </p:sp>
      <p:pic>
        <p:nvPicPr>
          <p:cNvPr id="8" name="Picture 7" descr="What is a graphical user interface? | IT Pro">
            <a:extLst>
              <a:ext uri="{FF2B5EF4-FFF2-40B4-BE49-F238E27FC236}">
                <a16:creationId xmlns:a16="http://schemas.microsoft.com/office/drawing/2014/main" id="{EE1CC4B9-2EB8-6281-6EBF-9528DF02D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729" y="1427463"/>
            <a:ext cx="6587353" cy="49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60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FA77-61FE-6EFF-FAAB-6C8BCE1A3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EFFF2-3083-0B10-2A24-4CAD2C1D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FA19C-3010-C00A-B4EF-9A59BF289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13DB0-0101-13DA-64A8-D91FAC40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46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6EB0156-8CE9-E3EF-2019-EFBF5674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CCD5F1-67C1-C972-3626-62566074AD12}"/>
              </a:ext>
            </a:extLst>
          </p:cNvPr>
          <p:cNvSpPr txBox="1"/>
          <p:nvPr/>
        </p:nvSpPr>
        <p:spPr>
          <a:xfrm>
            <a:off x="196793" y="795432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LIBRERÍA TKINTER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20709-A0E6-AD20-10FA-030A76D9E88A}"/>
              </a:ext>
            </a:extLst>
          </p:cNvPr>
          <p:cNvSpPr txBox="1"/>
          <p:nvPr/>
        </p:nvSpPr>
        <p:spPr>
          <a:xfrm>
            <a:off x="199081" y="1252838"/>
            <a:ext cx="522416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Python </a:t>
            </a:r>
            <a:r>
              <a:rPr lang="en-US" sz="2400" dirty="0" err="1">
                <a:ea typeface="+mn-lt"/>
                <a:cs typeface="+mn-lt"/>
              </a:rPr>
              <a:t>trae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una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librería</a:t>
            </a:r>
            <a:r>
              <a:rPr lang="en-US" sz="2400" dirty="0">
                <a:ea typeface="+mn-lt"/>
                <a:cs typeface="+mn-lt"/>
              </a:rPr>
              <a:t> GUI </a:t>
            </a:r>
            <a:r>
              <a:rPr lang="en-US" sz="2400" dirty="0" err="1">
                <a:ea typeface="+mn-lt"/>
                <a:cs typeface="+mn-lt"/>
              </a:rPr>
              <a:t>llamada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Font typeface="Arial"/>
              <a:buChar char="•"/>
            </a:pPr>
            <a:endParaRPr lang="en-US" sz="2400" dirty="0">
              <a:latin typeface="Trade Gothic Next Light"/>
            </a:endParaRPr>
          </a:p>
          <a:p>
            <a:pPr>
              <a:buFont typeface="Arial"/>
              <a:buChar char="•"/>
            </a:pPr>
            <a:r>
              <a:rPr lang="en-US" sz="2400" dirty="0" err="1">
                <a:latin typeface="Consolas"/>
              </a:rPr>
              <a:t>tkinter</a:t>
            </a:r>
            <a:endParaRPr lang="en-US" sz="2400" dirty="0" err="1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8520E-2303-DF4C-7B9A-88D5C2E2E8E8}"/>
              </a:ext>
            </a:extLst>
          </p:cNvPr>
          <p:cNvSpPr txBox="1"/>
          <p:nvPr/>
        </p:nvSpPr>
        <p:spPr>
          <a:xfrm>
            <a:off x="2375243" y="2069757"/>
            <a:ext cx="60960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tkinter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title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"Mi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primera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geometry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"400x300"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mainloop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10C402-41B8-F338-57D1-26F6A6AE7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9385"/>
              </p:ext>
            </p:extLst>
          </p:nvPr>
        </p:nvGraphicFramePr>
        <p:xfrm>
          <a:off x="199081" y="4896708"/>
          <a:ext cx="9404864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352324">
                  <a:extLst>
                    <a:ext uri="{9D8B030D-6E8A-4147-A177-3AD203B41FA5}">
                      <a16:colId xmlns:a16="http://schemas.microsoft.com/office/drawing/2014/main" val="3482246182"/>
                    </a:ext>
                  </a:extLst>
                </a:gridCol>
                <a:gridCol w="5052540">
                  <a:extLst>
                    <a:ext uri="{9D8B030D-6E8A-4147-A177-3AD203B41FA5}">
                      <a16:colId xmlns:a16="http://schemas.microsoft.com/office/drawing/2014/main" val="1326342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Elemento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Función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39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Tk()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Crear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ventana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7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title()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Título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8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geometry()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Tamaño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057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mainloop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Mantiene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ventana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abierta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793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5607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57CC-82BE-D815-3950-43C9DD9D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088F1-E672-48D4-4D77-1510AF9F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79C3A-80DC-9531-1B93-63A49FC59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9141-7EDF-2EE5-337C-C0C7D605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69CFEA7-0AF9-866F-73A4-FCA046C6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CA0AEA-FD2A-F91B-73D5-F999B5E92F3F}"/>
              </a:ext>
            </a:extLst>
          </p:cNvPr>
          <p:cNvSpPr txBox="1"/>
          <p:nvPr/>
        </p:nvSpPr>
        <p:spPr>
          <a:xfrm>
            <a:off x="196793" y="795432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REVISIÓN DEL ENTORNO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E33EF2-3436-1E89-7F28-09FC031EFD83}"/>
              </a:ext>
            </a:extLst>
          </p:cNvPr>
          <p:cNvSpPr txBox="1"/>
          <p:nvPr/>
        </p:nvSpPr>
        <p:spPr>
          <a:xfrm>
            <a:off x="199081" y="1410730"/>
            <a:ext cx="522416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Archivo</a:t>
            </a:r>
            <a:r>
              <a:rPr lang="en-US" sz="2400" dirty="0"/>
              <a:t> </a:t>
            </a:r>
            <a:r>
              <a:rPr lang="en-US" sz="2400" dirty="0" err="1"/>
              <a:t>py</a:t>
            </a:r>
            <a:r>
              <a:rPr lang="en-US" sz="2400" dirty="0"/>
              <a:t> </a:t>
            </a:r>
            <a:r>
              <a:rPr lang="en-US" sz="2400" dirty="0" err="1"/>
              <a:t>ejemplo</a:t>
            </a:r>
            <a:r>
              <a:rPr lang="en-US" sz="2400" dirty="0"/>
              <a:t> : </a:t>
            </a:r>
            <a:r>
              <a:rPr lang="en-US" sz="2400" dirty="0">
                <a:ea typeface="+mn-lt"/>
                <a:cs typeface="+mn-lt"/>
              </a:rPr>
              <a:t>prueba_gui.py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218D31-FF11-3EB7-05AB-15355F200B09}"/>
              </a:ext>
            </a:extLst>
          </p:cNvPr>
          <p:cNvSpPr txBox="1"/>
          <p:nvPr/>
        </p:nvSpPr>
        <p:spPr>
          <a:xfrm>
            <a:off x="199081" y="2145270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tkinter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title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Prueba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GUI"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geometry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"300x200"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mainloop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816DA-881C-8B4E-1C61-4D02A79E4C8F}"/>
              </a:ext>
            </a:extLst>
          </p:cNvPr>
          <p:cNvSpPr txBox="1"/>
          <p:nvPr/>
        </p:nvSpPr>
        <p:spPr>
          <a:xfrm>
            <a:off x="199082" y="5055973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python prueba_gui.py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73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48E7-8827-DF02-E57E-05C60E63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CA69-8011-0DAC-AC2C-ABF4DCF40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A198-CF37-BEC0-2F3D-0DB0C211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DD692-2297-B124-7E07-E6506645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120FB88-F277-F655-6814-75425941F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DC35F9-F7C9-ECED-F71D-7777E8DFFE6F}"/>
              </a:ext>
            </a:extLst>
          </p:cNvPr>
          <p:cNvSpPr txBox="1"/>
          <p:nvPr/>
        </p:nvSpPr>
        <p:spPr>
          <a:xfrm>
            <a:off x="292901" y="987648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BOTONES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B084A-29E8-ACF4-090E-F392C90F9EDB}"/>
              </a:ext>
            </a:extLst>
          </p:cNvPr>
          <p:cNvSpPr txBox="1"/>
          <p:nvPr/>
        </p:nvSpPr>
        <p:spPr>
          <a:xfrm>
            <a:off x="411892" y="1753973"/>
            <a:ext cx="8306486" cy="50714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tkinter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saludo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():</a:t>
            </a:r>
          </a:p>
          <a:p>
            <a:r>
              <a:rPr lang="en-US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DCDCAA"/>
                </a:solidFill>
                <a:latin typeface="Menlo"/>
                <a:ea typeface="Menlo"/>
                <a:cs typeface="Menlo"/>
              </a:rPr>
              <a:t>print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"Hola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estudiante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boton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Button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text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Saludar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command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saludo</a:t>
            </a:r>
            <a:endParaRPr lang="en-US" b="0">
              <a:solidFill>
                <a:srgbClr val="DCDCAA"/>
              </a:solidFill>
              <a:latin typeface="Menlo"/>
              <a:ea typeface="Menlo"/>
              <a:cs typeface="Menlo"/>
            </a:endParaRPr>
          </a:p>
          <a:p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boton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pack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mainloop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531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EE7C9-2EAA-6FC2-E0BD-CADF820C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A5DF0-1AC0-436C-AB73-54E10683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F2451-3088-2796-C940-8D76B6AF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15BC0-410E-1C4C-0C71-048B1C01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DD3C008-9003-66EB-FF05-916F1593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E3E29-76ED-919D-EB59-D3D884F15F36}"/>
              </a:ext>
            </a:extLst>
          </p:cNvPr>
          <p:cNvSpPr txBox="1"/>
          <p:nvPr/>
        </p:nvSpPr>
        <p:spPr>
          <a:xfrm>
            <a:off x="292901" y="987648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EVENTOS EN GUI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844E38-9C18-7FF3-EB40-0266D2307EF1}"/>
              </a:ext>
            </a:extLst>
          </p:cNvPr>
          <p:cNvSpPr txBox="1"/>
          <p:nvPr/>
        </p:nvSpPr>
        <p:spPr>
          <a:xfrm>
            <a:off x="199081" y="1575486"/>
            <a:ext cx="336378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Un </a:t>
            </a:r>
            <a:r>
              <a:rPr lang="en-US" dirty="0" err="1"/>
              <a:t>evento</a:t>
            </a:r>
            <a:r>
              <a:rPr lang="en-US" dirty="0"/>
              <a:t> </a:t>
            </a:r>
            <a:r>
              <a:rPr lang="en-US" dirty="0" err="1"/>
              <a:t>ocurre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interactúa</a:t>
            </a:r>
            <a:r>
              <a:rPr lang="en-US" dirty="0"/>
              <a:t>:</a:t>
            </a:r>
          </a:p>
          <a:p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clic</a:t>
            </a:r>
            <a:r>
              <a:rPr lang="en-US" dirty="0"/>
              <a:t> </a:t>
            </a:r>
          </a:p>
          <a:p>
            <a:pPr>
              <a:buFont typeface=""/>
              <a:buChar char="•"/>
            </a:pPr>
            <a:endParaRPr lang="en-US" dirty="0"/>
          </a:p>
          <a:p>
            <a:pPr>
              <a:buFont typeface=""/>
              <a:buChar char="•"/>
            </a:pPr>
            <a:r>
              <a:rPr lang="en-US" dirty="0" err="1"/>
              <a:t>Teclado</a:t>
            </a:r>
          </a:p>
          <a:p>
            <a:endParaRPr lang="en-US"/>
          </a:p>
          <a:p>
            <a:pPr>
              <a:buFont typeface=""/>
              <a:buChar char="•"/>
            </a:pPr>
            <a:r>
              <a:rPr lang="en-US"/>
              <a:t>mover mouse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58560-FE68-E464-03B2-1B5BC9F4FC04}"/>
              </a:ext>
            </a:extLst>
          </p:cNvPr>
          <p:cNvSpPr txBox="1"/>
          <p:nvPr/>
        </p:nvSpPr>
        <p:spPr>
          <a:xfrm>
            <a:off x="4084595" y="978242"/>
            <a:ext cx="8038756" cy="58818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tkinter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endParaRPr lang="en-US" b="0">
              <a:solidFill>
                <a:srgbClr val="4EC9B0"/>
              </a:solidFill>
              <a:latin typeface="Menlo"/>
              <a:ea typeface="Menlo"/>
              <a:cs typeface="Menlo"/>
            </a:endParaRP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():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etiqueta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config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text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Botón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presionado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etiqueta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Label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 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text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Esperando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evento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etiqueta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pack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boton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Button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text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Presionar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,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command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mostrar</a:t>
            </a:r>
            <a:endParaRPr lang="en-US" b="0" dirty="0">
              <a:solidFill>
                <a:srgbClr val="DCDCAA"/>
              </a:solidFill>
              <a:latin typeface="Menlo"/>
              <a:ea typeface="Menlo"/>
              <a:cs typeface="Menlo"/>
            </a:endParaRPr>
          </a:p>
          <a:p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boton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pack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mainloop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367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FF557-6E08-6E09-FB7B-93E9537E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80DEB-43F0-6F7C-EE14-45ECF3C6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DA41C-373F-54F0-7F6E-4E3C27B6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C20CC-7500-C625-33F1-976BFDD1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C49589C-B3F3-CA43-1E86-0B37B5E0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2E7E3-23B7-38D1-6B38-5E001E5F45E6}"/>
              </a:ext>
            </a:extLst>
          </p:cNvPr>
          <p:cNvSpPr txBox="1"/>
          <p:nvPr/>
        </p:nvSpPr>
        <p:spPr>
          <a:xfrm>
            <a:off x="292901" y="987648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ACTIVIDAD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BEB3E-70A8-578F-FB1D-5D70CF995D4A}"/>
              </a:ext>
            </a:extLst>
          </p:cNvPr>
          <p:cNvSpPr txBox="1"/>
          <p:nvPr/>
        </p:nvSpPr>
        <p:spPr>
          <a:xfrm>
            <a:off x="199081" y="1575486"/>
            <a:ext cx="336378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Crear </a:t>
            </a:r>
            <a:r>
              <a:rPr lang="en-US" dirty="0" err="1">
                <a:ea typeface="+mn-lt"/>
                <a:cs typeface="+mn-lt"/>
              </a:rPr>
              <a:t>ventana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tenga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Título</a:t>
            </a:r>
            <a:endParaRPr lang="en-US" dirty="0">
              <a:ea typeface="+mn-lt"/>
              <a:cs typeface="+mn-lt"/>
            </a:endParaRPr>
          </a:p>
          <a:p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Botón</a:t>
            </a:r>
            <a:endParaRPr lang="en-US" dirty="0">
              <a:ea typeface="+mn-lt"/>
              <a:cs typeface="+mn-lt"/>
            </a:endParaRPr>
          </a:p>
          <a:p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Etiqueta</a:t>
            </a:r>
            <a:endParaRPr lang="en-US" dirty="0">
              <a:ea typeface="+mn-lt"/>
              <a:cs typeface="+mn-lt"/>
            </a:endParaRPr>
          </a:p>
          <a:p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Evento</a:t>
            </a:r>
            <a:r>
              <a:rPr lang="en-US" dirty="0">
                <a:ea typeface="+mn-lt"/>
                <a:cs typeface="+mn-lt"/>
              </a:rPr>
              <a:t> click</a:t>
            </a:r>
            <a:endParaRPr lang="en-US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72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5B95B-69EA-3882-6BAE-9F38C8E1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E274-51AA-1767-CDB9-4C4CEFDC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EBF05-C20C-48A9-8D18-855EC7855C0B}" type="datetime1">
              <a:rPr lang="es-CO"/>
              <a:t>12/06/2026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5BC3B-3A5A-2AB8-4E7D-9292C0F2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87F95-DDEE-E642-1210-FDAD38DF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6DA8C5F-DA35-1C3F-FCB8-0D1D65C48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66" y="116031"/>
            <a:ext cx="8409950" cy="68022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Interfaces </a:t>
            </a:r>
            <a:r>
              <a:rPr lang="en-US" b="0" dirty="0" err="1">
                <a:ea typeface="+mj-lt"/>
                <a:cs typeface="+mj-lt"/>
              </a:rPr>
              <a:t>Gráficas</a:t>
            </a:r>
            <a:r>
              <a:rPr lang="en-US" b="0" dirty="0">
                <a:ea typeface="+mj-lt"/>
                <a:cs typeface="+mj-lt"/>
              </a:rPr>
              <a:t> de </a:t>
            </a:r>
            <a:r>
              <a:rPr lang="en-US" b="0" dirty="0" err="1">
                <a:ea typeface="+mj-lt"/>
                <a:cs typeface="+mj-lt"/>
              </a:rPr>
              <a:t>Usuario</a:t>
            </a:r>
            <a:r>
              <a:rPr lang="en-US" b="0" dirty="0">
                <a:ea typeface="+mj-lt"/>
                <a:cs typeface="+mj-lt"/>
              </a:rPr>
              <a:t> (GUI)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7E5574-838B-5503-30C9-0F0B58450925}"/>
              </a:ext>
            </a:extLst>
          </p:cNvPr>
          <p:cNvSpPr txBox="1"/>
          <p:nvPr/>
        </p:nvSpPr>
        <p:spPr>
          <a:xfrm>
            <a:off x="231117" y="795432"/>
            <a:ext cx="41696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rgbClr val="FF0000"/>
                </a:solidFill>
                <a:ea typeface="+mn-lt"/>
                <a:cs typeface="+mn-lt"/>
              </a:rPr>
              <a:t>Calculadora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 GUI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9448C-FB9D-C3F4-55B8-5D6F77CDB5AF}"/>
              </a:ext>
            </a:extLst>
          </p:cNvPr>
          <p:cNvSpPr txBox="1"/>
          <p:nvPr/>
        </p:nvSpPr>
        <p:spPr>
          <a:xfrm>
            <a:off x="212812" y="1252838"/>
            <a:ext cx="566351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import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tkinter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C586C0"/>
                </a:solidFill>
                <a:latin typeface="Menlo"/>
                <a:ea typeface="Menlo"/>
                <a:cs typeface="Menlo"/>
              </a:rPr>
              <a:t>as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endParaRPr lang="en-US" b="0">
              <a:solidFill>
                <a:srgbClr val="4EC9B0"/>
              </a:solidFill>
              <a:latin typeface="Menlo"/>
              <a:ea typeface="Menlo"/>
              <a:cs typeface="Menlo"/>
            </a:endParaRP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def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DCDCAA"/>
                </a:solidFill>
                <a:latin typeface="Menlo"/>
                <a:ea typeface="Menlo"/>
                <a:cs typeface="Menlo"/>
              </a:rPr>
              <a:t>sumar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():</a:t>
            </a:r>
          </a:p>
          <a:p>
            <a:r>
              <a:rPr lang="en-US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n1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caja1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get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())</a:t>
            </a:r>
          </a:p>
          <a:p>
            <a:r>
              <a:rPr lang="en-US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n2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>
                <a:solidFill>
                  <a:srgbClr val="4EC9B0"/>
                </a:solidFill>
                <a:latin typeface="Menlo"/>
                <a:ea typeface="Menlo"/>
                <a:cs typeface="Menlo"/>
              </a:rPr>
              <a:t>int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caja2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>
                <a:solidFill>
                  <a:srgbClr val="DCDCAA"/>
                </a:solidFill>
                <a:latin typeface="Menlo"/>
                <a:ea typeface="Menlo"/>
                <a:cs typeface="Menlo"/>
              </a:rPr>
              <a:t>get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    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resultado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config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text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 err="1">
                <a:solidFill>
                  <a:srgbClr val="569CD6"/>
                </a:solidFill>
                <a:latin typeface="Menlo"/>
                <a:ea typeface="Menlo"/>
                <a:cs typeface="Menlo"/>
              </a:rPr>
              <a:t>f</a:t>
            </a:r>
            <a:r>
              <a:rPr lang="en-US" b="0" dirty="0" err="1">
                <a:solidFill>
                  <a:srgbClr val="CE9178"/>
                </a:solidFill>
                <a:latin typeface="Menlo"/>
                <a:ea typeface="Menlo"/>
                <a:cs typeface="Menlo"/>
              </a:rPr>
              <a:t>"Resultado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: </a:t>
            </a:r>
            <a:r>
              <a:rPr lang="en-US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   </a:t>
            </a: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{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n1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+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n2</a:t>
            </a:r>
            <a:r>
              <a:rPr lang="en-US" b="0" dirty="0">
                <a:solidFill>
                  <a:srgbClr val="569CD6"/>
                </a:solidFill>
                <a:latin typeface="Menlo"/>
                <a:ea typeface="Menlo"/>
                <a:cs typeface="Menlo"/>
              </a:rPr>
              <a:t>}</a:t>
            </a:r>
            <a:r>
              <a:rPr lang="en-US" b="0" dirty="0">
                <a:solidFill>
                  <a:srgbClr val="CE9178"/>
                </a:solidFill>
                <a:latin typeface="Menlo"/>
                <a:ea typeface="Menlo"/>
                <a:cs typeface="Menlo"/>
              </a:rPr>
              <a:t>"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caja1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Entry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caja1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pack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r>
              <a:rPr lang="en-US" b="0" dirty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caja2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>
                <a:solidFill>
                  <a:srgbClr val="D4D4D4"/>
                </a:solidFill>
                <a:latin typeface="Menlo"/>
                <a:ea typeface="Menlo"/>
                <a:cs typeface="Menlo"/>
              </a:rPr>
              <a:t>=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 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tk</a:t>
            </a:r>
            <a:r>
              <a:rPr lang="en-US" b="0" dirty="0" err="1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 dirty="0" err="1">
                <a:solidFill>
                  <a:srgbClr val="4EC9B0"/>
                </a:solidFill>
                <a:latin typeface="Menlo"/>
                <a:ea typeface="Menlo"/>
                <a:cs typeface="Menlo"/>
              </a:rPr>
              <a:t>Entry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</a:t>
            </a:r>
            <a:r>
              <a:rPr lang="en-US" b="0" dirty="0" err="1">
                <a:solidFill>
                  <a:srgbClr val="9CDCFE"/>
                </a:solidFill>
                <a:latin typeface="Menlo"/>
                <a:ea typeface="Menlo"/>
                <a:cs typeface="Menlo"/>
              </a:rPr>
              <a:t>ventana</a:t>
            </a:r>
            <a:r>
              <a:rPr lang="en-US" b="0" dirty="0">
                <a:solidFill>
                  <a:srgbClr val="CCCCCC"/>
                </a:solidFill>
                <a:latin typeface="Menlo"/>
                <a:ea typeface="Menlo"/>
                <a:cs typeface="Menlo"/>
              </a:rPr>
              <a:t>)</a:t>
            </a:r>
          </a:p>
          <a:p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caja2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.</a:t>
            </a:r>
            <a:r>
              <a:rPr lang="en-US" b="0">
                <a:solidFill>
                  <a:srgbClr val="9CDCFE"/>
                </a:solidFill>
                <a:latin typeface="Menlo"/>
                <a:ea typeface="Menlo"/>
                <a:cs typeface="Menlo"/>
              </a:rPr>
              <a:t>pack</a:t>
            </a:r>
            <a:r>
              <a:rPr lang="en-US" b="0">
                <a:solidFill>
                  <a:srgbClr val="CCCCCC"/>
                </a:solidFill>
                <a:latin typeface="Menlo"/>
                <a:ea typeface="Menlo"/>
                <a:cs typeface="Menlo"/>
              </a:rPr>
              <a:t>()</a:t>
            </a:r>
            <a:r>
              <a:rPr lang="en-US">
                <a:solidFill>
                  <a:srgbClr val="CCCCCC"/>
                </a:solidFill>
                <a:latin typeface="Menlo"/>
                <a:ea typeface="Menlo"/>
                <a:cs typeface="Menlo"/>
              </a:rPr>
              <a:t> ---&gt;</a:t>
            </a:r>
            <a:endParaRPr lang="en-US" b="0">
              <a:solidFill>
                <a:srgbClr val="CCCCCC"/>
              </a:solidFill>
              <a:latin typeface="Menlo"/>
              <a:ea typeface="Menlo"/>
              <a:cs typeface="Menlo"/>
            </a:endParaRPr>
          </a:p>
          <a:p>
            <a:br>
              <a:rPr lang="en-US" b="0" dirty="0">
                <a:latin typeface="Menlo"/>
                <a:ea typeface="Menlo"/>
                <a:cs typeface="Menlo"/>
              </a:rPr>
            </a:br>
            <a:endParaRPr lang="en-US">
              <a:solidFill>
                <a:srgbClr val="CCCCCC"/>
              </a:solidFill>
              <a:latin typeface="Menl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DCD85-AC7D-E051-CC6C-BA38866DFB64}"/>
              </a:ext>
            </a:extLst>
          </p:cNvPr>
          <p:cNvSpPr txBox="1"/>
          <p:nvPr/>
        </p:nvSpPr>
        <p:spPr>
          <a:xfrm>
            <a:off x="6720702" y="2330622"/>
            <a:ext cx="547129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---&gt;</a:t>
            </a:r>
            <a:endParaRPr lang="en-US" dirty="0">
              <a:solidFill>
                <a:srgbClr val="9CDCFE"/>
              </a:solidFill>
              <a:latin typeface="Menlo"/>
              <a:ea typeface="Segoe UI"/>
              <a:cs typeface="Segoe UI"/>
            </a:endParaRPr>
          </a:p>
          <a:p>
            <a:endParaRPr lang="en-US" dirty="0">
              <a:solidFill>
                <a:srgbClr val="9CDCFE"/>
              </a:solidFill>
              <a:latin typeface="Menlo"/>
              <a:ea typeface="Segoe UI"/>
              <a:cs typeface="Segoe UI"/>
            </a:endParaRPr>
          </a:p>
          <a:p>
            <a:pPr algn="l"/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boton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 </a:t>
            </a:r>
            <a:r>
              <a:rPr lang="en-US" sz="1800" b="0" i="0" u="none" strike="noStrike" baseline="0" dirty="0">
                <a:solidFill>
                  <a:srgbClr val="D4D4D4"/>
                </a:solidFill>
                <a:latin typeface="Menlo"/>
                <a:ea typeface="Segoe UI"/>
                <a:cs typeface="Segoe UI"/>
              </a:rPr>
              <a:t>=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 </a:t>
            </a:r>
            <a:r>
              <a:rPr lang="en-US" sz="1800" b="0" i="0" u="none" strike="noStrike" baseline="0" dirty="0" err="1">
                <a:solidFill>
                  <a:srgbClr val="4EC9B0"/>
                </a:solidFill>
                <a:latin typeface="Menlo"/>
                <a:ea typeface="Segoe UI"/>
                <a:cs typeface="Segoe UI"/>
              </a:rPr>
              <a:t>tk</a:t>
            </a:r>
            <a:r>
              <a:rPr lang="en-US" sz="1800" b="0" i="0" u="none" strike="noStrike" baseline="0" dirty="0" err="1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.</a:t>
            </a:r>
            <a:r>
              <a:rPr lang="en-US" sz="1800" b="0" i="0" u="none" strike="noStrike" baseline="0" dirty="0" err="1">
                <a:solidFill>
                  <a:srgbClr val="4EC9B0"/>
                </a:solidFill>
                <a:latin typeface="Menlo"/>
                <a:ea typeface="Segoe UI"/>
                <a:cs typeface="Segoe UI"/>
              </a:rPr>
              <a:t>Button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(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  <a:endParaRPr lang="en-US" dirty="0"/>
          </a:p>
          <a:p>
            <a:r>
              <a:rPr lang="en-US" dirty="0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   </a:t>
            </a: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ventana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,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r>
              <a:rPr lang="en-US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   </a:t>
            </a:r>
            <a:r>
              <a:rPr lang="en-US" sz="1800" b="0" i="0" u="none" strike="noStrike" baseline="0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text</a:t>
            </a:r>
            <a:r>
              <a:rPr lang="en-US" sz="1800" b="0" i="0" u="none" strike="noStrike" baseline="0">
                <a:solidFill>
                  <a:srgbClr val="D4D4D4"/>
                </a:solidFill>
                <a:latin typeface="Menlo"/>
                <a:ea typeface="Segoe UI"/>
                <a:cs typeface="Segoe UI"/>
              </a:rPr>
              <a:t>=</a:t>
            </a:r>
            <a:r>
              <a:rPr lang="en-US" sz="1800" b="0" i="0" u="none" strike="noStrike" baseline="0">
                <a:solidFill>
                  <a:srgbClr val="CE9178"/>
                </a:solidFill>
                <a:latin typeface="Menlo"/>
                <a:ea typeface="Segoe UI"/>
                <a:cs typeface="Segoe UI"/>
              </a:rPr>
              <a:t>"Sumar"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,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r>
              <a:rPr lang="en-US" dirty="0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   </a:t>
            </a:r>
            <a:r>
              <a:rPr lang="en-US" sz="1800" b="0" i="0" u="none" strike="noStrike" baseline="0" dirty="0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command</a:t>
            </a:r>
            <a:r>
              <a:rPr lang="en-US" sz="1800" b="0" i="0" u="none" strike="noStrike" baseline="0" dirty="0">
                <a:solidFill>
                  <a:srgbClr val="D4D4D4"/>
                </a:solidFill>
                <a:latin typeface="Menlo"/>
                <a:ea typeface="Segoe UI"/>
                <a:cs typeface="Segoe UI"/>
              </a:rPr>
              <a:t>=</a:t>
            </a:r>
            <a:r>
              <a:rPr lang="en-US" sz="1800" b="0" i="0" u="none" strike="noStrike" baseline="0" dirty="0" err="1">
                <a:solidFill>
                  <a:srgbClr val="DCDCAA"/>
                </a:solidFill>
                <a:latin typeface="Menlo"/>
                <a:ea typeface="Segoe UI"/>
                <a:cs typeface="Segoe UI"/>
              </a:rPr>
              <a:t>sumar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)</a:t>
            </a:r>
            <a:r>
              <a:rPr lang="en-US" sz="1800" b="0" i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  <a:br>
              <a:rPr lang="en-US" sz="1800" b="0" i="0" dirty="0">
                <a:latin typeface="Menlo"/>
                <a:ea typeface="Segoe UI"/>
                <a:cs typeface="Segoe UI"/>
              </a:rPr>
            </a:b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boton</a:t>
            </a:r>
            <a:r>
              <a:rPr lang="en-US" sz="1800" b="0" i="0" u="none" strike="noStrike" baseline="0" dirty="0" err="1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.</a:t>
            </a: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pack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()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  <a:br>
              <a:rPr lang="en-US" sz="1800" b="0" i="0" dirty="0">
                <a:latin typeface="Menlo"/>
                <a:ea typeface="Segoe UI"/>
                <a:cs typeface="Segoe UI"/>
              </a:rPr>
            </a:b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resultado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 </a:t>
            </a:r>
            <a:r>
              <a:rPr lang="en-US" sz="1800" b="0" i="0" u="none" strike="noStrike" baseline="0" dirty="0">
                <a:solidFill>
                  <a:srgbClr val="D4D4D4"/>
                </a:solidFill>
                <a:latin typeface="Menlo"/>
                <a:ea typeface="Segoe UI"/>
                <a:cs typeface="Segoe UI"/>
              </a:rPr>
              <a:t>=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 </a:t>
            </a:r>
            <a:r>
              <a:rPr lang="en-US" sz="1800" b="0" i="0" u="none" strike="noStrike" baseline="0" dirty="0" err="1">
                <a:solidFill>
                  <a:srgbClr val="4EC9B0"/>
                </a:solidFill>
                <a:latin typeface="Menlo"/>
                <a:ea typeface="Segoe UI"/>
                <a:cs typeface="Segoe UI"/>
              </a:rPr>
              <a:t>tk</a:t>
            </a:r>
            <a:r>
              <a:rPr lang="en-US" sz="1800" b="0" i="0" u="none" strike="noStrike" baseline="0" dirty="0" err="1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.</a:t>
            </a:r>
            <a:r>
              <a:rPr lang="en-US" sz="1800" b="0" i="0" u="none" strike="noStrike" baseline="0" dirty="0" err="1">
                <a:solidFill>
                  <a:srgbClr val="4EC9B0"/>
                </a:solidFill>
                <a:latin typeface="Menlo"/>
                <a:ea typeface="Segoe UI"/>
                <a:cs typeface="Segoe UI"/>
              </a:rPr>
              <a:t>Label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(</a:t>
            </a: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ventana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, </a:t>
            </a:r>
            <a:r>
              <a:rPr lang="en-US" sz="1800" b="0" i="0" u="none" strike="noStrike" baseline="0" dirty="0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text</a:t>
            </a:r>
            <a:r>
              <a:rPr lang="en-US" sz="1800" b="0" i="0" u="none" strike="noStrike" baseline="0" dirty="0">
                <a:solidFill>
                  <a:srgbClr val="D4D4D4"/>
                </a:solidFill>
                <a:latin typeface="Menlo"/>
                <a:ea typeface="Segoe UI"/>
                <a:cs typeface="Segoe UI"/>
              </a:rPr>
              <a:t>=</a:t>
            </a:r>
            <a:r>
              <a:rPr lang="en-US" sz="1800" b="0" i="0" u="none" strike="noStrike" baseline="0" dirty="0">
                <a:solidFill>
                  <a:srgbClr val="CE9178"/>
                </a:solidFill>
                <a:latin typeface="Menlo"/>
                <a:ea typeface="Segoe UI"/>
                <a:cs typeface="Segoe UI"/>
              </a:rPr>
              <a:t>""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)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resultado</a:t>
            </a:r>
            <a:r>
              <a:rPr lang="en-US" sz="1800" b="0" i="0" u="none" strike="noStrike" baseline="0" dirty="0" err="1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.</a:t>
            </a: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pack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()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  <a:br>
              <a:rPr lang="en-US" sz="1800" b="0" i="0" dirty="0">
                <a:latin typeface="Menlo"/>
                <a:ea typeface="Segoe UI"/>
                <a:cs typeface="Segoe UI"/>
              </a:rPr>
            </a:br>
            <a:r>
              <a:rPr lang="en-US" sz="1800" b="0" i="0" u="none" strike="noStrike" baseline="0" dirty="0" err="1">
                <a:solidFill>
                  <a:srgbClr val="9CDCFE"/>
                </a:solidFill>
                <a:latin typeface="Menlo"/>
                <a:ea typeface="Segoe UI"/>
                <a:cs typeface="Segoe UI"/>
              </a:rPr>
              <a:t>ventana</a:t>
            </a:r>
            <a:r>
              <a:rPr lang="en-US" sz="1800" b="0" i="0" u="none" strike="noStrike" baseline="0" dirty="0" err="1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.</a:t>
            </a:r>
            <a:r>
              <a:rPr lang="en-US" sz="1800" b="0" i="0" u="none" strike="noStrike" baseline="0" dirty="0" err="1">
                <a:solidFill>
                  <a:srgbClr val="DCDCAA"/>
                </a:solidFill>
                <a:latin typeface="Menlo"/>
                <a:ea typeface="Segoe UI"/>
                <a:cs typeface="Segoe UI"/>
              </a:rPr>
              <a:t>mainloop</a:t>
            </a:r>
            <a:r>
              <a:rPr lang="en-US" sz="1800" b="0" i="0" u="none" strike="noStrike" baseline="0" dirty="0">
                <a:solidFill>
                  <a:srgbClr val="CCCCCC"/>
                </a:solidFill>
                <a:latin typeface="Menlo"/>
                <a:ea typeface="Segoe UI"/>
                <a:cs typeface="Segoe UI"/>
              </a:rPr>
              <a:t>()</a:t>
            </a:r>
            <a:r>
              <a:rPr lang="en-US" sz="1800" b="0" i="0" dirty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800" b="0" i="0">
                <a:solidFill>
                  <a:srgbClr val="FFFFFF"/>
                </a:solidFill>
                <a:latin typeface="Menlo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58742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3957</Words>
  <Application>Microsoft Office PowerPoint</Application>
  <PresentationFormat>Panorámica</PresentationFormat>
  <Paragraphs>952</Paragraphs>
  <Slides>51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Consolas</vt:lpstr>
      <vt:lpstr>Menlo</vt:lpstr>
      <vt:lpstr>Trade Gothic Next Cond</vt:lpstr>
      <vt:lpstr>Trade Gothic Next Light</vt:lpstr>
      <vt:lpstr>Wingdings</vt:lpstr>
      <vt:lpstr>PortalVTI</vt:lpstr>
      <vt:lpstr>PROGRAMACIÓN ORIENTADA A OBJETOS</vt:lpstr>
      <vt:lpstr>PREELIMINARES DE POO </vt:lpstr>
      <vt:lpstr>PARADIGMAS DE PROGRAMACIÓN </vt:lpstr>
      <vt:lpstr>CONCEPTOS FUNDAMENTALES EN POO</vt:lpstr>
      <vt:lpstr>CONCEPTOS FUNDAMENTALES EN POO</vt:lpstr>
      <vt:lpstr>CONCEPTOS FUNDAMENTALES EN POO</vt:lpstr>
      <vt:lpstr>EJEMPLO PRACTICOS PY con metodo</vt:lpstr>
      <vt:lpstr>EJEMPLO PRACTICOS PY con atributos</vt:lpstr>
      <vt:lpstr>EJEMPLO PRACTICOS PY Clase con varios atributos</vt:lpstr>
      <vt:lpstr>EJEMPLO PRACTICOS PY Encapsulamiento</vt:lpstr>
      <vt:lpstr>EJEMPLO PRACTICOS PY HERENCIA</vt:lpstr>
      <vt:lpstr>EJERCICIO EN CLASE </vt:lpstr>
      <vt:lpstr>Clase con atributos y métodos</vt:lpstr>
      <vt:lpstr>Presentación de PowerPoint</vt:lpstr>
      <vt:lpstr>Presentación de PowerPoint</vt:lpstr>
      <vt:lpstr>PREELIMINARES </vt:lpstr>
      <vt:lpstr>PREELIMINARES </vt:lpstr>
      <vt:lpstr>PREELIMINARES </vt:lpstr>
      <vt:lpstr>PREELIMINARES </vt:lpstr>
      <vt:lpstr>PREELIMINARES </vt:lpstr>
      <vt:lpstr>Estructuras de la Programación Orientada a Objetos</vt:lpstr>
      <vt:lpstr>EJERCICIO</vt:lpstr>
      <vt:lpstr>CLASES Y OBJETOS</vt:lpstr>
      <vt:lpstr>CLASES Y OBJETOS</vt:lpstr>
      <vt:lpstr>CLASES Y OBJETOS</vt:lpstr>
      <vt:lpstr>ATRIBUTOS Y MÉTODOS </vt:lpstr>
      <vt:lpstr>ATRIBUTOS </vt:lpstr>
      <vt:lpstr>MÉTODOS</vt:lpstr>
      <vt:lpstr>CLASE COMPLETA</vt:lpstr>
      <vt:lpstr>Actividad en clase</vt:lpstr>
      <vt:lpstr>Actividad en clase</vt:lpstr>
      <vt:lpstr>Actividad en clase</vt:lpstr>
      <vt:lpstr>HERENCIA</vt:lpstr>
      <vt:lpstr>HERENCIA</vt:lpstr>
      <vt:lpstr>POLIMORFISMO</vt:lpstr>
      <vt:lpstr>POLIMORFISMO</vt:lpstr>
      <vt:lpstr>ACTIVIDAD</vt:lpstr>
      <vt:lpstr>Excepciones en POO</vt:lpstr>
      <vt:lpstr>Excepciones en POO</vt:lpstr>
      <vt:lpstr>Excepciones en POO</vt:lpstr>
      <vt:lpstr>Excepciones en POO</vt:lpstr>
      <vt:lpstr>Excepciones en POO</vt:lpstr>
      <vt:lpstr>Excepciones en POO</vt:lpstr>
      <vt:lpstr>Excepciones en POO</vt:lpstr>
      <vt:lpstr>Interfaces Gráficas de Usuario (GUI)</vt:lpstr>
      <vt:lpstr>Interfaces Gráficas de Usuario (GUI)</vt:lpstr>
      <vt:lpstr>Interfaces Gráficas de Usuario (GUI)</vt:lpstr>
      <vt:lpstr>Interfaces Gráficas de Usuario (GUI)</vt:lpstr>
      <vt:lpstr>Interfaces Gráficas de Usuario (GUI)</vt:lpstr>
      <vt:lpstr>Interfaces Gráficas de Usuario (GUI)</vt:lpstr>
      <vt:lpstr>Interfaces Gráficas de Usuario (GUI)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</dc:creator>
  <cp:lastModifiedBy>Larrea Calle Miguel Angel</cp:lastModifiedBy>
  <cp:revision>659</cp:revision>
  <dcterms:created xsi:type="dcterms:W3CDTF">2026-02-07T12:15:39Z</dcterms:created>
  <dcterms:modified xsi:type="dcterms:W3CDTF">2026-06-12T22:15:58Z</dcterms:modified>
</cp:coreProperties>
</file>