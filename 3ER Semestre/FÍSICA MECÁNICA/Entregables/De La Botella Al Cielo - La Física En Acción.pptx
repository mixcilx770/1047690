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38">
          <p15:clr>
            <a:srgbClr val="A4A3A4"/>
          </p15:clr>
        </p15:guide>
        <p15:guide id="2" pos="79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1" autoAdjust="0"/>
  </p:normalViewPr>
  <p:slideViewPr>
    <p:cSldViewPr snapToGrid="0">
      <p:cViewPr>
        <p:scale>
          <a:sx n="50" d="100"/>
          <a:sy n="50" d="100"/>
        </p:scale>
        <p:origin x="864" y="-882"/>
      </p:cViewPr>
      <p:guideLst>
        <p:guide orient="horz" pos="11338"/>
        <p:guide pos="793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265B85F-A863-46FC-9CBB-5E23CF393CC2}" type="datetimeFigureOut">
              <a:rPr lang="es-CO" smtClean="0"/>
              <a:t>20/05/2026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86606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265B85F-A863-46FC-9CBB-5E23CF393CC2}" type="datetimeFigureOut">
              <a:rPr lang="es-CO" smtClean="0"/>
              <a:t>20/05/2026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407226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solidFill>
              </a:defRPr>
            </a:lvl1pPr>
            <a:lvl2pPr marL="1259997" indent="0">
              <a:buNone/>
              <a:defRPr sz="5512">
                <a:solidFill>
                  <a:schemeClr val="tx1">
                    <a:tint val="75000"/>
                  </a:schemeClr>
                </a:solidFill>
              </a:defRPr>
            </a:lvl2pPr>
            <a:lvl3pPr marL="2519995" indent="0">
              <a:buNone/>
              <a:defRPr sz="4961">
                <a:solidFill>
                  <a:schemeClr val="tx1">
                    <a:tint val="75000"/>
                  </a:schemeClr>
                </a:solidFill>
              </a:defRPr>
            </a:lvl3pPr>
            <a:lvl4pPr marL="3779992" indent="0">
              <a:buNone/>
              <a:defRPr sz="4409">
                <a:solidFill>
                  <a:schemeClr val="tx1">
                    <a:tint val="75000"/>
                  </a:schemeClr>
                </a:solidFill>
              </a:defRPr>
            </a:lvl4pPr>
            <a:lvl5pPr marL="5039990" indent="0">
              <a:buNone/>
              <a:defRPr sz="4409">
                <a:solidFill>
                  <a:schemeClr val="tx1">
                    <a:tint val="75000"/>
                  </a:schemeClr>
                </a:solidFill>
              </a:defRPr>
            </a:lvl5pPr>
            <a:lvl6pPr marL="6299987" indent="0">
              <a:buNone/>
              <a:defRPr sz="4409">
                <a:solidFill>
                  <a:schemeClr val="tx1">
                    <a:tint val="75000"/>
                  </a:schemeClr>
                </a:solidFill>
              </a:defRPr>
            </a:lvl6pPr>
            <a:lvl7pPr marL="7559985" indent="0">
              <a:buNone/>
              <a:defRPr sz="4409">
                <a:solidFill>
                  <a:schemeClr val="tx1">
                    <a:tint val="75000"/>
                  </a:schemeClr>
                </a:solidFill>
              </a:defRPr>
            </a:lvl7pPr>
            <a:lvl8pPr marL="8819982" indent="0">
              <a:buNone/>
              <a:defRPr sz="4409">
                <a:solidFill>
                  <a:schemeClr val="tx1">
                    <a:tint val="75000"/>
                  </a:schemeClr>
                </a:solidFill>
              </a:defRPr>
            </a:lvl8pPr>
            <a:lvl9pPr marL="10079980" indent="0">
              <a:buNone/>
              <a:defRPr sz="4409">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265B85F-A863-46FC-9CBB-5E23CF393CC2}" type="datetimeFigureOut">
              <a:rPr lang="es-CO" smtClean="0"/>
              <a:t>20/05/2026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1254830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265B85F-A863-46FC-9CBB-5E23CF393CC2}" type="datetimeFigureOut">
              <a:rPr lang="es-CO" smtClean="0"/>
              <a:t>20/05/2026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2286314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s-ES"/>
              <a:t>Haga clic para modificar los estilos de texto del patrón</a:t>
            </a:r>
          </a:p>
        </p:txBody>
      </p:sp>
      <p:sp>
        <p:nvSpPr>
          <p:cNvPr id="4" name="Content Placeholder 3"/>
          <p:cNvSpPr>
            <a:spLocks noGrp="1"/>
          </p:cNvSpPr>
          <p:nvPr>
            <p:ph sz="half" idx="2"/>
          </p:nvPr>
        </p:nvSpPr>
        <p:spPr>
          <a:xfrm>
            <a:off x="1735783" y="13149904"/>
            <a:ext cx="10660769" cy="1934152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s-ES"/>
              <a:t>Haga clic para modificar los estilos de texto del patrón</a:t>
            </a:r>
          </a:p>
        </p:txBody>
      </p:sp>
      <p:sp>
        <p:nvSpPr>
          <p:cNvPr id="6" name="Content Placeholder 5"/>
          <p:cNvSpPr>
            <a:spLocks noGrp="1"/>
          </p:cNvSpPr>
          <p:nvPr>
            <p:ph sz="quarter" idx="4"/>
          </p:nvPr>
        </p:nvSpPr>
        <p:spPr>
          <a:xfrm>
            <a:off x="12757489" y="13149904"/>
            <a:ext cx="10713272" cy="1934152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265B85F-A863-46FC-9CBB-5E23CF393CC2}" type="datetimeFigureOut">
              <a:rPr lang="es-CO" smtClean="0"/>
              <a:t>20/05/2026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4275044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265B85F-A863-46FC-9CBB-5E23CF393CC2}" type="datetimeFigureOut">
              <a:rPr lang="es-CO" smtClean="0"/>
              <a:t>20/05/2026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856262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5B85F-A863-46FC-9CBB-5E23CF393CC2}" type="datetimeFigureOut">
              <a:rPr lang="es-CO" smtClean="0"/>
              <a:t>20/05/2026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1353358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s-ES"/>
              <a:t>Haga clic para modificar el estilo de título del patrón</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65B85F-A863-46FC-9CBB-5E23CF393CC2}" type="datetimeFigureOut">
              <a:rPr lang="es-CO" smtClean="0"/>
              <a:t>20/05/2026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2496496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65B85F-A863-46FC-9CBB-5E23CF393CC2}" type="datetimeFigureOut">
              <a:rPr lang="es-CO" smtClean="0"/>
              <a:t>20/05/2026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314715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265B85F-A863-46FC-9CBB-5E23CF393CC2}" type="datetimeFigureOut">
              <a:rPr lang="es-CO" smtClean="0"/>
              <a:t>20/05/2026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2109178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265B85F-A863-46FC-9CBB-5E23CF393CC2}" type="datetimeFigureOut">
              <a:rPr lang="es-CO" smtClean="0"/>
              <a:t>20/05/2026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7F2858E7-E54C-44F5-ABDB-E905DF1C67B1}" type="slidenum">
              <a:rPr lang="es-CO" smtClean="0"/>
              <a:t>‹Nº›</a:t>
            </a:fld>
            <a:endParaRPr lang="es-CO"/>
          </a:p>
        </p:txBody>
      </p:sp>
    </p:spTree>
    <p:extLst>
      <p:ext uri="{BB962C8B-B14F-4D97-AF65-F5344CB8AC3E}">
        <p14:creationId xmlns:p14="http://schemas.microsoft.com/office/powerpoint/2010/main" val="354587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75000"/>
                  </a:schemeClr>
                </a:solidFill>
              </a:defRPr>
            </a:lvl1pPr>
          </a:lstStyle>
          <a:p>
            <a:fld id="{4265B85F-A863-46FC-9CBB-5E23CF393CC2}" type="datetimeFigureOut">
              <a:rPr lang="es-CO" smtClean="0"/>
              <a:t>20/05/2026</a:t>
            </a:fld>
            <a:endParaRPr lang="es-CO"/>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75000"/>
                  </a:schemeClr>
                </a:solidFill>
              </a:defRPr>
            </a:lvl1pPr>
          </a:lstStyle>
          <a:p>
            <a:fld id="{7F2858E7-E54C-44F5-ABDB-E905DF1C67B1}" type="slidenum">
              <a:rPr lang="es-CO" smtClean="0"/>
              <a:t>‹Nº›</a:t>
            </a:fld>
            <a:endParaRPr lang="es-CO"/>
          </a:p>
        </p:txBody>
      </p:sp>
    </p:spTree>
    <p:extLst>
      <p:ext uri="{BB962C8B-B14F-4D97-AF65-F5344CB8AC3E}">
        <p14:creationId xmlns:p14="http://schemas.microsoft.com/office/powerpoint/2010/main" val="3099858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7.jpeg"/><Relationship Id="rId5" Type="http://schemas.openxmlformats.org/officeDocument/2006/relationships/image" Target="../media/image2.wmf"/><Relationship Id="rId10" Type="http://schemas.openxmlformats.org/officeDocument/2006/relationships/image" Target="../media/image6.png"/><Relationship Id="rId4" Type="http://schemas.openxmlformats.org/officeDocument/2006/relationships/oleObject" Target="../embeddings/oleObject2.bin"/><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adroTexto 44">
            <a:extLst>
              <a:ext uri="{FF2B5EF4-FFF2-40B4-BE49-F238E27FC236}">
                <a16:creationId xmlns:a16="http://schemas.microsoft.com/office/drawing/2014/main" id="{2F5AF810-ED04-B777-DF2E-8EBB0C434119}"/>
              </a:ext>
            </a:extLst>
          </p:cNvPr>
          <p:cNvSpPr txBox="1"/>
          <p:nvPr/>
        </p:nvSpPr>
        <p:spPr>
          <a:xfrm>
            <a:off x="13509321" y="2849889"/>
            <a:ext cx="10076535" cy="2862322"/>
          </a:xfrm>
          <a:prstGeom prst="rect">
            <a:avLst/>
          </a:prstGeom>
          <a:noFill/>
        </p:spPr>
        <p:txBody>
          <a:bodyPr wrap="square" rtlCol="0">
            <a:spAutoFit/>
          </a:bodyPr>
          <a:lstStyle/>
          <a:p>
            <a:pPr algn="r"/>
            <a:r>
              <a:rPr lang="es-ES" sz="3000" dirty="0">
                <a:solidFill>
                  <a:schemeClr val="bg2">
                    <a:lumMod val="50000"/>
                  </a:schemeClr>
                </a:solidFill>
                <a:latin typeface="Times New Roman" panose="02020603050405020304" pitchFamily="18" charset="0"/>
                <a:cs typeface="Times New Roman" panose="02020603050405020304" pitchFamily="18" charset="0"/>
              </a:rPr>
              <a:t>Miguel Angel Larrea Calle</a:t>
            </a:r>
          </a:p>
          <a:p>
            <a:pPr algn="r"/>
            <a:r>
              <a:rPr lang="es-ES" sz="3000" dirty="0">
                <a:solidFill>
                  <a:schemeClr val="bg2">
                    <a:lumMod val="50000"/>
                  </a:schemeClr>
                </a:solidFill>
                <a:latin typeface="Times New Roman" panose="02020603050405020304" pitchFamily="18" charset="0"/>
                <a:cs typeface="Times New Roman" panose="02020603050405020304" pitchFamily="18" charset="0"/>
              </a:rPr>
              <a:t>Samuel Mosquera Palacios </a:t>
            </a:r>
          </a:p>
          <a:p>
            <a:pPr algn="r"/>
            <a:r>
              <a:rPr lang="es-ES" sz="3000" dirty="0">
                <a:solidFill>
                  <a:schemeClr val="bg2">
                    <a:lumMod val="50000"/>
                  </a:schemeClr>
                </a:solidFill>
                <a:latin typeface="Times New Roman" panose="02020603050405020304" pitchFamily="18" charset="0"/>
                <a:cs typeface="Times New Roman" panose="02020603050405020304" pitchFamily="18" charset="0"/>
              </a:rPr>
              <a:t>Ingeniería de Software</a:t>
            </a:r>
          </a:p>
          <a:p>
            <a:pPr algn="r"/>
            <a:r>
              <a:rPr lang="es-ES" sz="3000" dirty="0">
                <a:solidFill>
                  <a:schemeClr val="bg2">
                    <a:lumMod val="50000"/>
                  </a:schemeClr>
                </a:solidFill>
                <a:latin typeface="Times New Roman" panose="02020603050405020304" pitchFamily="18" charset="0"/>
                <a:cs typeface="Times New Roman" panose="02020603050405020304" pitchFamily="18" charset="0"/>
              </a:rPr>
              <a:t>Rectoría Antioquia - Chocó</a:t>
            </a:r>
          </a:p>
          <a:p>
            <a:pPr algn="r"/>
            <a:r>
              <a:rPr lang="es-ES" sz="3000" dirty="0">
                <a:solidFill>
                  <a:schemeClr val="bg2">
                    <a:lumMod val="50000"/>
                  </a:schemeClr>
                </a:solidFill>
                <a:latin typeface="Times New Roman" panose="02020603050405020304" pitchFamily="18" charset="0"/>
                <a:cs typeface="Times New Roman" panose="02020603050405020304" pitchFamily="18" charset="0"/>
              </a:rPr>
              <a:t>miguel.larrea@uniminuto.edu.co</a:t>
            </a:r>
          </a:p>
          <a:p>
            <a:pPr algn="r"/>
            <a:r>
              <a:rPr lang="es-ES_tradnl" sz="3000" dirty="0">
                <a:solidFill>
                  <a:schemeClr val="bg2">
                    <a:lumMod val="50000"/>
                  </a:schemeClr>
                </a:solidFill>
                <a:latin typeface="Times New Roman" panose="02020603050405020304" pitchFamily="18" charset="0"/>
                <a:cs typeface="Times New Roman" panose="02020603050405020304" pitchFamily="18" charset="0"/>
              </a:rPr>
              <a:t>Samuel.mosquera@uniminuto.edu.co</a:t>
            </a:r>
          </a:p>
        </p:txBody>
      </p:sp>
      <p:graphicFrame>
        <p:nvGraphicFramePr>
          <p:cNvPr id="47" name="Objeto 46">
            <a:extLst>
              <a:ext uri="{FF2B5EF4-FFF2-40B4-BE49-F238E27FC236}">
                <a16:creationId xmlns:a16="http://schemas.microsoft.com/office/drawing/2014/main" id="{7CE38FD8-C970-6D4E-8470-DCF4D4CF3168}"/>
              </a:ext>
            </a:extLst>
          </p:cNvPr>
          <p:cNvGraphicFramePr>
            <a:graphicFrameLocks noChangeAspect="1"/>
          </p:cNvGraphicFramePr>
          <p:nvPr>
            <p:extLst>
              <p:ext uri="{D42A27DB-BD31-4B8C-83A1-F6EECF244321}">
                <p14:modId xmlns:p14="http://schemas.microsoft.com/office/powerpoint/2010/main" val="1989430068"/>
              </p:ext>
            </p:extLst>
          </p:nvPr>
        </p:nvGraphicFramePr>
        <p:xfrm>
          <a:off x="14198844" y="170881"/>
          <a:ext cx="8239125" cy="2181225"/>
        </p:xfrm>
        <a:graphic>
          <a:graphicData uri="http://schemas.openxmlformats.org/presentationml/2006/ole">
            <mc:AlternateContent xmlns:mc="http://schemas.openxmlformats.org/markup-compatibility/2006">
              <mc:Choice xmlns:v="urn:schemas-microsoft-com:vml" Requires="v">
                <p:oleObj name="Imagen de mapa de bits" r:id="rId2" imgW="8238960" imgH="2181240" progId="Paint.Picture">
                  <p:embed/>
                </p:oleObj>
              </mc:Choice>
              <mc:Fallback>
                <p:oleObj name="Imagen de mapa de bits" r:id="rId2" imgW="8238960" imgH="2181240" progId="Paint.Picture">
                  <p:embed/>
                  <p:pic>
                    <p:nvPicPr>
                      <p:cNvPr id="47" name="Objeto 46">
                        <a:extLst>
                          <a:ext uri="{FF2B5EF4-FFF2-40B4-BE49-F238E27FC236}">
                            <a16:creationId xmlns:a16="http://schemas.microsoft.com/office/drawing/2014/main" id="{7CE38FD8-C970-6D4E-8470-DCF4D4CF3168}"/>
                          </a:ext>
                        </a:extLst>
                      </p:cNvPr>
                      <p:cNvPicPr/>
                      <p:nvPr/>
                    </p:nvPicPr>
                    <p:blipFill>
                      <a:blip r:embed="rId3"/>
                      <a:stretch>
                        <a:fillRect/>
                      </a:stretch>
                    </p:blipFill>
                    <p:spPr>
                      <a:xfrm>
                        <a:off x="14198844" y="170881"/>
                        <a:ext cx="8239125" cy="2181225"/>
                      </a:xfrm>
                      <a:prstGeom prst="rect">
                        <a:avLst/>
                      </a:prstGeom>
                    </p:spPr>
                  </p:pic>
                </p:oleObj>
              </mc:Fallback>
            </mc:AlternateContent>
          </a:graphicData>
        </a:graphic>
      </p:graphicFrame>
      <p:graphicFrame>
        <p:nvGraphicFramePr>
          <p:cNvPr id="48" name="Objeto 47">
            <a:extLst>
              <a:ext uri="{FF2B5EF4-FFF2-40B4-BE49-F238E27FC236}">
                <a16:creationId xmlns:a16="http://schemas.microsoft.com/office/drawing/2014/main" id="{9157AC07-1FD8-9659-55A4-BA7213350E37}"/>
              </a:ext>
            </a:extLst>
          </p:cNvPr>
          <p:cNvGraphicFramePr>
            <a:graphicFrameLocks noChangeAspect="1"/>
          </p:cNvGraphicFramePr>
          <p:nvPr>
            <p:extLst>
              <p:ext uri="{D42A27DB-BD31-4B8C-83A1-F6EECF244321}">
                <p14:modId xmlns:p14="http://schemas.microsoft.com/office/powerpoint/2010/main" val="4007304429"/>
              </p:ext>
            </p:extLst>
          </p:nvPr>
        </p:nvGraphicFramePr>
        <p:xfrm>
          <a:off x="0" y="904308"/>
          <a:ext cx="14020800" cy="714375"/>
        </p:xfrm>
        <a:graphic>
          <a:graphicData uri="http://schemas.openxmlformats.org/presentationml/2006/ole">
            <mc:AlternateContent xmlns:mc="http://schemas.openxmlformats.org/markup-compatibility/2006">
              <mc:Choice xmlns:v="urn:schemas-microsoft-com:vml" Requires="v">
                <p:oleObj name="Imagen de mapa de bits" r:id="rId4" imgW="11534760" imgH="714240" progId="Paint.Picture">
                  <p:embed/>
                </p:oleObj>
              </mc:Choice>
              <mc:Fallback>
                <p:oleObj name="Imagen de mapa de bits" r:id="rId4" imgW="11534760" imgH="714240" progId="Paint.Picture">
                  <p:embed/>
                  <p:pic>
                    <p:nvPicPr>
                      <p:cNvPr id="48" name="Objeto 47">
                        <a:extLst>
                          <a:ext uri="{FF2B5EF4-FFF2-40B4-BE49-F238E27FC236}">
                            <a16:creationId xmlns:a16="http://schemas.microsoft.com/office/drawing/2014/main" id="{9157AC07-1FD8-9659-55A4-BA7213350E37}"/>
                          </a:ext>
                        </a:extLst>
                      </p:cNvPr>
                      <p:cNvPicPr/>
                      <p:nvPr/>
                    </p:nvPicPr>
                    <p:blipFill>
                      <a:blip r:embed="rId5"/>
                      <a:stretch>
                        <a:fillRect/>
                      </a:stretch>
                    </p:blipFill>
                    <p:spPr>
                      <a:xfrm>
                        <a:off x="0" y="904308"/>
                        <a:ext cx="14020800" cy="714375"/>
                      </a:xfrm>
                      <a:prstGeom prst="rect">
                        <a:avLst/>
                      </a:prstGeom>
                    </p:spPr>
                  </p:pic>
                </p:oleObj>
              </mc:Fallback>
            </mc:AlternateContent>
          </a:graphicData>
        </a:graphic>
      </p:graphicFrame>
      <p:graphicFrame>
        <p:nvGraphicFramePr>
          <p:cNvPr id="49" name="Objeto 48">
            <a:extLst>
              <a:ext uri="{FF2B5EF4-FFF2-40B4-BE49-F238E27FC236}">
                <a16:creationId xmlns:a16="http://schemas.microsoft.com/office/drawing/2014/main" id="{44276A4D-CAF0-07D8-FB2A-5BD6160E9F02}"/>
              </a:ext>
            </a:extLst>
          </p:cNvPr>
          <p:cNvGraphicFramePr>
            <a:graphicFrameLocks noChangeAspect="1"/>
          </p:cNvGraphicFramePr>
          <p:nvPr>
            <p:extLst>
              <p:ext uri="{D42A27DB-BD31-4B8C-83A1-F6EECF244321}">
                <p14:modId xmlns:p14="http://schemas.microsoft.com/office/powerpoint/2010/main" val="4195450239"/>
              </p:ext>
            </p:extLst>
          </p:nvPr>
        </p:nvGraphicFramePr>
        <p:xfrm>
          <a:off x="22437969" y="904307"/>
          <a:ext cx="2762006" cy="714375"/>
        </p:xfrm>
        <a:graphic>
          <a:graphicData uri="http://schemas.openxmlformats.org/presentationml/2006/ole">
            <mc:AlternateContent xmlns:mc="http://schemas.openxmlformats.org/markup-compatibility/2006">
              <mc:Choice xmlns:v="urn:schemas-microsoft-com:vml" Requires="v">
                <p:oleObj name="Imagen de mapa de bits" r:id="rId4" imgW="11534760" imgH="714240" progId="Paint.Picture">
                  <p:embed/>
                </p:oleObj>
              </mc:Choice>
              <mc:Fallback>
                <p:oleObj name="Imagen de mapa de bits" r:id="rId4" imgW="11534760" imgH="714240" progId="Paint.Picture">
                  <p:embed/>
                  <p:pic>
                    <p:nvPicPr>
                      <p:cNvPr id="49" name="Objeto 48">
                        <a:extLst>
                          <a:ext uri="{FF2B5EF4-FFF2-40B4-BE49-F238E27FC236}">
                            <a16:creationId xmlns:a16="http://schemas.microsoft.com/office/drawing/2014/main" id="{44276A4D-CAF0-07D8-FB2A-5BD6160E9F02}"/>
                          </a:ext>
                        </a:extLst>
                      </p:cNvPr>
                      <p:cNvPicPr/>
                      <p:nvPr/>
                    </p:nvPicPr>
                    <p:blipFill>
                      <a:blip r:embed="rId5"/>
                      <a:stretch>
                        <a:fillRect/>
                      </a:stretch>
                    </p:blipFill>
                    <p:spPr>
                      <a:xfrm>
                        <a:off x="22437969" y="904307"/>
                        <a:ext cx="2762006" cy="714375"/>
                      </a:xfrm>
                      <a:prstGeom prst="rect">
                        <a:avLst/>
                      </a:prstGeom>
                    </p:spPr>
                  </p:pic>
                </p:oleObj>
              </mc:Fallback>
            </mc:AlternateContent>
          </a:graphicData>
        </a:graphic>
      </p:graphicFrame>
      <p:graphicFrame>
        <p:nvGraphicFramePr>
          <p:cNvPr id="50" name="Objeto 49">
            <a:extLst>
              <a:ext uri="{FF2B5EF4-FFF2-40B4-BE49-F238E27FC236}">
                <a16:creationId xmlns:a16="http://schemas.microsoft.com/office/drawing/2014/main" id="{BA10A42A-2C44-4B54-C85F-180C771BA945}"/>
              </a:ext>
            </a:extLst>
          </p:cNvPr>
          <p:cNvGraphicFramePr>
            <a:graphicFrameLocks noChangeAspect="1"/>
          </p:cNvGraphicFramePr>
          <p:nvPr>
            <p:extLst>
              <p:ext uri="{D42A27DB-BD31-4B8C-83A1-F6EECF244321}">
                <p14:modId xmlns:p14="http://schemas.microsoft.com/office/powerpoint/2010/main" val="708444824"/>
              </p:ext>
            </p:extLst>
          </p:nvPr>
        </p:nvGraphicFramePr>
        <p:xfrm>
          <a:off x="0" y="33781058"/>
          <a:ext cx="25199975" cy="2224010"/>
        </p:xfrm>
        <a:graphic>
          <a:graphicData uri="http://schemas.openxmlformats.org/presentationml/2006/ole">
            <mc:AlternateContent xmlns:mc="http://schemas.openxmlformats.org/markup-compatibility/2006">
              <mc:Choice xmlns:v="urn:schemas-microsoft-com:vml" Requires="v">
                <p:oleObj name="Imagen de mapa de bits" r:id="rId6" imgW="11458440" imgH="1819440" progId="Paint.Picture">
                  <p:embed/>
                </p:oleObj>
              </mc:Choice>
              <mc:Fallback>
                <p:oleObj name="Imagen de mapa de bits" r:id="rId6" imgW="11458440" imgH="1819440" progId="Paint.Picture">
                  <p:embed/>
                  <p:pic>
                    <p:nvPicPr>
                      <p:cNvPr id="50" name="Objeto 49">
                        <a:extLst>
                          <a:ext uri="{FF2B5EF4-FFF2-40B4-BE49-F238E27FC236}">
                            <a16:creationId xmlns:a16="http://schemas.microsoft.com/office/drawing/2014/main" id="{BA10A42A-2C44-4B54-C85F-180C771BA945}"/>
                          </a:ext>
                        </a:extLst>
                      </p:cNvPr>
                      <p:cNvPicPr/>
                      <p:nvPr/>
                    </p:nvPicPr>
                    <p:blipFill>
                      <a:blip r:embed="rId7"/>
                      <a:stretch>
                        <a:fillRect/>
                      </a:stretch>
                    </p:blipFill>
                    <p:spPr>
                      <a:xfrm>
                        <a:off x="0" y="33781058"/>
                        <a:ext cx="25199975" cy="2224010"/>
                      </a:xfrm>
                      <a:prstGeom prst="rect">
                        <a:avLst/>
                      </a:prstGeom>
                    </p:spPr>
                  </p:pic>
                </p:oleObj>
              </mc:Fallback>
            </mc:AlternateContent>
          </a:graphicData>
        </a:graphic>
      </p:graphicFrame>
      <p:sp>
        <p:nvSpPr>
          <p:cNvPr id="69" name="CuadroTexto 68">
            <a:extLst>
              <a:ext uri="{FF2B5EF4-FFF2-40B4-BE49-F238E27FC236}">
                <a16:creationId xmlns:a16="http://schemas.microsoft.com/office/drawing/2014/main" id="{4AA1BA44-5A64-287E-8B6F-2CAEBBF9259D}"/>
              </a:ext>
            </a:extLst>
          </p:cNvPr>
          <p:cNvSpPr txBox="1"/>
          <p:nvPr/>
        </p:nvSpPr>
        <p:spPr>
          <a:xfrm>
            <a:off x="12599987" y="28435024"/>
            <a:ext cx="12247302" cy="5262979"/>
          </a:xfrm>
          <a:prstGeom prst="rect">
            <a:avLst/>
          </a:prstGeom>
          <a:noFill/>
        </p:spPr>
        <p:txBody>
          <a:bodyPr wrap="square" rtlCol="0">
            <a:spAutoFit/>
          </a:bodyPr>
          <a:lstStyle/>
          <a:p>
            <a:r>
              <a:rPr lang="pt-BR" sz="2400" dirty="0">
                <a:latin typeface="Arial" panose="020B0604020202020204" pitchFamily="34" charset="0"/>
                <a:cs typeface="Arial" panose="020B0604020202020204" pitchFamily="34" charset="0"/>
              </a:rPr>
              <a:t>[1] Canal Hidreto, “CONSTRUÇÃO DO FOGUETE DE GARRAFA PET,” YouTube, Abr. 24, 2023. [Video]. Disponible en: https://www.youtube.com/watch?v=pf12GmvxmIY [Accedido: Mayo 12, 2026].</a:t>
            </a:r>
            <a:endParaRPr lang="es-CO" sz="2400" dirty="0">
              <a:latin typeface="Arial" panose="020B0604020202020204" pitchFamily="34" charset="0"/>
              <a:cs typeface="Arial" panose="020B0604020202020204" pitchFamily="34" charset="0"/>
            </a:endParaRPr>
          </a:p>
          <a:p>
            <a:r>
              <a:rPr lang="pt-BR" sz="2400" dirty="0">
                <a:latin typeface="Arial" panose="020B0604020202020204" pitchFamily="34" charset="0"/>
                <a:cs typeface="Arial" panose="020B0604020202020204" pitchFamily="34" charset="0"/>
              </a:rPr>
              <a:t>[2] TV Progressão, “Ciência na Prática: Como fazer O MELHOR Foguete de Garrafa PET! ,” YouTube, Mar. 24, 2026. [Video]. Disponible en: https://youtu.be/8bQJ1cFgyUk [Accedido: Mayo 12, 2026].</a:t>
            </a:r>
          </a:p>
          <a:p>
            <a:r>
              <a:rPr lang="es-ES" sz="2400" dirty="0">
                <a:latin typeface="Arial" panose="020B0604020202020204" pitchFamily="34" charset="0"/>
                <a:cs typeface="Arial" panose="020B0604020202020204" pitchFamily="34" charset="0"/>
              </a:rPr>
              <a:t>[3] K. Daniel, “Cohete de Agua a presión - Construcción y Funcionamiento,” YouTube, Mayo 08, 2023. [Video]. Disponible en: https://youtu.be/sPEYAeIEzrM [Accedido: Mayo 16, 2026].</a:t>
            </a:r>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[4] H2O Rocks, “H2O Rocks: Water Rocketry Website,” h2orocks.com. [Online]. Disponible en: https://h2orocks.com/ [Accedido: Mayo 16, 2026].</a:t>
            </a:r>
          </a:p>
          <a:p>
            <a:r>
              <a:rPr lang="es-CO" sz="2400" dirty="0">
                <a:latin typeface="Arial" panose="020B0604020202020204" pitchFamily="34" charset="0"/>
                <a:cs typeface="Arial" panose="020B0604020202020204" pitchFamily="34" charset="0"/>
              </a:rPr>
              <a:t>[5] PhET Interactive Simulations, “Projectile Motion,” University of Colorado Boulder. [Online]. Disponible en: https://phet.colorado.edu/sims/html/projectile-motion/latest/projectile-motion_all.html [Accedido: Mayo 16, 2026].</a:t>
            </a:r>
            <a:endParaRPr lang="pt-BR" sz="2400" dirty="0">
              <a:latin typeface="Arial" panose="020B0604020202020204" pitchFamily="34" charset="0"/>
              <a:cs typeface="Arial" panose="020B0604020202020204" pitchFamily="34" charset="0"/>
            </a:endParaRPr>
          </a:p>
        </p:txBody>
      </p:sp>
      <p:sp>
        <p:nvSpPr>
          <p:cNvPr id="32" name="CuadroTexto 57">
            <a:extLst>
              <a:ext uri="{FF2B5EF4-FFF2-40B4-BE49-F238E27FC236}">
                <a16:creationId xmlns:a16="http://schemas.microsoft.com/office/drawing/2014/main" id="{99EA3B24-D652-CCC2-F80F-30445987F540}"/>
              </a:ext>
            </a:extLst>
          </p:cNvPr>
          <p:cNvSpPr txBox="1"/>
          <p:nvPr/>
        </p:nvSpPr>
        <p:spPr>
          <a:xfrm>
            <a:off x="14198844" y="15804766"/>
            <a:ext cx="10823085" cy="7171194"/>
          </a:xfrm>
          <a:prstGeom prst="rect">
            <a:avLst/>
          </a:prstGeom>
          <a:noFill/>
        </p:spPr>
        <p:txBody>
          <a:bodyPr wrap="square" rtlCol="0">
            <a:spAutoFit/>
          </a:bodyPr>
          <a:lstStyle/>
          <a:p>
            <a:endParaRPr lang="es-ES" sz="2800" b="1" dirty="0">
              <a:latin typeface="Arial" panose="020B0604020202020204" pitchFamily="34" charset="0"/>
              <a:cs typeface="Arial" panose="020B0604020202020204" pitchFamily="34" charset="0"/>
            </a:endParaRPr>
          </a:p>
          <a:p>
            <a:endParaRPr lang="es-ES" sz="2800" b="1" dirty="0">
              <a:latin typeface="Arial" panose="020B0604020202020204" pitchFamily="34" charset="0"/>
              <a:cs typeface="Arial" panose="020B0604020202020204" pitchFamily="34" charset="0"/>
            </a:endParaRPr>
          </a:p>
          <a:p>
            <a:r>
              <a:rPr lang="es-ES" sz="2800" b="1" dirty="0">
                <a:latin typeface="Arial" panose="020B0604020202020204" pitchFamily="34" charset="0"/>
                <a:cs typeface="Arial" panose="020B0604020202020204" pitchFamily="34" charset="0"/>
              </a:rPr>
              <a:t>Procedimiento</a:t>
            </a:r>
          </a:p>
          <a:p>
            <a:r>
              <a:rPr lang="es-ES" sz="2400" dirty="0">
                <a:latin typeface="Arial" panose="020B0604020202020204" pitchFamily="34" charset="0"/>
                <a:cs typeface="Arial" panose="020B0604020202020204" pitchFamily="34" charset="0"/>
              </a:rPr>
              <a:t>Para realizarlo, empezamos por unir 2 botellas por la base y las sellamos bien con cinta aislante y silicona. Le pusimos tres aletas de cartón abajo para que volara estable, y con la tercera botella armamos la punta del cohete, reforzada con plastilina para cortar mejor el aire y pintándola con cinta enmascarante. Lo cargamos con 625 ML de agua, lo presionamos a 70 PSI y lo llevamos a campo abierto. Lo pusimos a 45°, soltamos la presión, y el agua salió disparada generando el empuje para el despegue.</a:t>
            </a:r>
          </a:p>
          <a:p>
            <a:endParaRPr lang="es-ES" sz="2400" dirty="0">
              <a:latin typeface="Arial" panose="020B0604020202020204" pitchFamily="34" charset="0"/>
              <a:cs typeface="Arial" panose="020B0604020202020204" pitchFamily="34" charset="0"/>
            </a:endParaRPr>
          </a:p>
          <a:p>
            <a:r>
              <a:rPr lang="es-ES" sz="2800" b="1" dirty="0">
                <a:latin typeface="Arial" panose="020B0604020202020204" pitchFamily="34" charset="0"/>
                <a:cs typeface="Arial" panose="020B0604020202020204" pitchFamily="34" charset="0"/>
              </a:rPr>
              <a:t>Ecuaciones</a:t>
            </a:r>
          </a:p>
          <a:p>
            <a:r>
              <a:rPr lang="es-ES" sz="2400" i="1" dirty="0">
                <a:latin typeface="Arial" panose="020B0604020202020204" pitchFamily="34" charset="0"/>
                <a:cs typeface="Arial" panose="020B0604020202020204" pitchFamily="34" charset="0"/>
              </a:rPr>
              <a:t>R = v₀² · sin(2θ) / g = 81,8 m</a:t>
            </a:r>
            <a:br>
              <a:rPr lang="es-ES" sz="2400" i="1" dirty="0">
                <a:latin typeface="Arial" panose="020B0604020202020204" pitchFamily="34" charset="0"/>
                <a:cs typeface="Arial" panose="020B0604020202020204" pitchFamily="34" charset="0"/>
              </a:rPr>
            </a:br>
            <a:r>
              <a:rPr lang="es-ES" sz="2400" dirty="0">
                <a:latin typeface="Arial" panose="020B0604020202020204" pitchFamily="34" charset="0"/>
                <a:cs typeface="Arial" panose="020B0604020202020204" pitchFamily="34" charset="0"/>
              </a:rPr>
              <a:t>(R = Alcance, v₀ = Velocidad inicial, θ = Ángulo, g = Gravedad)</a:t>
            </a:r>
          </a:p>
          <a:p>
            <a:endParaRPr lang="es-ES" sz="2400" i="1" dirty="0">
              <a:latin typeface="Arial" panose="020B0604020202020204" pitchFamily="34" charset="0"/>
              <a:cs typeface="Arial" panose="020B0604020202020204" pitchFamily="34" charset="0"/>
            </a:endParaRPr>
          </a:p>
          <a:p>
            <a:r>
              <a:rPr lang="es-ES" sz="2800" b="1" dirty="0">
                <a:latin typeface="Arial" panose="020B0604020202020204" pitchFamily="34" charset="0"/>
                <a:cs typeface="Arial" panose="020B0604020202020204" pitchFamily="34" charset="0"/>
              </a:rPr>
              <a:t>Simuladores</a:t>
            </a:r>
          </a:p>
          <a:p>
            <a:pPr marL="457200" indent="-457200">
              <a:buFont typeface="Wingdings" panose="05000000000000000000" pitchFamily="2" charset="2"/>
              <a:buChar char="§"/>
            </a:pPr>
            <a:r>
              <a:rPr lang="es-ES" sz="2400" dirty="0">
                <a:latin typeface="Arial" panose="020B0604020202020204" pitchFamily="34" charset="0"/>
                <a:cs typeface="Arial" panose="020B0604020202020204" pitchFamily="34" charset="0"/>
              </a:rPr>
              <a:t>H2O Rocks (Propulsión = 90°)</a:t>
            </a:r>
          </a:p>
          <a:p>
            <a:pPr marL="457200" indent="-457200">
              <a:buFont typeface="Wingdings" panose="05000000000000000000" pitchFamily="2" charset="2"/>
              <a:buChar char="§"/>
            </a:pPr>
            <a:r>
              <a:rPr lang="es-ES" sz="2400" dirty="0">
                <a:latin typeface="Arial" panose="020B0604020202020204" pitchFamily="34" charset="0"/>
                <a:cs typeface="Arial" panose="020B0604020202020204" pitchFamily="34" charset="0"/>
              </a:rPr>
              <a:t>PhET (Trayectoria = 45°)</a:t>
            </a:r>
          </a:p>
        </p:txBody>
      </p:sp>
      <p:sp>
        <p:nvSpPr>
          <p:cNvPr id="36" name="CuadroTexto 35">
            <a:extLst>
              <a:ext uri="{FF2B5EF4-FFF2-40B4-BE49-F238E27FC236}">
                <a16:creationId xmlns:a16="http://schemas.microsoft.com/office/drawing/2014/main" id="{D9037AE9-6242-16F9-223C-124435832B1D}"/>
              </a:ext>
            </a:extLst>
          </p:cNvPr>
          <p:cNvSpPr txBox="1"/>
          <p:nvPr/>
        </p:nvSpPr>
        <p:spPr>
          <a:xfrm>
            <a:off x="1176429" y="4444103"/>
            <a:ext cx="10514225" cy="1015663"/>
          </a:xfrm>
          <a:prstGeom prst="rect">
            <a:avLst/>
          </a:prstGeom>
          <a:noFill/>
        </p:spPr>
        <p:txBody>
          <a:bodyPr wrap="square" rtlCol="0">
            <a:spAutoFit/>
          </a:bodyPr>
          <a:lstStyle/>
          <a:p>
            <a:r>
              <a:rPr lang="es-ES" sz="3000" dirty="0">
                <a:solidFill>
                  <a:schemeClr val="accent4">
                    <a:lumMod val="75000"/>
                  </a:schemeClr>
                </a:solidFill>
              </a:rPr>
              <a:t>Asignatura: Física Mecánica</a:t>
            </a:r>
          </a:p>
          <a:p>
            <a:r>
              <a:rPr lang="es-ES" sz="3000" dirty="0">
                <a:solidFill>
                  <a:schemeClr val="accent4">
                    <a:lumMod val="75000"/>
                  </a:schemeClr>
                </a:solidFill>
              </a:rPr>
              <a:t>Profesora: Aida Ximena Velasco Velasco </a:t>
            </a:r>
            <a:endParaRPr lang="es-ES_tradnl" sz="3000" dirty="0">
              <a:solidFill>
                <a:schemeClr val="accent4">
                  <a:lumMod val="75000"/>
                </a:schemeClr>
              </a:solidFill>
            </a:endParaRPr>
          </a:p>
        </p:txBody>
      </p:sp>
      <p:sp>
        <p:nvSpPr>
          <p:cNvPr id="37" name="CuadroTexto 36">
            <a:extLst>
              <a:ext uri="{FF2B5EF4-FFF2-40B4-BE49-F238E27FC236}">
                <a16:creationId xmlns:a16="http://schemas.microsoft.com/office/drawing/2014/main" id="{9C59D99E-771F-05D4-DD24-35C79EBE0E14}"/>
              </a:ext>
            </a:extLst>
          </p:cNvPr>
          <p:cNvSpPr txBox="1"/>
          <p:nvPr/>
        </p:nvSpPr>
        <p:spPr>
          <a:xfrm>
            <a:off x="1474839" y="34510654"/>
            <a:ext cx="17507089" cy="1184940"/>
          </a:xfrm>
          <a:prstGeom prst="rect">
            <a:avLst/>
          </a:prstGeom>
          <a:noFill/>
        </p:spPr>
        <p:txBody>
          <a:bodyPr wrap="square">
            <a:spAutoFit/>
          </a:bodyPr>
          <a:lstStyle/>
          <a:p>
            <a:pPr algn="ctr"/>
            <a:r>
              <a:rPr lang="es-CO" sz="3600" b="0" i="0" dirty="0">
                <a:solidFill>
                  <a:srgbClr val="000000"/>
                </a:solidFill>
                <a:effectLst/>
                <a:latin typeface="Century Gothic" panose="020B0502020202020204" pitchFamily="34" charset="0"/>
              </a:rPr>
              <a:t> </a:t>
            </a:r>
            <a:r>
              <a:rPr lang="es-CO" sz="3500" b="1" dirty="0">
                <a:solidFill>
                  <a:schemeClr val="bg1"/>
                </a:solidFill>
              </a:rPr>
              <a:t>VII JORNADA FORMATIVA DE INVESTIGACIÓN, </a:t>
            </a:r>
            <a:r>
              <a:rPr lang="es-MX" sz="3500" b="1" dirty="0">
                <a:solidFill>
                  <a:schemeClr val="bg1"/>
                </a:solidFill>
              </a:rPr>
              <a:t>II ENCUENTRO DE PROPUESTAS INNOVADORAS DE AULAS 2025-1. FACULTAD DE INGENIERÍA –CENTRO DE CIENCIAS BÁSICAS </a:t>
            </a:r>
            <a:endParaRPr lang="es-CO" sz="3500" b="1" dirty="0">
              <a:solidFill>
                <a:schemeClr val="bg1"/>
              </a:solidFill>
            </a:endParaRPr>
          </a:p>
        </p:txBody>
      </p:sp>
      <p:pic>
        <p:nvPicPr>
          <p:cNvPr id="3" name="Imagen 2">
            <a:extLst>
              <a:ext uri="{FF2B5EF4-FFF2-40B4-BE49-F238E27FC236}">
                <a16:creationId xmlns:a16="http://schemas.microsoft.com/office/drawing/2014/main" id="{D5A7729C-B6C6-1087-940E-651DC523506B}"/>
              </a:ext>
            </a:extLst>
          </p:cNvPr>
          <p:cNvPicPr>
            <a:picLocks noChangeAspect="1"/>
          </p:cNvPicPr>
          <p:nvPr/>
        </p:nvPicPr>
        <p:blipFill>
          <a:blip r:embed="rId8"/>
          <a:stretch>
            <a:fillRect/>
          </a:stretch>
        </p:blipFill>
        <p:spPr>
          <a:xfrm>
            <a:off x="19625583" y="34347634"/>
            <a:ext cx="3325060" cy="1625123"/>
          </a:xfrm>
          <a:prstGeom prst="rect">
            <a:avLst/>
          </a:prstGeom>
        </p:spPr>
      </p:pic>
      <p:sp>
        <p:nvSpPr>
          <p:cNvPr id="4" name="Rectángulo 3">
            <a:extLst>
              <a:ext uri="{FF2B5EF4-FFF2-40B4-BE49-F238E27FC236}">
                <a16:creationId xmlns:a16="http://schemas.microsoft.com/office/drawing/2014/main" id="{06824ACC-6AFC-ADB2-7EEA-18B520F5D090}"/>
              </a:ext>
            </a:extLst>
          </p:cNvPr>
          <p:cNvSpPr/>
          <p:nvPr/>
        </p:nvSpPr>
        <p:spPr>
          <a:xfrm>
            <a:off x="5475060" y="1828028"/>
            <a:ext cx="2276585" cy="101566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scene3d>
              <a:camera prst="perspectiveLeft"/>
              <a:lightRig rig="soft" dir="t">
                <a:rot lat="0" lon="0" rev="15600000"/>
              </a:lightRig>
            </a:scene3d>
            <a:sp3d extrusionH="57150" prstMaterial="softEdge">
              <a:bevelT w="25400" h="38100"/>
            </a:sp3d>
          </a:bodyPr>
          <a:lstStyle/>
          <a:p>
            <a:pPr algn="ctr"/>
            <a:r>
              <a:rPr lang="es-ES" sz="6000" b="1" cap="none" spc="0" dirty="0">
                <a:ln/>
                <a:solidFill>
                  <a:schemeClr val="tx2"/>
                </a:solidFill>
                <a:effectLst/>
                <a:latin typeface="Arial" panose="020B0604020202020204" pitchFamily="34" charset="0"/>
                <a:cs typeface="Arial" panose="020B0604020202020204" pitchFamily="34" charset="0"/>
              </a:rPr>
              <a:t>Título</a:t>
            </a:r>
          </a:p>
        </p:txBody>
      </p:sp>
      <p:sp>
        <p:nvSpPr>
          <p:cNvPr id="8" name="CuadroTexto 7">
            <a:extLst>
              <a:ext uri="{FF2B5EF4-FFF2-40B4-BE49-F238E27FC236}">
                <a16:creationId xmlns:a16="http://schemas.microsoft.com/office/drawing/2014/main" id="{4438C137-D70C-3BA8-1CEA-BB799B68EC2B}"/>
              </a:ext>
            </a:extLst>
          </p:cNvPr>
          <p:cNvSpPr txBox="1"/>
          <p:nvPr/>
        </p:nvSpPr>
        <p:spPr>
          <a:xfrm>
            <a:off x="984336" y="3178677"/>
            <a:ext cx="11258032" cy="707886"/>
          </a:xfrm>
          <a:prstGeom prst="rect">
            <a:avLst/>
          </a:prstGeom>
          <a:noFill/>
        </p:spPr>
        <p:txBody>
          <a:bodyPr wrap="square">
            <a:spAutoFit/>
          </a:bodyPr>
          <a:lstStyle/>
          <a:p>
            <a:r>
              <a:rPr lang="es-ES" sz="4000" b="1" dirty="0">
                <a:latin typeface="Arial" panose="020B0604020202020204" pitchFamily="34" charset="0"/>
                <a:cs typeface="Arial" panose="020B0604020202020204" pitchFamily="34" charset="0"/>
              </a:rPr>
              <a:t>"De La Botella Al Cielo: La Física En Acción"</a:t>
            </a:r>
            <a:endParaRPr lang="es-CO" sz="40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5C250EB3-1AB5-31F7-5590-EB821E3AD649}"/>
              </a:ext>
            </a:extLst>
          </p:cNvPr>
          <p:cNvSpPr/>
          <p:nvPr/>
        </p:nvSpPr>
        <p:spPr>
          <a:xfrm>
            <a:off x="4759970" y="5847911"/>
            <a:ext cx="3347141" cy="707886"/>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lIns="91440" tIns="45720" rIns="91440" bIns="45720">
            <a:spAutoFit/>
            <a:scene3d>
              <a:camera prst="perspectiveLeft"/>
              <a:lightRig rig="soft" dir="t">
                <a:rot lat="0" lon="0" rev="15600000"/>
              </a:lightRig>
            </a:scene3d>
            <a:sp3d extrusionH="57150" prstMaterial="softEdge">
              <a:bevelT w="25400" h="38100"/>
            </a:sp3d>
          </a:bodyPr>
          <a:lstStyle/>
          <a:p>
            <a:pPr algn="ctr"/>
            <a:r>
              <a:rPr lang="es-ES" sz="4000" b="1" cap="none" spc="0" dirty="0">
                <a:ln/>
                <a:solidFill>
                  <a:schemeClr val="tx2"/>
                </a:solidFill>
                <a:effectLst/>
                <a:latin typeface="Arial" panose="020B0604020202020204" pitchFamily="34" charset="0"/>
                <a:cs typeface="Arial" panose="020B0604020202020204" pitchFamily="34" charset="0"/>
              </a:rPr>
              <a:t>Introducción</a:t>
            </a:r>
          </a:p>
        </p:txBody>
      </p:sp>
      <p:sp>
        <p:nvSpPr>
          <p:cNvPr id="12" name="Rectángulo 11">
            <a:extLst>
              <a:ext uri="{FF2B5EF4-FFF2-40B4-BE49-F238E27FC236}">
                <a16:creationId xmlns:a16="http://schemas.microsoft.com/office/drawing/2014/main" id="{A6C7B718-DFB2-A8C1-1C26-0C53044D7F0E}"/>
              </a:ext>
            </a:extLst>
          </p:cNvPr>
          <p:cNvSpPr/>
          <p:nvPr/>
        </p:nvSpPr>
        <p:spPr>
          <a:xfrm>
            <a:off x="16294333" y="6079857"/>
            <a:ext cx="5375189" cy="707886"/>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scene3d>
              <a:camera prst="perspectiveLeft"/>
              <a:lightRig rig="soft" dir="t">
                <a:rot lat="0" lon="0" rev="15600000"/>
              </a:lightRig>
            </a:scene3d>
            <a:sp3d extrusionH="57150" prstMaterial="softEdge">
              <a:bevelT w="25400" h="38100"/>
            </a:sp3d>
          </a:bodyPr>
          <a:lstStyle/>
          <a:p>
            <a:pPr algn="ctr"/>
            <a:r>
              <a:rPr lang="es-MX" sz="4000" b="1" cap="none" spc="0" dirty="0">
                <a:ln/>
                <a:solidFill>
                  <a:schemeClr val="tx2"/>
                </a:solidFill>
                <a:effectLst/>
                <a:latin typeface="Arial" panose="020B0604020202020204" pitchFamily="34" charset="0"/>
                <a:cs typeface="Arial" panose="020B0604020202020204" pitchFamily="34" charset="0"/>
              </a:rPr>
              <a:t>Materiales y Métodos</a:t>
            </a:r>
          </a:p>
        </p:txBody>
      </p:sp>
      <p:sp>
        <p:nvSpPr>
          <p:cNvPr id="13" name="Rectángulo 12">
            <a:extLst>
              <a:ext uri="{FF2B5EF4-FFF2-40B4-BE49-F238E27FC236}">
                <a16:creationId xmlns:a16="http://schemas.microsoft.com/office/drawing/2014/main" id="{24728EBD-5695-0E02-2892-A96F3F30D2A0}"/>
              </a:ext>
            </a:extLst>
          </p:cNvPr>
          <p:cNvSpPr/>
          <p:nvPr/>
        </p:nvSpPr>
        <p:spPr>
          <a:xfrm>
            <a:off x="4489346" y="12759575"/>
            <a:ext cx="3140603" cy="923330"/>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scene3d>
              <a:camera prst="perspectiveLeft"/>
              <a:lightRig rig="soft" dir="t">
                <a:rot lat="0" lon="0" rev="15600000"/>
              </a:lightRig>
            </a:scene3d>
            <a:sp3d extrusionH="57150" prstMaterial="softEdge">
              <a:bevelT w="25400" h="38100"/>
            </a:sp3d>
          </a:bodyPr>
          <a:lstStyle/>
          <a:p>
            <a:pPr algn="ctr"/>
            <a:r>
              <a:rPr lang="es-ES" sz="4000" b="1" cap="none" spc="0" dirty="0">
                <a:ln/>
                <a:solidFill>
                  <a:schemeClr val="tx2"/>
                </a:solidFill>
                <a:effectLst/>
                <a:latin typeface="Arial" panose="020B0604020202020204" pitchFamily="34" charset="0"/>
                <a:cs typeface="Arial" panose="020B0604020202020204" pitchFamily="34" charset="0"/>
              </a:rPr>
              <a:t>Resultados</a:t>
            </a:r>
            <a:r>
              <a:rPr lang="es-ES" sz="5400" b="1" cap="none" spc="0" dirty="0">
                <a:ln/>
                <a:solidFill>
                  <a:schemeClr val="tx2"/>
                </a:solidFill>
                <a:effectLst/>
                <a:latin typeface="Arial" panose="020B0604020202020204" pitchFamily="34" charset="0"/>
                <a:cs typeface="Arial" panose="020B0604020202020204" pitchFamily="34" charset="0"/>
              </a:rPr>
              <a:t> </a:t>
            </a:r>
          </a:p>
        </p:txBody>
      </p:sp>
      <p:sp>
        <p:nvSpPr>
          <p:cNvPr id="14" name="Rectángulo 13">
            <a:extLst>
              <a:ext uri="{FF2B5EF4-FFF2-40B4-BE49-F238E27FC236}">
                <a16:creationId xmlns:a16="http://schemas.microsoft.com/office/drawing/2014/main" id="{02330365-98DA-CCCF-B792-48A8FD38FD90}"/>
              </a:ext>
            </a:extLst>
          </p:cNvPr>
          <p:cNvSpPr/>
          <p:nvPr/>
        </p:nvSpPr>
        <p:spPr>
          <a:xfrm>
            <a:off x="16546126" y="22923486"/>
            <a:ext cx="3544560" cy="707886"/>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scene3d>
              <a:camera prst="perspectiveLeft"/>
              <a:lightRig rig="soft" dir="t">
                <a:rot lat="0" lon="0" rev="15600000"/>
              </a:lightRig>
            </a:scene3d>
            <a:sp3d extrusionH="57150" prstMaterial="softEdge">
              <a:bevelT w="25400" h="38100"/>
            </a:sp3d>
          </a:bodyPr>
          <a:lstStyle/>
          <a:p>
            <a:pPr algn="ctr"/>
            <a:r>
              <a:rPr lang="es-MX" sz="4000" b="1" cap="none" spc="0" dirty="0">
                <a:ln/>
                <a:solidFill>
                  <a:schemeClr val="tx2"/>
                </a:solidFill>
                <a:effectLst/>
                <a:latin typeface="Arial" panose="020B0604020202020204" pitchFamily="34" charset="0"/>
                <a:cs typeface="Arial" panose="020B0604020202020204" pitchFamily="34" charset="0"/>
              </a:rPr>
              <a:t>Conclusiones</a:t>
            </a:r>
            <a:endParaRPr lang="es-ES" sz="4000" b="1" cap="none" spc="0" dirty="0">
              <a:ln/>
              <a:solidFill>
                <a:schemeClr val="tx2"/>
              </a:solidFill>
              <a:effectLst/>
              <a:latin typeface="Arial" panose="020B0604020202020204" pitchFamily="34" charset="0"/>
              <a:cs typeface="Arial" panose="020B0604020202020204" pitchFamily="34" charset="0"/>
            </a:endParaRPr>
          </a:p>
        </p:txBody>
      </p:sp>
      <p:sp>
        <p:nvSpPr>
          <p:cNvPr id="16" name="Rectángulo 15">
            <a:extLst>
              <a:ext uri="{FF2B5EF4-FFF2-40B4-BE49-F238E27FC236}">
                <a16:creationId xmlns:a16="http://schemas.microsoft.com/office/drawing/2014/main" id="{ECEA3D61-56D5-A806-E0AD-52DACC96B976}"/>
              </a:ext>
            </a:extLst>
          </p:cNvPr>
          <p:cNvSpPr/>
          <p:nvPr/>
        </p:nvSpPr>
        <p:spPr>
          <a:xfrm>
            <a:off x="16771347" y="27568744"/>
            <a:ext cx="3094117" cy="707886"/>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scene3d>
              <a:camera prst="perspectiveLeft"/>
              <a:lightRig rig="soft" dir="t">
                <a:rot lat="0" lon="0" rev="15600000"/>
              </a:lightRig>
            </a:scene3d>
            <a:sp3d extrusionH="57150" prstMaterial="softEdge">
              <a:bevelT w="25400" h="38100"/>
            </a:sp3d>
          </a:bodyPr>
          <a:lstStyle/>
          <a:p>
            <a:pPr algn="ctr"/>
            <a:r>
              <a:rPr lang="es-ES" sz="4000" b="1" cap="none" spc="0" dirty="0">
                <a:ln/>
                <a:solidFill>
                  <a:schemeClr val="tx2"/>
                </a:solidFill>
                <a:effectLst/>
                <a:latin typeface="Arial" panose="020B0604020202020204" pitchFamily="34" charset="0"/>
                <a:cs typeface="Arial" panose="020B0604020202020204" pitchFamily="34" charset="0"/>
              </a:rPr>
              <a:t>Referencias</a:t>
            </a:r>
          </a:p>
        </p:txBody>
      </p:sp>
      <p:sp>
        <p:nvSpPr>
          <p:cNvPr id="17" name="CuadroTexto 16">
            <a:extLst>
              <a:ext uri="{FF2B5EF4-FFF2-40B4-BE49-F238E27FC236}">
                <a16:creationId xmlns:a16="http://schemas.microsoft.com/office/drawing/2014/main" id="{506243C6-5FE9-B0EA-2E9C-615652F27E38}"/>
              </a:ext>
            </a:extLst>
          </p:cNvPr>
          <p:cNvSpPr txBox="1"/>
          <p:nvPr/>
        </p:nvSpPr>
        <p:spPr>
          <a:xfrm>
            <a:off x="765939" y="6788016"/>
            <a:ext cx="11258033" cy="6001643"/>
          </a:xfrm>
          <a:prstGeom prst="rect">
            <a:avLst/>
          </a:prstGeom>
          <a:noFill/>
        </p:spPr>
        <p:txBody>
          <a:bodyPr wrap="square" rtlCol="0">
            <a:spAutoFit/>
          </a:bodyPr>
          <a:lstStyle/>
          <a:p>
            <a:r>
              <a:rPr lang="es-MX" sz="2400" i="0" dirty="0">
                <a:solidFill>
                  <a:srgbClr val="141413"/>
                </a:solidFill>
                <a:effectLst/>
                <a:latin typeface="Arial" panose="020B0604020202020204" pitchFamily="34" charset="0"/>
                <a:cs typeface="Arial" panose="020B0604020202020204" pitchFamily="34" charset="0"/>
              </a:rPr>
              <a:t>El problema que nuestro proyecto busca resolver es la dificultad de comprender el movimiento parabólico cuando solo se enseña desde la teoría. En muchos espacios académicos, este tema se trabaja únicamente con ecuaciones y ejercicios escritos, lo que deja una brecha importante: los estudiantes pueden memorizar fórmulas sin llegar a entender realmente cómo se comporta un proyectil en el mundo real.</a:t>
            </a:r>
          </a:p>
          <a:p>
            <a:endParaRPr lang="es-MX" sz="2400" i="0" dirty="0">
              <a:solidFill>
                <a:srgbClr val="141413"/>
              </a:solidFill>
              <a:effectLst/>
              <a:latin typeface="Arial" panose="020B0604020202020204" pitchFamily="34" charset="0"/>
              <a:cs typeface="Arial" panose="020B0604020202020204" pitchFamily="34" charset="0"/>
            </a:endParaRPr>
          </a:p>
          <a:p>
            <a:r>
              <a:rPr lang="es-MX" sz="2400" i="0" dirty="0">
                <a:solidFill>
                  <a:srgbClr val="141413"/>
                </a:solidFill>
                <a:effectLst/>
                <a:latin typeface="Arial" panose="020B0604020202020204" pitchFamily="34" charset="0"/>
                <a:cs typeface="Arial" panose="020B0604020202020204" pitchFamily="34" charset="0"/>
              </a:rPr>
              <a:t>Para cerrar esa brecha, construimos un cohete impulsado por agua y presión de aire, y lo lanzamos en un campo abierto. Una experiencia práctica, con materiales accesibles, que nos permitió observar directamente cómo la teoría cobra vida.</a:t>
            </a:r>
          </a:p>
          <a:p>
            <a:endParaRPr lang="es-MX" sz="2400" i="0" dirty="0">
              <a:solidFill>
                <a:srgbClr val="141413"/>
              </a:solidFill>
              <a:effectLst/>
              <a:latin typeface="Arial" panose="020B0604020202020204" pitchFamily="34" charset="0"/>
              <a:cs typeface="Arial" panose="020B0604020202020204" pitchFamily="34" charset="0"/>
            </a:endParaRPr>
          </a:p>
          <a:p>
            <a:r>
              <a:rPr lang="es-MX" sz="2400" i="0" dirty="0">
                <a:solidFill>
                  <a:srgbClr val="141413"/>
                </a:solidFill>
                <a:effectLst/>
                <a:latin typeface="Arial" panose="020B0604020202020204" pitchFamily="34" charset="0"/>
                <a:cs typeface="Arial" panose="020B0604020202020204" pitchFamily="34" charset="0"/>
              </a:rPr>
              <a:t>Abordar esto es importante porque el aprendizaje se vuelve más profundo y significativo cuando puedes ver, medir y verificar lo que estudias. Este proyecto demuestra que entender la física no requiere laboratorios costosos, sino la disposición de llevar las ideas al campo.</a:t>
            </a:r>
          </a:p>
        </p:txBody>
      </p:sp>
      <p:sp>
        <p:nvSpPr>
          <p:cNvPr id="18" name="CuadroTexto 17">
            <a:extLst>
              <a:ext uri="{FF2B5EF4-FFF2-40B4-BE49-F238E27FC236}">
                <a16:creationId xmlns:a16="http://schemas.microsoft.com/office/drawing/2014/main" id="{ACC7B42B-37DE-8C78-7416-42EB7F0E2E48}"/>
              </a:ext>
            </a:extLst>
          </p:cNvPr>
          <p:cNvSpPr txBox="1"/>
          <p:nvPr/>
        </p:nvSpPr>
        <p:spPr>
          <a:xfrm>
            <a:off x="710399" y="13851581"/>
            <a:ext cx="10980255" cy="19574589"/>
          </a:xfrm>
          <a:prstGeom prst="rect">
            <a:avLst/>
          </a:prstGeom>
          <a:noFill/>
        </p:spPr>
        <p:txBody>
          <a:bodyPr wrap="square" rtlCol="0">
            <a:spAutoFit/>
          </a:bodyPr>
          <a:lstStyle/>
          <a:p>
            <a:r>
              <a:rPr lang="es-ES" sz="2400" dirty="0">
                <a:latin typeface="Arial" panose="020B0604020202020204" pitchFamily="34" charset="0"/>
                <a:cs typeface="Arial" panose="020B0604020202020204" pitchFamily="34" charset="0"/>
              </a:rPr>
              <a:t>Lanzando el cohete a 45° con los parámetros reales del experimento, estos fueron los resultados teóricos obtenidos:</a:t>
            </a:r>
          </a:p>
          <a:p>
            <a:r>
              <a:rPr lang="es-ES" sz="2800" b="1" dirty="0">
                <a:latin typeface="Arial" panose="020B0604020202020204" pitchFamily="34" charset="0"/>
                <a:cs typeface="Arial" panose="020B0604020202020204" pitchFamily="34" charset="0"/>
              </a:rPr>
              <a:t>Tabla 1</a:t>
            </a:r>
          </a:p>
          <a:p>
            <a:r>
              <a:rPr lang="es-ES" sz="2400" i="1" dirty="0">
                <a:latin typeface="Arial" panose="020B0604020202020204" pitchFamily="34" charset="0"/>
                <a:cs typeface="Arial" panose="020B0604020202020204" pitchFamily="34" charset="0"/>
              </a:rPr>
              <a:t>Resultados teóricos del lanzamiento a 45°</a:t>
            </a:r>
          </a:p>
          <a:p>
            <a:endParaRPr lang="es-ES" sz="2800" i="1" dirty="0"/>
          </a:p>
          <a:p>
            <a:endParaRPr lang="es-ES" sz="2800" i="1" dirty="0"/>
          </a:p>
          <a:p>
            <a:endParaRPr lang="es-ES" sz="2800" i="1" dirty="0"/>
          </a:p>
          <a:p>
            <a:endParaRPr lang="es-ES" sz="2800" i="1" dirty="0"/>
          </a:p>
          <a:p>
            <a:br>
              <a:rPr lang="es-ES" sz="2800" i="1" dirty="0"/>
            </a:br>
            <a:endParaRPr lang="es-ES" sz="2800" i="1" dirty="0"/>
          </a:p>
          <a:p>
            <a:endParaRPr lang="es-ES" sz="2600" i="1" dirty="0"/>
          </a:p>
          <a:p>
            <a:endParaRPr lang="es-ES" sz="2600" i="1" dirty="0"/>
          </a:p>
          <a:p>
            <a:r>
              <a:rPr lang="es-ES" sz="2800" dirty="0"/>
              <a:t>Elegimos 45° porque es el ángulo que maximiza el alcance horizontal. Los simuladores Water Rocket y PhET mostraron valores distintos por limitaciones en sus parámetros configurables.</a:t>
            </a:r>
          </a:p>
          <a:p>
            <a:endParaRPr lang="es-ES" sz="3000" dirty="0"/>
          </a:p>
          <a:p>
            <a:r>
              <a:rPr lang="es-ES" sz="2800" b="1" dirty="0">
                <a:latin typeface="Arial" panose="020B0604020202020204" pitchFamily="34" charset="0"/>
                <a:cs typeface="Arial" panose="020B0604020202020204" pitchFamily="34" charset="0"/>
              </a:rPr>
              <a:t>Figura 1. </a:t>
            </a:r>
            <a:r>
              <a:rPr lang="es-ES" sz="2800" i="1" dirty="0">
                <a:latin typeface="Arial" panose="020B0604020202020204" pitchFamily="34" charset="0"/>
                <a:cs typeface="Arial" panose="020B0604020202020204" pitchFamily="34" charset="0"/>
              </a:rPr>
              <a:t>Simulación H2O Rocks (Proyectile Motion: </a:t>
            </a:r>
            <a:r>
              <a:rPr lang="pt-BR" sz="2800" i="1" dirty="0">
                <a:latin typeface="Arial" panose="020B0604020202020204" pitchFamily="34" charset="0"/>
                <a:cs typeface="Arial" panose="020B0604020202020204" pitchFamily="34" charset="0"/>
              </a:rPr>
              <a:t>v₀ = 28.31 m/s · θ = 90° · Alcance: 0 m · Altura: 44.05 m)</a:t>
            </a:r>
            <a:endParaRPr lang="es-ES" sz="3000" b="1" i="1"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r>
              <a:rPr lang="es-ES" sz="2800" b="1" dirty="0">
                <a:latin typeface="Arial" panose="020B0604020202020204" pitchFamily="34" charset="0"/>
                <a:cs typeface="Arial" panose="020B0604020202020204" pitchFamily="34" charset="0"/>
              </a:rPr>
              <a:t>Figura 2. </a:t>
            </a:r>
            <a:r>
              <a:rPr lang="es-ES" sz="2800" i="1" dirty="0">
                <a:latin typeface="Arial" panose="020B0604020202020204" pitchFamily="34" charset="0"/>
                <a:cs typeface="Arial" panose="020B0604020202020204" pitchFamily="34" charset="0"/>
              </a:rPr>
              <a:t>Simulación PhET (Proyectile Motion: </a:t>
            </a:r>
            <a:r>
              <a:rPr lang="pt-BR" sz="2800" i="1" dirty="0">
                <a:latin typeface="Arial" panose="020B0604020202020204" pitchFamily="34" charset="0"/>
                <a:cs typeface="Arial" panose="020B0604020202020204" pitchFamily="34" charset="0"/>
              </a:rPr>
              <a:t>v₀ = 30 m/s · θ = 45° · Alcance: 80.92 m · Altura: 21.36 m)</a:t>
            </a:r>
            <a:endParaRPr lang="es-ES" sz="2800" b="1" i="1"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a:p>
            <a:pPr algn="just"/>
            <a:endParaRPr lang="es-ES_tradnl" sz="4000" dirty="0"/>
          </a:p>
        </p:txBody>
      </p:sp>
      <p:sp>
        <p:nvSpPr>
          <p:cNvPr id="19" name="CuadroTexto 18">
            <a:extLst>
              <a:ext uri="{FF2B5EF4-FFF2-40B4-BE49-F238E27FC236}">
                <a16:creationId xmlns:a16="http://schemas.microsoft.com/office/drawing/2014/main" id="{CC8D6A2A-C945-EEF1-93E9-A0FB17B4B560}"/>
              </a:ext>
            </a:extLst>
          </p:cNvPr>
          <p:cNvSpPr txBox="1"/>
          <p:nvPr/>
        </p:nvSpPr>
        <p:spPr>
          <a:xfrm>
            <a:off x="13047023" y="23765041"/>
            <a:ext cx="11001130" cy="3785652"/>
          </a:xfrm>
          <a:prstGeom prst="rect">
            <a:avLst/>
          </a:prstGeom>
          <a:noFill/>
        </p:spPr>
        <p:txBody>
          <a:bodyPr wrap="square" rtlCol="0">
            <a:spAutoFit/>
          </a:bodyPr>
          <a:lstStyle/>
          <a:p>
            <a:pPr marL="457200" indent="-457200">
              <a:buFont typeface="+mj-lt"/>
              <a:buAutoNum type="arabicPeriod"/>
            </a:pPr>
            <a:r>
              <a:rPr lang="es-ES" sz="2400" dirty="0">
                <a:latin typeface="Arial" panose="020B0604020202020204" pitchFamily="34" charset="0"/>
                <a:cs typeface="Arial" panose="020B0604020202020204" pitchFamily="34" charset="0"/>
              </a:rPr>
              <a:t>Lanzar el cohete a 45° funcionó justo como lo esperábamos: el alcance fue el máximo posible para nuestra velocidad, comprobando en campo lo que habíamos calculado en papel.</a:t>
            </a:r>
            <a:br>
              <a:rPr lang="es-ES" sz="2400" dirty="0">
                <a:latin typeface="Arial" panose="020B0604020202020204" pitchFamily="34" charset="0"/>
                <a:cs typeface="Arial" panose="020B0604020202020204" pitchFamily="34" charset="0"/>
              </a:rPr>
            </a:br>
            <a:endParaRPr lang="es-ES" sz="2400" dirty="0">
              <a:latin typeface="Arial" panose="020B0604020202020204" pitchFamily="34" charset="0"/>
              <a:cs typeface="Arial" panose="020B0604020202020204" pitchFamily="34" charset="0"/>
            </a:endParaRPr>
          </a:p>
          <a:p>
            <a:pPr marL="457200" indent="-457200">
              <a:buFont typeface="+mj-lt"/>
              <a:buAutoNum type="arabicPeriod"/>
            </a:pPr>
            <a:r>
              <a:rPr lang="es-ES" sz="2400" dirty="0">
                <a:latin typeface="Arial" panose="020B0604020202020204" pitchFamily="34" charset="0"/>
                <a:cs typeface="Arial" panose="020B0604020202020204" pitchFamily="34" charset="0"/>
              </a:rPr>
              <a:t>Las diferencias con los simuladores tenían sentido: ninguno podía replicar exactamente nuestro cohete, pero juntos nos ayudaron a entender mejor qué variables importan y por qué.</a:t>
            </a:r>
            <a:br>
              <a:rPr lang="es-ES" sz="2400" dirty="0">
                <a:latin typeface="Arial" panose="020B0604020202020204" pitchFamily="34" charset="0"/>
                <a:cs typeface="Arial" panose="020B0604020202020204" pitchFamily="34" charset="0"/>
              </a:rPr>
            </a:br>
            <a:endParaRPr lang="es-ES" sz="2400" dirty="0">
              <a:latin typeface="Arial" panose="020B0604020202020204" pitchFamily="34" charset="0"/>
              <a:cs typeface="Arial" panose="020B0604020202020204" pitchFamily="34" charset="0"/>
            </a:endParaRPr>
          </a:p>
          <a:p>
            <a:pPr marL="457200" indent="-457200">
              <a:buFont typeface="+mj-lt"/>
              <a:buAutoNum type="arabicPeriod"/>
            </a:pPr>
            <a:r>
              <a:rPr lang="es-ES" sz="2400" dirty="0">
                <a:latin typeface="Arial" panose="020B0604020202020204" pitchFamily="34" charset="0"/>
                <a:cs typeface="Arial" panose="020B0604020202020204" pitchFamily="34" charset="0"/>
              </a:rPr>
              <a:t>El ángulo de 45° maximiza el alcance porque sen(2×45°) = 1, el valor máximo posible en la ecuación R = v₀²·sen(2θ)/g.</a:t>
            </a:r>
          </a:p>
        </p:txBody>
      </p:sp>
      <p:pic>
        <p:nvPicPr>
          <p:cNvPr id="21" name="Imagen 20">
            <a:extLst>
              <a:ext uri="{FF2B5EF4-FFF2-40B4-BE49-F238E27FC236}">
                <a16:creationId xmlns:a16="http://schemas.microsoft.com/office/drawing/2014/main" id="{DA9344E5-0A26-D66B-B508-2299C6CE621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0399" y="27802116"/>
            <a:ext cx="10933710" cy="5249326"/>
          </a:xfrm>
          <a:prstGeom prst="rect">
            <a:avLst/>
          </a:prstGeom>
        </p:spPr>
      </p:pic>
      <p:graphicFrame>
        <p:nvGraphicFramePr>
          <p:cNvPr id="7" name="Tabla 6">
            <a:extLst>
              <a:ext uri="{FF2B5EF4-FFF2-40B4-BE49-F238E27FC236}">
                <a16:creationId xmlns:a16="http://schemas.microsoft.com/office/drawing/2014/main" id="{F63150BA-2578-7FEC-D1EB-7004652143A5}"/>
              </a:ext>
            </a:extLst>
          </p:cNvPr>
          <p:cNvGraphicFramePr>
            <a:graphicFrameLocks noGrp="1"/>
          </p:cNvGraphicFramePr>
          <p:nvPr>
            <p:extLst>
              <p:ext uri="{D42A27DB-BD31-4B8C-83A1-F6EECF244321}">
                <p14:modId xmlns:p14="http://schemas.microsoft.com/office/powerpoint/2010/main" val="2526111807"/>
              </p:ext>
            </p:extLst>
          </p:nvPr>
        </p:nvGraphicFramePr>
        <p:xfrm>
          <a:off x="765939" y="15488673"/>
          <a:ext cx="5667602" cy="2415605"/>
        </p:xfrm>
        <a:graphic>
          <a:graphicData uri="http://schemas.openxmlformats.org/drawingml/2006/table">
            <a:tbl>
              <a:tblPr firstRow="1" bandRow="1">
                <a:tableStyleId>{5C22544A-7EE6-4342-B048-85BDC9FD1C3A}</a:tableStyleId>
              </a:tblPr>
              <a:tblGrid>
                <a:gridCol w="2833801">
                  <a:extLst>
                    <a:ext uri="{9D8B030D-6E8A-4147-A177-3AD203B41FA5}">
                      <a16:colId xmlns:a16="http://schemas.microsoft.com/office/drawing/2014/main" val="1521628417"/>
                    </a:ext>
                  </a:extLst>
                </a:gridCol>
                <a:gridCol w="2833801">
                  <a:extLst>
                    <a:ext uri="{9D8B030D-6E8A-4147-A177-3AD203B41FA5}">
                      <a16:colId xmlns:a16="http://schemas.microsoft.com/office/drawing/2014/main" val="1674284796"/>
                    </a:ext>
                  </a:extLst>
                </a:gridCol>
              </a:tblGrid>
              <a:tr h="483121">
                <a:tc>
                  <a:txBody>
                    <a:bodyPr/>
                    <a:lstStyle/>
                    <a:p>
                      <a:r>
                        <a:rPr lang="es-CO" sz="2400" dirty="0"/>
                        <a:t>Variable</a:t>
                      </a:r>
                    </a:p>
                  </a:txBody>
                  <a:tcPr/>
                </a:tc>
                <a:tc>
                  <a:txBody>
                    <a:bodyPr/>
                    <a:lstStyle/>
                    <a:p>
                      <a:r>
                        <a:rPr lang="es-CO" sz="2400" b="1" dirty="0"/>
                        <a:t>Valor</a:t>
                      </a:r>
                    </a:p>
                  </a:txBody>
                  <a:tcPr/>
                </a:tc>
                <a:extLst>
                  <a:ext uri="{0D108BD9-81ED-4DB2-BD59-A6C34878D82A}">
                    <a16:rowId xmlns:a16="http://schemas.microsoft.com/office/drawing/2014/main" val="3808897490"/>
                  </a:ext>
                </a:extLst>
              </a:tr>
              <a:tr h="483121">
                <a:tc>
                  <a:txBody>
                    <a:bodyPr/>
                    <a:lstStyle/>
                    <a:p>
                      <a:r>
                        <a:rPr lang="es-ES" sz="2400" dirty="0"/>
                        <a:t>Velocidad inicial </a:t>
                      </a:r>
                      <a:endParaRPr lang="es-CO" sz="2400" dirty="0"/>
                    </a:p>
                  </a:txBody>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s-ES" sz="2400" dirty="0"/>
                        <a:t>28,31 m/s</a:t>
                      </a:r>
                    </a:p>
                  </a:txBody>
                  <a:tcPr/>
                </a:tc>
                <a:extLst>
                  <a:ext uri="{0D108BD9-81ED-4DB2-BD59-A6C34878D82A}">
                    <a16:rowId xmlns:a16="http://schemas.microsoft.com/office/drawing/2014/main" val="4153497794"/>
                  </a:ext>
                </a:extLst>
              </a:tr>
              <a:tr h="483121">
                <a:tc>
                  <a:txBody>
                    <a:bodyPr/>
                    <a:lstStyle/>
                    <a:p>
                      <a:r>
                        <a:rPr lang="es-ES" sz="2400" dirty="0"/>
                        <a:t>Alcance máximo </a:t>
                      </a:r>
                      <a:endParaRPr lang="es-CO" sz="2400" dirty="0"/>
                    </a:p>
                  </a:txBody>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s-ES" sz="2400" dirty="0"/>
                        <a:t>81,8 m</a:t>
                      </a:r>
                    </a:p>
                  </a:txBody>
                  <a:tcPr/>
                </a:tc>
                <a:extLst>
                  <a:ext uri="{0D108BD9-81ED-4DB2-BD59-A6C34878D82A}">
                    <a16:rowId xmlns:a16="http://schemas.microsoft.com/office/drawing/2014/main" val="751224606"/>
                  </a:ext>
                </a:extLst>
              </a:tr>
              <a:tr h="483121">
                <a:tc>
                  <a:txBody>
                    <a:bodyPr/>
                    <a:lstStyle/>
                    <a:p>
                      <a:r>
                        <a:rPr lang="es-ES" sz="2400" dirty="0"/>
                        <a:t>Altura máxima </a:t>
                      </a:r>
                      <a:endParaRPr lang="es-CO" sz="2400" dirty="0"/>
                    </a:p>
                  </a:txBody>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s-ES" sz="2400" dirty="0"/>
                        <a:t>20,5 m</a:t>
                      </a:r>
                    </a:p>
                  </a:txBody>
                  <a:tcPr/>
                </a:tc>
                <a:extLst>
                  <a:ext uri="{0D108BD9-81ED-4DB2-BD59-A6C34878D82A}">
                    <a16:rowId xmlns:a16="http://schemas.microsoft.com/office/drawing/2014/main" val="2916346935"/>
                  </a:ext>
                </a:extLst>
              </a:tr>
              <a:tr h="483121">
                <a:tc>
                  <a:txBody>
                    <a:bodyPr/>
                    <a:lstStyle/>
                    <a:p>
                      <a:r>
                        <a:rPr lang="es-ES" sz="2400" dirty="0"/>
                        <a:t>Tiempo de vuelo </a:t>
                      </a:r>
                      <a:endParaRPr lang="es-CO" sz="2400" dirty="0"/>
                    </a:p>
                  </a:txBody>
                  <a:tcPr/>
                </a:tc>
                <a:tc>
                  <a:txBody>
                    <a:bodyPr/>
                    <a:lstStyle/>
                    <a:p>
                      <a:pPr marL="0" marR="0" lvl="0" indent="0" algn="l" defTabSz="2519995" rtl="0" eaLnBrk="1" fontAlgn="auto" latinLnBrk="0" hangingPunct="1">
                        <a:lnSpc>
                          <a:spcPct val="100000"/>
                        </a:lnSpc>
                        <a:spcBef>
                          <a:spcPts val="0"/>
                        </a:spcBef>
                        <a:spcAft>
                          <a:spcPts val="0"/>
                        </a:spcAft>
                        <a:buClrTx/>
                        <a:buSzTx/>
                        <a:buFontTx/>
                        <a:buNone/>
                        <a:tabLst/>
                        <a:defRPr/>
                      </a:pPr>
                      <a:r>
                        <a:rPr lang="es-ES" sz="2400" dirty="0"/>
                        <a:t>4,08 s</a:t>
                      </a:r>
                    </a:p>
                  </a:txBody>
                  <a:tcPr/>
                </a:tc>
                <a:extLst>
                  <a:ext uri="{0D108BD9-81ED-4DB2-BD59-A6C34878D82A}">
                    <a16:rowId xmlns:a16="http://schemas.microsoft.com/office/drawing/2014/main" val="3863146602"/>
                  </a:ext>
                </a:extLst>
              </a:tr>
            </a:tbl>
          </a:graphicData>
        </a:graphic>
      </p:graphicFrame>
      <p:sp>
        <p:nvSpPr>
          <p:cNvPr id="9" name="ObjetivoBox">
            <a:extLst>
              <a:ext uri="{FF2B5EF4-FFF2-40B4-BE49-F238E27FC236}">
                <a16:creationId xmlns:a16="http://schemas.microsoft.com/office/drawing/2014/main" id="{39CADD85-78EE-D88E-08AD-99AB3338166B}"/>
              </a:ext>
            </a:extLst>
          </p:cNvPr>
          <p:cNvSpPr/>
          <p:nvPr/>
        </p:nvSpPr>
        <p:spPr>
          <a:xfrm>
            <a:off x="710399" y="18054098"/>
            <a:ext cx="10980254" cy="579796"/>
          </a:xfrm>
          <a:prstGeom prst="rect">
            <a:avLst/>
          </a:prstGeom>
          <a:solidFill>
            <a:srgbClr val="FFF2CC"/>
          </a:solidFill>
          <a:ln w="25400">
            <a:solidFill>
              <a:srgbClr val="C55A11"/>
            </a:solidFill>
          </a:ln>
        </p:spPr>
        <p:txBody>
          <a:bodyPr wrap="square" lIns="182880" tIns="91440" rIns="182880" bIns="91440"/>
          <a:lstStyle/>
          <a:p>
            <a:r>
              <a:rPr lang="es-ES" sz="2400" b="1" i="1" dirty="0">
                <a:latin typeface="Arial" panose="020B0604020202020204" pitchFamily="34" charset="0"/>
                <a:cs typeface="Arial" panose="020B0604020202020204" pitchFamily="34" charset="0"/>
              </a:rPr>
              <a:t>Nota: </a:t>
            </a:r>
            <a:r>
              <a:rPr lang="es-ES" sz="2400" i="1" dirty="0">
                <a:latin typeface="Arial" panose="020B0604020202020204" pitchFamily="34" charset="0"/>
                <a:cs typeface="Arial" panose="020B0604020202020204" pitchFamily="34" charset="0"/>
              </a:rPr>
              <a:t>Valores calculados con v₀ = 28,31 m/s a θ = 45° y g = 9,8 m/s²</a:t>
            </a:r>
            <a:r>
              <a:rPr lang="es-ES" sz="2000" i="1" dirty="0"/>
              <a:t>.</a:t>
            </a:r>
          </a:p>
          <a:p>
            <a:endParaRPr lang="es-ES" sz="2000" dirty="0">
              <a:solidFill>
                <a:srgbClr val="7F3F00"/>
              </a:solidFill>
            </a:endParaRPr>
          </a:p>
        </p:txBody>
      </p:sp>
      <p:pic>
        <p:nvPicPr>
          <p:cNvPr id="10" name="Imagen 9">
            <a:extLst>
              <a:ext uri="{FF2B5EF4-FFF2-40B4-BE49-F238E27FC236}">
                <a16:creationId xmlns:a16="http://schemas.microsoft.com/office/drawing/2014/main" id="{F09E9A2F-3006-590F-D293-888A258AB66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56944" y="21519459"/>
            <a:ext cx="10933710" cy="5249325"/>
          </a:xfrm>
          <a:prstGeom prst="rect">
            <a:avLst/>
          </a:prstGeom>
          <a:effectLst>
            <a:outerShdw blurRad="50800" dist="50800" dir="5400000" algn="ctr" rotWithShape="0">
              <a:srgbClr val="000000"/>
            </a:outerShdw>
          </a:effectLst>
        </p:spPr>
      </p:pic>
      <p:graphicFrame>
        <p:nvGraphicFramePr>
          <p:cNvPr id="24" name="Tabla 23">
            <a:extLst>
              <a:ext uri="{FF2B5EF4-FFF2-40B4-BE49-F238E27FC236}">
                <a16:creationId xmlns:a16="http://schemas.microsoft.com/office/drawing/2014/main" id="{A2E487DF-A51E-5E6E-7AC7-19056FF647E1}"/>
              </a:ext>
            </a:extLst>
          </p:cNvPr>
          <p:cNvGraphicFramePr>
            <a:graphicFrameLocks noGrp="1"/>
          </p:cNvGraphicFramePr>
          <p:nvPr>
            <p:extLst>
              <p:ext uri="{D42A27DB-BD31-4B8C-83A1-F6EECF244321}">
                <p14:modId xmlns:p14="http://schemas.microsoft.com/office/powerpoint/2010/main" val="388514393"/>
              </p:ext>
            </p:extLst>
          </p:nvPr>
        </p:nvGraphicFramePr>
        <p:xfrm>
          <a:off x="14395519" y="10257177"/>
          <a:ext cx="10076535" cy="5372100"/>
        </p:xfrm>
        <a:graphic>
          <a:graphicData uri="http://schemas.openxmlformats.org/drawingml/2006/table">
            <a:tbl>
              <a:tblPr firstRow="1" bandRow="1">
                <a:tableStyleId>{5C22544A-7EE6-4342-B048-85BDC9FD1C3A}</a:tableStyleId>
              </a:tblPr>
              <a:tblGrid>
                <a:gridCol w="3358845">
                  <a:extLst>
                    <a:ext uri="{9D8B030D-6E8A-4147-A177-3AD203B41FA5}">
                      <a16:colId xmlns:a16="http://schemas.microsoft.com/office/drawing/2014/main" val="237494823"/>
                    </a:ext>
                  </a:extLst>
                </a:gridCol>
                <a:gridCol w="3358845">
                  <a:extLst>
                    <a:ext uri="{9D8B030D-6E8A-4147-A177-3AD203B41FA5}">
                      <a16:colId xmlns:a16="http://schemas.microsoft.com/office/drawing/2014/main" val="3986883817"/>
                    </a:ext>
                  </a:extLst>
                </a:gridCol>
                <a:gridCol w="3358845">
                  <a:extLst>
                    <a:ext uri="{9D8B030D-6E8A-4147-A177-3AD203B41FA5}">
                      <a16:colId xmlns:a16="http://schemas.microsoft.com/office/drawing/2014/main" val="1862769877"/>
                    </a:ext>
                  </a:extLst>
                </a:gridCol>
              </a:tblGrid>
              <a:tr h="425072">
                <a:tc>
                  <a:txBody>
                    <a:bodyPr/>
                    <a:lstStyle/>
                    <a:p>
                      <a:r>
                        <a:rPr lang="es-CO" sz="2400" dirty="0">
                          <a:latin typeface="Arial" panose="020B0604020202020204" pitchFamily="34" charset="0"/>
                          <a:cs typeface="Arial" panose="020B0604020202020204" pitchFamily="34" charset="0"/>
                        </a:rPr>
                        <a:t>Componente</a:t>
                      </a:r>
                    </a:p>
                  </a:txBody>
                  <a:tcPr/>
                </a:tc>
                <a:tc>
                  <a:txBody>
                    <a:bodyPr/>
                    <a:lstStyle/>
                    <a:p>
                      <a:r>
                        <a:rPr lang="es-CO" sz="2400" dirty="0">
                          <a:latin typeface="Arial" panose="020B0604020202020204" pitchFamily="34" charset="0"/>
                          <a:cs typeface="Arial" panose="020B0604020202020204" pitchFamily="34" charset="0"/>
                        </a:rPr>
                        <a:t>Función</a:t>
                      </a:r>
                    </a:p>
                  </a:txBody>
                  <a:tcPr/>
                </a:tc>
                <a:tc>
                  <a:txBody>
                    <a:bodyPr/>
                    <a:lstStyle/>
                    <a:p>
                      <a:r>
                        <a:rPr lang="es-CO" sz="2400" dirty="0">
                          <a:latin typeface="Arial" panose="020B0604020202020204" pitchFamily="34" charset="0"/>
                          <a:cs typeface="Arial" panose="020B0604020202020204" pitchFamily="34" charset="0"/>
                        </a:rPr>
                        <a:t>Medida</a:t>
                      </a:r>
                    </a:p>
                  </a:txBody>
                  <a:tcPr/>
                </a:tc>
                <a:extLst>
                  <a:ext uri="{0D108BD9-81ED-4DB2-BD59-A6C34878D82A}">
                    <a16:rowId xmlns:a16="http://schemas.microsoft.com/office/drawing/2014/main" val="299354162"/>
                  </a:ext>
                </a:extLst>
              </a:tr>
              <a:tr h="765129">
                <a:tc>
                  <a:txBody>
                    <a:bodyPr/>
                    <a:lstStyle/>
                    <a:p>
                      <a:r>
                        <a:rPr lang="es-CO" sz="2400" b="0" i="0" kern="1200" dirty="0">
                          <a:solidFill>
                            <a:schemeClr val="tx1"/>
                          </a:solidFill>
                          <a:effectLst/>
                          <a:latin typeface="Arial" panose="020B0604020202020204" pitchFamily="34" charset="0"/>
                          <a:ea typeface="+mn-ea"/>
                          <a:cs typeface="Arial" panose="020B0604020202020204" pitchFamily="34" charset="0"/>
                        </a:rPr>
                        <a:t>2 botellas plásticas (cuerpo)</a:t>
                      </a:r>
                      <a:endParaRPr lang="es-CO" sz="2400" dirty="0">
                        <a:solidFill>
                          <a:schemeClr val="tx1"/>
                        </a:solidFill>
                        <a:latin typeface="Arial" panose="020B0604020202020204" pitchFamily="34" charset="0"/>
                        <a:cs typeface="Arial" panose="020B0604020202020204" pitchFamily="34" charset="0"/>
                      </a:endParaRPr>
                    </a:p>
                  </a:txBody>
                  <a:tcP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Cuerpo principal</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2 Uds. - 2.5L</a:t>
                      </a:r>
                    </a:p>
                  </a:txBody>
                  <a:tcPr marL="95250" marR="95250" marT="66675" marB="66675" anchor="ctr"/>
                </a:tc>
                <a:extLst>
                  <a:ext uri="{0D108BD9-81ED-4DB2-BD59-A6C34878D82A}">
                    <a16:rowId xmlns:a16="http://schemas.microsoft.com/office/drawing/2014/main" val="3369680064"/>
                  </a:ext>
                </a:extLst>
              </a:tr>
              <a:tr h="804094">
                <a:tc>
                  <a:txBody>
                    <a:bodyPr/>
                    <a:lstStyle/>
                    <a:p>
                      <a:pPr>
                        <a:buNone/>
                      </a:pPr>
                      <a:r>
                        <a:rPr lang="es-CO" sz="2400">
                          <a:solidFill>
                            <a:schemeClr val="tx1"/>
                          </a:solidFill>
                          <a:effectLst/>
                          <a:latin typeface="Arial" panose="020B0604020202020204" pitchFamily="34" charset="0"/>
                          <a:cs typeface="Arial" panose="020B0604020202020204" pitchFamily="34" charset="0"/>
                        </a:rPr>
                        <a:t>1 botella plástica (ojiva)</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Punta cónica / reducción arrastre</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1 Uds. - 3L</a:t>
                      </a:r>
                    </a:p>
                  </a:txBody>
                  <a:tcPr marL="95250" marR="95250" marT="66675" marB="66675" anchor="ctr"/>
                </a:tc>
                <a:extLst>
                  <a:ext uri="{0D108BD9-81ED-4DB2-BD59-A6C34878D82A}">
                    <a16:rowId xmlns:a16="http://schemas.microsoft.com/office/drawing/2014/main" val="3839428009"/>
                  </a:ext>
                </a:extLst>
              </a:tr>
              <a:tr h="464037">
                <a:tc>
                  <a:txBody>
                    <a:bodyPr/>
                    <a:lstStyle/>
                    <a:p>
                      <a:pPr>
                        <a:buNone/>
                      </a:pPr>
                      <a:r>
                        <a:rPr lang="es-CO" sz="2400">
                          <a:solidFill>
                            <a:schemeClr val="tx1"/>
                          </a:solidFill>
                          <a:effectLst/>
                          <a:latin typeface="Arial" panose="020B0604020202020204" pitchFamily="34" charset="0"/>
                          <a:cs typeface="Arial" panose="020B0604020202020204" pitchFamily="34" charset="0"/>
                        </a:rPr>
                        <a:t>Aletas de cartón</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Estabilidad alar</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3 Uds. — 16×13 cm</a:t>
                      </a:r>
                    </a:p>
                  </a:txBody>
                  <a:tcPr marL="95250" marR="95250" marT="66675" marB="66675" anchor="ctr"/>
                </a:tc>
                <a:extLst>
                  <a:ext uri="{0D108BD9-81ED-4DB2-BD59-A6C34878D82A}">
                    <a16:rowId xmlns:a16="http://schemas.microsoft.com/office/drawing/2014/main" val="2238906254"/>
                  </a:ext>
                </a:extLst>
              </a:tr>
              <a:tr h="464037">
                <a:tc>
                  <a:txBody>
                    <a:bodyPr/>
                    <a:lstStyle/>
                    <a:p>
                      <a:pPr>
                        <a:buNone/>
                      </a:pPr>
                      <a:r>
                        <a:rPr lang="es-CO" sz="2400">
                          <a:solidFill>
                            <a:schemeClr val="tx1"/>
                          </a:solidFill>
                          <a:effectLst/>
                          <a:latin typeface="Arial" panose="020B0604020202020204" pitchFamily="34" charset="0"/>
                          <a:cs typeface="Arial" panose="020B0604020202020204" pitchFamily="34" charset="0"/>
                        </a:rPr>
                        <a:t>Cinta aislante</a:t>
                      </a:r>
                    </a:p>
                  </a:txBody>
                  <a:tcPr marL="95250" marR="95250" marT="66675" marB="66675" anchor="ctr"/>
                </a:tc>
                <a:tc>
                  <a:txBody>
                    <a:bodyPr/>
                    <a:lstStyle/>
                    <a:p>
                      <a:pPr>
                        <a:buNone/>
                      </a:pPr>
                      <a:r>
                        <a:rPr lang="es-CO" sz="2400">
                          <a:solidFill>
                            <a:schemeClr val="tx1"/>
                          </a:solidFill>
                          <a:effectLst/>
                          <a:latin typeface="Arial" panose="020B0604020202020204" pitchFamily="34" charset="0"/>
                          <a:cs typeface="Arial" panose="020B0604020202020204" pitchFamily="34" charset="0"/>
                        </a:rPr>
                        <a:t>Unión y sellado</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c/n</a:t>
                      </a:r>
                    </a:p>
                  </a:txBody>
                  <a:tcPr marL="95250" marR="95250" marT="66675" marB="66675" anchor="ctr"/>
                </a:tc>
                <a:extLst>
                  <a:ext uri="{0D108BD9-81ED-4DB2-BD59-A6C34878D82A}">
                    <a16:rowId xmlns:a16="http://schemas.microsoft.com/office/drawing/2014/main" val="428802286"/>
                  </a:ext>
                </a:extLst>
              </a:tr>
              <a:tr h="804094">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Silicona / plastilina</a:t>
                      </a:r>
                    </a:p>
                  </a:txBody>
                  <a:tcPr marL="95250" marR="95250" marT="66675" marB="66675" anchor="ctr"/>
                </a:tc>
                <a:tc>
                  <a:txBody>
                    <a:bodyPr/>
                    <a:lstStyle/>
                    <a:p>
                      <a:pPr>
                        <a:buNone/>
                      </a:pPr>
                      <a:r>
                        <a:rPr lang="es-CO" sz="2400">
                          <a:solidFill>
                            <a:schemeClr val="tx1"/>
                          </a:solidFill>
                          <a:effectLst/>
                          <a:latin typeface="Arial" panose="020B0604020202020204" pitchFamily="34" charset="0"/>
                          <a:cs typeface="Arial" panose="020B0604020202020204" pitchFamily="34" charset="0"/>
                        </a:rPr>
                        <a:t>Sellado hermético y acabado</a:t>
                      </a:r>
                    </a:p>
                  </a:txBody>
                  <a:tcPr marL="95250" marR="95250" marT="66675" marB="66675" anchor="ctr"/>
                </a:tc>
                <a:tc>
                  <a:txBody>
                    <a:bodyPr/>
                    <a:lstStyle/>
                    <a:p>
                      <a:pPr>
                        <a:buNone/>
                      </a:pPr>
                      <a:r>
                        <a:rPr lang="es-CO" sz="2400">
                          <a:solidFill>
                            <a:schemeClr val="tx1"/>
                          </a:solidFill>
                          <a:effectLst/>
                          <a:latin typeface="Arial" panose="020B0604020202020204" pitchFamily="34" charset="0"/>
                          <a:cs typeface="Arial" panose="020B0604020202020204" pitchFamily="34" charset="0"/>
                        </a:rPr>
                        <a:t>c/n</a:t>
                      </a:r>
                    </a:p>
                  </a:txBody>
                  <a:tcPr marL="95250" marR="95250" marT="66675" marB="66675" anchor="ctr"/>
                </a:tc>
                <a:extLst>
                  <a:ext uri="{0D108BD9-81ED-4DB2-BD59-A6C34878D82A}">
                    <a16:rowId xmlns:a16="http://schemas.microsoft.com/office/drawing/2014/main" val="2353395328"/>
                  </a:ext>
                </a:extLst>
              </a:tr>
              <a:tr h="464037">
                <a:tc>
                  <a:txBody>
                    <a:bodyPr/>
                    <a:lstStyle/>
                    <a:p>
                      <a:pPr>
                        <a:buNone/>
                      </a:pPr>
                      <a:r>
                        <a:rPr lang="es-CO" sz="2400">
                          <a:solidFill>
                            <a:schemeClr val="tx1"/>
                          </a:solidFill>
                          <a:effectLst/>
                          <a:latin typeface="Arial" panose="020B0604020202020204" pitchFamily="34" charset="0"/>
                          <a:cs typeface="Arial" panose="020B0604020202020204" pitchFamily="34" charset="0"/>
                        </a:rPr>
                        <a:t>Agua propelente</a:t>
                      </a:r>
                    </a:p>
                  </a:txBody>
                  <a:tcPr marL="95250" marR="95250" marT="66675" marB="66675" anchor="ctr"/>
                </a:tc>
                <a:tc>
                  <a:txBody>
                    <a:bodyPr/>
                    <a:lstStyle/>
                    <a:p>
                      <a:pPr>
                        <a:buNone/>
                      </a:pPr>
                      <a:r>
                        <a:rPr lang="es-CO" sz="2400">
                          <a:solidFill>
                            <a:schemeClr val="tx1"/>
                          </a:solidFill>
                          <a:effectLst/>
                          <a:latin typeface="Arial" panose="020B0604020202020204" pitchFamily="34" charset="0"/>
                          <a:cs typeface="Arial" panose="020B0604020202020204" pitchFamily="34" charset="0"/>
                        </a:rPr>
                        <a:t>¼ botella inferior</a:t>
                      </a:r>
                    </a:p>
                  </a:txBody>
                  <a:tcPr marL="95250" marR="95250" marT="66675" marB="66675" anchor="ctr"/>
                </a:tc>
                <a:tc>
                  <a:txBody>
                    <a:bodyPr/>
                    <a:lstStyle/>
                    <a:p>
                      <a:pPr>
                        <a:buNone/>
                      </a:pPr>
                      <a:r>
                        <a:rPr lang="es-CO" sz="2400">
                          <a:solidFill>
                            <a:schemeClr val="tx1"/>
                          </a:solidFill>
                          <a:effectLst/>
                          <a:latin typeface="Arial" panose="020B0604020202020204" pitchFamily="34" charset="0"/>
                          <a:cs typeface="Arial" panose="020B0604020202020204" pitchFamily="34" charset="0"/>
                        </a:rPr>
                        <a:t>625 mL</a:t>
                      </a:r>
                    </a:p>
                  </a:txBody>
                  <a:tcPr marL="95250" marR="95250" marT="66675" marB="66675" anchor="ctr"/>
                </a:tc>
                <a:extLst>
                  <a:ext uri="{0D108BD9-81ED-4DB2-BD59-A6C34878D82A}">
                    <a16:rowId xmlns:a16="http://schemas.microsoft.com/office/drawing/2014/main" val="1626352815"/>
                  </a:ext>
                </a:extLst>
              </a:tr>
              <a:tr h="804094">
                <a:tc>
                  <a:txBody>
                    <a:bodyPr/>
                    <a:lstStyle/>
                    <a:p>
                      <a:pPr>
                        <a:buNone/>
                      </a:pPr>
                      <a:r>
                        <a:rPr lang="es-CO" sz="2400">
                          <a:solidFill>
                            <a:schemeClr val="tx1"/>
                          </a:solidFill>
                          <a:effectLst/>
                          <a:latin typeface="Arial" panose="020B0604020202020204" pitchFamily="34" charset="0"/>
                          <a:cs typeface="Arial" panose="020B0604020202020204" pitchFamily="34" charset="0"/>
                        </a:rPr>
                        <a:t>Presión de lanzamiento</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Bomba de aire manual</a:t>
                      </a:r>
                    </a:p>
                  </a:txBody>
                  <a:tcPr marL="95250" marR="95250" marT="66675" marB="66675" anchor="ctr"/>
                </a:tc>
                <a:tc>
                  <a:txBody>
                    <a:bodyPr/>
                    <a:lstStyle/>
                    <a:p>
                      <a:pPr>
                        <a:buNone/>
                      </a:pPr>
                      <a:r>
                        <a:rPr lang="es-CO" sz="2400" dirty="0">
                          <a:solidFill>
                            <a:schemeClr val="tx1"/>
                          </a:solidFill>
                          <a:effectLst/>
                          <a:latin typeface="Arial" panose="020B0604020202020204" pitchFamily="34" charset="0"/>
                          <a:cs typeface="Arial" panose="020B0604020202020204" pitchFamily="34" charset="0"/>
                        </a:rPr>
                        <a:t>70 PSI / 4,14 bar</a:t>
                      </a:r>
                    </a:p>
                  </a:txBody>
                  <a:tcPr marL="95250" marR="95250" marT="66675" marB="66675" anchor="ctr"/>
                </a:tc>
                <a:extLst>
                  <a:ext uri="{0D108BD9-81ED-4DB2-BD59-A6C34878D82A}">
                    <a16:rowId xmlns:a16="http://schemas.microsoft.com/office/drawing/2014/main" val="337925027"/>
                  </a:ext>
                </a:extLst>
              </a:tr>
            </a:tbl>
          </a:graphicData>
        </a:graphic>
      </p:graphicFrame>
      <p:sp>
        <p:nvSpPr>
          <p:cNvPr id="29" name="ObjetivoBox">
            <a:extLst>
              <a:ext uri="{FF2B5EF4-FFF2-40B4-BE49-F238E27FC236}">
                <a16:creationId xmlns:a16="http://schemas.microsoft.com/office/drawing/2014/main" id="{1AF5EEC2-04D0-3C1D-ACD8-30B85D7E88DC}"/>
              </a:ext>
            </a:extLst>
          </p:cNvPr>
          <p:cNvSpPr/>
          <p:nvPr/>
        </p:nvSpPr>
        <p:spPr>
          <a:xfrm>
            <a:off x="14198844" y="15803744"/>
            <a:ext cx="10823084" cy="579796"/>
          </a:xfrm>
          <a:prstGeom prst="rect">
            <a:avLst/>
          </a:prstGeom>
          <a:solidFill>
            <a:srgbClr val="FFF2CC"/>
          </a:solidFill>
          <a:ln w="25400">
            <a:solidFill>
              <a:srgbClr val="C55A11"/>
            </a:solidFill>
          </a:ln>
        </p:spPr>
        <p:txBody>
          <a:bodyPr wrap="square" lIns="182880" tIns="91440" rIns="182880" bIns="91440"/>
          <a:lstStyle/>
          <a:p>
            <a:r>
              <a:rPr lang="es-ES" sz="2400" b="1" i="1" dirty="0">
                <a:latin typeface="Arial" panose="020B0604020202020204" pitchFamily="34" charset="0"/>
                <a:cs typeface="Arial" panose="020B0604020202020204" pitchFamily="34" charset="0"/>
              </a:rPr>
              <a:t>Nota: </a:t>
            </a:r>
            <a:r>
              <a:rPr lang="es-MX" sz="2400" i="1" dirty="0">
                <a:latin typeface="Arial" panose="020B0604020202020204" pitchFamily="34" charset="0"/>
                <a:cs typeface="Arial" panose="020B0604020202020204" pitchFamily="34" charset="0"/>
              </a:rPr>
              <a:t>c/n = cantidad necesaria según ensamble.</a:t>
            </a:r>
            <a:endParaRPr lang="es-ES" sz="2400" dirty="0">
              <a:solidFill>
                <a:srgbClr val="7F3F00"/>
              </a:solidFill>
              <a:latin typeface="Arial" panose="020B0604020202020204" pitchFamily="34" charset="0"/>
              <a:cs typeface="Arial" panose="020B0604020202020204" pitchFamily="34" charset="0"/>
            </a:endParaRPr>
          </a:p>
          <a:p>
            <a:endParaRPr lang="es-ES" sz="2000" dirty="0">
              <a:solidFill>
                <a:srgbClr val="7F3F00"/>
              </a:solidFill>
            </a:endParaRPr>
          </a:p>
        </p:txBody>
      </p:sp>
      <p:pic>
        <p:nvPicPr>
          <p:cNvPr id="6" name="Imagen 5">
            <a:extLst>
              <a:ext uri="{FF2B5EF4-FFF2-40B4-BE49-F238E27FC236}">
                <a16:creationId xmlns:a16="http://schemas.microsoft.com/office/drawing/2014/main" id="{4FE3D947-54FE-A519-3739-718730D0596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294333" y="6870798"/>
            <a:ext cx="2397884" cy="3189826"/>
          </a:xfrm>
          <a:prstGeom prst="rect">
            <a:avLst/>
          </a:prstGeom>
        </p:spPr>
      </p:pic>
      <p:sp>
        <p:nvSpPr>
          <p:cNvPr id="20" name="CuadroTexto 19">
            <a:extLst>
              <a:ext uri="{FF2B5EF4-FFF2-40B4-BE49-F238E27FC236}">
                <a16:creationId xmlns:a16="http://schemas.microsoft.com/office/drawing/2014/main" id="{CADF64AE-41B3-F33F-4F27-DA9F15965482}"/>
              </a:ext>
            </a:extLst>
          </p:cNvPr>
          <p:cNvSpPr txBox="1"/>
          <p:nvPr/>
        </p:nvSpPr>
        <p:spPr>
          <a:xfrm>
            <a:off x="19232754" y="8038924"/>
            <a:ext cx="4110718" cy="830997"/>
          </a:xfrm>
          <a:prstGeom prst="rect">
            <a:avLst/>
          </a:prstGeom>
          <a:noFill/>
        </p:spPr>
        <p:txBody>
          <a:bodyPr wrap="square">
            <a:spAutoFit/>
          </a:bodyPr>
          <a:lstStyle/>
          <a:p>
            <a:pPr algn="ctr"/>
            <a:r>
              <a:rPr lang="es-ES" sz="2400" b="1" dirty="0">
                <a:latin typeface="Arial" panose="020B0604020202020204" pitchFamily="34" charset="0"/>
                <a:cs typeface="Arial" panose="020B0604020202020204" pitchFamily="34" charset="0"/>
              </a:rPr>
              <a:t>Figura 3. </a:t>
            </a:r>
            <a:r>
              <a:rPr lang="es-ES" sz="2400" i="1" dirty="0">
                <a:latin typeface="Arial" panose="020B0604020202020204" pitchFamily="34" charset="0"/>
                <a:cs typeface="Arial" panose="020B0604020202020204" pitchFamily="34" charset="0"/>
              </a:rPr>
              <a:t>Prototipo del Cohete Terminado</a:t>
            </a:r>
          </a:p>
        </p:txBody>
      </p:sp>
    </p:spTree>
    <p:extLst>
      <p:ext uri="{BB962C8B-B14F-4D97-AF65-F5344CB8AC3E}">
        <p14:creationId xmlns:p14="http://schemas.microsoft.com/office/powerpoint/2010/main" val="123083389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017478e-1708-423f-ad1d-8c9b682abf33">
      <Terms xmlns="http://schemas.microsoft.com/office/infopath/2007/PartnerControls"/>
    </lcf76f155ced4ddcb4097134ff3c332f>
    <TaxCatchAll xmlns="08e5a87c-f1e2-429c-a57b-05d0ff7f138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5C5880D9845E6448D10635A05F4316C" ma:contentTypeVersion="12" ma:contentTypeDescription="Crear nuevo documento." ma:contentTypeScope="" ma:versionID="9df8153efe6329781b3c5394e9e4204f">
  <xsd:schema xmlns:xsd="http://www.w3.org/2001/XMLSchema" xmlns:xs="http://www.w3.org/2001/XMLSchema" xmlns:p="http://schemas.microsoft.com/office/2006/metadata/properties" xmlns:ns2="2017478e-1708-423f-ad1d-8c9b682abf33" xmlns:ns3="08e5a87c-f1e2-429c-a57b-05d0ff7f1382" targetNamespace="http://schemas.microsoft.com/office/2006/metadata/properties" ma:root="true" ma:fieldsID="77b7a283866df5520402643d19c1a0fd" ns2:_="" ns3:_="">
    <xsd:import namespace="2017478e-1708-423f-ad1d-8c9b682abf33"/>
    <xsd:import namespace="08e5a87c-f1e2-429c-a57b-05d0ff7f138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7478e-1708-423f-ad1d-8c9b682abf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424f3532-e2cd-4f37-817d-80f4572e69f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8e5a87c-f1e2-429c-a57b-05d0ff7f138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e836280-1684-4426-ba7b-33f052f306f1}" ma:internalName="TaxCatchAll" ma:showField="CatchAllData" ma:web="08e5a87c-f1e2-429c-a57b-05d0ff7f13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A4824E-5D68-4772-9E47-BB1C5D44CAF6}">
  <ds:schemaRefs>
    <ds:schemaRef ds:uri="http://schemas.microsoft.com/office/2006/metadata/properties"/>
    <ds:schemaRef ds:uri="http://schemas.microsoft.com/office/infopath/2007/PartnerControls"/>
    <ds:schemaRef ds:uri="2017478e-1708-423f-ad1d-8c9b682abf33"/>
    <ds:schemaRef ds:uri="08e5a87c-f1e2-429c-a57b-05d0ff7f1382"/>
  </ds:schemaRefs>
</ds:datastoreItem>
</file>

<file path=customXml/itemProps2.xml><?xml version="1.0" encoding="utf-8"?>
<ds:datastoreItem xmlns:ds="http://schemas.openxmlformats.org/officeDocument/2006/customXml" ds:itemID="{938E1A00-AE24-4190-9BF0-38F3EF6D3397}">
  <ds:schemaRefs>
    <ds:schemaRef ds:uri="http://schemas.microsoft.com/sharepoint/v3/contenttype/forms"/>
  </ds:schemaRefs>
</ds:datastoreItem>
</file>

<file path=customXml/itemProps3.xml><?xml version="1.0" encoding="utf-8"?>
<ds:datastoreItem xmlns:ds="http://schemas.openxmlformats.org/officeDocument/2006/customXml" ds:itemID="{09979F67-F39D-45EF-99CE-8E502844C7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7478e-1708-423f-ad1d-8c9b682abf33"/>
    <ds:schemaRef ds:uri="08e5a87c-f1e2-429c-a57b-05d0ff7f1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1143</TotalTime>
  <Words>991</Words>
  <Application>Microsoft Office PowerPoint</Application>
  <PresentationFormat>Personalizado</PresentationFormat>
  <Paragraphs>107</Paragraphs>
  <Slides>1</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1</vt:i4>
      </vt:variant>
    </vt:vector>
  </HeadingPairs>
  <TitlesOfParts>
    <vt:vector size="9" baseType="lpstr">
      <vt:lpstr>Arial</vt:lpstr>
      <vt:lpstr>Calibri</vt:lpstr>
      <vt:lpstr>Calibri Light</vt:lpstr>
      <vt:lpstr>Century Gothic</vt:lpstr>
      <vt:lpstr>Times New Roman</vt:lpstr>
      <vt:lpstr>Wingdings</vt:lpstr>
      <vt:lpstr>Tema de Office</vt:lpstr>
      <vt:lpstr>Imagen de mapa de bits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Referee</dc:creator>
  <cp:lastModifiedBy>Larrea Calle Miguel Angel</cp:lastModifiedBy>
  <cp:revision>50</cp:revision>
  <dcterms:created xsi:type="dcterms:W3CDTF">2022-05-12T03:47:14Z</dcterms:created>
  <dcterms:modified xsi:type="dcterms:W3CDTF">2026-05-20T20:42:48Z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0x010100C5C5880D9845E6448D10635A05F4316C</vt:lpwstr>
  </property>
</Properties>
</file>